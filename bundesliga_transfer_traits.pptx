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62" r:id="rId13"/>
    <p:sldId id="259" r:id="rId10"/>
    <p:sldId id="263" r:id="rId14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4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3D5A80"/>
                </a:solidFill>
                <a:latin typeface="Arial"/>
              </a:rPr>
              <a:t>CAL BERKELEY · INDEPENDENT STUDY · TEMPLATE FROM NYRB PIZZA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C1C1C"/>
                </a:solidFill>
                <a:latin typeface="Georgia"/>
              </a:rPr>
              <a:t>Which traits travel into the Bundesliga?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555555"/>
                </a:solidFill>
                <a:latin typeface="Arial"/>
              </a:rPr>
              <a:t>Stability → redundancy → pizza charts · FBref primary · StatsBomb deep dive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45920"/>
            <a:ext cx="3566160" cy="2011680"/>
          </a:xfrm>
          <a:prstGeom prst="roundRect">
            <a:avLst/>
          </a:prstGeom>
          <a:solidFill>
            <a:srgbClr val="F4F5F7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783080"/>
            <a:ext cx="32918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D5A80"/>
                </a:solidFill>
                <a:latin typeface="Arial"/>
              </a:rPr>
              <a:t>Q1 — Portability</a:t>
            </a:r>
          </a:p>
          <a:p>
            <a:r>
              <a:rPr sz="1200" b="0">
                <a:solidFill>
                  <a:srgbClr val="1C1C1C"/>
                </a:solidFill>
                <a:latin typeface="Arial"/>
              </a:rPr>
              <a:t>Which FBref per-90 stats stay consistent from the prior league into Bundesliga Year-1?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645920"/>
            <a:ext cx="3566160" cy="2011680"/>
          </a:xfrm>
          <a:prstGeom prst="roundRect">
            <a:avLst/>
          </a:prstGeom>
          <a:solidFill>
            <a:srgbClr val="F4F5F7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4840" y="1783080"/>
            <a:ext cx="32918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D5A80"/>
                </a:solidFill>
                <a:latin typeface="Arial"/>
              </a:rPr>
              <a:t>Q2 — Leagues</a:t>
            </a:r>
          </a:p>
          <a:p>
            <a:r>
              <a:rPr sz="1200" b="0">
                <a:solidFill>
                  <a:srgbClr val="1C1C1C"/>
                </a:solidFill>
                <a:latin typeface="Arial"/>
              </a:rPr>
              <a:t>Which source leagues produce arrivals who perform effectively in Germany?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645920"/>
            <a:ext cx="3566160" cy="2011680"/>
          </a:xfrm>
          <a:prstGeom prst="roundRect">
            <a:avLst/>
          </a:prstGeom>
          <a:solidFill>
            <a:srgbClr val="F4F5F7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20" y="1783080"/>
            <a:ext cx="32918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D5A80"/>
                </a:solidFill>
                <a:latin typeface="Arial"/>
              </a:rPr>
              <a:t>Q3 — Deliverable</a:t>
            </a:r>
          </a:p>
          <a:p>
            <a:r>
              <a:rPr sz="1200" b="0">
                <a:solidFill>
                  <a:srgbClr val="1C1C1C"/>
                </a:solidFill>
                <a:latin typeface="Arial"/>
              </a:rPr>
              <a:t>A short non-redundant trait set + pizza profiles for scouts / Conrad.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0233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1C1C1C"/>
                </a:solidFill>
                <a:latin typeface="Arial"/>
              </a:rPr>
              <a:t>Inbound cohort from FBref season records (first Bundesliga season / prior league ≠ Bundesliga).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C1C1C"/>
                </a:solidFill>
                <a:latin typeface="Arial"/>
              </a:rPr>
              <a:t>Not Transfermarkt scrape · Not market-value model.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3D5A80"/>
                </a:solidFill>
                <a:latin typeface="Arial"/>
              </a:rPr>
              <a:t>SAMPLE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C1C1C"/>
                </a:solidFill>
                <a:latin typeface="Georgia"/>
              </a:rPr>
              <a:t>Two-tier design · Bundesliga only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555555"/>
                </a:solidFill>
                <a:latin typeface="Arial"/>
              </a:rPr>
              <a:t>Honest N ≥ 500 on FBref · deeper event dive on StatsBomb open 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5486400" cy="3200400"/>
          </a:xfrm>
          <a:prstGeom prst="roundRect">
            <a:avLst/>
          </a:prstGeom>
          <a:solidFill>
            <a:srgbClr val="F4F5F7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691639"/>
            <a:ext cx="52120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D5A80"/>
                </a:solidFill>
                <a:latin typeface="Arial"/>
              </a:rPr>
              <a:t>Tier 1 — Wide (headline N ≥ 500)</a:t>
            </a:r>
          </a:p>
          <a:p>
            <a:r>
              <a:rPr sz="1200" b="0">
                <a:solidFill>
                  <a:srgbClr val="1C1C1C"/>
                </a:solidFill>
                <a:latin typeface="Arial"/>
              </a:rPr>
              <a:t>All inbound / first Bundesliga seasons over a multi-year window. Outcomes: minutes share, attack &amp; defend per-90 by position and source league. Answers who succeeds after arrival.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486400" cy="3200400"/>
          </a:xfrm>
          <a:prstGeom prst="roundRect">
            <a:avLst/>
          </a:prstGeom>
          <a:solidFill>
            <a:srgbClr val="F4F5F7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1691639"/>
            <a:ext cx="52120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D5A80"/>
                </a:solidFill>
                <a:latin typeface="Arial"/>
              </a:rPr>
              <a:t>Tier 2 — Deep (portability → pizza)</a:t>
            </a:r>
          </a:p>
          <a:p>
            <a:r>
              <a:rPr sz="1200" b="0">
                <a:solidFill>
                  <a:srgbClr val="1C1C1C"/>
                </a:solidFill>
                <a:latin typeface="Arial"/>
              </a:rPr>
              <a:t>Paired prior→Y1 seasons. 1) Stability on ALL stats. 2) Redundancy (|r|≥0.70). 3) Pizza charts from kept traits. StatsBomb ~94–120 for event-level check.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3D5A80"/>
                </a:solidFill>
                <a:latin typeface="Arial"/>
              </a:rPr>
              <a:t>METHOD · REPLACES NYRB AXIS 3 (MARKET VALUE)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C1C1C"/>
                </a:solidFill>
                <a:latin typeface="Georgia"/>
              </a:rPr>
              <a:t>Pipeline: stability → redundancy → pizza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555555"/>
                </a:solidFill>
                <a:latin typeface="Arial"/>
              </a:rPr>
              <a:t>Same order as the Red Bull metric framework; destination = Bundesliga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3566160" cy="3474720"/>
          </a:xfrm>
          <a:prstGeom prst="roundRect">
            <a:avLst/>
          </a:prstGeom>
          <a:solidFill>
            <a:srgbClr val="F4F5F7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691639"/>
            <a:ext cx="32918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D5A80"/>
                </a:solidFill>
                <a:latin typeface="Arial"/>
              </a:rPr>
              <a:t>① Stability</a:t>
            </a:r>
          </a:p>
          <a:p>
            <a:r>
              <a:rPr sz="1200" b="0">
                <a:solidFill>
                  <a:srgbClr val="1C1C1C"/>
                </a:solidFill>
                <a:latin typeface="Arial"/>
              </a:rPr>
              <a:t>For every FBref per-90 stat, correlate prior-league season vs Bundesliga Y1 by position. Keep stats that travel well (high cross-league r).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554480"/>
            <a:ext cx="3566160" cy="3474720"/>
          </a:xfrm>
          <a:prstGeom prst="roundRect">
            <a:avLst/>
          </a:prstGeom>
          <a:solidFill>
            <a:srgbClr val="F4F5F7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4840" y="1691639"/>
            <a:ext cx="32918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D5A80"/>
                </a:solidFill>
                <a:latin typeface="Arial"/>
              </a:rPr>
              <a:t>② Redundancy</a:t>
            </a:r>
          </a:p>
          <a:p>
            <a:r>
              <a:rPr sz="1200" b="0">
                <a:solidFill>
                  <a:srgbClr val="1C1C1C"/>
                </a:solidFill>
                <a:latin typeface="Arial"/>
              </a:rPr>
              <a:t>Among stable stats, drop near-duplicates (|r| ≥ 0.70 within position). Keep one representative per cluster → short scout card.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554480"/>
            <a:ext cx="3566160" cy="3474720"/>
          </a:xfrm>
          <a:prstGeom prst="roundRect">
            <a:avLst/>
          </a:prstGeom>
          <a:solidFill>
            <a:srgbClr val="F4F5F7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20" y="1691639"/>
            <a:ext cx="32918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D5A80"/>
                </a:solidFill>
                <a:latin typeface="Arial"/>
              </a:rPr>
              <a:t>③ Pizza charts</a:t>
            </a:r>
          </a:p>
          <a:p>
            <a:r>
              <a:rPr sz="1200" b="0">
                <a:solidFill>
                  <a:srgbClr val="1C1C1C"/>
                </a:solidFill>
                <a:latin typeface="Arial"/>
              </a:rPr>
              <a:t>Player profiles only from the stable + non-redundant set. Prior vs Bundesliga avg / top peer reference lines. Interactive HTML + this PPT.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C1C1C"/>
                </a:solidFill>
                <a:latin typeface="Georgia"/>
              </a:rPr>
              <a:t>Metrics that passed stability (r ≥ 0.40)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68680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555555"/>
                </a:solidFill>
                <a:latin typeface="Arial"/>
              </a:rPr>
              <a:t>StatsBomb Open Data · prior → Bundesliga Y1 · cohort N=60 · 11 of 16 metrics pass the gate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371600"/>
          <a:ext cx="10241280" cy="4608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4572000"/>
                <a:gridCol w="1737360"/>
                <a:gridCol w="1554480"/>
                <a:gridCol w="128016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Abbrev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Category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Stability r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N pairs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DIS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Dispossessed (inverted)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C1C"/>
                          </a:solidFill>
                          <a:latin typeface="Arial"/>
                        </a:rPr>
                        <a:t>0.787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PPC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Progressive passes (~10m+ toward goal)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C1C"/>
                          </a:solidFill>
                          <a:latin typeface="Arial"/>
                        </a:rPr>
                        <a:t>0.720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PRS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Pressures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C1C"/>
                          </a:solidFill>
                          <a:latin typeface="Arial"/>
                        </a:rPr>
                        <a:t>0.677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PAS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Pass volume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C1C"/>
                          </a:solidFill>
                          <a:latin typeface="Arial"/>
                        </a:rPr>
                        <a:t>0.532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TAC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Tackles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C1C"/>
                          </a:solidFill>
                          <a:latin typeface="Arial"/>
                        </a:rPr>
                        <a:t>0.532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CLR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Clearances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C1C"/>
                          </a:solidFill>
                          <a:latin typeface="Arial"/>
                        </a:rPr>
                        <a:t>0.491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XG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Non-pen xG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C1C"/>
                          </a:solidFill>
                          <a:latin typeface="Arial"/>
                        </a:rPr>
                        <a:t>0.482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SH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Shots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C1C"/>
                          </a:solidFill>
                          <a:latin typeface="Arial"/>
                        </a:rPr>
                        <a:t>0.447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DRB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Successful dribbles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Carrying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C1C"/>
                          </a:solidFill>
                          <a:latin typeface="Arial"/>
                        </a:rPr>
                        <a:t>0.439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PATT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Passes into final third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C1C"/>
                          </a:solidFill>
                          <a:latin typeface="Arial"/>
                        </a:rPr>
                        <a:t>0.431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CRY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Carries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Carrying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C1C"/>
                          </a:solidFill>
                          <a:latin typeface="Arial"/>
                        </a:rPr>
                        <a:t>0.413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6263640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55555"/>
                </a:solidFill>
                <a:latin typeface="Arial"/>
              </a:rPr>
              <a:t>Next: redundancy (|r|≥0.70) among these passers → final scout-card shortlist → pizzas.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3D5A80"/>
                </a:solidFill>
                <a:latin typeface="Arial"/>
              </a:rPr>
              <a:t>OUTPUT · MOCK PIZZA · FBREF / OPEN-DATA STYLE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C1C1C"/>
                </a:solidFill>
                <a:latin typeface="Georgia"/>
              </a:rPr>
              <a:t>Example player profile (mock)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555555"/>
                </a:solidFill>
                <a:latin typeface="Arial"/>
              </a:rPr>
              <a:t>Built from traits that passed stability + redundancy · not market value</a:t>
            </a:r>
          </a:p>
        </p:txBody>
      </p:sp>
      <p:pic>
        <p:nvPicPr>
          <p:cNvPr id="6" name="Picture 5" descr="mock_pizza_bundeslig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7589520" cy="50596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229600" y="1554480"/>
            <a:ext cx="3474720" cy="4114800"/>
          </a:xfrm>
          <a:prstGeom prst="roundRect">
            <a:avLst/>
          </a:prstGeom>
          <a:solidFill>
            <a:srgbClr val="F4F5F7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66760" y="1691639"/>
            <a:ext cx="32004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D5A80"/>
                </a:solidFill>
                <a:latin typeface="Arial"/>
              </a:rPr>
              <a:t>How to read</a:t>
            </a:r>
          </a:p>
          <a:p>
            <a:r>
              <a:rPr sz="1200" b="0">
                <a:solidFill>
                  <a:srgbClr val="1C1C1C"/>
                </a:solidFill>
                <a:latin typeface="Arial"/>
              </a:rPr>
              <a:t>Filled wedges = Year-1 Bundesliga percentiles.
Dashed arc = avg peer at position.
Solid arc = top peer.
Only metrics that transferred well (stable) and are non-redundant appear on the pizza.
Dropdown HTML explorer sorts players by position.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3D5A80"/>
                </a:solidFill>
                <a:latin typeface="Arial"/>
              </a:rPr>
              <a:t>RESULTS FRAMING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C1C1C"/>
                </a:solidFill>
                <a:latin typeface="Georgia"/>
              </a:rPr>
              <a:t>Traits to target · leagues to prioritize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555555"/>
                </a:solidFill>
                <a:latin typeface="Arial"/>
              </a:rPr>
              <a:t>Illustrative placeholders until FBref Tier-2 run is complete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C1C1C"/>
                </a:solidFill>
                <a:latin typeface="Arial"/>
              </a:rPr>
              <a:t>Traits that typically travel (directional): aerials, xG finishing, short/volume passing, carry length.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C1C1C"/>
                </a:solidFill>
                <a:latin typeface="Arial"/>
              </a:rPr>
              <a:t>Traits often league-style dependent: pressing volume, progressive-pass rate, possession-chain volume.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C1C1C"/>
                </a:solidFill>
                <a:latin typeface="Arial"/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C1C1C"/>
                </a:solidFill>
                <a:latin typeface="Arial"/>
              </a:rPr>
              <a:t>Source-league scorecard (Tier 1+2): rank prior leagues by Y1 minutes + profile strength on kept traits.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C1C1C"/>
                </a:solidFill>
                <a:latin typeface="Arial"/>
              </a:rPr>
              <a:t>Open-data preview feeders: World Cup, Euro, Ligue 1, La Liga, Champions League, Premier League.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3D5A80"/>
                </a:solidFill>
                <a:latin typeface="Arial"/>
              </a:rPr>
              <a:t>DELIVERABLES · CAL PACKAGE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C1C1C"/>
                </a:solidFill>
                <a:latin typeface="Georgia"/>
              </a:rPr>
              <a:t>What ships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555555"/>
                </a:solidFill>
                <a:latin typeface="Arial"/>
              </a:rPr>
              <a:t>GitHub: colbymorris08/bundesliga-transfer-traits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5486400" cy="3657600"/>
          </a:xfrm>
          <a:prstGeom prst="roundRect">
            <a:avLst/>
          </a:prstGeom>
          <a:solidFill>
            <a:srgbClr val="F4F5F7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691639"/>
            <a:ext cx="52120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D5A80"/>
                </a:solidFill>
                <a:latin typeface="Arial"/>
              </a:rPr>
              <a:t>For Conrad / review</a:t>
            </a:r>
          </a:p>
          <a:p>
            <a:r>
              <a:rPr sz="1200" b="0">
                <a:solidFill>
                  <a:srgbClr val="1C1C1C"/>
                </a:solidFill>
                <a:latin typeface="Arial"/>
              </a:rPr>
              <a:t>projectproposal.docx — proposal
methodology_results_brief.html — short method deck
bundesliga_transfer_traits.pptx — this template
mock_pizza_bundesliga.png — pizza mock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486400" cy="3657600"/>
          </a:xfrm>
          <a:prstGeom prst="roundRect">
            <a:avLst/>
          </a:prstGeom>
          <a:solidFill>
            <a:srgbClr val="F4F5F7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1691639"/>
            <a:ext cx="52120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D5A80"/>
                </a:solidFill>
                <a:latin typeface="Arial"/>
              </a:rPr>
              <a:t>Interactive / data</a:t>
            </a:r>
          </a:p>
          <a:p>
            <a:r>
              <a:rPr sz="1200" b="0">
                <a:solidFill>
                  <a:srgbClr val="1C1C1C"/>
                </a:solidFill>
                <a:latin typeface="Arial"/>
              </a:rPr>
              <a:t>interactive_player_explorer.html — dropdown by position + pizza
cohort_data.json — open-data stress-test cohort
projectproposal.txt — editable source for the Word doc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C1C1C"/>
                </a:solidFill>
                <a:latin typeface="Georgia"/>
              </a:rPr>
              <a:t>Step 2 — redundancy picks (keep the more stable metric)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04672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555555"/>
                </a:solidFill>
                <a:latin typeface="Arial"/>
              </a:rPr>
              <a:t>Among stability passers (r ≥ 0.41), resolve |r| ≥ 0.70 clusters by keeping the trait with higher prior→Bundesliga Y1 stability.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325880"/>
          <a:ext cx="111556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731520"/>
                <a:gridCol w="3291840"/>
                <a:gridCol w="1371600"/>
                <a:gridCol w="4114800"/>
              </a:tblGrid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Cluster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|r|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Kept (more stable)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Stability r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Dropped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PAS ↔ CRY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0.93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PAS — Pass volume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0.532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CRY — Carries (r=0.413)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XG ↔ SH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0.86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XG — Non-pen xG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0.483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SH — Shots (r=0.447)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PPC ↔ PAS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0.79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PPC — Progressive passes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0.720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PAS — Pass volume (r=0.532)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333756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C1C1C"/>
                </a:solidFill>
                <a:latin typeface="Arial"/>
              </a:rPr>
              <a:t>Rule: when two portable metrics largely measure the same thing, keep the one that travels better.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749039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1C1C1C"/>
                </a:solidFill>
                <a:latin typeface="Arial"/>
              </a:rPr>
              <a:t>StatsBomb final shortlist (9): DIS · PPC · PRS · PAS · TAC · CLR · XG · DRB · PATT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11480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555555"/>
                </a:solidFill>
                <a:latin typeface="Arial"/>
              </a:rPr>
              <a:t>FBref planned picks (same rule via SB analogues): PrgP over Passes · Carries over PrgC · npxG over Shots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57200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Arial"/>
              </a:rPr>
              <a:t>FBref shortlist (8): PrgP · Carries · npxG · SCA · Tackles · Interceptions · Aerials won · Att-pen touches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074920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Arial"/>
              </a:rPr>
              <a:t>Dropped from StatsBomb scout card: CRY (vs PAS), SH (vs XG); PAS contested vs PPC but retained from the PAS↔CRY keep.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562356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55555"/>
                </a:solidFill>
                <a:latin typeface="Arial"/>
              </a:rPr>
              <a:t>Source: Step 2 Decision Tool PDF · stability gate r ≥ 0.41 · redundancy |r| ≥ 0.70 · cohort N=60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