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71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51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Stability</a:t>
            </a:r>
          </a:p>
          <a:p>
            <a:r>
              <a:rPr sz="1200" b="0">
                <a:solidFill>
                  <a:srgbClr val="333333"/>
                </a:solidFill>
              </a:rPr>
              <a:t>Correlate prior → Year 1 in Bundesliga per-90 rates. Keep metrics that travel (clear the floor). Metrics that miss the floor are non-portable — reported as failed/unstable in the inspector, not on the scout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>
                <a:solidFill>
                  <a:srgbClr val="333333"/>
                </a:solidFill>
              </a:rPr>
              <a:t>FBref category gates → 43 of 105 metrics met the stability floor. StatsBomb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— yes: success means more Year 1 in Bundesliga minutes (playing time), not goals or market value. We ask whether higher prior trait ranks line up with more first-season minutes.</a:t>
            </a:r>
          </a:p>
          <a:p>
            <a:r>
              <a:rPr sz="1200" b="0">
                <a:solidFill>
                  <a:srgbClr val="333333"/>
                </a:solidFill>
              </a:rPr>
              <a:t>Redundancy = drop near-duplicate metrics. Percentiles = rank vs Bundesliga position peers.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“how high vs peers in the same prior league” (z-score / percentile). It did not improve prior→Year 1 stability, so we keep absolute per-90 rates everywhere.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Priors = any StatsBomb open men’s competition the player played before Bundesliga (club leagues and internationals — World Cup, Euro, Champions League, etc.).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Open-data thinness · two BL seasons · event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+ international competitions, so feeder tables here are directional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200" b="0">
                <a:solidFill>
                  <a:srgbClr val="333333"/>
                </a:solidFill>
              </a:rPr>
              <a:t>43 of 105 metrics pass → redundancy next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  <a:p>
            <a:r>
              <a:rPr sz="1200" b="0">
                <a:solidFill>
                  <a:srgbClr val="333333"/>
                </a:solidFill>
              </a:rPr>
              <a:t>Unstable metrics (the other 62) miss the floor — non-portable;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r>
                        <a:t>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Metric (full name)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Defensive penalty-area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Expected goals (xG)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Non-penalty expected goals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Defensive-third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Progressive carry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Shots per 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Shot blocks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Non-pen xG + xAG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xG + xAG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Long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Shots on target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Shots on target per 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Long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Medium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Medium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Total pass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Progressive passes received (count)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Goals +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Free kicks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</a:rPr>
              <a:t>Open Data · cohort N=96 · 7 of 16 pass (r≥0.40)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✓  Progressive passes (~10m+ toward goal)  r=0.74</a:t>
            </a:r>
          </a:p>
          <a:p>
            <a:r>
              <a:rPr sz="1100">
                <a:solidFill>
                  <a:srgbClr val="333333"/>
                </a:solidFill>
              </a:rPr>
              <a:t>✓  Dispossessed (inverted)  r=0.59</a:t>
            </a:r>
          </a:p>
          <a:p>
            <a:r>
              <a:rPr sz="1100">
                <a:solidFill>
                  <a:srgbClr val="333333"/>
                </a:solidFill>
              </a:rPr>
              <a:t>✓  Pressures  r=0.51</a:t>
            </a:r>
          </a:p>
          <a:p>
            <a:r>
              <a:rPr sz="1100">
                <a:solidFill>
                  <a:srgbClr val="333333"/>
                </a:solidFill>
              </a:rPr>
              <a:t>✓  Pass volume  r=0.49</a:t>
            </a:r>
          </a:p>
          <a:p>
            <a:r>
              <a:rPr sz="1100">
                <a:solidFill>
                  <a:srgbClr val="333333"/>
                </a:solidFill>
              </a:rPr>
              <a:t>✓  Clearances  r=0.47</a:t>
            </a:r>
          </a:p>
          <a:p>
            <a:r>
              <a:rPr sz="1100">
                <a:solidFill>
                  <a:srgbClr val="333333"/>
                </a:solidFill>
              </a:rPr>
              <a:t>✓  Successful dribbles  r=0.46</a:t>
            </a:r>
          </a:p>
          <a:p>
            <a:r>
              <a:rPr sz="1100">
                <a:solidFill>
                  <a:srgbClr val="333333"/>
                </a:solidFill>
              </a:rPr>
              <a:t>✓  Passes into final third  r=0.42</a:t>
            </a:r>
          </a:p>
          <a:p>
            <a:r>
              <a:rPr sz="1100">
                <a:solidFill>
                  <a:srgbClr val="333333"/>
                </a:solidFill>
              </a:rPr>
              <a:t>·  Shots  r=0.40 (out)</a:t>
            </a:r>
          </a:p>
          <a:p>
            <a:r>
              <a:rPr sz="1100">
                <a:solidFill>
                  <a:srgbClr val="333333"/>
                </a:solidFill>
              </a:rPr>
              <a:t>·  Progressive carries  r=0.38 (out)</a:t>
            </a:r>
          </a:p>
          <a:p>
            <a:r>
              <a:rPr sz="1100">
                <a:solidFill>
                  <a:srgbClr val="333333"/>
                </a:solidFill>
              </a:rPr>
              <a:t>·  Carries  r=0.38 (out)</a:t>
            </a:r>
          </a:p>
          <a:p>
            <a:r>
              <a:rPr sz="1100">
                <a:solidFill>
                  <a:srgbClr val="333333"/>
                </a:solidFill>
              </a:rPr>
              <a:t>·  Tackles  r=0.34 · Non-pen xG  r=0.30 · Fouls won  r=0.27</a:t>
            </a:r>
          </a:p>
          <a:p>
            <a:r>
              <a:rPr sz="1100">
                <a:solidFill>
                  <a:srgbClr val="333333"/>
                </a:solidFill>
              </a:rPr>
              <a:t>·  Interceptions  r=0.20 · Expected assists  r=0.13 ·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t>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Metric (full name)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Non-penalty expected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100" b="0">
                <a:solidFill>
                  <a:srgbClr val="333333"/>
                </a:solidFill>
              </a:rPr>
              <a:t>Metric codes: see Glossary slide (PPC, DIS, PRS, …).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Position changes: we use broad position groups for peer ranks. We do not model "CB became FB" as the main story — role switches can add noise to stability,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</a:rPr>
              <a:t>StatsBomb shortlist (7)</a:t>
            </a:r>
          </a:p>
          <a:p>
            <a:r>
              <a:rPr sz="1100">
                <a:solidFill>
                  <a:srgbClr val="333333"/>
                </a:solidFill>
              </a:rPr>
              <a:t>Stability r≥0.40 · redundancy |r|≥0.85 (passes kept)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Progressive passes  r=0.74</a:t>
            </a:r>
          </a:p>
          <a:p>
            <a:r>
              <a:rPr sz="1100">
                <a:solidFill>
                  <a:srgbClr val="333333"/>
                </a:solidFill>
              </a:rPr>
              <a:t>Dispossessed (inverted)  r=0.59</a:t>
            </a:r>
          </a:p>
          <a:p>
            <a:r>
              <a:rPr sz="1100">
                <a:solidFill>
                  <a:srgbClr val="333333"/>
                </a:solidFill>
              </a:rPr>
              <a:t>Pressures  r=0.51</a:t>
            </a:r>
          </a:p>
          <a:p>
            <a:r>
              <a:rPr sz="1100">
                <a:solidFill>
                  <a:srgbClr val="333333"/>
                </a:solidFill>
              </a:rPr>
              <a:t>Pass volume  r=0.49</a:t>
            </a:r>
          </a:p>
          <a:p>
            <a:r>
              <a:rPr sz="1100">
                <a:solidFill>
                  <a:srgbClr val="333333"/>
                </a:solidFill>
              </a:rPr>
              <a:t>Clearances  r=0.47</a:t>
            </a:r>
          </a:p>
          <a:p>
            <a:r>
              <a:rPr sz="1100">
                <a:solidFill>
                  <a:srgbClr val="333333"/>
                </a:solidFill>
              </a:rPr>
              <a:t>Successful dribbles  r=0.46</a:t>
            </a:r>
          </a:p>
          <a:p>
            <a:r>
              <a:rPr sz="1100">
                <a:solidFill>
                  <a:srgbClr val="333333"/>
                </a:solidFill>
              </a:rPr>
              <a:t>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</a:rPr>
              <a:t>FBref: 43 cleared stability → 32 kept</a:t>
            </a:r>
          </a:p>
          <a:p>
            <a:r>
              <a:rPr sz="1100">
                <a:solidFill>
                  <a:srgbClr val="333333"/>
                </a:solidFill>
              </a:rPr>
              <a:t>105 tested · category gates → 43 · Pearson |r|≥0.95 → drop near-duplicates → 32</a:t>
            </a:r>
          </a:p>
          <a:p>
            <a:r>
              <a:rPr sz="110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>
                <a:solidFill>
                  <a:srgbClr val="333333"/>
                </a:solidFill>
              </a:rPr>
              <a:t>Pick order when choosing which to keep: higher stability → larger N → prefer rate/contextual</a:t>
            </a:r>
          </a:p>
          <a:p>
            <a:r>
              <a:rPr sz="1100">
                <a:solidFill>
                  <a:srgbClr val="333333"/>
                </a:solidFill>
              </a:rPr>
              <a:t>Top stability examples: Defensive penalty-area touches (0.91) · Progressive carries (0.81) · Expected goals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30428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9260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54203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333333"/>
                </a:solidFill>
              </a:rPr>
              <a:t>Expected goals (0.80) · Goals (0.66) · Shots on target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6118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1638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333333"/>
                </a:solidFill>
              </a:rPr>
              <a:t>Progressive carries (0.81) · Progressive carry distance (0.79) · Key passes (0.65) · Final-third passes (0.62) · Medium completion % (0.64) · Crosses into box (0.59) · Crosses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29768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384962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333333"/>
                </a:solidFill>
              </a:rPr>
              <a:t>Progressive receives (0.60) · Attacking-third touches (0.54) · Successful take-ons (0.65) · Miscontrols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074920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53542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333333"/>
                </a:solidFill>
              </a:rPr>
              <a:t>Defensive box touches (0.91) · Clearances (0.67) · Tackled take-ons (0.59) · Aerials won (0.42) · Shot blocks (0.79) · Interceptions (0.57) · Aerials lost (0.42) · Aerial win % (0.50) · Defensive-third touches (0.79) · Tackle % (0.31) · Recoveries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31266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33333"/>
                </a:solidFill>
              </a:rPr>
              <a:t>Fouls drawn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Year 1 in Bundesliga · red dotted = prior · dashed = 50th-percentile Bundesliga peer · grey = 90th-percentile Bundesliga peer.</a:t>
            </a:r>
          </a:p>
          <a:p>
            <a:r>
              <a:rPr sz="1200" b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Explorer: StatsBomb N=96 · 7 traits · FBref N=329 · 32 traits.</a:t>
            </a:r>
          </a:p>
          <a:p>
            <a:r>
              <a:rPr sz="1200" b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What “stable-trait score” means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One number that answers: in Year 1 in Bundesliga, how strong is this player on the portable (shortlisted) traits — vs peers at their position?</a:t>
            </a:r>
          </a:p>
          <a:p>
            <a:r>
              <a:rPr sz="1300" b="0">
                <a:solidFill>
                  <a:srgbClr val="333333"/>
                </a:solidFill>
              </a:rPr>
              <a:t/>
            </a:r>
          </a:p>
          <a:p>
            <a:r>
              <a:rPr sz="1300" b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Phase 2: after shortlisting, test what lines up with Bundesliga success.</a:t>
            </a:r>
          </a:p>
          <a:p>
            <a:r>
              <a:rPr sz="1200" b="0">
                <a:solidFill>
                  <a:srgbClr val="333333"/>
                </a:solidFill>
              </a:rPr>
              <a:t>Primary success = Year 1 in Bundesliga minutes (more minutes = more playing time).</a:t>
            </a:r>
          </a:p>
          <a:p>
            <a:r>
              <a:rPr sz="1200" b="0">
                <a:solidFill>
                  <a:srgbClr val="333333"/>
                </a:solidFill>
              </a:rPr>
              <a:t>Also reported: Year 1 minutes percentile · stable-trait score (secondary).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Spearman ρ: rank players on a prior trait, rank them on Year 1 minutes, correlate the ranks. It does not assume minutes rise linearly — only that higher prior trait ranks tend to coincide with more minutes.</a:t>
            </a:r>
          </a:p>
          <a:p>
            <a:r>
              <a:rPr sz="1200" b="0">
                <a:solidFill>
                  <a:srgbClr val="333333"/>
                </a:solidFill>
              </a:rPr>
              <a:t>Minutes always depend on competition for the XI, injuries, and manager choice — we treat this as an associative open-data proxy, not a causal “deserved minutes” metric.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Then: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1. Bundesliga season (“Year 1 in Bundesliga minutes”).</a:t>
            </a:r>
          </a:p>
          <a:p>
            <a:r>
              <a:rPr sz="1200" b="0">
                <a:solidFill>
                  <a:srgbClr val="333333"/>
                </a:solidFill>
              </a:rPr>
              <a:t>Plain English: did the club trust and use the inbound player (playing-time success)?</a:t>
            </a:r>
          </a:p>
          <a:p>
            <a:r>
              <a:rPr sz="1200" b="0">
                <a:solidFill>
                  <a:srgbClr val="333333"/>
                </a:solidFill>
              </a:rPr>
              <a:t>Also reported (secondary): Year 1 minutes percentile (rank in cohort) and stable-trait score (how strong the Year 1 profile looks on portable traits).</a:t>
            </a:r>
          </a:p>
          <a:p>
            <a:r>
              <a:rPr sz="1200" b="0">
                <a:solidFill>
                  <a:srgbClr val="333333"/>
                </a:solidFill>
              </a:rPr>
              <a:t>Trait &amp; league tests ask: which prior signals line up with more Year 1 minutes?</a:t>
            </a: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vs a reference league (Serie A), holding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</a:rPr>
              <a:t>StatsBomb (N=96)</a:t>
            </a:r>
          </a:p>
          <a:p>
            <a:r>
              <a:rPr sz="1100">
                <a:solidFill>
                  <a:srgbClr val="333333"/>
                </a:solidFill>
              </a:rPr>
              <a:t>prior percentile → Year 1 in Bundesliga minutes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Pressures  ρ=-0.28  p=0.006</a:t>
            </a:r>
          </a:p>
          <a:p>
            <a:r>
              <a:rPr sz="110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>
                <a:solidFill>
                  <a:srgbClr val="333333"/>
                </a:solidFill>
              </a:rPr>
              <a:t>Dispossessed (inverted)  ρ=+0.14  p=0.185</a:t>
            </a:r>
          </a:p>
          <a:p>
            <a:r>
              <a:rPr sz="1100">
                <a:solidFill>
                  <a:srgbClr val="333333"/>
                </a:solidFill>
              </a:rPr>
              <a:t>Passes into final third  ρ=-0.11  p=0.280</a:t>
            </a:r>
          </a:p>
          <a:p>
            <a:r>
              <a:rPr sz="110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>
                <a:solidFill>
                  <a:srgbClr val="333333"/>
                </a:solidFill>
              </a:rPr>
              <a:t>Pass volume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Dispossessed (inverted)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</a:rPr>
              <a:t>FBref (N=329)</a:t>
            </a:r>
          </a:p>
          <a:p>
            <a:r>
              <a:rPr sz="1100">
                <a:solidFill>
                  <a:srgbClr val="333333"/>
                </a:solidFill>
              </a:rPr>
              <a:t>prior percentile → Year 1 in Bundesliga minutes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Final-third passes  ρ=+0.30  p=0.005 *</a:t>
            </a:r>
          </a:p>
          <a:p>
            <a:r>
              <a:rPr sz="1100">
                <a:solidFill>
                  <a:srgbClr val="333333"/>
                </a:solidFill>
              </a:rPr>
              <a:t>Shot blocks  ρ=+0.27  p=0.011 *</a:t>
            </a:r>
          </a:p>
          <a:p>
            <a:r>
              <a:rPr sz="1100">
                <a:solidFill>
                  <a:srgbClr val="333333"/>
                </a:solidFill>
              </a:rPr>
              <a:t>Progressive carry distance  ρ=+0.24  p=0.025 *</a:t>
            </a:r>
          </a:p>
          <a:p>
            <a:r>
              <a:rPr sz="1100">
                <a:solidFill>
                  <a:srgbClr val="333333"/>
                </a:solidFill>
              </a:rPr>
              <a:t>Tackled take-ons  ρ=+0.23  p=0.030 *</a:t>
            </a:r>
          </a:p>
          <a:p>
            <a:r>
              <a:rPr sz="1100">
                <a:solidFill>
                  <a:srgbClr val="333333"/>
                </a:solidFill>
              </a:rPr>
              <a:t>Long pass attempts  ρ=+0.22  p=0.036 *</a:t>
            </a:r>
          </a:p>
          <a:p>
            <a:r>
              <a:rPr sz="1100">
                <a:solidFill>
                  <a:srgbClr val="333333"/>
                </a:solidFill>
              </a:rPr>
              <a:t>Defensive-third touches  ρ=+0.22  p=0.039 *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* p&lt;0.05  ·  Final-third passes, shot blocks, progressive carry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Final-third passes*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carry distance*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Tackled take-ons*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Long pass attempts*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Defensive-third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Miscontrols (carries)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100" b="0">
                <a:solidFill>
                  <a:srgbClr val="333333"/>
                </a:solidFill>
              </a:rPr>
              <a:t>Selection bias: these are players clubs already chose to sign from each feeder — not a random draw from that league. Means describe arrived cohorts, not “transfer from X causes minutes.”</a:t>
            </a:r>
          </a:p>
          <a:p>
            <a:r>
              <a:rPr sz="1100" b="0">
                <a:solidFill>
                  <a:srgbClr val="333333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(PL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Final Third, Def Pen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Big-5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Big-5 FBref subset N=117. Associative / exploratory — not a validated forecast.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Aerials lost (fewer = better)*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Final-third passes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Defensive penalty-area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Progressive carry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Expected goals (xG)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Does this make sense?</a:t>
            </a:r>
          </a:p>
          <a:p>
            <a:r>
              <a:rPr sz="1200" b="0">
                <a:solidFill>
                  <a:srgbClr val="333333"/>
                </a:solidFill>
              </a:rPr>
              <a:t>Yes — Ligue 1’s +163 minutes vs Serie A looks large on the table but p≈0.38 (N=117): not statistically distinguishable from noise. Modest, non-significant league gaps are exactly what you’d expect if clubs already select carefully and league labels are weak once minutes/position are controlled.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Year 1 minutes; league is a weak residual signal.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Serie A = baseline (lowest mean Year 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Feeder-league gaps are modest; exploratory OLS (N=117) — traits matter more than league label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3024</TotalTime>
  <Words>3932</Words>
  <Application>Microsoft Macintosh PowerPoint</Application>
  <PresentationFormat>Widescreen</PresentationFormat>
  <Paragraphs>681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17</cp:revision>
  <dcterms:created xsi:type="dcterms:W3CDTF">2013-01-27T09:14:16Z</dcterms:created>
  <dcterms:modified xsi:type="dcterms:W3CDTF">2026-07-23T00:03:12Z</dcterms:modified>
  <cp:category/>
</cp:coreProperties>
</file>