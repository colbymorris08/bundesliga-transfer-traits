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85" r:id="rId5"/>
    <p:sldId id="268" r:id="rId6"/>
    <p:sldId id="281" r:id="rId7"/>
    <p:sldId id="282" r:id="rId8"/>
    <p:sldId id="260" r:id="rId9"/>
    <p:sldId id="259" r:id="rId10"/>
    <p:sldId id="261" r:id="rId11"/>
    <p:sldId id="263" r:id="rId12"/>
    <p:sldId id="267" r:id="rId13"/>
    <p:sldId id="264" r:id="rId14"/>
    <p:sldId id="269" r:id="rId15"/>
    <p:sldId id="276" r:id="rId16"/>
    <p:sldId id="270" r:id="rId17"/>
    <p:sldId id="271" r:id="rId18"/>
    <p:sldId id="274" r:id="rId19"/>
    <p:sldId id="275" r:id="rId20"/>
    <p:sldId id="280" r:id="rId21"/>
    <p:sldId id="278" r:id="rId22"/>
    <p:sldId id="277" r:id="rId23"/>
    <p:sldId id="284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5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4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</a:rPr>
              <a:t>Which traits most accurately travel into the Bundesliga (Germany’s top men’s soccer league) from other professional soccer leagues?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6" name="Picture 5" descr="feeder_to_bundesliga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3950000"/>
            <a:ext cx="11500000" cy="316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Year 1 in Bundesliga per-90 rates. Keep metrics that travel (clear the floor). Metrics that miss the floor are non-portable — reported as failed/unstable in the inspector, not on the scout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77421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5112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 category gates → 43 of 105 metrics met the stability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50000"/>
            <a:ext cx="548640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550000"/>
            <a:ext cx="73152" cy="1991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550000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550000"/>
            <a:ext cx="544068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550000"/>
            <a:ext cx="73152" cy="1991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550000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0D9A-CA05-B390-A111-8EF555C1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FFF173-1B67-703E-F4CF-543D51E90C8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C5A663-8ACF-1B45-0C3E-B03A46755894}"/>
              </a:ext>
            </a:extLst>
          </p:cNvPr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24C91A-B18B-A00B-0A82-7B6740FD3FAC}"/>
              </a:ext>
            </a:extLst>
          </p:cNvPr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GENERAL OVERVIEW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pic>
        <p:nvPicPr>
          <p:cNvPr id="22" name="Picture 21" descr="feeder_to_bundesliga_design.png">
            <a:extLst>
              <a:ext uri="{FF2B5EF4-FFF2-40B4-BE49-F238E27FC236}">
                <a16:creationId xmlns:a16="http://schemas.microsoft.com/office/drawing/2014/main" id="{E3B9D340-9236-584D-9CBF-1C4383A04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04" y="1508167"/>
            <a:ext cx="10484591" cy="471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62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— yes: success means more Year 1 in Bundesliga minutes (playing time), not goals or market value. We ask whether higher prior trait ranks line up with more first-season minutes.</a:t>
            </a:r>
          </a:p>
          <a:p>
            <a:r>
              <a:rPr sz="1200" b="0">
                <a:solidFill>
                  <a:srgbClr val="333333"/>
                </a:solidFill>
              </a:rPr>
              <a:t>Redundancy = drop near-duplicate metrics. Percentiles = rank vs Bundesliga position peers.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FBREF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Primary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 b="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 b="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League-relative scaling (mentioned once): we tried “how high vs peers in the same prior league” (z-score / percentile). It did not improve prior→Year 1 stability, so we keep absolute per-90 rates everywhere.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Priors = any StatsBomb open men’s competition the player played before Bundesliga (club leagues and internationals — World Cup, Euro, Champions League, etc.).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Open-data thinness · two BL seasons · event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+ international competitions, so feeder tables here are directional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 dirty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200" b="0" dirty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200" b="0" dirty="0">
                <a:solidFill>
                  <a:srgbClr val="333333"/>
                </a:solidFill>
              </a:rPr>
              <a:t>43 of 105 metrics pass → redundancy next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Defending Pearson threshold was lower because less metrics made it above the 0.6 cutoff and defending is inherently harder to calculate due to importance of non-represented on field positioning.</a:t>
            </a:r>
            <a:endParaRPr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Metric codes: see Glossary slide.</a:t>
            </a:r>
          </a:p>
          <a:p>
            <a:r>
              <a:rPr sz="1200" b="0" dirty="0">
                <a:solidFill>
                  <a:srgbClr val="333333"/>
                </a:solidFill>
              </a:rPr>
              <a:t>Unstable metrics (the other 62) miss the floor — non-portable;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0852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100" b="0" dirty="0">
                <a:solidFill>
                  <a:srgbClr val="333333"/>
                </a:solidFill>
              </a:rPr>
              <a:t>Metric codes: see Glossary slide (PPC, DIS, PRS, …).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Position changes: we use broad position groups for peer ranks. We do not model "CB became FB" as the main story — role switches can add noise to stability,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: 43 cleared stability → 32 kept</a:t>
            </a:r>
          </a:p>
          <a:p>
            <a:r>
              <a:rPr sz="1100" b="0" dirty="0">
                <a:solidFill>
                  <a:srgbClr val="333333"/>
                </a:solidFill>
              </a:rPr>
              <a:t>105 tested · category gates → 43 · Pearson |r|≥0.95 → drop near-duplicates → 32</a:t>
            </a:r>
          </a:p>
          <a:p>
            <a:r>
              <a:rPr sz="1100" b="0" dirty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 dirty="0">
                <a:solidFill>
                  <a:srgbClr val="333333"/>
                </a:solidFill>
              </a:rPr>
              <a:t>Pick order when choosing which to keep: higher stability → larger N → prefer rate/contextual</a:t>
            </a:r>
          </a:p>
          <a:p>
            <a:r>
              <a:rPr sz="1100" b="0" dirty="0">
                <a:solidFill>
                  <a:srgbClr val="333333"/>
                </a:solidFill>
              </a:rPr>
              <a:t>Top stability examples: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70803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457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How to read</a:t>
            </a:r>
          </a:p>
          <a:p>
            <a:r>
              <a:rPr sz="1200" b="0" dirty="0">
                <a:solidFill>
                  <a:srgbClr val="333333"/>
                </a:solidFill>
              </a:rPr>
              <a:t>Blue = Year 1 in Bundesliga 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R</a:t>
            </a:r>
            <a:r>
              <a:rPr sz="1200" b="0" dirty="0">
                <a:solidFill>
                  <a:srgbClr val="333333"/>
                </a:solidFill>
              </a:rPr>
              <a:t>ed dotted = prior </a:t>
            </a:r>
            <a:r>
              <a:rPr lang="en-US" sz="1200" b="0" dirty="0">
                <a:solidFill>
                  <a:srgbClr val="333333"/>
                </a:solidFill>
              </a:rPr>
              <a:t>Season</a:t>
            </a:r>
          </a:p>
          <a:p>
            <a:r>
              <a:rPr lang="en-US" sz="1200" dirty="0">
                <a:solidFill>
                  <a:srgbClr val="333333"/>
                </a:solidFill>
              </a:rPr>
              <a:t>D</a:t>
            </a:r>
            <a:r>
              <a:rPr sz="1200" b="0" dirty="0">
                <a:solidFill>
                  <a:srgbClr val="333333"/>
                </a:solidFill>
              </a:rPr>
              <a:t>ashed = 50th-percentile Bundesliga peer </a:t>
            </a:r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b="0" dirty="0">
                <a:solidFill>
                  <a:srgbClr val="333333"/>
                </a:solidFill>
              </a:rPr>
              <a:t>G</a:t>
            </a:r>
            <a:r>
              <a:rPr sz="1200" b="0" dirty="0">
                <a:solidFill>
                  <a:srgbClr val="333333"/>
                </a:solidFill>
              </a:rPr>
              <a:t>rey = 90th-percentile Bundesliga peer</a:t>
            </a:r>
            <a:endParaRPr lang="en-US"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Explorer: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N=96 · 7 traits · </a:t>
            </a:r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N=329 · 32 traits.</a:t>
            </a:r>
          </a:p>
          <a:p>
            <a:r>
              <a:rPr sz="1200" b="0" dirty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One number that answers: in Year 1 in Bundesliga, how strong is this player on the portable (shortlisted) traits — vs peers at their position?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</a:rPr>
              <a:t>Phase 2: after trimming the metrics to the portable shortlist, test what lines up with Bundesliga success.</a:t>
            </a:r>
          </a:p>
          <a:p>
            <a:endParaRPr sz="1100">
              <a:solidFill>
                <a:srgbClr val="333333"/>
              </a:solidFill>
            </a:endParaRPr>
          </a:p>
          <a:p>
            <a:r>
              <a:rPr sz="110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endParaRPr sz="1100">
              <a:solidFill>
                <a:srgbClr val="333333"/>
              </a:solidFill>
            </a:endParaRPr>
          </a:p>
          <a:p>
            <a:r>
              <a:rPr sz="110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>
                <a:solidFill>
                  <a:srgbClr val="333333"/>
                </a:solidFill>
              </a:rPr>
              <a:t>• Year 1 minutes percentile — where this player’s first-season minutes rank among other inbound players in the study (0–100).</a:t>
            </a:r>
          </a:p>
          <a:p>
            <a:r>
              <a:rPr sz="1100">
                <a:solidFill>
                  <a:srgbClr val="333333"/>
                </a:solidFill>
              </a:rPr>
              <a:t>• Stable-trait score — how strong their Year 1 profile looks on the portable traits we kept (average percentile vs position peers).</a:t>
            </a:r>
          </a:p>
          <a:p>
            <a:endParaRPr sz="1100">
              <a:solidFill>
                <a:srgbClr val="333333"/>
              </a:solidFill>
            </a:endParaRPr>
          </a:p>
          <a:p>
            <a:r>
              <a:rPr sz="1100">
                <a:solidFill>
                  <a:srgbClr val="333333"/>
                </a:solidFill>
              </a:rPr>
              <a:t>Spearman ρ: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endParaRPr sz="1100">
              <a:solidFill>
                <a:srgbClr val="333333"/>
              </a:solidFill>
            </a:endParaRPr>
          </a:p>
          <a:p>
            <a:r>
              <a:rPr sz="110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endParaRPr sz="1100">
              <a:solidFill>
                <a:srgbClr val="333333"/>
              </a:solidFill>
            </a:endParaRPr>
          </a:p>
          <a:p>
            <a:r>
              <a:rPr sz="1100">
                <a:solidFill>
                  <a:srgbClr val="333333"/>
                </a:solidFill>
              </a:rPr>
              <a:t>Next steps on later slides: compare average Year 1 minutes by prior league (feeder-league averages),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Primary success marker: minutes played in the player’s first Bundesliga season (“Year 1 in Bundesliga minutes”).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Success means the club gave the inbound player playing time — not goals scored and not market value.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Also reported (secondary):</a:t>
            </a:r>
          </a:p>
          <a:p>
            <a:r>
              <a:rPr sz="1200">
                <a:solidFill>
                  <a:srgbClr val="333333"/>
                </a:solidFill>
              </a:rPr>
              <a:t>• Year 1 minutes percentile — where that player’s minutes rank among peers in the study</a:t>
            </a:r>
          </a:p>
          <a:p>
            <a:r>
              <a:rPr sz="1200">
                <a:solidFill>
                  <a:srgbClr val="333333"/>
                </a:solidFill>
              </a:rPr>
              <a:t>• Stable-trait score — how strong the Year 1 profile looks on the portable traits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Trait and league tests ask: which prior signals line up with more Year 1 minutes?</a:t>
            </a:r>
          </a:p>
          <a:p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Regression Δ Year 1 minutes = estimated extra first-season minutes versus a reference league (Serie A), holding other controls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100" b="0">
                <a:solidFill>
                  <a:srgbClr val="333333"/>
                </a:solidFill>
              </a:rPr>
              <a:t>Selection bias: these are players clubs already chose to sign from each feeder — not a random draw from that league. Means describe arrived cohorts, not “transfer from X causes minutes.”</a:t>
            </a:r>
          </a:p>
          <a:p>
            <a:r>
              <a:rPr sz="1100" b="0">
                <a:solidFill>
                  <a:srgbClr val="333333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(PL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Final Third, Def Pen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Big-5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Big-5 FBref subset N=117. Associative / exploratory — not a validated forecast.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Does this make sense?</a:t>
            </a:r>
          </a:p>
          <a:p>
            <a:r>
              <a:rPr sz="1200" b="0">
                <a:solidFill>
                  <a:srgbClr val="333333"/>
                </a:solidFill>
              </a:rPr>
              <a:t>Yes — Ligue 1’s +163 minutes vs Serie A looks large on the table but p≈0.38 (N=117): not statistically distinguishable from noise. Modest, non-significant league gaps are exactly what you’d expect if clubs already select carefully and league labels are weak once minutes/position are controlled.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Year 1 minutes; league is a weak residual signal.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Year 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What hardened the sample</a:t>
            </a:r>
          </a:p>
          <a:p>
            <a:endParaRPr sz="1400" b="1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250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dirty="0">
                <a:solidFill>
                  <a:srgbClr val="333333"/>
                </a:solidFill>
              </a:rPr>
              <a:t>• Portable shortlists: </a:t>
            </a:r>
            <a:r>
              <a:rPr sz="1300" dirty="0" err="1">
                <a:solidFill>
                  <a:srgbClr val="333333"/>
                </a:solidFill>
              </a:rPr>
              <a:t>FBref</a:t>
            </a:r>
            <a:r>
              <a:rPr sz="1300" dirty="0">
                <a:solidFill>
                  <a:srgbClr val="333333"/>
                </a:solidFill>
              </a:rPr>
              <a:t> 105 metrics tested → 43 met stability floor → 32 met redundancy floor · </a:t>
            </a:r>
            <a:r>
              <a:rPr sz="1300" dirty="0" err="1">
                <a:solidFill>
                  <a:srgbClr val="333333"/>
                </a:solidFill>
              </a:rPr>
              <a:t>StatsBomb</a:t>
            </a:r>
            <a:r>
              <a:rPr sz="1300" dirty="0">
                <a:solidFill>
                  <a:srgbClr val="333333"/>
                </a:solidFill>
              </a:rPr>
              <a:t>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300" dirty="0">
                <a:solidFill>
                  <a:srgbClr val="333333"/>
                </a:solidFill>
              </a:rPr>
              <a:t>• </a:t>
            </a:r>
            <a:r>
              <a:rPr sz="1300" dirty="0" err="1">
                <a:solidFill>
                  <a:srgbClr val="333333"/>
                </a:solidFill>
              </a:rPr>
              <a:t>FBref</a:t>
            </a:r>
            <a:r>
              <a:rPr sz="1300" dirty="0">
                <a:solidFill>
                  <a:srgbClr val="333333"/>
                </a:solidFill>
              </a:rPr>
              <a:t> traits most linked to Year 1 in Bundesliga minutes (p&lt;0.05): final-third passing, shot blocks, progressive distance, box defending</a:t>
            </a:r>
          </a:p>
          <a:p>
            <a:endParaRPr sz="1300" dirty="0">
              <a:solidFill>
                <a:srgbClr val="333333"/>
              </a:solidFill>
            </a:endParaRPr>
          </a:p>
          <a:p>
            <a:r>
              <a:rPr sz="1300" b="1" dirty="0">
                <a:solidFill>
                  <a:srgbClr val="333333"/>
                </a:solidFill>
              </a:rPr>
              <a:t>• The player (prior trait profile) matters more than the feeder-league label: exploratory OLS (N=117) finds league gaps modest/non-significant once controls and traits are included, while adding traits raises fit more than league names alone</a:t>
            </a:r>
          </a:p>
          <a:p>
            <a:endParaRPr sz="1300" dirty="0">
              <a:solidFill>
                <a:srgbClr val="333333"/>
              </a:solidFill>
            </a:endParaRPr>
          </a:p>
          <a:p>
            <a:r>
              <a:rPr sz="1300" dirty="0">
                <a:solidFill>
                  <a:srgbClr val="333333"/>
                </a:solidFill>
              </a:rPr>
              <a:t>• Scout metrics that travel league-to-league. Year 1 in Bundesliga minutes = open-data success</a:t>
            </a:r>
            <a:r>
              <a:rPr lang="en-US" sz="1300" dirty="0">
                <a:solidFill>
                  <a:srgbClr val="333333"/>
                </a:solidFill>
              </a:rPr>
              <a:t> evaluation</a:t>
            </a:r>
            <a:r>
              <a:rPr sz="1300" dirty="0">
                <a:solidFill>
                  <a:srgbClr val="333333"/>
                </a:solidFill>
              </a:rPr>
              <a:t> proxy</a:t>
            </a:r>
          </a:p>
          <a:p>
            <a:endParaRPr sz="1300" dirty="0">
              <a:solidFill>
                <a:srgbClr val="333333"/>
              </a:solidFill>
            </a:endParaRPr>
          </a:p>
          <a:p>
            <a:r>
              <a:rPr sz="1300" dirty="0">
                <a:solidFill>
                  <a:srgbClr val="333333"/>
                </a:solidFill>
              </a:rPr>
              <a:t>• Future work: </a:t>
            </a:r>
            <a:r>
              <a:rPr sz="1300" dirty="0" err="1">
                <a:solidFill>
                  <a:srgbClr val="333333"/>
                </a:solidFill>
              </a:rPr>
              <a:t>Δ</a:t>
            </a:r>
            <a:r>
              <a:rPr sz="1300" dirty="0">
                <a:solidFill>
                  <a:srgbClr val="333333"/>
                </a:solidFill>
              </a:rPr>
              <a:t> </a:t>
            </a:r>
            <a:r>
              <a:rPr sz="1300" dirty="0" err="1">
                <a:solidFill>
                  <a:srgbClr val="333333"/>
                </a:solidFill>
              </a:rPr>
              <a:t>Transfermarkt</a:t>
            </a:r>
            <a:r>
              <a:rPr sz="1300" dirty="0">
                <a:solidFill>
                  <a:srgbClr val="333333"/>
                </a:solidFill>
              </a:rPr>
              <a:t>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4522</TotalTime>
  <Words>4469</Words>
  <Application>Microsoft Macintosh PowerPoint</Application>
  <PresentationFormat>Widescreen</PresentationFormat>
  <Paragraphs>720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23</cp:revision>
  <dcterms:created xsi:type="dcterms:W3CDTF">2013-01-27T09:14:16Z</dcterms:created>
  <dcterms:modified xsi:type="dcterms:W3CDTF">2026-08-05T18:24:42Z</dcterms:modified>
  <cp:category/>
</cp:coreProperties>
</file>