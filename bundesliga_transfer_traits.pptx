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2" r:id="rId13"/>
    <p:sldId id="264" r:id="rId15"/>
    <p:sldId id="259" r:id="rId10"/>
    <p:sldId id="263" r:id="rId14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4.xml"/><Relationship Id="rId14" Type="http://schemas.openxmlformats.org/officeDocument/2006/relationships/slide" Target="slides/slide7.xml"/><Relationship Id="rId15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CAL BERKELEY · INDEPENDENT STUDY · TEMPLATE FROM NYRB PIZZA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Which traits travel into the Bundesliga?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Stability → redundancy → pizza charts · FBref primary · StatsBomb deep dive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Q1 — Portability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FBref per-90 stats stay consistent from the prior league into Bundesliga Year-1?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Q2 — Leagues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Which source leagues produce arrivals who perform effectively in Germany?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201168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83080"/>
            <a:ext cx="3291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Q3 — Deliverable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 short non-redundant trait set + pizza profiles for scouts / Conrad.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Inbound cohort from FBref season records (first Bundesliga season / prior league ≠ Bundesliga).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C1C1C"/>
                </a:solidFill>
                <a:latin typeface="Arial"/>
              </a:rPr>
              <a:t>Not Transfermarkt scrape · Not market-value model.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SAMPLE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C1C1C"/>
                </a:solidFill>
                <a:latin typeface="Arial"/>
              </a:rPr>
              <a:t>Tiers = sample scope (how big / how deep) — NOT “FBref vs StatsBomb”</a:t>
            </a:r>
          </a:p>
          <a:p>
            <a:r>
              <a:rPr sz="10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Tier 1 — Wide outcomes (target N ≥ 500)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All inbound / first Bundesliga seasons. Minutes + per-90 outcomes by position and source league.</a:t>
            </a:r>
          </a:p>
          <a:p>
            <a:r>
              <a:rPr sz="8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Tier 2 — Deep portability → pizza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Paired prior→Y1 seasons: stability on all stats → redundancy → scout-card pizzas.</a:t>
            </a:r>
          </a:p>
          <a:p>
            <a:r>
              <a:rPr sz="8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Data sources (separate idea):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• FBref = primary scale layer for Tier 1 + Tier 2 (season per-90). Not frozen yet.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• StatsBomb Open Data = live event-level deep dive on a smaller overlap (N=60 done).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C1C1C"/>
                </a:solidFill>
                <a:latin typeface="Arial"/>
              </a:rPr>
              <a:t>Tiers = sample scope (how big / how deep) — NOT “FBref vs StatsBomb”</a:t>
            </a:r>
          </a:p>
          <a:p>
            <a:r>
              <a:rPr sz="10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Tier 1 — Wide outcomes (target N ≥ 500)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All inbound / first Bundesliga seasons. Minutes + per-90 outcomes by position and source league.</a:t>
            </a:r>
          </a:p>
          <a:p>
            <a:r>
              <a:rPr sz="8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Tier 2 — Deep portability → pizza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Paired prior→Y1 seasons: stability on all stats → redundancy → scout-card pizzas.</a:t>
            </a:r>
          </a:p>
          <a:p>
            <a:r>
              <a:rPr sz="800" b="0">
                <a:solidFill>
                  <a:srgbClr val="555555"/>
                </a:solidFill>
                <a:latin typeface="Arial"/>
              </a:rPr>
              <a:t/>
            </a:r>
          </a:p>
          <a:p>
            <a:r>
              <a:rPr sz="1400" b="1">
                <a:solidFill>
                  <a:srgbClr val="1C1C1C"/>
                </a:solidFill>
                <a:latin typeface="Arial"/>
              </a:rPr>
              <a:t>Data sources (separate idea):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• FBref = primary scale layer for Tier 1 + Tier 2 (season per-90). Not frozen yet.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• StatsBomb Open Data = live event-level deep dive on a smaller overlap (N=60 done).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2004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Remember: Tier 1 / Tier 2 describe the study design.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FBref / StatsBomb describe which dataset feeds that design.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2004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55555"/>
                </a:solidFill>
                <a:latin typeface="Arial"/>
              </a:rPr>
              <a:t>Live now: StatsBomb deep dive (N=60). Next: FBref freeze for Tier 1 + Tier 2 at scale.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METHOD · REPLACES NYRB AXIS 3 (MARKET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Pipeline: stability → redundancy → pizza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Same order as the Red Bull metric framework; destination = Bundesliga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① Stability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For every FBref per-90 stat, correlate prior-league season vs Bundesliga Y1 by position. Keep stats that travel well (high cross-league r).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② Redundancy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Among stable stats, drop near-duplicates (|r| ≥ 0.70 within position). Keep one representative per cluster → short scout card.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554480"/>
            <a:ext cx="3566160" cy="347472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691639"/>
            <a:ext cx="3291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③ Pizza charts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Player profiles only from the stable + non-redundant set. Prior vs Bundesliga avg / top peer reference lines. Interactive HTML + this PPT.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Metrics that passed stability (r ≥ 0.40)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555"/>
                </a:solidFill>
                <a:latin typeface="Arial"/>
              </a:rPr>
              <a:t>StatsBomb Open Data · prior → Bundesliga Y1 · cohort N=60 · 11 of 16 metrics pass the gate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024128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572000"/>
                <a:gridCol w="1737360"/>
                <a:gridCol w="1554480"/>
                <a:gridCol w="1280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 pairs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Dispossessed (inverted)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Progressive passes (~10m+ toward goal)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0.677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0.491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0.482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0.431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C1C"/>
                          </a:solidFill>
                          <a:latin typeface="Arial"/>
                        </a:rPr>
                        <a:t>0.413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C1C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55555"/>
                </a:solidFill>
                <a:latin typeface="Arial"/>
              </a:rPr>
              <a:t>Next: redundancy (|r|≥0.70) among these passers → final scout-card shortlist → pizzas.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C1C1C"/>
                </a:solidFill>
                <a:latin typeface="Georgia"/>
              </a:rPr>
              <a:t>FBref stability — status &amp; planned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FBref Tier 2 stability is not run yet (need paired prior→BL Y1 seasons at scale, target N≥500).</a:t>
            </a:r>
          </a:p>
          <a:p>
            <a:r>
              <a:rPr sz="1300" b="0">
                <a:solidFill>
                  <a:srgbClr val="555555"/>
                </a:solidFill>
                <a:latin typeface="Arial"/>
              </a:rPr>
              <a:t>Same gate planned as StatsBomb deep dive: keep stats with prior→Y1 Pearson r ≥ ~0.40, then redundancy.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00200"/>
          <a:ext cx="11155680" cy="4169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108960"/>
                <a:gridCol w="1463040"/>
                <a:gridCol w="1645920"/>
                <a:gridCol w="3931920"/>
              </a:tblGrid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FBref metric (planned)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 2 status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keep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vs Passes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Passing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drop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less stable analogue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keep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vs PrgC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Progressive carries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Carrying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drop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SB analogue failed r≥0.40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Planned keep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vs Shots (cluster)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Shots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Planned drop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less stable analogue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SCA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Shot-creating actions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Tkl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Interceptions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Aerials won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Touches in att. pen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Singleton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no high overlap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9893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8A5A00"/>
                </a:solidFill>
                <a:latin typeface="Arial"/>
              </a:rPr>
              <a:t>When FBref freeze lands: replace this table with real prior→Y1 stability r’s (same layout as the StatsBomb stability slide).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Until then: StatsBomb N=60 is the live stability evidence; FBref picks above are Step-2 plans guided by SB analogues.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OUTPUT · MOCK PIZZA · FBREF / OPEN-DATA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Example: Eric Dier (Central Defender)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StatsBomb shortlist pizza · percentiles vs Bundesliga peers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Built from traits that passed stability + redundancy · not market 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554480"/>
            <a:ext cx="3474720" cy="41148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691639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C1C1C"/>
                </a:solidFill>
                <a:latin typeface="Arial"/>
              </a:rPr>
              <a:t>How to read (percentiles — not raw rates)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/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Wedge length = Year-1 Bundesliga percentile vs peers at the position.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Center = 0th %ile · Outer rim = 100th %ile (best vs peers).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Dashed arc ≈ average peer (~50th). Solid arc ≈ top peer (~90th).</a:t>
            </a:r>
          </a:p>
          <a:p>
            <a:r>
              <a:rPr sz="1200" b="0">
                <a:solidFill>
                  <a:srgbClr val="555555"/>
                </a:solidFill>
                <a:latin typeface="Arial"/>
              </a:rPr>
              <a:t>Only traits that passed stability + redundancy appear on the pizza.</a:t>
            </a:r>
          </a:p>
        </p:txBody>
      </p:sp>
      <p:pic>
        <p:nvPicPr>
          <p:cNvPr id="9" name="Picture 8" descr="mock_pizza_bundesli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4754733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C1C1C"/>
                </a:solidFill>
                <a:latin typeface="Georgia"/>
              </a:rPr>
              <a:t>Step 2 — redundancy picks (keep the more stable metric)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Among stability passers (r ≥ 0.41), resolve |r| ≥ 0.70 clusters by keeping the trait with higher prior→Bundesliga Y1 stability.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3291840"/>
                <a:gridCol w="1371600"/>
                <a:gridCol w="4114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Cluster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|r|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Kept (more stable)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Stability 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Dropped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↔ 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PAS — 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0.532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CRY — Carries (r=0.413)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↔ 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XG — Non-pen 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0.483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SH — Shots (r=0.447)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↔ 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PAS — Pass volume (r=0.532)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337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C1C1C"/>
                </a:solidFill>
                <a:latin typeface="Arial"/>
              </a:rPr>
              <a:t>Rule: when two portable metrics largely measure the same thing, keep the one that travels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3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C1C1C"/>
                </a:solidFill>
                <a:latin typeface="Arial"/>
              </a:rPr>
              <a:t>StatsBomb final shortlist (9): DIS · PPC · PRS · PAS · TAC · CLR · XG · DRB · PATT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latin typeface="Arial"/>
              </a:rPr>
              <a:t>FBref planned picks (same rule via SB analogues): PrgP over Passes · Carries over PrgC · npxG over Shots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FBref shortlist (8): PrgP · Carries · npxG · SCA · Tackles · Interceptions · Aerials won · Att-pen touches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07492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Dropped from StatsBomb scout card: CRY (vs PAS), SH (vs XG); PAS contested vs PPC but retained from the PAS↔CRY keep.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6235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  <a:latin typeface="Arial"/>
              </a:rPr>
              <a:t>Source: Step 2 Decision Tool PDF · stability gate r ≥ 0.41 · redundancy |r| ≥ 0.70 · cohort N=60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RESULTS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Traits to target · leagues to prioritize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Illustrative placeholders until FBref Tier-2 run is complete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that typically travel (directional): aerials, xG finishing, short/volume passing, carry length.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Traits often league-style dependent: pressing volume, progressive-pass rate, possession-chain volume.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Source-league scorecard (Tier 1+2): rank prior leagues by Y1 minutes + profile strength on kept traits.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C1C1C"/>
                </a:solidFill>
                <a:latin typeface="Arial"/>
              </a:rPr>
              <a:t>Open-data preview feeders: World Cup, Euro, Ligue 1, La Liga, Champions League, Premier League.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D5A80"/>
                </a:solidFill>
                <a:latin typeface="Arial"/>
              </a:rPr>
              <a:t>DELIVERABLES · CAL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C1C1C"/>
                </a:solidFill>
                <a:latin typeface="Georgia"/>
              </a:rPr>
              <a:t>What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555555"/>
                </a:solidFill>
                <a:latin typeface="Arial"/>
              </a:rPr>
              <a:t>GitHub: colbymorris08/bundesliga-transfer-traits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For Conrad / review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projectproposal.docx — proposal
methodology_results_brief.html — short method deck
bundesliga_transfer_traits.pptx — this template
mock_pizza_bundesliga.png — pizza mock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486400" cy="3657600"/>
          </a:xfrm>
          <a:prstGeom prst="roundRect">
            <a:avLst/>
          </a:prstGeom>
          <a:solidFill>
            <a:srgbClr val="F4F5F7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39"/>
            <a:ext cx="52120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D5A80"/>
                </a:solidFill>
                <a:latin typeface="Arial"/>
              </a:rPr>
              <a:t>Interactive / data</a:t>
            </a:r>
          </a:p>
          <a:p>
            <a:r>
              <a:rPr sz="1200" b="0">
                <a:solidFill>
                  <a:srgbClr val="1C1C1C"/>
                </a:solidFill>
                <a:latin typeface="Arial"/>
              </a:rPr>
              <a:t>interactive_player_explorer.html — dropdown by position + pizza
cohort_data.json — open-data stress-test cohort
projectproposal.txt — editable source for the Word doc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