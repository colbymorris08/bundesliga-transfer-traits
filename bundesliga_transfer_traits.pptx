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68" r:id="rId5"/>
    <p:sldId id="281" r:id="rId6"/>
    <p:sldId id="282" r:id="rId7"/>
    <p:sldId id="260" r:id="rId8"/>
    <p:sldId id="259" r:id="rId9"/>
    <p:sldId id="261" r:id="rId10"/>
    <p:sldId id="263" r:id="rId11"/>
    <p:sldId id="267" r:id="rId12"/>
    <p:sldId id="264" r:id="rId13"/>
    <p:sldId id="269" r:id="rId14"/>
    <p:sldId id="276" r:id="rId15"/>
    <p:sldId id="270" r:id="rId16"/>
    <p:sldId id="271" r:id="rId17"/>
    <p:sldId id="274" r:id="rId18"/>
    <p:sldId id="275" r:id="rId19"/>
    <p:sldId id="280" r:id="rId20"/>
    <p:sldId id="278" r:id="rId21"/>
    <p:sldId id="277" r:id="rId22"/>
    <p:sldId id="279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78"/>
  </p:normalViewPr>
  <p:slideViewPr>
    <p:cSldViewPr snapToGrid="0" snapToObjects="1">
      <p:cViewPr varScale="1">
        <p:scale>
          <a:sx n="91" d="100"/>
          <a:sy n="91" d="100"/>
        </p:scale>
        <p:origin x="192" y="5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39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222222"/>
                </a:solidFill>
                <a:latin typeface="Georgia"/>
              </a:rPr>
              <a:t>Which traits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most accurately 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travel into the Bundesliga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from other professional soccer leagues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ootball R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ef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erence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1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 data sources</a:t>
            </a:r>
          </a:p>
          <a:p>
            <a:pPr algn="l"/>
            <a:endParaRPr lang="en-US" sz="1600" b="0" i="1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600" i="1" dirty="0">
                <a:solidFill>
                  <a:srgbClr val="333333"/>
                </a:solidFill>
                <a:latin typeface="Calibri"/>
              </a:rPr>
              <a:t>*Based on framework used in data science internship with Red Bull New York Transfer Market scouting analysis*</a:t>
            </a:r>
            <a:endParaRPr sz="1600" b="0" i="1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>
                <a:solidFill>
                  <a:srgbClr val="555555"/>
                </a:solidFill>
                <a:latin typeface="Calibri"/>
              </a:rPr>
              <a:t>Question → scrape → stability → thresholds → redundancy → explorer → significance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Question</a:t>
            </a:r>
          </a:p>
          <a:p>
            <a:r>
              <a:rPr sz="1200" b="0" dirty="0">
                <a:solidFill>
                  <a:srgbClr val="333333"/>
                </a:solidFill>
              </a:rPr>
              <a:t>Which traits travel into </a:t>
            </a:r>
            <a:r>
              <a:rPr lang="en-US" sz="1200" dirty="0">
                <a:solidFill>
                  <a:srgbClr val="333333"/>
                </a:solidFill>
              </a:rPr>
              <a:t>the German Bundesliga (BL) </a:t>
            </a:r>
            <a:r>
              <a:rPr sz="1200" b="0" dirty="0">
                <a:solidFill>
                  <a:srgbClr val="333333"/>
                </a:solidFill>
              </a:rPr>
              <a:t>— and which prior</a:t>
            </a:r>
            <a:r>
              <a:rPr lang="en-US" sz="1200" b="0" dirty="0">
                <a:solidFill>
                  <a:srgbClr val="333333"/>
                </a:solidFill>
              </a:rPr>
              <a:t> stats line </a:t>
            </a:r>
            <a:r>
              <a:rPr sz="1200" b="0" dirty="0">
                <a:solidFill>
                  <a:srgbClr val="333333"/>
                </a:solidFill>
              </a:rPr>
              <a:t>up with </a:t>
            </a:r>
            <a:r>
              <a:rPr lang="en-US" sz="1200" dirty="0">
                <a:solidFill>
                  <a:srgbClr val="333333"/>
                </a:solidFill>
              </a:rPr>
              <a:t>Year 1</a:t>
            </a:r>
            <a:r>
              <a:rPr sz="1200" b="0" dirty="0">
                <a:solidFill>
                  <a:srgbClr val="333333"/>
                </a:solidFill>
              </a:rPr>
              <a:t> </a:t>
            </a:r>
            <a:r>
              <a:rPr lang="en-US" sz="1200" b="0" dirty="0">
                <a:solidFill>
                  <a:srgbClr val="333333"/>
                </a:solidFill>
              </a:rPr>
              <a:t>(Y1) </a:t>
            </a:r>
            <a:r>
              <a:rPr sz="1200" b="0" dirty="0">
                <a:solidFill>
                  <a:srgbClr val="333333"/>
                </a:solidFill>
              </a:rPr>
              <a:t>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883664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Scrape two sources</a:t>
            </a:r>
          </a:p>
          <a:p>
            <a:r>
              <a:rPr lang="en-US" sz="1200" b="0" dirty="0">
                <a:solidFill>
                  <a:srgbClr val="333333"/>
                </a:solidFill>
              </a:rPr>
              <a:t>Football Reference (</a:t>
            </a:r>
            <a:r>
              <a:rPr sz="1200" b="0" dirty="0" err="1">
                <a:solidFill>
                  <a:srgbClr val="333333"/>
                </a:solidFill>
              </a:rPr>
              <a:t>F</a:t>
            </a:r>
            <a:r>
              <a:rPr lang="en-US" sz="1200" b="0" dirty="0" err="1">
                <a:solidFill>
                  <a:srgbClr val="333333"/>
                </a:solidFill>
              </a:rPr>
              <a:t>b</a:t>
            </a:r>
            <a:r>
              <a:rPr sz="1200" b="0" dirty="0" err="1">
                <a:solidFill>
                  <a:srgbClr val="333333"/>
                </a:solidFill>
              </a:rPr>
              <a:t>ref</a:t>
            </a:r>
            <a:r>
              <a:rPr lang="en-US" sz="1200" b="0" dirty="0">
                <a:solidFill>
                  <a:srgbClr val="333333"/>
                </a:solidFill>
              </a:rPr>
              <a:t>)</a:t>
            </a:r>
            <a:r>
              <a:rPr sz="1200" b="0" dirty="0">
                <a:solidFill>
                  <a:srgbClr val="333333"/>
                </a:solidFill>
              </a:rPr>
              <a:t>: 19 leagues, first BL ≥2021, ≥300′. </a:t>
            </a:r>
            <a:r>
              <a:rPr sz="1200" b="0" dirty="0" err="1">
                <a:solidFill>
                  <a:srgbClr val="333333"/>
                </a:solidFill>
              </a:rPr>
              <a:t>StatsBomb</a:t>
            </a:r>
            <a:r>
              <a:rPr sz="1200" b="0" dirty="0">
                <a:solidFill>
                  <a:srgbClr val="333333"/>
                </a:solidFill>
              </a:rPr>
              <a:t>: 17 comps; BL 2015/16 + 2023/24; ≥45′/≥30′.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596896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Stability</a:t>
            </a:r>
          </a:p>
          <a:p>
            <a:r>
              <a:rPr sz="1200" b="0" dirty="0">
                <a:solidFill>
                  <a:srgbClr val="333333"/>
                </a:solidFill>
              </a:rPr>
              <a:t>Correlate prior → BL Y1 per-90</a:t>
            </a:r>
            <a:r>
              <a:rPr lang="en-US" sz="1200" b="0" dirty="0">
                <a:solidFill>
                  <a:srgbClr val="333333"/>
                </a:solidFill>
              </a:rPr>
              <a:t> minutes</a:t>
            </a:r>
            <a:r>
              <a:rPr sz="1200" b="0" dirty="0">
                <a:solidFill>
                  <a:srgbClr val="333333"/>
                </a:solidFill>
              </a:rPr>
              <a:t>. Keep metrics that travel.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346704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310128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Choose thresholds</a:t>
            </a:r>
          </a:p>
          <a:p>
            <a:r>
              <a:rPr sz="1200" b="0" dirty="0" err="1">
                <a:solidFill>
                  <a:srgbClr val="333333"/>
                </a:solidFill>
              </a:rPr>
              <a:t>FBref</a:t>
            </a:r>
            <a:r>
              <a:rPr sz="1200" b="0" dirty="0">
                <a:solidFill>
                  <a:srgbClr val="333333"/>
                </a:solidFill>
              </a:rPr>
              <a:t> category gates → 43/105</a:t>
            </a:r>
            <a:r>
              <a:rPr lang="en-US" sz="1200" b="0" dirty="0">
                <a:solidFill>
                  <a:srgbClr val="333333"/>
                </a:solidFill>
              </a:rPr>
              <a:t> metrics</a:t>
            </a:r>
            <a:r>
              <a:rPr sz="1200" b="0" dirty="0">
                <a:solidFill>
                  <a:srgbClr val="333333"/>
                </a:solidFill>
              </a:rPr>
              <a:t>. </a:t>
            </a:r>
            <a:r>
              <a:rPr sz="1200" b="0" dirty="0" err="1">
                <a:solidFill>
                  <a:srgbClr val="333333"/>
                </a:solidFill>
              </a:rPr>
              <a:t>StatsBomb</a:t>
            </a:r>
            <a:r>
              <a:rPr sz="1200" b="0" dirty="0">
                <a:solidFill>
                  <a:srgbClr val="333333"/>
                </a:solidFill>
              </a:rPr>
              <a:t> r≥0.40 → 7/16</a:t>
            </a:r>
            <a:r>
              <a:rPr lang="en-US" sz="1200" b="0" dirty="0">
                <a:solidFill>
                  <a:srgbClr val="333333"/>
                </a:solidFill>
              </a:rPr>
              <a:t> metrics</a:t>
            </a:r>
            <a:r>
              <a:rPr sz="1200" b="0" dirty="0">
                <a:solidFill>
                  <a:srgbClr val="333333"/>
                </a:solidFill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Redundancy + context</a:t>
            </a:r>
          </a:p>
          <a:p>
            <a:r>
              <a:rPr sz="1200" b="0" dirty="0">
                <a:solidFill>
                  <a:srgbClr val="333333"/>
                </a:solidFill>
              </a:rPr>
              <a:t>Drop </a:t>
            </a:r>
            <a:r>
              <a:rPr lang="en-US" sz="1200" b="0" dirty="0">
                <a:solidFill>
                  <a:srgbClr val="333333"/>
                </a:solidFill>
              </a:rPr>
              <a:t>near-duplicates</a:t>
            </a:r>
            <a:r>
              <a:rPr sz="1200" b="0" dirty="0">
                <a:solidFill>
                  <a:srgbClr val="333333"/>
                </a:solidFill>
              </a:rPr>
              <a:t>.</a:t>
            </a:r>
            <a:r>
              <a:rPr lang="en-US" sz="1200" b="0" dirty="0">
                <a:solidFill>
                  <a:srgbClr val="333333"/>
                </a:solidFill>
              </a:rPr>
              <a:t> </a:t>
            </a:r>
            <a:r>
              <a:rPr lang="en-US" sz="1200" b="0" dirty="0" err="1">
                <a:solidFill>
                  <a:srgbClr val="333333"/>
                </a:solidFill>
              </a:rPr>
              <a:t>Fbref</a:t>
            </a:r>
            <a:r>
              <a:rPr lang="en-US" sz="1200" b="0" dirty="0">
                <a:solidFill>
                  <a:srgbClr val="333333"/>
                </a:solidFill>
              </a:rPr>
              <a:t> </a:t>
            </a:r>
            <a:r>
              <a:rPr sz="1200" b="0" dirty="0">
                <a:solidFill>
                  <a:srgbClr val="333333"/>
                </a:solidFill>
              </a:rPr>
              <a:t>43→32 · SB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Explorer &amp; graphics</a:t>
            </a:r>
          </a:p>
          <a:p>
            <a:r>
              <a:rPr sz="1200" b="0" dirty="0">
                <a:solidFill>
                  <a:srgbClr val="333333"/>
                </a:solidFill>
              </a:rPr>
              <a:t>Radars / pizzas on shortlist</a:t>
            </a:r>
            <a:r>
              <a:rPr lang="en-US" sz="1200" b="0" dirty="0">
                <a:solidFill>
                  <a:srgbClr val="333333"/>
                </a:solidFill>
              </a:rPr>
              <a:t> metrics</a:t>
            </a:r>
            <a:r>
              <a:rPr sz="1200" b="0" dirty="0">
                <a:solidFill>
                  <a:srgbClr val="333333"/>
                </a:solidFill>
              </a:rPr>
              <a:t> (</a:t>
            </a:r>
            <a:r>
              <a:rPr sz="1200" b="0" dirty="0" err="1">
                <a:solidFill>
                  <a:srgbClr val="333333"/>
                </a:solidFill>
              </a:rPr>
              <a:t>interactive_player_explorer.html</a:t>
            </a:r>
            <a:r>
              <a:rPr sz="1200" b="0" dirty="0">
                <a:solidFill>
                  <a:srgbClr val="333333"/>
                </a:solidFill>
              </a:rPr>
              <a:t>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Significance tests</a:t>
            </a:r>
          </a:p>
          <a:p>
            <a:r>
              <a:rPr sz="1200" b="0" dirty="0">
                <a:solidFill>
                  <a:srgbClr val="333333"/>
                </a:solidFill>
              </a:rPr>
              <a:t>Spearman: prior trait</a:t>
            </a:r>
            <a:r>
              <a:rPr lang="en-US" sz="1200" b="0" dirty="0">
                <a:solidFill>
                  <a:srgbClr val="333333"/>
                </a:solidFill>
              </a:rPr>
              <a:t> percentile</a:t>
            </a:r>
            <a:r>
              <a:rPr sz="1200" b="0" dirty="0">
                <a:solidFill>
                  <a:srgbClr val="333333"/>
                </a:solidFill>
              </a:rPr>
              <a:t> vs Y1 minutes; feeder</a:t>
            </a:r>
            <a:r>
              <a:rPr lang="en-US" sz="1200" b="0" dirty="0">
                <a:solidFill>
                  <a:srgbClr val="333333"/>
                </a:solidFill>
              </a:rPr>
              <a:t> league</a:t>
            </a:r>
            <a:r>
              <a:rPr sz="1200" b="0" dirty="0">
                <a:solidFill>
                  <a:srgbClr val="333333"/>
                </a:solidFill>
              </a:rPr>
              <a:t> summaries; exploratory OLS.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502920" y="4753206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1300" b="0" i="1" dirty="0">
                <a:solidFill>
                  <a:srgbClr val="555555"/>
                </a:solidFill>
                <a:latin typeface="Calibri"/>
              </a:rPr>
              <a:t>Compared to the project completed with Red Bull New York, </a:t>
            </a:r>
            <a:r>
              <a:rPr lang="en-US" sz="1300" i="1" dirty="0">
                <a:solidFill>
                  <a:srgbClr val="555555"/>
                </a:solidFill>
                <a:latin typeface="Calibri"/>
              </a:rPr>
              <a:t>the project </a:t>
            </a:r>
            <a:r>
              <a:rPr lang="en-US" sz="1300" b="0" i="1" dirty="0">
                <a:solidFill>
                  <a:srgbClr val="555555"/>
                </a:solidFill>
                <a:latin typeface="Calibri"/>
              </a:rPr>
              <a:t>defines the most portable traits for scouting leading to playing time in the Bundesliga year 1 post-transfer rather rather than</a:t>
            </a:r>
            <a:r>
              <a:rPr sz="1300" b="0" i="1" dirty="0">
                <a:solidFill>
                  <a:srgbClr val="555555"/>
                </a:solidFill>
                <a:latin typeface="Calibri"/>
              </a:rPr>
              <a:t> </a:t>
            </a:r>
            <a:r>
              <a:rPr sz="1300" b="0" i="1" dirty="0" err="1">
                <a:solidFill>
                  <a:srgbClr val="555555"/>
                </a:solidFill>
                <a:latin typeface="Calibri"/>
              </a:rPr>
              <a:t>Transfermarkt</a:t>
            </a:r>
            <a:r>
              <a:rPr sz="1300" b="0" i="1" dirty="0">
                <a:solidFill>
                  <a:srgbClr val="555555"/>
                </a:solidFill>
                <a:latin typeface="Calibri"/>
              </a:rPr>
              <a:t> value</a:t>
            </a:r>
            <a:r>
              <a:rPr lang="en-US" sz="1300" b="0" i="1" dirty="0">
                <a:solidFill>
                  <a:srgbClr val="555555"/>
                </a:solidFill>
                <a:latin typeface="Calibri"/>
              </a:rPr>
              <a:t>. Scouts and teams will be able to answer the questions: ‘Which traits do we scout in outside leagues to best predict playing time? Which leagues provide the most reliable statistics to best predict results in the BL?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3333"/>
                </a:solidFill>
                <a:latin typeface="Calibri"/>
              </a:rPr>
              <a:t>When a player moves into </a:t>
            </a:r>
            <a:r>
              <a:rPr lang="en-US" sz="1400" dirty="0">
                <a:solidFill>
                  <a:srgbClr val="333333"/>
                </a:solidFill>
                <a:latin typeface="Calibri"/>
              </a:rPr>
              <a:t>the top German league, the </a:t>
            </a:r>
            <a:r>
              <a:rPr sz="1400" b="0" dirty="0">
                <a:solidFill>
                  <a:srgbClr val="333333"/>
                </a:solidFill>
                <a:latin typeface="Calibri"/>
              </a:rPr>
              <a:t>BL, which stats stay consistent — and which are league context?</a:t>
            </a:r>
            <a:r>
              <a:rPr lang="en-US" sz="1400" b="0" dirty="0">
                <a:solidFill>
                  <a:srgbClr val="333333"/>
                </a:solidFill>
                <a:latin typeface="Calibri"/>
              </a:rPr>
              <a:t> </a:t>
            </a:r>
          </a:p>
          <a:p>
            <a:pPr>
              <a:spcAft>
                <a:spcPts val="500"/>
              </a:spcAft>
            </a:pPr>
            <a:r>
              <a:rPr lang="en-US" sz="1400" i="1" dirty="0">
                <a:solidFill>
                  <a:srgbClr val="333333"/>
                </a:solidFill>
                <a:latin typeface="Calibri"/>
              </a:rPr>
              <a:t>This applies only to player who entered the BL from a different league. AKA player transfers</a:t>
            </a:r>
            <a:endParaRPr sz="1400" b="0" i="1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C1C1C"/>
                </a:solidFill>
                <a:latin typeface="Georgia"/>
              </a:rPr>
              <a:t>Difference from NYRB Project: </a:t>
            </a:r>
            <a:r>
              <a:rPr sz="1400" b="1" dirty="0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Stability → Redundancy → Pizza/explorer → Success.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4864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3995928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= scale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d metrics, larger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19 leagues · BL ≥2021 · ≥300′</a:t>
            </a:r>
          </a:p>
          <a:p>
            <a:r>
              <a:rPr sz="1300" b="0" dirty="0">
                <a:solidFill>
                  <a:srgbClr val="333333"/>
                </a:solidFill>
              </a:rPr>
              <a:t>N=329 · 105→43→32</a:t>
            </a:r>
          </a:p>
          <a:p>
            <a:r>
              <a:rPr sz="1300" b="0" dirty="0" err="1">
                <a:solidFill>
                  <a:srgbClr val="333333"/>
                </a:solidFill>
              </a:rPr>
              <a:t>Att</a:t>
            </a:r>
            <a:r>
              <a:rPr sz="1300" b="0" dirty="0">
                <a:solidFill>
                  <a:srgbClr val="333333"/>
                </a:solidFill>
              </a:rPr>
              <a:t>/Pass/Other ≥0.60 · Def/Carry ≥0.50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86200"/>
            <a:ext cx="5440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3886200"/>
            <a:ext cx="73152" cy="233172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3995928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= 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metric 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depth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N=96 · ≥45′ / ≥30′</a:t>
            </a:r>
          </a:p>
          <a:p>
            <a:r>
              <a:rPr sz="1300" b="0" dirty="0">
                <a:solidFill>
                  <a:srgbClr val="333333"/>
                </a:solidFill>
              </a:rPr>
              <a:t>r≥0.40 → 7 · |r|≥0.85 keep all 7</a:t>
            </a:r>
          </a:p>
          <a:p>
            <a:r>
              <a:rPr sz="1300" b="0" dirty="0">
                <a:solidFill>
                  <a:srgbClr val="333333"/>
                </a:solidFill>
              </a:rPr>
              <a:t>Priors: 17 comps · BL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47120" cy="86868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Pearson r = stability · Spearman </a:t>
            </a:r>
            <a:r>
              <a:rPr sz="1200" b="0" dirty="0" err="1">
                <a:solidFill>
                  <a:srgbClr val="333333"/>
                </a:solidFill>
              </a:rPr>
              <a:t>ρ</a:t>
            </a:r>
            <a:r>
              <a:rPr sz="1200" b="0" dirty="0">
                <a:solidFill>
                  <a:srgbClr val="333333"/>
                </a:solidFill>
              </a:rPr>
              <a:t> = success (rank-based; robust when Y1 minutes are skewed) · redundancy · percentiles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BL Y1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</a:t>
            </a:r>
            <a:r>
              <a:rPr lang="en-US" sz="1300" b="0" dirty="0" err="1">
                <a:solidFill>
                  <a:srgbClr val="333333"/>
                </a:solidFill>
              </a:rPr>
              <a:t>Statsbomb</a:t>
            </a:r>
            <a:r>
              <a:rPr lang="en-US" sz="1300" b="0" dirty="0">
                <a:solidFill>
                  <a:srgbClr val="333333"/>
                </a:solidFill>
              </a:rPr>
              <a:t> (SB)</a:t>
            </a:r>
            <a:r>
              <a:rPr sz="1300" b="0" dirty="0">
                <a:solidFill>
                  <a:srgbClr val="333333"/>
                </a:solidFill>
              </a:rPr>
              <a:t>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Y1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011680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121408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2450592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</a:t>
            </a:r>
            <a:r>
              <a:rPr lang="en-US" sz="1300" dirty="0">
                <a:solidFill>
                  <a:srgbClr val="333333"/>
                </a:solidFill>
              </a:rPr>
              <a:t> </a:t>
            </a:r>
            <a:r>
              <a:rPr sz="1300" b="0" dirty="0">
                <a:solidFill>
                  <a:srgbClr val="333333"/>
                </a:solidFill>
              </a:rPr>
              <a:t>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011680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01168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121408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2450592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FBREF (PRIMARY)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Scale layer — inbound</a:t>
            </a:r>
            <a:r>
              <a:rPr lang="en-US" sz="1400" b="0" dirty="0">
                <a:solidFill>
                  <a:srgbClr val="555555"/>
                </a:solidFill>
                <a:latin typeface="Calibri"/>
              </a:rPr>
              <a:t> leagues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What we use</a:t>
            </a:r>
          </a:p>
          <a:p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lang="en-US" sz="1300" b="0" dirty="0">
                <a:solidFill>
                  <a:srgbClr val="333333"/>
                </a:solidFill>
              </a:rPr>
              <a:t>Outside league </a:t>
            </a:r>
            <a:r>
              <a:rPr sz="1300" b="0" dirty="0">
                <a:solidFill>
                  <a:srgbClr val="333333"/>
                </a:solidFill>
              </a:rPr>
              <a:t>tables + player-page fills</a:t>
            </a:r>
          </a:p>
          <a:p>
            <a:r>
              <a:rPr sz="1300" b="0" dirty="0">
                <a:solidFill>
                  <a:srgbClr val="333333"/>
                </a:solidFill>
              </a:rPr>
              <a:t>Analysis window: first BL end-years 2021–2025</a:t>
            </a:r>
          </a:p>
          <a:p>
            <a:r>
              <a:rPr sz="1300" b="0" dirty="0">
                <a:solidFill>
                  <a:srgbClr val="333333"/>
                </a:solidFill>
              </a:rPr>
              <a:t>Minutes: prior ≥300′ · Y1 ≥300′ → N=329 pairs · 19 leagues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No league-relative scaling — it did not help rate→Y1 stability.</a:t>
            </a:r>
          </a:p>
          <a:p>
            <a:r>
              <a:rPr sz="1300" b="0" dirty="0">
                <a:solidFill>
                  <a:srgbClr val="333333"/>
                </a:solidFill>
              </a:rPr>
              <a:t>Absolute per-90 rates kept.</a:t>
            </a:r>
            <a:endParaRPr lang="en-US" sz="1300" b="0" dirty="0">
              <a:solidFill>
                <a:srgbClr val="333333"/>
              </a:solidFill>
            </a:endParaRPr>
          </a:p>
          <a:p>
            <a:endParaRPr lang="en-US" sz="1300" dirty="0">
              <a:solidFill>
                <a:srgbClr val="333333"/>
              </a:solidFill>
            </a:endParaRPr>
          </a:p>
          <a:p>
            <a:r>
              <a:rPr lang="en-US" sz="1300" dirty="0">
                <a:solidFill>
                  <a:srgbClr val="333333"/>
                </a:solidFill>
              </a:rPr>
              <a:t>Window · 2021–2025 · ≥300′ both sides · N=329</a:t>
            </a:r>
          </a:p>
          <a:p>
            <a:endParaRPr sz="1300" b="0" dirty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STATSBOMB OPEN DATA (DEEP DIVE)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What we use</a:t>
            </a:r>
          </a:p>
          <a:p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All male open comps as priors</a:t>
            </a:r>
          </a:p>
          <a:p>
            <a:r>
              <a:rPr sz="1300" b="0" dirty="0">
                <a:solidFill>
                  <a:srgbClr val="333333"/>
                </a:solidFill>
              </a:rPr>
              <a:t>BL open dumps: 2015/16 + 2023/24 only</a:t>
            </a:r>
          </a:p>
          <a:p>
            <a:r>
              <a:rPr sz="1300" b="0" dirty="0">
                <a:solidFill>
                  <a:srgbClr val="333333"/>
                </a:solidFill>
              </a:rPr>
              <a:t>N=96 · prior ≥45′ · Y1 ≥30′</a:t>
            </a:r>
          </a:p>
          <a:p>
            <a:r>
              <a:rPr sz="1300" b="0" dirty="0">
                <a:solidFill>
                  <a:srgbClr val="333333"/>
                </a:solidFill>
              </a:rPr>
              <a:t>r≥0.40 → 7 · |r|≥0.85 → keep all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vs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FBref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300" b="0" dirty="0">
                <a:solidFill>
                  <a:srgbClr val="333333"/>
                </a:solidFill>
              </a:rPr>
              <a:t>Event check on trait families — not league ranking.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No relative scaling: failed on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; SB priors are mixed</a:t>
            </a:r>
          </a:p>
          <a:p>
            <a:r>
              <a:rPr sz="1300" b="0" dirty="0">
                <a:solidFill>
                  <a:srgbClr val="333333"/>
                </a:solidFill>
              </a:rPr>
              <a:t>(WC / Euro / CL / leagues), so even less appropriate.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dirty="0">
                <a:solidFill>
                  <a:srgbClr val="3D5A80"/>
                </a:solidFill>
                <a:latin typeface="Calibri"/>
              </a:rPr>
              <a:t>Prior league → first Bundesliga Y1 (end-year ≥2021)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Paired N=329 · 19 leagues · minutes ≥300′ both sides</a:t>
            </a:r>
            <a:r>
              <a:rPr lang="en-US" sz="1300" dirty="0">
                <a:solidFill>
                  <a:srgbClr val="333333"/>
                </a:solidFill>
                <a:latin typeface="Calibri"/>
              </a:rPr>
              <a:t>; pass if </a:t>
            </a:r>
            <a:r>
              <a:rPr lang="en-US" sz="1400" dirty="0">
                <a:solidFill>
                  <a:srgbClr val="333333"/>
                </a:solidFill>
              </a:rPr>
              <a:t>r ≥ 0.60</a:t>
            </a:r>
            <a:r>
              <a:rPr lang="en-US" sz="1300" dirty="0">
                <a:solidFill>
                  <a:srgbClr val="333333"/>
                </a:solidFill>
                <a:latin typeface="Calibri"/>
              </a:rPr>
              <a:t> 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endParaRPr sz="1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1" dirty="0">
                <a:solidFill>
                  <a:srgbClr val="333333"/>
                </a:solidFill>
                <a:latin typeface="Calibri"/>
              </a:rPr>
              <a:t>Category gates (not one global cut):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Attacking / Passing / Other  ·  r ≥ 0.60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Defending / Carrying  ·  r ≥ 0.50</a:t>
            </a:r>
          </a:p>
          <a:p>
            <a:pPr>
              <a:spcAft>
                <a:spcPts val="300"/>
              </a:spcAft>
            </a:pPr>
            <a:endParaRPr sz="1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43 metrics pass gates → redundancy next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No league-relative scaling — absolute per-90 rates travel better.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188720"/>
          <a:ext cx="8321040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0.920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0.891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0.865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0.843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0.831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0.821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0.790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0.790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0.782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0.773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PRGRR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PrgR Receiving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0.769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PrgC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KP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KP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0.756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Y1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3D5A80"/>
                </a:solidFill>
                <a:latin typeface="Calibri"/>
              </a:rPr>
              <a:t>Open Data · cohort N=96 · 7 of 16 pass (r≥0.40)</a:t>
            </a:r>
          </a:p>
          <a:p>
            <a:pPr>
              <a:spcAft>
                <a:spcPts val="300"/>
              </a:spcAft>
            </a:pPr>
            <a:endParaRPr sz="1400" b="1">
              <a:solidFill>
                <a:srgbClr val="3D5A80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✓  PPC  Progressive passes (~10m+ toward goal)  r=0.74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✓  DIS  Dispossessed (inverted)  r=0.59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✓  PRS  Pressures  r=0.51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✓  PAS  Pass volume  r=0.49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✓  CLR  Clearances  r=0.47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✓  DRB  Successful dribbles  r=0.46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✓  PATT  Passes into final third  r=0.42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SH  Shots  r=0.40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CFGP  Progressive carries  r=0.38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CRY  Carries  r=0.38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TAC  Tackles  r=0.34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XG  Non-pen xG  r=0.30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FLW  Fouls won  r=0.27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INT  Interceptions  r=0.20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XA  Expected assists  r=0.13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AER 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234440"/>
          <a:ext cx="9144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Dispossessed (inverted)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Progressive passes (~10m+ toward goal)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0.677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0.491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0.482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0.439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CFGP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Progressive carries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0.316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0.312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0.289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Next: redundancy at |r|≥0.85 — only near-dupes cut; passes kept with progressive passes.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1" dirty="0">
                <a:solidFill>
                  <a:srgbClr val="1C1C1C"/>
                </a:solidFill>
                <a:latin typeface="Georgia"/>
              </a:rPr>
              <a:t>Collinearity-Style Metric Pruning </a:t>
            </a:r>
            <a:endParaRPr sz="22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 shortlist (7)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Stability r≥0.40 · redundancy |r|≥0.85 (passes kept)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Progressive passes  r=0.74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Dispossessed (inv)  r=0.59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Pressures  r=0.51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Pass volume  r=0.49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Clearances  r=0.47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Dribbles completed  r=0.46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63434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02737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1C1C1C"/>
                </a:solidFill>
                <a:latin typeface="Calibri"/>
              </a:rPr>
              <a:t>TAC  ·  Tackles  ·  r=0.53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56543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1C1C1C"/>
                </a:solidFill>
                <a:latin typeface="Calibri"/>
              </a:rPr>
              <a:t>CLR  ·  Clearances  ·  r=0.49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60" y="4012223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1C1C1C"/>
                </a:solidFill>
                <a:latin typeface="Calibri"/>
              </a:rPr>
              <a:t>XG  ·  Non-pen </a:t>
            </a:r>
            <a:r>
              <a:rPr sz="1300" b="0" dirty="0" err="1">
                <a:solidFill>
                  <a:srgbClr val="1C1C1C"/>
                </a:solidFill>
                <a:latin typeface="Calibri"/>
              </a:rPr>
              <a:t>xG</a:t>
            </a:r>
            <a:r>
              <a:rPr sz="1300" b="0" dirty="0">
                <a:solidFill>
                  <a:srgbClr val="1C1C1C"/>
                </a:solidFill>
                <a:latin typeface="Calibri"/>
              </a:rPr>
              <a:t>  ·  r=0.48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837" y="431596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1C1C1C"/>
                </a:solidFill>
                <a:latin typeface="Calibri"/>
              </a:rPr>
              <a:t>DRB  ·  Successful dribbles  ·  r=0.44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560" y="4577157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1C1C1C"/>
                </a:solidFill>
                <a:latin typeface="Calibri"/>
              </a:rPr>
              <a:t>PATT  ·  Passes into final third  ·  r=0.43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1097280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FBref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: 43 gated → 32 kept</a:t>
            </a:r>
          </a:p>
          <a:p>
            <a:pPr>
              <a:spcAft>
                <a:spcPts val="2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105 tested · category gates → 43 · |r|≥0.95 → 32</a:t>
            </a:r>
          </a:p>
          <a:p>
            <a:pPr>
              <a:spcAft>
                <a:spcPts val="2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Pick order: stability → N → rate/contextual</a:t>
            </a:r>
          </a:p>
          <a:p>
            <a:pPr>
              <a:spcAft>
                <a:spcPts val="2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Force-kept: </a:t>
            </a:r>
            <a:r>
              <a:rPr sz="1200" b="0" dirty="0" err="1">
                <a:solidFill>
                  <a:srgbClr val="555555"/>
                </a:solidFill>
                <a:latin typeface="Calibri"/>
              </a:rPr>
              <a:t>SoT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/90 · </a:t>
            </a:r>
            <a:r>
              <a:rPr sz="1200" b="0" dirty="0" err="1">
                <a:solidFill>
                  <a:srgbClr val="555555"/>
                </a:solidFill>
                <a:latin typeface="Calibri"/>
              </a:rPr>
              <a:t>Gls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/90 · </a:t>
            </a:r>
            <a:r>
              <a:rPr sz="1200" b="0" dirty="0" err="1">
                <a:solidFill>
                  <a:srgbClr val="555555"/>
                </a:solidFill>
                <a:latin typeface="Calibri"/>
              </a:rPr>
              <a:t>Tkld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Take · </a:t>
            </a:r>
            <a:r>
              <a:rPr sz="1200" b="0" dirty="0" err="1">
                <a:solidFill>
                  <a:srgbClr val="555555"/>
                </a:solidFill>
                <a:latin typeface="Calibri"/>
              </a:rPr>
              <a:t>Att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Total</a:t>
            </a:r>
          </a:p>
          <a:p>
            <a:pPr>
              <a:spcAft>
                <a:spcPts val="2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Top: Def Pen Touches (0.91) ·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PrgC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(0.81) ·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xG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9888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4949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3D5A80"/>
                </a:solidFill>
                <a:latin typeface="Calibri"/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73265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PRGC (0.89)  ·  PRGDI (0.87)  ·  KP (0.76)  ·  FINAL (0.70)  ·  CMPPE (0.69)  ·  CRSPA (0.66)  ·  CRS (0.64)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17156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40930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PRGRR (0.77)  ·  ATT3R (0.73)  ·  SUCC (0.71)  ·  MIS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482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08596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DEFPE (0.92)  ·  CLR (0.72)  ·  TKLD (0.71)  ·  WON (0.71)  ·  SH (0.69)  ·  INT (0.65)  ·  LOST (0.64)  ·  WONPE (0.57)  ·  DEF3R (0.54)  ·  TKLPE (0.51)  ·  RECOV (0.50)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524876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76262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FLD (0.59)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OUTPUT  ·  SCOUT PIZZA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CHART (Based on charts used by RBNY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Georgia"/>
              </a:rPr>
              <a:t>How to read</a:t>
            </a:r>
          </a:p>
          <a:p>
            <a:r>
              <a:rPr sz="1300" b="0">
                <a:solidFill>
                  <a:srgbClr val="333333"/>
                </a:solidFill>
              </a:rPr>
              <a:t>Blue = BL Y1 · red dotted = prior · dashed = avg (50) · grey = top (90).</a:t>
            </a:r>
          </a:p>
          <a:p>
            <a:r>
              <a:rPr sz="1300" b="0">
                <a:solidFill>
                  <a:srgbClr val="333333"/>
                </a:solidFill>
              </a:rPr>
              <a:t>Percentiles 0–100 vs position peers.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Explorer: StatsBomb N=96 · 7 traits · FBref N=329 · 32 traits.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What “stable-trait score”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Bundesliga Year-1,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Y1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Y1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Year-1 profile on traits that travel.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Open interactive_player_explorer.html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60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Switch StatsBomb (N=96 · 7 traits) ↔ FBref (N=329 · 32 traits).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BL Year-1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Phase 2: after shortlisting, test what lines up with BL success.
Outcomes: Y1 minutes · Y1 min 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percentile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 · stable-trait score.
Spearman ρ ranks players so we test “higher prior trait → more minutes” without a linear minutes scale; then feeder means + exploratory 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Georgia"/>
              </a:rPr>
              <a:t>StatsBomb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 err="1">
                <a:solidFill>
                  <a:srgbClr val="333333"/>
                </a:solidFill>
                <a:latin typeface="Calibri"/>
              </a:rPr>
              <a:t>FBref</a:t>
            </a:r>
            <a:endParaRPr sz="1600" b="1" dirty="0">
              <a:solidFill>
                <a:srgbClr val="3D5A80"/>
              </a:solidFill>
              <a:latin typeface="Calibri"/>
            </a:endParaRPr>
          </a:p>
          <a:p>
            <a:r>
              <a:rPr sz="1300" b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>
                <a:solidFill>
                  <a:srgbClr val="333333"/>
                </a:solidFill>
              </a:rPr>
              <a:t>Success = Y1 BL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Georgia"/>
              </a:rPr>
              <a:t>Honest claim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Repo: results/SUCCESS_INDICATORS.md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= arriving with a higher prior percentile on that trait tends to coincide with more BL Y1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Primary success marker: Bundesliga minutes played in the player’s first BL season (Y1 minutes)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Interpretation: playing-time success — did the club trust and use the inbound player?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Also reported: Y1 minutes percentile (rank in cohort) and stable-trait score (profile fit)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Trait &amp; league tests ask: which prior signals line up with more Y1 minutes?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Regression Δ Y1 min = estimated extra first-season minutes vs a reference league, holding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417320"/>
            <a:ext cx="5212080" cy="4114800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 dirty="0">
              <a:solidFill>
                <a:srgbClr val="3D5A80"/>
              </a:solidFill>
              <a:latin typeface="Georgia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Observable in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FBref</a:t>
            </a:r>
            <a:r>
              <a:rPr sz="1300" dirty="0">
                <a:solidFill>
                  <a:srgbClr val="1C1C1C"/>
                </a:solidFill>
                <a:latin typeface="Arial"/>
              </a:rPr>
              <a:t> /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StatsBomb</a:t>
            </a:r>
            <a:r>
              <a:rPr sz="1300" dirty="0">
                <a:solidFill>
                  <a:srgbClr val="1C1C1C"/>
                </a:solidFill>
                <a:latin typeface="Arial"/>
              </a:rPr>
              <a:t> cohorts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Not the same as goals,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xG</a:t>
            </a:r>
            <a:r>
              <a:rPr sz="1300" dirty="0">
                <a:solidFill>
                  <a:srgbClr val="1C1C1C"/>
                </a:solidFill>
                <a:latin typeface="Arial"/>
              </a:rPr>
              <a:t>, or team points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lang="en-US" sz="1300" dirty="0">
                <a:solidFill>
                  <a:srgbClr val="1C1C1C"/>
                </a:solidFill>
                <a:latin typeface="Arial"/>
              </a:rPr>
              <a:t>S</a:t>
            </a:r>
            <a:r>
              <a:rPr sz="1300" dirty="0">
                <a:solidFill>
                  <a:srgbClr val="1C1C1C"/>
                </a:solidFill>
                <a:latin typeface="Arial"/>
              </a:rPr>
              <a:t>cope: associative scouting weights, not a forecast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TRAITS → BL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500" b="1" dirty="0">
                <a:solidFill>
                  <a:srgbClr val="3D5A80"/>
                </a:solidFill>
                <a:latin typeface="Calibri"/>
              </a:rPr>
              <a:t> (N=96)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prior 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p</a:t>
            </a:r>
            <a:r>
              <a:rPr lang="en-US" sz="1200" dirty="0">
                <a:solidFill>
                  <a:srgbClr val="555555"/>
                </a:solidFill>
                <a:latin typeface="Calibri"/>
              </a:rPr>
              <a:t>ercentile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→ Y1 minutes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=-0.28  p=0.006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=-0.17  p=0.090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=+0.16  p=0.112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=+0.14  p=0.185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=-0.11  p=0.280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=-0.07  p=0.473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=+0.00  p=0.980</a:t>
            </a:r>
          </a:p>
          <a:p>
            <a:pPr>
              <a:spcAft>
                <a:spcPts val="300"/>
              </a:spcAft>
            </a:pPr>
            <a:endParaRPr sz="1300" b="0" dirty="0">
              <a:solidFill>
                <a:srgbClr val="333333"/>
              </a:solidFill>
              <a:latin typeface="Calibri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9797722"/>
              </p:ext>
            </p:extLst>
          </p:nvPr>
        </p:nvGraphicFramePr>
        <p:xfrm>
          <a:off x="411479" y="1097279"/>
          <a:ext cx="4652888" cy="2954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DRB — 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-0.30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0.021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DIS — Dispossessed (inverted)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-0.29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0.026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PPC — Progressive passes (~10m+</a:t>
                      </a:r>
                      <a:r>
                        <a:rPr lang="en-US" dirty="0"/>
                        <a:t>)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-0.21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0.104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 — 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0.204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3D5A80"/>
                </a:solidFill>
                <a:latin typeface="Calibri"/>
              </a:rPr>
              <a:t>FBref (N=329)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prior %ile → Y1 minutes</a:t>
            </a:r>
          </a:p>
          <a:p>
            <a:pPr>
              <a:spcAft>
                <a:spcPts val="300"/>
              </a:spcAft>
            </a:pPr>
            <a:endParaRPr sz="1200" b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FINAL  ρ=+0.30  p=0.005 *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SH  ρ=+0.27  p=0.011 *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PRGDI  ρ=+0.24  p=0.025 *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TKLD  ρ=+0.23  p=0.030 *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ATTLO  ρ=+0.22  p=0.036 *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DEF3R  ρ=+0.22  p=0.039 *</a:t>
            </a:r>
          </a:p>
          <a:p>
            <a:pPr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* p&lt;0.05  ·  Final Third, shot blocks, progressive distance lead.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717155"/>
              </p:ext>
            </p:extLst>
          </p:nvPr>
        </p:nvGraphicFramePr>
        <p:xfrm>
          <a:off x="6126479" y="1097279"/>
          <a:ext cx="4349439" cy="3798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LOST — Lost Aerial*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0.007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FINAL — Final Third*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SH — Sh</a:t>
                      </a:r>
                      <a:r>
                        <a:rPr lang="en-US" dirty="0"/>
                        <a:t>ot</a:t>
                      </a:r>
                      <a:r>
                        <a:rPr dirty="0"/>
                        <a:t> Blocks*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DEFPE — Def Pen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WONPE — Won percent Aerial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0.062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PRGDI — PrgDist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CLR — Cl</a:t>
                      </a:r>
                      <a:r>
                        <a:rPr lang="en-US" dirty="0"/>
                        <a:t>earances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FEEDER LEAGUES → BL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Year-1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350146"/>
              </p:ext>
            </p:extLst>
          </p:nvPr>
        </p:nvGraphicFramePr>
        <p:xfrm>
          <a:off x="411480" y="1179576"/>
          <a:ext cx="56692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Ligue 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1574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51.1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1479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50.6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52.4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246120"/>
          <a:ext cx="48463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248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49.7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49.5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49.5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029200"/>
            <a:ext cx="1115568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(N=329, n≥8): e.g. DEN Superliga, 2.BL, PL, Eredivisie, Ligue 1 lead on mean Y1 min among larger cells.</a:t>
            </a:r>
          </a:p>
          <a:p>
            <a:endParaRPr lang="en-US"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Tables: results/</a:t>
            </a:r>
            <a:r>
              <a:rPr sz="1300" b="0" dirty="0" err="1">
                <a:solidFill>
                  <a:srgbClr val="333333"/>
                </a:solidFill>
              </a:rPr>
              <a:t>success_league_indicators</a:t>
            </a:r>
            <a:r>
              <a:rPr sz="1300" b="0" dirty="0">
                <a:solidFill>
                  <a:srgbClr val="333333"/>
                </a:solidFill>
              </a:rPr>
              <a:t>_*.csv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333333"/>
                </a:solidFill>
                <a:latin typeface="Georgia"/>
              </a:rPr>
              <a:t>Descriptive “best feeder</a:t>
            </a:r>
            <a:r>
              <a:rPr lang="en-US" b="0" dirty="0">
                <a:solidFill>
                  <a:srgbClr val="333333"/>
                </a:solidFill>
                <a:latin typeface="Georgia"/>
              </a:rPr>
              <a:t> league</a:t>
            </a:r>
            <a:r>
              <a:rPr b="0" dirty="0">
                <a:solidFill>
                  <a:srgbClr val="333333"/>
                </a:solidFill>
                <a:latin typeface="Georgia"/>
              </a:rPr>
              <a:t>” is not enough — OLS vs Serie A baseline.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Model 1</a:t>
            </a:r>
            <a:r>
              <a:rPr lang="en-US" dirty="0"/>
              <a:t> — league only (with basic controls)</a:t>
            </a:r>
            <a:br>
              <a:rPr lang="en-US" dirty="0"/>
            </a:br>
            <a:r>
              <a:rPr lang="en-US" dirty="0"/>
              <a:t>Predict Y1 minutes from:</a:t>
            </a:r>
          </a:p>
          <a:p>
            <a:r>
              <a:rPr lang="en-US" dirty="0"/>
              <a:t>prior league (PL / La Liga / Ligue 1 vs Serie A)</a:t>
            </a:r>
          </a:p>
          <a:p>
            <a:r>
              <a:rPr lang="en-US" dirty="0"/>
              <a:t>How many minutes they played before.</a:t>
            </a:r>
          </a:p>
          <a:p>
            <a:r>
              <a:rPr lang="en-US" i="1" dirty="0"/>
              <a:t>Question:</a:t>
            </a:r>
            <a:r>
              <a:rPr lang="en-US" dirty="0"/>
              <a:t> After that, does league still matter?</a:t>
            </a:r>
          </a:p>
          <a:p>
            <a:r>
              <a:rPr lang="en-US" b="1" dirty="0"/>
              <a:t>Model 2</a:t>
            </a:r>
            <a:r>
              <a:rPr lang="en-US" dirty="0"/>
              <a:t> — league + traits</a:t>
            </a:r>
            <a:br>
              <a:rPr lang="en-US" dirty="0"/>
            </a:br>
            <a:r>
              <a:rPr lang="en-US" dirty="0"/>
              <a:t>Same as M1, plus prior trait percentiles (Final Third, box touches, etc.).</a:t>
            </a:r>
          </a:p>
          <a:p>
            <a:r>
              <a:rPr lang="en-US" i="1" dirty="0"/>
              <a:t>Question:</a:t>
            </a:r>
            <a:r>
              <a:rPr lang="en-US" dirty="0"/>
              <a:t> Once you know their prior profile, do league gaps shrink? </a:t>
            </a:r>
          </a:p>
          <a:p>
            <a:r>
              <a:rPr lang="en-US" b="1" dirty="0"/>
              <a:t>Model 3</a:t>
            </a:r>
            <a:r>
              <a:rPr lang="en-US" dirty="0"/>
              <a:t> — reality check</a:t>
            </a:r>
            <a:br>
              <a:rPr lang="en-US" dirty="0"/>
            </a:br>
            <a:r>
              <a:rPr lang="en-US" dirty="0"/>
              <a:t>Fit on 80% of players, see if predictions match the other 20%.</a:t>
            </a:r>
          </a:p>
          <a:p>
            <a:r>
              <a:rPr lang="en-US" i="1" dirty="0"/>
              <a:t>Question:</a:t>
            </a:r>
            <a:r>
              <a:rPr lang="en-US" dirty="0"/>
              <a:t> Is this just memorizing the sample?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Georgia"/>
              </a:rPr>
              <a:t>M1 R²=0.086  →  M3 R²=0.215 when traits added  ·  holdout r=0.35 (exploratory)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36576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663440" y="1325880"/>
          <a:ext cx="3657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xG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3333"/>
                </a:solidFill>
                <a:latin typeface="Arial"/>
              </a:rPr>
              <a:t>Ligue 1 +163 min vs Serie A (p≈0.38) — not significant at N=117.</a:t>
            </a:r>
          </a:p>
          <a:p>
            <a:r>
              <a:rPr sz="1400" b="0" dirty="0">
                <a:solidFill>
                  <a:srgbClr val="333333"/>
                </a:solidFill>
              </a:rPr>
              <a:t>Traits raise R² (0.09 → 0.22). Profile &gt; league label.</a:t>
            </a:r>
          </a:p>
          <a:p>
            <a:r>
              <a:rPr sz="1400" b="0" dirty="0">
                <a:solidFill>
                  <a:srgbClr val="333333"/>
                </a:solidFill>
              </a:rPr>
              <a:t>Takeaway: scout portable traits + minutes; league is a weak residual.</a:t>
            </a:r>
            <a:endParaRPr lang="en-US" sz="1400" b="0" dirty="0">
              <a:solidFill>
                <a:srgbClr val="333333"/>
              </a:solidFill>
            </a:endParaRPr>
          </a:p>
          <a:p>
            <a:endParaRPr lang="en-US" sz="1400" dirty="0">
              <a:solidFill>
                <a:srgbClr val="333333"/>
              </a:solidFill>
            </a:endParaRPr>
          </a:p>
          <a:p>
            <a:r>
              <a:rPr lang="en-US" sz="1400" b="0" dirty="0">
                <a:solidFill>
                  <a:srgbClr val="333333"/>
                </a:solidFill>
              </a:rPr>
              <a:t>Serie A used as baseline for league testing as it had lowest minutes transfer</a:t>
            </a:r>
            <a:endParaRPr sz="1400" b="0" dirty="0">
              <a:solidFill>
                <a:srgbClr val="333333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3701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600" b="1" dirty="0">
                <a:solidFill>
                  <a:srgbClr val="3D5A80"/>
                </a:solidFill>
                <a:latin typeface="Calibri"/>
              </a:rPr>
              <a:t>Why p-values stay modest</a:t>
            </a:r>
          </a:p>
          <a:p>
            <a:endParaRPr sz="2600" b="1" dirty="0">
              <a:solidFill>
                <a:srgbClr val="3D5A80"/>
              </a:solidFill>
              <a:latin typeface="Calibri"/>
            </a:endParaRPr>
          </a:p>
          <a:p>
            <a:r>
              <a:rPr sz="1600" b="0" dirty="0">
                <a:solidFill>
                  <a:srgbClr val="333333"/>
                </a:solidFill>
              </a:rPr>
              <a:t>• </a:t>
            </a:r>
            <a:r>
              <a:rPr sz="1600" b="0" dirty="0" err="1">
                <a:solidFill>
                  <a:srgbClr val="333333"/>
                </a:solidFill>
              </a:rPr>
              <a:t>StatsBomb</a:t>
            </a:r>
            <a:r>
              <a:rPr sz="1600" b="0" dirty="0">
                <a:solidFill>
                  <a:srgbClr val="333333"/>
                </a:solidFill>
              </a:rPr>
              <a:t> N=96 with messy open-data priors (</a:t>
            </a:r>
            <a:r>
              <a:rPr lang="en-US" sz="1600" b="0" dirty="0">
                <a:solidFill>
                  <a:srgbClr val="333333"/>
                </a:solidFill>
              </a:rPr>
              <a:t>World Cup</a:t>
            </a:r>
            <a:r>
              <a:rPr sz="1600" b="0" dirty="0">
                <a:solidFill>
                  <a:srgbClr val="333333"/>
                </a:solidFill>
              </a:rPr>
              <a:t> / Euro</a:t>
            </a:r>
            <a:r>
              <a:rPr lang="en-US" sz="1600" b="0" dirty="0">
                <a:solidFill>
                  <a:srgbClr val="333333"/>
                </a:solidFill>
              </a:rPr>
              <a:t> tournament</a:t>
            </a:r>
            <a:r>
              <a:rPr sz="1600" b="0" dirty="0">
                <a:solidFill>
                  <a:srgbClr val="333333"/>
                </a:solidFill>
              </a:rPr>
              <a:t> / </a:t>
            </a:r>
            <a:r>
              <a:rPr lang="en-US" sz="1600" b="0" dirty="0">
                <a:solidFill>
                  <a:srgbClr val="333333"/>
                </a:solidFill>
              </a:rPr>
              <a:t>Champions League</a:t>
            </a:r>
            <a:r>
              <a:rPr sz="1600" b="0" dirty="0">
                <a:solidFill>
                  <a:srgbClr val="333333"/>
                </a:solidFill>
              </a:rPr>
              <a:t> mix</a:t>
            </a:r>
            <a:r>
              <a:rPr lang="en-US" sz="1600" b="0" dirty="0">
                <a:solidFill>
                  <a:srgbClr val="333333"/>
                </a:solidFill>
              </a:rPr>
              <a:t> rather than stock ‘league-based’ data – this allows for a larger player sample, but less consistent league and opponent label for each event</a:t>
            </a:r>
            <a:r>
              <a:rPr sz="1600" b="0" dirty="0">
                <a:solidFill>
                  <a:srgbClr val="333333"/>
                </a:solidFill>
              </a:rPr>
              <a:t>)</a:t>
            </a:r>
          </a:p>
          <a:p>
            <a:r>
              <a:rPr sz="1600" b="0" dirty="0">
                <a:solidFill>
                  <a:srgbClr val="333333"/>
                </a:solidFill>
              </a:rPr>
              <a:t>• </a:t>
            </a:r>
            <a:r>
              <a:rPr sz="1600" b="0" dirty="0" err="1">
                <a:solidFill>
                  <a:srgbClr val="333333"/>
                </a:solidFill>
              </a:rPr>
              <a:t>FBref</a:t>
            </a:r>
            <a:r>
              <a:rPr sz="1600" b="0" dirty="0">
                <a:solidFill>
                  <a:srgbClr val="333333"/>
                </a:solidFill>
              </a:rPr>
              <a:t> N=329 helps, but many advanced metrics only have ~90–100 complete pairs</a:t>
            </a:r>
            <a:r>
              <a:rPr lang="en-US" sz="1600" b="0" dirty="0">
                <a:solidFill>
                  <a:srgbClr val="333333"/>
                </a:solidFill>
              </a:rPr>
              <a:t> based on the venue, game, minutes etc.</a:t>
            </a:r>
            <a:endParaRPr sz="1600" b="0" dirty="0">
              <a:solidFill>
                <a:srgbClr val="333333"/>
              </a:solidFill>
            </a:endParaRPr>
          </a:p>
          <a:p>
            <a:r>
              <a:rPr sz="1600" b="0" dirty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endParaRPr sz="1600" b="0" dirty="0">
              <a:solidFill>
                <a:srgbClr val="333333"/>
              </a:solidFill>
            </a:endParaRPr>
          </a:p>
          <a:p>
            <a:r>
              <a:rPr sz="1800" b="1" dirty="0">
                <a:solidFill>
                  <a:srgbClr val="222222"/>
                </a:solidFill>
              </a:rPr>
              <a:t>What hardened the sample</a:t>
            </a:r>
          </a:p>
          <a:p>
            <a:endParaRPr sz="1800" b="1" dirty="0">
              <a:solidFill>
                <a:srgbClr val="222222"/>
              </a:solidFill>
            </a:endParaRPr>
          </a:p>
          <a:p>
            <a:r>
              <a:rPr sz="1600" b="0" dirty="0">
                <a:solidFill>
                  <a:srgbClr val="333333"/>
                </a:solidFill>
              </a:rPr>
              <a:t>• 19 leagues · first BL </a:t>
            </a:r>
            <a:r>
              <a:rPr lang="en-US" sz="1600" b="0" dirty="0">
                <a:solidFill>
                  <a:srgbClr val="333333"/>
                </a:solidFill>
              </a:rPr>
              <a:t>season: </a:t>
            </a:r>
            <a:r>
              <a:rPr sz="1600" b="0" dirty="0">
                <a:solidFill>
                  <a:srgbClr val="333333"/>
                </a:solidFill>
              </a:rPr>
              <a:t>2021 · prior/Y1 ≥300′ → N=329</a:t>
            </a:r>
          </a:p>
          <a:p>
            <a:r>
              <a:rPr sz="1600" b="0" dirty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600" b="0" dirty="0">
                <a:solidFill>
                  <a:srgbClr val="333333"/>
                </a:solidFill>
              </a:rPr>
              <a:t>• </a:t>
            </a:r>
            <a:r>
              <a:rPr sz="1600" b="0" dirty="0" err="1">
                <a:solidFill>
                  <a:srgbClr val="333333"/>
                </a:solidFill>
              </a:rPr>
              <a:t>StatsBomb</a:t>
            </a:r>
            <a:r>
              <a:rPr sz="1600" b="0" dirty="0">
                <a:solidFill>
                  <a:srgbClr val="333333"/>
                </a:solidFill>
              </a:rPr>
              <a:t> kept as event deep dive (r≥0.40 · 7 traits), not league ranking</a:t>
            </a:r>
          </a:p>
          <a:p>
            <a:endParaRPr sz="1600" b="0" dirty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47932" y="282526"/>
            <a:ext cx="10972800" cy="361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400" b="1" dirty="0">
                <a:solidFill>
                  <a:srgbClr val="3D5A80"/>
                </a:solidFill>
                <a:latin typeface="Calibri"/>
              </a:rPr>
              <a:t>CONCLUSION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• Portable shortlists: </a:t>
            </a:r>
            <a:r>
              <a:rPr lang="en-US" sz="1600" dirty="0" err="1">
                <a:solidFill>
                  <a:srgbClr val="333333"/>
                </a:solidFill>
              </a:rPr>
              <a:t>FBref</a:t>
            </a:r>
            <a:r>
              <a:rPr lang="en-US" sz="1600" dirty="0">
                <a:solidFill>
                  <a:srgbClr val="333333"/>
                </a:solidFill>
              </a:rPr>
              <a:t> 105→43→32 · </a:t>
            </a:r>
            <a:r>
              <a:rPr lang="en-US" sz="1600" dirty="0" err="1">
                <a:solidFill>
                  <a:srgbClr val="333333"/>
                </a:solidFill>
              </a:rPr>
              <a:t>StatsBomb</a:t>
            </a:r>
            <a:r>
              <a:rPr lang="en-US" sz="1600" dirty="0">
                <a:solidFill>
                  <a:srgbClr val="333333"/>
                </a:solidFill>
              </a:rPr>
              <a:t> 16→7</a:t>
            </a:r>
            <a:endParaRPr lang="en-US" sz="1600" dirty="0"/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</a:t>
            </a:r>
            <a:r>
              <a:rPr lang="en-US" sz="1600" dirty="0" err="1">
                <a:solidFill>
                  <a:srgbClr val="333333"/>
                </a:solidFill>
              </a:rPr>
              <a:t>Fbref</a:t>
            </a:r>
            <a:r>
              <a:rPr lang="en-US" sz="1600" dirty="0">
                <a:solidFill>
                  <a:srgbClr val="333333"/>
                </a:solidFill>
              </a:rPr>
              <a:t> best/most-stable metrics: final-third passing, shot blocks, progressive distance, box defending ↔ more Y1 minutes (p&lt;0.05)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Feeder league gaps are modest; exploratory OLS (N=117) — traits matter more than the league label or league strength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Scout metrics that travel from league to league. Y1 minutes = open-data success proxy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Future project goals would be to test </a:t>
            </a:r>
            <a:r>
              <a:rPr lang="el-GR" sz="1600" dirty="0">
                <a:solidFill>
                  <a:srgbClr val="333333"/>
                </a:solidFill>
              </a:rPr>
              <a:t>Δ</a:t>
            </a:r>
            <a:r>
              <a:rPr lang="en-US" sz="1600" dirty="0">
                <a:solidFill>
                  <a:srgbClr val="333333"/>
                </a:solidFill>
              </a:rPr>
              <a:t> in</a:t>
            </a:r>
            <a:r>
              <a:rPr lang="el-GR" sz="1600" dirty="0">
                <a:solidFill>
                  <a:srgbClr val="333333"/>
                </a:solidFill>
              </a:rPr>
              <a:t> </a:t>
            </a:r>
            <a:r>
              <a:rPr lang="en-US" sz="1600" dirty="0" err="1">
                <a:solidFill>
                  <a:srgbClr val="333333"/>
                </a:solidFill>
              </a:rPr>
              <a:t>Transfermarkt</a:t>
            </a:r>
            <a:r>
              <a:rPr lang="en-US" sz="1600" dirty="0">
                <a:solidFill>
                  <a:srgbClr val="333333"/>
                </a:solidFill>
              </a:rPr>
              <a:t> market value (discussed in next slide) which is a main club outcome goal</a:t>
            </a:r>
          </a:p>
          <a:p>
            <a:pPr>
              <a:spcAft>
                <a:spcPts val="300"/>
              </a:spcAft>
            </a:pPr>
            <a:endParaRPr sz="2400" b="1" dirty="0">
              <a:solidFill>
                <a:srgbClr val="3D5A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Y1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Top indicator in a full club model: change in market value (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Δ</a:t>
            </a:r>
            <a:r>
              <a:rPr sz="1400" dirty="0">
                <a:solidFill>
                  <a:srgbClr val="1C1C1C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Transfermarkt</a:t>
            </a:r>
            <a:r>
              <a:rPr sz="1400" dirty="0">
                <a:solidFill>
                  <a:srgbClr val="1C1C1C"/>
                </a:solidFill>
                <a:latin typeface="Arial"/>
              </a:rPr>
              <a:t> M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arket Value</a:t>
            </a:r>
            <a:r>
              <a:rPr sz="1400" dirty="0">
                <a:solidFill>
                  <a:srgbClr val="1C1C1C"/>
                </a:solidFill>
                <a:latin typeface="Arial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Captures performance + hype + contract context in one outcome scouts care about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NYRB Axis-3 used 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Market Value</a:t>
            </a:r>
            <a:r>
              <a:rPr sz="1400" dirty="0">
                <a:solidFill>
                  <a:srgbClr val="1C1C1C"/>
                </a:solidFill>
                <a:latin typeface="Arial"/>
              </a:rPr>
              <a:t>; this project uses open data only — 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Transfermarkt</a:t>
            </a:r>
            <a:r>
              <a:rPr sz="1400" dirty="0">
                <a:solidFill>
                  <a:srgbClr val="1C1C1C"/>
                </a:solidFill>
                <a:latin typeface="Arial"/>
              </a:rPr>
              <a:t> 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disallows</a:t>
            </a:r>
            <a:r>
              <a:rPr sz="1400" dirty="0">
                <a:solidFill>
                  <a:srgbClr val="1C1C1C"/>
                </a:solidFill>
                <a:latin typeface="Arial"/>
              </a:rPr>
              <a:t> 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scraping</a:t>
            </a:r>
            <a:endParaRPr sz="1400" dirty="0">
              <a:solidFill>
                <a:srgbClr val="1C1C1C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So we proxy success with Y1 minutes until a licensed MV feed is available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Natural extension: prior traits → 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Δ</a:t>
            </a:r>
            <a:r>
              <a:rPr sz="1400" dirty="0">
                <a:solidFill>
                  <a:srgbClr val="1C1C1C"/>
                </a:solidFill>
                <a:latin typeface="Arial"/>
              </a:rPr>
              <a:t> MV with holdout regression / ML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47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2800" b="1" dirty="0">
                <a:solidFill>
                  <a:srgbClr val="3D5A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  <a:p>
            <a:pPr>
              <a:spcAft>
                <a:spcPts val="400"/>
              </a:spcAft>
            </a:pPr>
            <a:endParaRPr sz="24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1 · Cohort 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of players 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with 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minute floors) · 2 · Stability · 3 · Redundancy · 4 · Explorer + success</a:t>
            </a:r>
          </a:p>
          <a:p>
            <a:endParaRPr sz="16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		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Deck ·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README · </a:t>
            </a:r>
            <a:r>
              <a:rPr sz="1600" b="0" dirty="0" err="1">
                <a:latin typeface="Arial" panose="020B0604020202020204" pitchFamily="34" charset="0"/>
                <a:cs typeface="Arial" panose="020B0604020202020204" pitchFamily="34" charset="0"/>
              </a:rPr>
              <a:t>interactive_player_explorer.html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· </a:t>
            </a:r>
            <a:r>
              <a:rPr sz="1600" b="0" dirty="0" err="1">
                <a:latin typeface="Arial" panose="020B0604020202020204" pitchFamily="34" charset="0"/>
                <a:cs typeface="Arial" panose="020B0604020202020204" pitchFamily="34" charset="0"/>
              </a:rPr>
              <a:t>stability_redundancy_inspector.html</a:t>
            </a:r>
            <a:endParaRPr sz="16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sz="1600" b="0" dirty="0" err="1">
                <a:latin typeface="Arial" panose="020B0604020202020204" pitchFamily="34" charset="0"/>
                <a:cs typeface="Arial" panose="020B0604020202020204" pitchFamily="34" charset="0"/>
              </a:rPr>
              <a:t>projectproposal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· results/</a:t>
            </a:r>
          </a:p>
          <a:p>
            <a:endParaRPr sz="16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Stability 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Gates: </a:t>
            </a:r>
            <a:r>
              <a:rPr sz="1600" b="0" dirty="0" err="1">
                <a:latin typeface="Arial" panose="020B0604020202020204" pitchFamily="34" charset="0"/>
                <a:cs typeface="Arial" panose="020B0604020202020204" pitchFamily="34" charset="0"/>
              </a:rPr>
              <a:t>FBref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b="0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/Pass/Other ≥0.60 · Def/Carry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 metrics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≥0.50 · SB r≥0.40 · shortlist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 of metrics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32 / 7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600" b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2992</TotalTime>
  <Words>3338</Words>
  <Application>Microsoft Macintosh PowerPoint</Application>
  <PresentationFormat>Widescreen</PresentationFormat>
  <Paragraphs>616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12</cp:revision>
  <dcterms:created xsi:type="dcterms:W3CDTF">2013-01-27T09:14:16Z</dcterms:created>
  <dcterms:modified xsi:type="dcterms:W3CDTF">2026-07-20T19:35:09Z</dcterms:modified>
  <cp:category/>
</cp:coreProperties>
</file>