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2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52147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and Year 1 in Bundesliga minutes ≥300′.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0381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70847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Year 1 in Bundesliga per-90 rates.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>
                <a:solidFill>
                  <a:srgbClr val="333333"/>
                </a:solidFill>
              </a:rPr>
              <a:t>FBref category gates → 43 of 105 metrics met the stability floor. StatsBomb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109960" cy="1190526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(do higher prior trait ranks line up with more Year 1 in Bundesliga minutes — rank-based, robust when minutes are skewed).</a:t>
            </a:r>
          </a:p>
          <a:p>
            <a:r>
              <a:rPr sz="1200" b="0">
                <a:solidFill>
                  <a:srgbClr val="333333"/>
                </a:solidFill>
              </a:rPr>
              <a:t>Then redundancy pruning and peer percentiles.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</a:rPr>
              <a:t>What we use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League-relative scaling tested and dropped: “how high vs peers in the same prior league” (z-score / percentile) did not improve prior→Year 1 in Bundesliga stability, so we keep absolute per-90 rates.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All male open competitions as priors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>
                <a:solidFill>
                  <a:srgbClr val="333333"/>
                </a:solidFill>
              </a:rPr>
              <a:t>Event check on trait families — not league ranking.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No relative scaling: same peer-rank idea failed on FBref. StatsBomb priors mix FIFA World Cup, UEFA European Championship (Euro), UEFA Champions League, and other pro leagues, so within-league peer ranks are even less meaningful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>
                <a:solidFill>
                  <a:srgbClr val="333333"/>
                </a:solidFill>
              </a:rPr>
              <a:t>Prior league → first Bundesliga Year 1 in Bundesliga (end-year ≥2021)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  · 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  ·  r ≥ 0.50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43 metrics pass gates → redundancy next</a:t>
            </a:r>
          </a:p>
          <a:p>
            <a:r>
              <a:rPr sz="1200" b="0">
                <a:solidFill>
                  <a:srgbClr val="333333"/>
                </a:solidFill>
              </a:rPr>
              <a:t>No league-relative scaling — absolute per-90 rates travel better.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 (PPC, DIS, PRS, …).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due to fundamental difference in definition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FBref: 43 gated → 32 kept</a:t>
            </a:r>
          </a:p>
          <a:p>
            <a:r>
              <a:rPr sz="1200" b="0">
                <a:solidFill>
                  <a:srgbClr val="333333"/>
                </a:solidFill>
              </a:rPr>
              <a:t>105 tested · category gates → 43 · |r|≥0.95 → 32</a:t>
            </a:r>
          </a:p>
          <a:p>
            <a:r>
              <a:rPr sz="1200" b="0">
                <a:solidFill>
                  <a:srgbClr val="333333"/>
                </a:solidFill>
              </a:rPr>
              <a:t>Pick order: stability → N → rate/contextual</a:t>
            </a:r>
          </a:p>
          <a:p>
            <a:r>
              <a:rPr sz="1200" b="0">
                <a:solidFill>
                  <a:srgbClr val="333333"/>
                </a:solidFill>
              </a:rPr>
              <a:t>Force-kept: SoT/90 · Gls/90 · Tkld Take · Att Total</a:t>
            </a:r>
          </a:p>
          <a:p>
            <a:r>
              <a:rPr sz="1200" b="0">
                <a:solidFill>
                  <a:srgbClr val="333333"/>
                </a:solidFill>
              </a:rPr>
              <a:t>Top: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304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9260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5420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118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1638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2976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8496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0749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5354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3126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Year 1 in Bundesliga · red dotted = prior · dashed = 50th-percentile Bundesliga peer · grey = 90th-percentile Bundesliga peer.</a:t>
            </a:r>
          </a:p>
          <a:p>
            <a:r>
              <a:rPr sz="1200" b="0">
                <a:solidFill>
                  <a:srgbClr val="333333"/>
                </a:solidFill>
              </a:rPr>
              <a:t>Numbers are percentiles 0–100 vs position peers.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Explorer: StatsBomb N=96 · 7 traits · FBref N=329 · 32 traits.</a:t>
            </a:r>
          </a:p>
          <a:p>
            <a:r>
              <a:rPr sz="1200" b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Year 1 in Bundesliga minutes · Year 1 in Bundesliga min percentile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(Year 1 in Bundesliga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Year 1 in Bundesliga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Year 1 in Bundesliga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Year 1 in Bundesliga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521566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200" b="0">
                <a:solidFill>
                  <a:srgbClr val="555555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Predict Year 1 in Bundesliga minutes from prior league (Premier League / La Liga / Ligue 1 vs Serie A baseline), prior minutes, and position.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Same as Model 1, plus prior trait percentiles (e.g. Final Third, box touches).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on 80% of players; see if predictions match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is the baseline league (lowest average Year 1 in Bundesliga minutes among Big-5 feeders), so other leagues are estimated as “extra minutes vs Serie A.”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Ligue 1 about +163 minutes vs Serie A (p≈0.38) — not statistically significant at N=117.</a:t>
            </a: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minutes; league is a weak residual signal.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Year 1 in Bundesliga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600" b="1" dirty="0">
                <a:solidFill>
                  <a:srgbClr val="3D5A80"/>
                </a:solidFill>
                <a:latin typeface="Georgia" panose="02040502050405020303" pitchFamily="18" charset="0"/>
              </a:rPr>
              <a:t>Why p-values stay modest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endParaRPr sz="2600" b="1" dirty="0">
              <a:solidFill>
                <a:srgbClr val="3D5A80"/>
              </a:solidFill>
              <a:latin typeface="Calibri"/>
            </a:endParaRPr>
          </a:p>
          <a:p>
            <a:r>
              <a:rPr sz="1400" b="0" dirty="0">
                <a:solidFill>
                  <a:srgbClr val="333333"/>
                </a:solidFill>
              </a:rPr>
              <a:t>• </a:t>
            </a:r>
            <a:r>
              <a:rPr sz="1400" b="0" dirty="0" err="1">
                <a:solidFill>
                  <a:srgbClr val="333333"/>
                </a:solidFill>
              </a:rPr>
              <a:t>StatsBomb</a:t>
            </a:r>
            <a:r>
              <a:rPr sz="1400" b="0" dirty="0">
                <a:solidFill>
                  <a:srgbClr val="333333"/>
                </a:solidFill>
              </a:rPr>
              <a:t> N=96 with messy open-data priors (World Cup / Euro / Champions League mix rather than clean league seasons — larger sample, less consistent prior context)</a:t>
            </a:r>
          </a:p>
          <a:p>
            <a:r>
              <a:rPr sz="1400" b="0" dirty="0">
                <a:solidFill>
                  <a:srgbClr val="333333"/>
                </a:solidFill>
              </a:rPr>
              <a:t>• </a:t>
            </a:r>
            <a:r>
              <a:rPr sz="1400" b="0" dirty="0" err="1">
                <a:solidFill>
                  <a:srgbClr val="333333"/>
                </a:solidFill>
              </a:rPr>
              <a:t>FBref</a:t>
            </a:r>
            <a:r>
              <a:rPr sz="1400" b="0" dirty="0">
                <a:solidFill>
                  <a:srgbClr val="333333"/>
                </a:solidFill>
              </a:rPr>
              <a:t> N=329 helps, but many advanced metrics only have ~90–100 complete pairs</a:t>
            </a:r>
          </a:p>
          <a:p>
            <a:r>
              <a:rPr sz="1400" b="0" dirty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400" b="0" dirty="0">
              <a:solidFill>
                <a:srgbClr val="333333"/>
              </a:solidFill>
            </a:endParaRPr>
          </a:p>
          <a:p>
            <a:r>
              <a:rPr sz="1400" b="0" dirty="0">
                <a:solidFill>
                  <a:srgbClr val="333333"/>
                </a:solidFill>
              </a:rPr>
              <a:t>What hardened the sample</a:t>
            </a:r>
          </a:p>
          <a:p>
            <a:endParaRPr sz="1400" b="0" dirty="0">
              <a:solidFill>
                <a:srgbClr val="333333"/>
              </a:solidFill>
            </a:endParaRPr>
          </a:p>
          <a:p>
            <a:r>
              <a:rPr sz="1400" b="0" dirty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 dirty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 dirty="0">
                <a:solidFill>
                  <a:srgbClr val="333333"/>
                </a:solidFill>
              </a:rPr>
              <a:t>• </a:t>
            </a:r>
            <a:r>
              <a:rPr sz="1400" b="0" dirty="0" err="1">
                <a:solidFill>
                  <a:srgbClr val="333333"/>
                </a:solidFill>
              </a:rPr>
              <a:t>StatsBomb</a:t>
            </a:r>
            <a:r>
              <a:rPr sz="1400" b="0" dirty="0">
                <a:solidFill>
                  <a:srgbClr val="333333"/>
                </a:solidFill>
              </a:rPr>
              <a:t> kept as event deep dive (r≥0.40 · 7 traits), not league ranking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>• FBref traits most linked to Year 1 in Bundesliga minutes (p&lt;0.05): final-third passing, shot blocks, progressive distance, box defending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Feeder-league gaps are modest; exploratory OLS (N=117) — traits matter more than league label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Scout metrics that travel league-to-league. Year 1 in Bundesliga minutes = open-data success proxy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</a:rPr>
              <a:t>TAKEAWAYS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dirty="0">
                <a:solidFill>
                  <a:srgbClr val="333333"/>
                </a:solidFill>
                <a:latin typeface="Georgia" panose="02040502050405020303" pitchFamily="18" charset="0"/>
              </a:rPr>
              <a:t>Deliverables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Repo: deck · </a:t>
            </a:r>
            <a:r>
              <a:rPr sz="1300" b="0" dirty="0" err="1">
                <a:solidFill>
                  <a:srgbClr val="333333"/>
                </a:solidFill>
              </a:rPr>
              <a:t>README.md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interactive_player_explorer.html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projectproposal</a:t>
            </a:r>
            <a:endParaRPr sz="1300" b="0" dirty="0">
              <a:solidFill>
                <a:srgbClr val="333333"/>
              </a:solidFill>
            </a:endParaRP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Stability floors: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Attacking/Passing/Other Pearson r ≥ 0.60 · Defending/Carrying Pearson r ≥ 0.50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3024</TotalTime>
  <Words>3931</Words>
  <Application>Microsoft Macintosh PowerPoint</Application>
  <PresentationFormat>Widescreen</PresentationFormat>
  <Paragraphs>681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17</cp:revision>
  <dcterms:created xsi:type="dcterms:W3CDTF">2013-01-27T09:14:16Z</dcterms:created>
  <dcterms:modified xsi:type="dcterms:W3CDTF">2026-07-22T23:19:14Z</dcterms:modified>
  <cp:category/>
</cp:coreProperties>
</file>