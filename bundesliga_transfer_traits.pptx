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3" r:id="rId3"/>
    <p:sldId id="257" r:id="rId4"/>
    <p:sldId id="268" r:id="rId5"/>
    <p:sldId id="281" r:id="rId6"/>
    <p:sldId id="282" r:id="rId7"/>
    <p:sldId id="260" r:id="rId8"/>
    <p:sldId id="259" r:id="rId9"/>
    <p:sldId id="261" r:id="rId10"/>
    <p:sldId id="263" r:id="rId11"/>
    <p:sldId id="267" r:id="rId12"/>
    <p:sldId id="264" r:id="rId13"/>
    <p:sldId id="269" r:id="rId14"/>
    <p:sldId id="276" r:id="rId15"/>
    <p:sldId id="270" r:id="rId16"/>
    <p:sldId id="271" r:id="rId17"/>
    <p:sldId id="274" r:id="rId18"/>
    <p:sldId id="275" r:id="rId19"/>
    <p:sldId id="280" r:id="rId20"/>
    <p:sldId id="278" r:id="rId21"/>
    <p:sldId id="277" r:id="rId22"/>
    <p:sldId id="279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22"/>
    <p:restoredTop sz="94678"/>
  </p:normalViewPr>
  <p:slideViewPr>
    <p:cSldViewPr snapToGrid="0" snapToObjects="1">
      <p:cViewPr varScale="1">
        <p:scale>
          <a:sx n="109" d="100"/>
          <a:sy n="109" d="100"/>
        </p:scale>
        <p:origin x="608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555555"/>
                </a:solidFill>
              </a:rPr>
              <a:t>COLBY MORRIS  · </a:t>
            </a:r>
            <a:r>
              <a:rPr sz="1200" b="0" dirty="0">
                <a:solidFill>
                  <a:srgbClr val="555555"/>
                </a:solidFill>
                <a:latin typeface="Calibri"/>
              </a:rPr>
              <a:t>BERKELEY</a:t>
            </a:r>
            <a:r>
              <a:rPr lang="en-US" sz="1200" b="0" dirty="0">
                <a:solidFill>
                  <a:srgbClr val="555555"/>
                </a:solidFill>
                <a:latin typeface="Calibri"/>
              </a:rPr>
              <a:t> HAAS</a:t>
            </a:r>
            <a:r>
              <a:rPr sz="1200" b="0" dirty="0">
                <a:solidFill>
                  <a:srgbClr val="555555"/>
                </a:solidFill>
                <a:latin typeface="Calibri"/>
              </a:rPr>
              <a:t>  ·  INDEPENDENT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>
                <a:solidFill>
                  <a:srgbClr val="222222"/>
                </a:solidFill>
                <a:latin typeface="Georgia"/>
              </a:rPr>
              <a:t>Which traits</a:t>
            </a:r>
            <a:r>
              <a:rPr lang="en-US" sz="2800" b="1" dirty="0">
                <a:solidFill>
                  <a:srgbClr val="222222"/>
                </a:solidFill>
                <a:latin typeface="Georgia"/>
              </a:rPr>
              <a:t> most accurately </a:t>
            </a:r>
            <a:r>
              <a:rPr sz="2800" b="1" dirty="0">
                <a:solidFill>
                  <a:srgbClr val="222222"/>
                </a:solidFill>
                <a:latin typeface="Georgia"/>
              </a:rPr>
              <a:t>travel into the Bundesliga</a:t>
            </a:r>
            <a:r>
              <a:rPr lang="en-US" sz="2800" b="1" dirty="0">
                <a:solidFill>
                  <a:srgbClr val="222222"/>
                </a:solidFill>
                <a:latin typeface="Georgia"/>
              </a:rPr>
              <a:t> from other professional soccer leagues</a:t>
            </a:r>
            <a:r>
              <a:rPr sz="2800" b="1" dirty="0">
                <a:solidFill>
                  <a:srgbClr val="222222"/>
                </a:solidFill>
                <a:latin typeface="Georgia"/>
              </a:rPr>
              <a:t>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834640"/>
            <a:ext cx="105156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 dirty="0">
                <a:solidFill>
                  <a:srgbClr val="333333"/>
                </a:solidFill>
                <a:latin typeface="Calibri"/>
              </a:rPr>
              <a:t>F</a:t>
            </a:r>
            <a:r>
              <a:rPr lang="en-US" sz="1600" b="0" i="1" dirty="0">
                <a:solidFill>
                  <a:srgbClr val="333333"/>
                </a:solidFill>
                <a:latin typeface="Calibri"/>
              </a:rPr>
              <a:t>ootball R</a:t>
            </a:r>
            <a:r>
              <a:rPr sz="1600" b="0" i="1" dirty="0">
                <a:solidFill>
                  <a:srgbClr val="333333"/>
                </a:solidFill>
                <a:latin typeface="Calibri"/>
              </a:rPr>
              <a:t>ef</a:t>
            </a:r>
            <a:r>
              <a:rPr lang="en-US" sz="1600" b="0" i="1" dirty="0">
                <a:solidFill>
                  <a:srgbClr val="333333"/>
                </a:solidFill>
                <a:latin typeface="Calibri"/>
              </a:rPr>
              <a:t>erence</a:t>
            </a:r>
            <a:r>
              <a:rPr sz="1600" b="0" i="1" dirty="0">
                <a:solidFill>
                  <a:srgbClr val="333333"/>
                </a:solidFill>
                <a:latin typeface="Calibri"/>
              </a:rPr>
              <a:t> + </a:t>
            </a:r>
            <a:r>
              <a:rPr sz="1600" b="0" i="1" dirty="0" err="1">
                <a:solidFill>
                  <a:srgbClr val="333333"/>
                </a:solidFill>
                <a:latin typeface="Calibri"/>
              </a:rPr>
              <a:t>StatsBomb</a:t>
            </a:r>
            <a:r>
              <a:rPr lang="en-US" sz="1600" b="0" i="1" dirty="0">
                <a:solidFill>
                  <a:srgbClr val="333333"/>
                </a:solidFill>
                <a:latin typeface="Calibri"/>
              </a:rPr>
              <a:t> data sources</a:t>
            </a:r>
          </a:p>
          <a:p>
            <a:pPr algn="l"/>
            <a:endParaRPr lang="en-US" sz="1600" b="0" i="1" dirty="0">
              <a:solidFill>
                <a:srgbClr val="333333"/>
              </a:solidFill>
              <a:latin typeface="Calibri"/>
            </a:endParaRPr>
          </a:p>
          <a:p>
            <a:pPr algn="l"/>
            <a:r>
              <a:rPr lang="en-US" sz="1600" i="1" dirty="0">
                <a:solidFill>
                  <a:srgbClr val="333333"/>
                </a:solidFill>
                <a:latin typeface="Calibri"/>
              </a:rPr>
              <a:t>*Based on framework used in data science internship with Red Bull New York Transfer Market scouting analysis*</a:t>
            </a:r>
            <a:endParaRPr sz="1600" b="0" i="1" dirty="0">
              <a:solidFill>
                <a:srgbClr val="333333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2608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3D5A80"/>
                </a:solidFill>
                <a:latin typeface="Calibri"/>
              </a:rPr>
              <a:t>PROJECT STEPS  · 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0" dirty="0">
                <a:solidFill>
                  <a:srgbClr val="555555"/>
                </a:solidFill>
                <a:latin typeface="Calibri"/>
              </a:rPr>
              <a:t>Question → scrape → stability → thresholds → redundancy → explorer → significance</a:t>
            </a:r>
          </a:p>
        </p:txBody>
      </p:sp>
      <p:sp>
        <p:nvSpPr>
          <p:cNvPr id="5" name="Oval 4"/>
          <p:cNvSpPr/>
          <p:nvPr/>
        </p:nvSpPr>
        <p:spPr>
          <a:xfrm>
            <a:off x="411480" y="1207008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1170432"/>
            <a:ext cx="5029200" cy="671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Question</a:t>
            </a:r>
          </a:p>
          <a:p>
            <a:r>
              <a:rPr sz="1200" b="0" dirty="0">
                <a:solidFill>
                  <a:srgbClr val="333333"/>
                </a:solidFill>
              </a:rPr>
              <a:t>Which traits travel into </a:t>
            </a:r>
            <a:r>
              <a:rPr lang="en-US" sz="1200" dirty="0">
                <a:solidFill>
                  <a:srgbClr val="333333"/>
                </a:solidFill>
              </a:rPr>
              <a:t>the German Bundesliga (BL) </a:t>
            </a:r>
            <a:r>
              <a:rPr sz="1200" b="0" dirty="0">
                <a:solidFill>
                  <a:srgbClr val="333333"/>
                </a:solidFill>
              </a:rPr>
              <a:t>— and which prior</a:t>
            </a:r>
            <a:r>
              <a:rPr lang="en-US" sz="1200" b="0" dirty="0">
                <a:solidFill>
                  <a:srgbClr val="333333"/>
                </a:solidFill>
              </a:rPr>
              <a:t> stats line </a:t>
            </a:r>
            <a:r>
              <a:rPr sz="1200" b="0" dirty="0">
                <a:solidFill>
                  <a:srgbClr val="333333"/>
                </a:solidFill>
              </a:rPr>
              <a:t>up with </a:t>
            </a:r>
            <a:r>
              <a:rPr lang="en-US" sz="1200" dirty="0">
                <a:solidFill>
                  <a:srgbClr val="333333"/>
                </a:solidFill>
              </a:rPr>
              <a:t>Year 1</a:t>
            </a:r>
            <a:r>
              <a:rPr sz="1200" b="0" dirty="0">
                <a:solidFill>
                  <a:srgbClr val="333333"/>
                </a:solidFill>
              </a:rPr>
              <a:t> </a:t>
            </a:r>
            <a:r>
              <a:rPr lang="en-US" sz="1200" b="0" dirty="0">
                <a:solidFill>
                  <a:srgbClr val="333333"/>
                </a:solidFill>
              </a:rPr>
              <a:t>(Y1) </a:t>
            </a:r>
            <a:r>
              <a:rPr sz="1200" b="0" dirty="0">
                <a:solidFill>
                  <a:srgbClr val="333333"/>
                </a:solidFill>
              </a:rPr>
              <a:t>minutes?</a:t>
            </a:r>
          </a:p>
        </p:txBody>
      </p:sp>
      <p:sp>
        <p:nvSpPr>
          <p:cNvPr id="7" name="Oval 6"/>
          <p:cNvSpPr/>
          <p:nvPr/>
        </p:nvSpPr>
        <p:spPr>
          <a:xfrm>
            <a:off x="411480" y="1920240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" y="1883664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Scrape two sources</a:t>
            </a:r>
          </a:p>
          <a:p>
            <a:r>
              <a:rPr lang="en-US" sz="1200" b="0" dirty="0">
                <a:solidFill>
                  <a:srgbClr val="333333"/>
                </a:solidFill>
              </a:rPr>
              <a:t>Football Reference (</a:t>
            </a:r>
            <a:r>
              <a:rPr sz="1200" b="0" dirty="0" err="1">
                <a:solidFill>
                  <a:srgbClr val="333333"/>
                </a:solidFill>
              </a:rPr>
              <a:t>F</a:t>
            </a:r>
            <a:r>
              <a:rPr lang="en-US" sz="1200" b="0" dirty="0" err="1">
                <a:solidFill>
                  <a:srgbClr val="333333"/>
                </a:solidFill>
              </a:rPr>
              <a:t>b</a:t>
            </a:r>
            <a:r>
              <a:rPr sz="1200" b="0" dirty="0" err="1">
                <a:solidFill>
                  <a:srgbClr val="333333"/>
                </a:solidFill>
              </a:rPr>
              <a:t>ref</a:t>
            </a:r>
            <a:r>
              <a:rPr lang="en-US" sz="1200" b="0" dirty="0">
                <a:solidFill>
                  <a:srgbClr val="333333"/>
                </a:solidFill>
              </a:rPr>
              <a:t>)</a:t>
            </a:r>
            <a:r>
              <a:rPr sz="1200" b="0" dirty="0">
                <a:solidFill>
                  <a:srgbClr val="333333"/>
                </a:solidFill>
              </a:rPr>
              <a:t>: 19 leagues, first BL ≥2021, ≥300′. </a:t>
            </a:r>
            <a:r>
              <a:rPr sz="1200" b="0" dirty="0" err="1">
                <a:solidFill>
                  <a:srgbClr val="333333"/>
                </a:solidFill>
              </a:rPr>
              <a:t>StatsBomb</a:t>
            </a:r>
            <a:r>
              <a:rPr sz="1200" b="0" dirty="0">
                <a:solidFill>
                  <a:srgbClr val="333333"/>
                </a:solidFill>
              </a:rPr>
              <a:t>: 17 comps; BL 2015/16 + 2023/24; ≥45′/≥30′.</a:t>
            </a:r>
          </a:p>
        </p:txBody>
      </p:sp>
      <p:sp>
        <p:nvSpPr>
          <p:cNvPr id="9" name="Oval 8"/>
          <p:cNvSpPr/>
          <p:nvPr/>
        </p:nvSpPr>
        <p:spPr>
          <a:xfrm>
            <a:off x="411480" y="2633472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" y="2596896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Stability</a:t>
            </a:r>
          </a:p>
          <a:p>
            <a:r>
              <a:rPr sz="1200" b="0" dirty="0">
                <a:solidFill>
                  <a:srgbClr val="333333"/>
                </a:solidFill>
              </a:rPr>
              <a:t>Correlate prior → BL Y1 per-90</a:t>
            </a:r>
            <a:r>
              <a:rPr lang="en-US" sz="1200" b="0" dirty="0">
                <a:solidFill>
                  <a:srgbClr val="333333"/>
                </a:solidFill>
              </a:rPr>
              <a:t> minutes</a:t>
            </a:r>
            <a:r>
              <a:rPr sz="1200" b="0" dirty="0">
                <a:solidFill>
                  <a:srgbClr val="333333"/>
                </a:solidFill>
              </a:rPr>
              <a:t>. Keep metrics that travel.</a:t>
            </a:r>
          </a:p>
        </p:txBody>
      </p:sp>
      <p:sp>
        <p:nvSpPr>
          <p:cNvPr id="11" name="Oval 10"/>
          <p:cNvSpPr/>
          <p:nvPr/>
        </p:nvSpPr>
        <p:spPr>
          <a:xfrm>
            <a:off x="411480" y="3346704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" y="3310128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Choose thresholds</a:t>
            </a:r>
          </a:p>
          <a:p>
            <a:r>
              <a:rPr sz="1200" b="0" dirty="0" err="1">
                <a:solidFill>
                  <a:srgbClr val="333333"/>
                </a:solidFill>
              </a:rPr>
              <a:t>FBref</a:t>
            </a:r>
            <a:r>
              <a:rPr sz="1200" b="0" dirty="0">
                <a:solidFill>
                  <a:srgbClr val="333333"/>
                </a:solidFill>
              </a:rPr>
              <a:t> category gates → 43/105</a:t>
            </a:r>
            <a:r>
              <a:rPr lang="en-US" sz="1200" b="0" dirty="0">
                <a:solidFill>
                  <a:srgbClr val="333333"/>
                </a:solidFill>
              </a:rPr>
              <a:t> metrics</a:t>
            </a:r>
            <a:r>
              <a:rPr sz="1200" b="0" dirty="0">
                <a:solidFill>
                  <a:srgbClr val="333333"/>
                </a:solidFill>
              </a:rPr>
              <a:t>. </a:t>
            </a:r>
            <a:r>
              <a:rPr sz="1200" b="0" dirty="0" err="1">
                <a:solidFill>
                  <a:srgbClr val="333333"/>
                </a:solidFill>
              </a:rPr>
              <a:t>StatsBomb</a:t>
            </a:r>
            <a:r>
              <a:rPr sz="1200" b="0" dirty="0">
                <a:solidFill>
                  <a:srgbClr val="333333"/>
                </a:solidFill>
              </a:rPr>
              <a:t> r≥0.40 → 7/16</a:t>
            </a:r>
            <a:r>
              <a:rPr lang="en-US" sz="1200" b="0" dirty="0">
                <a:solidFill>
                  <a:srgbClr val="333333"/>
                </a:solidFill>
              </a:rPr>
              <a:t> metrics</a:t>
            </a:r>
            <a:r>
              <a:rPr sz="1200" b="0" dirty="0">
                <a:solidFill>
                  <a:srgbClr val="333333"/>
                </a:solidFill>
              </a:rPr>
              <a:t>.</a:t>
            </a:r>
          </a:p>
        </p:txBody>
      </p:sp>
      <p:sp>
        <p:nvSpPr>
          <p:cNvPr id="13" name="Oval 12"/>
          <p:cNvSpPr/>
          <p:nvPr/>
        </p:nvSpPr>
        <p:spPr>
          <a:xfrm>
            <a:off x="5989320" y="1207008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1170432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Redundancy + context</a:t>
            </a:r>
          </a:p>
          <a:p>
            <a:r>
              <a:rPr sz="1200" b="0" dirty="0">
                <a:solidFill>
                  <a:srgbClr val="333333"/>
                </a:solidFill>
              </a:rPr>
              <a:t>Drop </a:t>
            </a:r>
            <a:r>
              <a:rPr lang="en-US" sz="1200" b="0" dirty="0">
                <a:solidFill>
                  <a:srgbClr val="333333"/>
                </a:solidFill>
              </a:rPr>
              <a:t>near-duplicates</a:t>
            </a:r>
            <a:r>
              <a:rPr sz="1200" b="0" dirty="0">
                <a:solidFill>
                  <a:srgbClr val="333333"/>
                </a:solidFill>
              </a:rPr>
              <a:t>.</a:t>
            </a:r>
            <a:r>
              <a:rPr lang="en-US" sz="1200" b="0" dirty="0">
                <a:solidFill>
                  <a:srgbClr val="333333"/>
                </a:solidFill>
              </a:rPr>
              <a:t> </a:t>
            </a:r>
            <a:r>
              <a:rPr lang="en-US" sz="1200" b="0" dirty="0" err="1">
                <a:solidFill>
                  <a:srgbClr val="333333"/>
                </a:solidFill>
              </a:rPr>
              <a:t>Fbref</a:t>
            </a:r>
            <a:r>
              <a:rPr lang="en-US" sz="1200" b="0" dirty="0">
                <a:solidFill>
                  <a:srgbClr val="333333"/>
                </a:solidFill>
              </a:rPr>
              <a:t> </a:t>
            </a:r>
            <a:r>
              <a:rPr sz="1200" b="0" dirty="0">
                <a:solidFill>
                  <a:srgbClr val="333333"/>
                </a:solidFill>
              </a:rPr>
              <a:t>43→32 · SB 7.</a:t>
            </a:r>
          </a:p>
        </p:txBody>
      </p:sp>
      <p:sp>
        <p:nvSpPr>
          <p:cNvPr id="15" name="Oval 14"/>
          <p:cNvSpPr/>
          <p:nvPr/>
        </p:nvSpPr>
        <p:spPr>
          <a:xfrm>
            <a:off x="5989320" y="1920240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9944" y="1883664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Explorer &amp; graphics</a:t>
            </a:r>
          </a:p>
          <a:p>
            <a:r>
              <a:rPr sz="1200" b="0" dirty="0">
                <a:solidFill>
                  <a:srgbClr val="333333"/>
                </a:solidFill>
              </a:rPr>
              <a:t>Radars / pizzas on shortlist</a:t>
            </a:r>
            <a:r>
              <a:rPr lang="en-US" sz="1200" b="0" dirty="0">
                <a:solidFill>
                  <a:srgbClr val="333333"/>
                </a:solidFill>
              </a:rPr>
              <a:t> metrics</a:t>
            </a:r>
            <a:r>
              <a:rPr sz="1200" b="0" dirty="0">
                <a:solidFill>
                  <a:srgbClr val="333333"/>
                </a:solidFill>
              </a:rPr>
              <a:t> (</a:t>
            </a:r>
            <a:r>
              <a:rPr sz="1200" b="0" dirty="0" err="1">
                <a:solidFill>
                  <a:srgbClr val="333333"/>
                </a:solidFill>
              </a:rPr>
              <a:t>interactive_player_explorer.html</a:t>
            </a:r>
            <a:r>
              <a:rPr sz="1200" b="0" dirty="0">
                <a:solidFill>
                  <a:srgbClr val="333333"/>
                </a:solidFill>
              </a:rPr>
              <a:t>).</a:t>
            </a:r>
          </a:p>
        </p:txBody>
      </p:sp>
      <p:sp>
        <p:nvSpPr>
          <p:cNvPr id="17" name="Oval 16"/>
          <p:cNvSpPr/>
          <p:nvPr/>
        </p:nvSpPr>
        <p:spPr>
          <a:xfrm>
            <a:off x="5989320" y="2633472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2596896"/>
            <a:ext cx="5029200" cy="671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Significance tests</a:t>
            </a:r>
          </a:p>
          <a:p>
            <a:r>
              <a:rPr sz="1200" b="0" dirty="0">
                <a:solidFill>
                  <a:srgbClr val="333333"/>
                </a:solidFill>
              </a:rPr>
              <a:t>Spearman: prior trait</a:t>
            </a:r>
            <a:r>
              <a:rPr lang="en-US" sz="1200" b="0" dirty="0">
                <a:solidFill>
                  <a:srgbClr val="333333"/>
                </a:solidFill>
              </a:rPr>
              <a:t> percentile</a:t>
            </a:r>
            <a:r>
              <a:rPr sz="1200" b="0" dirty="0">
                <a:solidFill>
                  <a:srgbClr val="333333"/>
                </a:solidFill>
              </a:rPr>
              <a:t> vs Y1 minutes; feeder</a:t>
            </a:r>
            <a:r>
              <a:rPr lang="en-US" sz="1200" b="0" dirty="0">
                <a:solidFill>
                  <a:srgbClr val="333333"/>
                </a:solidFill>
              </a:rPr>
              <a:t> league</a:t>
            </a:r>
            <a:r>
              <a:rPr sz="1200" b="0" dirty="0">
                <a:solidFill>
                  <a:srgbClr val="333333"/>
                </a:solidFill>
              </a:rPr>
              <a:t> summaries; exploratory OLS.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5469259-8206-2172-4E02-B549B0A1904C}"/>
              </a:ext>
            </a:extLst>
          </p:cNvPr>
          <p:cNvSpPr txBox="1"/>
          <p:nvPr/>
        </p:nvSpPr>
        <p:spPr>
          <a:xfrm>
            <a:off x="502920" y="4753206"/>
            <a:ext cx="10515600" cy="692497"/>
          </a:xfrm>
          <a:prstGeom prst="rect">
            <a:avLst/>
          </a:prstGeom>
          <a:solidFill>
            <a:schemeClr val="bg1">
              <a:lumMod val="75000"/>
            </a:schemeClr>
          </a:solidFill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en-US" sz="1300" b="0" i="1" dirty="0">
                <a:solidFill>
                  <a:srgbClr val="555555"/>
                </a:solidFill>
                <a:latin typeface="Calibri"/>
              </a:rPr>
              <a:t>Compared to the project completed with Red Bull New York, </a:t>
            </a:r>
            <a:r>
              <a:rPr lang="en-US" sz="1300" i="1" dirty="0">
                <a:solidFill>
                  <a:srgbClr val="555555"/>
                </a:solidFill>
                <a:latin typeface="Calibri"/>
              </a:rPr>
              <a:t>the project </a:t>
            </a:r>
            <a:r>
              <a:rPr lang="en-US" sz="1300" b="0" i="1" dirty="0">
                <a:solidFill>
                  <a:srgbClr val="555555"/>
                </a:solidFill>
                <a:latin typeface="Calibri"/>
              </a:rPr>
              <a:t>defines the most portable traits for scouting leading to playing time in the Bundesliga year 1 post-transfer rather rather than</a:t>
            </a:r>
            <a:r>
              <a:rPr sz="1300" b="0" i="1" dirty="0">
                <a:solidFill>
                  <a:srgbClr val="555555"/>
                </a:solidFill>
                <a:latin typeface="Calibri"/>
              </a:rPr>
              <a:t> </a:t>
            </a:r>
            <a:r>
              <a:rPr sz="1300" b="0" i="1" dirty="0" err="1">
                <a:solidFill>
                  <a:srgbClr val="555555"/>
                </a:solidFill>
                <a:latin typeface="Calibri"/>
              </a:rPr>
              <a:t>Transfermarkt</a:t>
            </a:r>
            <a:r>
              <a:rPr sz="1300" b="0" i="1" dirty="0">
                <a:solidFill>
                  <a:srgbClr val="555555"/>
                </a:solidFill>
                <a:latin typeface="Calibri"/>
              </a:rPr>
              <a:t> value</a:t>
            </a:r>
            <a:r>
              <a:rPr lang="en-US" sz="1300" b="0" i="1" dirty="0">
                <a:solidFill>
                  <a:srgbClr val="555555"/>
                </a:solidFill>
                <a:latin typeface="Calibri"/>
              </a:rPr>
              <a:t>. Scouts and teams will be able to answer the questions: ‘Which traits do we scout in outside leagues to best predict playing time? Which leagues provide the most reliable statistics to best predict results in the BL?</a:t>
            </a:r>
            <a:endParaRPr sz="1300" b="0" i="1" dirty="0">
              <a:solidFill>
                <a:srgbClr val="555555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1 ·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C1C1C"/>
                </a:solidFill>
                <a:latin typeface="Georgia"/>
              </a:rPr>
              <a:t>Research Question</a:t>
            </a:r>
            <a:endParaRPr sz="2600" b="1" dirty="0">
              <a:solidFill>
                <a:srgbClr val="1C1C1C"/>
              </a:solidFill>
              <a:latin typeface="Georgi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02920" y="1097280"/>
            <a:ext cx="548640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097280"/>
            <a:ext cx="73152" cy="15544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04088" y="1207007"/>
            <a:ext cx="5166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C1C1C"/>
                </a:solidFill>
                <a:latin typeface="Georgia"/>
              </a:rPr>
              <a:t>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1536192"/>
            <a:ext cx="5120640" cy="10182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 dirty="0">
                <a:solidFill>
                  <a:srgbClr val="333333"/>
                </a:solidFill>
                <a:latin typeface="Calibri"/>
              </a:rPr>
              <a:t>When a player moves into </a:t>
            </a:r>
            <a:r>
              <a:rPr lang="en-US" sz="1400" dirty="0">
                <a:solidFill>
                  <a:srgbClr val="333333"/>
                </a:solidFill>
                <a:latin typeface="Calibri"/>
              </a:rPr>
              <a:t>the top German league, the </a:t>
            </a:r>
            <a:r>
              <a:rPr sz="1400" b="0" dirty="0">
                <a:solidFill>
                  <a:srgbClr val="333333"/>
                </a:solidFill>
                <a:latin typeface="Calibri"/>
              </a:rPr>
              <a:t>BL, which stats stay consistent — and which are league context?</a:t>
            </a:r>
            <a:r>
              <a:rPr lang="en-US" sz="1400" b="0" dirty="0">
                <a:solidFill>
                  <a:srgbClr val="333333"/>
                </a:solidFill>
                <a:latin typeface="Calibri"/>
              </a:rPr>
              <a:t> </a:t>
            </a:r>
          </a:p>
          <a:p>
            <a:pPr>
              <a:spcAft>
                <a:spcPts val="500"/>
              </a:spcAft>
            </a:pPr>
            <a:r>
              <a:rPr lang="en-US" sz="1400" i="1" dirty="0">
                <a:solidFill>
                  <a:srgbClr val="333333"/>
                </a:solidFill>
                <a:latin typeface="Calibri"/>
              </a:rPr>
              <a:t>This applies only to player who entered the BL from a different league. AKA player transfers</a:t>
            </a:r>
            <a:endParaRPr sz="1400" b="0" i="1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172200" y="1097280"/>
            <a:ext cx="544068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172200" y="1097280"/>
            <a:ext cx="73152" cy="155448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3368" y="1207007"/>
            <a:ext cx="5120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dirty="0">
                <a:solidFill>
                  <a:srgbClr val="1C1C1C"/>
                </a:solidFill>
                <a:latin typeface="Georgia"/>
              </a:rPr>
              <a:t>Difference from NYRB Project: </a:t>
            </a:r>
            <a:r>
              <a:rPr sz="1400" b="1" dirty="0">
                <a:solidFill>
                  <a:srgbClr val="1C1C1C"/>
                </a:solidFill>
                <a:latin typeface="Georgia"/>
              </a:rPr>
              <a:t>Not market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1536192"/>
            <a:ext cx="5074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We do not optimize Transfermarkt price. We shortlist portable performance traits for scouting.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880360"/>
            <a:ext cx="11109960" cy="777240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3063240"/>
            <a:ext cx="106984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Stability → Redundancy → Pizza/explorer → Success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886200"/>
            <a:ext cx="548640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02920" y="3886200"/>
            <a:ext cx="73152" cy="233172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04088" y="3995928"/>
            <a:ext cx="5166360" cy="91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dirty="0" err="1">
                <a:solidFill>
                  <a:srgbClr val="333333"/>
                </a:solidFill>
                <a:latin typeface="Calibri"/>
              </a:rPr>
              <a:t>FBref</a:t>
            </a:r>
            <a:r>
              <a:rPr sz="1300" b="0" dirty="0">
                <a:solidFill>
                  <a:srgbClr val="333333"/>
                </a:solidFill>
                <a:latin typeface="Calibri"/>
              </a:rPr>
              <a:t> = scale</a:t>
            </a:r>
            <a:r>
              <a:rPr lang="en-US" sz="1300" b="0" dirty="0">
                <a:solidFill>
                  <a:srgbClr val="333333"/>
                </a:solidFill>
                <a:latin typeface="Calibri"/>
              </a:rPr>
              <a:t>d metrics, larger sample</a:t>
            </a:r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sz="1300" b="0" dirty="0">
                <a:solidFill>
                  <a:srgbClr val="333333"/>
                </a:solidFill>
              </a:rPr>
              <a:t>19 leagues · BL ≥2021 · ≥300′</a:t>
            </a:r>
          </a:p>
          <a:p>
            <a:r>
              <a:rPr sz="1300" b="0" dirty="0">
                <a:solidFill>
                  <a:srgbClr val="333333"/>
                </a:solidFill>
              </a:rPr>
              <a:t>N=329 · 105→43→32</a:t>
            </a:r>
          </a:p>
          <a:p>
            <a:r>
              <a:rPr sz="1300" b="0" dirty="0" err="1">
                <a:solidFill>
                  <a:srgbClr val="333333"/>
                </a:solidFill>
              </a:rPr>
              <a:t>Att</a:t>
            </a:r>
            <a:r>
              <a:rPr sz="1300" b="0" dirty="0">
                <a:solidFill>
                  <a:srgbClr val="333333"/>
                </a:solidFill>
              </a:rPr>
              <a:t>/Pass/Other ≥0.60 · Def/Carry ≥0.50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886200"/>
            <a:ext cx="544068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72200" y="3886200"/>
            <a:ext cx="73152" cy="2331720"/>
          </a:xfrm>
          <a:prstGeom prst="rect">
            <a:avLst/>
          </a:prstGeom>
          <a:solidFill>
            <a:srgbClr val="2F9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73368" y="3995928"/>
            <a:ext cx="5120640" cy="931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dirty="0" err="1">
                <a:solidFill>
                  <a:srgbClr val="333333"/>
                </a:solidFill>
                <a:latin typeface="Calibri"/>
              </a:rPr>
              <a:t>StatsBomb</a:t>
            </a:r>
            <a:r>
              <a:rPr sz="1300" b="0" dirty="0">
                <a:solidFill>
                  <a:srgbClr val="333333"/>
                </a:solidFill>
                <a:latin typeface="Calibri"/>
              </a:rPr>
              <a:t> = </a:t>
            </a:r>
            <a:r>
              <a:rPr lang="en-US" sz="1300" b="0" dirty="0">
                <a:solidFill>
                  <a:srgbClr val="333333"/>
                </a:solidFill>
                <a:latin typeface="Calibri"/>
              </a:rPr>
              <a:t>metric </a:t>
            </a:r>
            <a:r>
              <a:rPr sz="1300" b="0" dirty="0">
                <a:solidFill>
                  <a:srgbClr val="333333"/>
                </a:solidFill>
                <a:latin typeface="Calibri"/>
              </a:rPr>
              <a:t>depth</a:t>
            </a:r>
            <a:r>
              <a:rPr lang="en-US" sz="1300" b="0" dirty="0">
                <a:solidFill>
                  <a:srgbClr val="333333"/>
                </a:solidFill>
                <a:latin typeface="Calibri"/>
              </a:rPr>
              <a:t>, smaller sample</a:t>
            </a:r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sz="1300" b="0" dirty="0">
                <a:solidFill>
                  <a:srgbClr val="333333"/>
                </a:solidFill>
              </a:rPr>
              <a:t>N=96 · ≥45′ / ≥30′</a:t>
            </a:r>
          </a:p>
          <a:p>
            <a:r>
              <a:rPr sz="1300" b="0" dirty="0">
                <a:solidFill>
                  <a:srgbClr val="333333"/>
                </a:solidFill>
              </a:rPr>
              <a:t>r≥0.40 → 7 · |r|≥0.85 keep all 7</a:t>
            </a:r>
          </a:p>
          <a:p>
            <a:r>
              <a:rPr sz="1300" b="0" dirty="0">
                <a:solidFill>
                  <a:srgbClr val="333333"/>
                </a:solidFill>
              </a:rPr>
              <a:t>Priors: 17 comps · BL 2015/16 + 2023/24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D5A80"/>
                </a:solidFill>
                <a:latin typeface="Calibri"/>
              </a:rPr>
              <a:t>METHODOLOGY  ·  WHAT THIS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0597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1C1C1C"/>
                </a:solidFill>
                <a:latin typeface="Georgia"/>
              </a:rPr>
              <a:t>Scouting metric evaluation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960120"/>
            <a:ext cx="11247120" cy="868680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097280"/>
            <a:ext cx="10789920" cy="528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Applied sports analytics / metric selection (NYRB-style framework).</a:t>
            </a:r>
          </a:p>
          <a:p>
            <a:pPr>
              <a:spcAft>
                <a:spcPts val="400"/>
              </a:spcAft>
            </a:pPr>
            <a:r>
              <a:rPr sz="1200" b="0" dirty="0">
                <a:solidFill>
                  <a:srgbClr val="333333"/>
                </a:solidFill>
              </a:rPr>
              <a:t>Pearson r = stability · Spearman </a:t>
            </a:r>
            <a:r>
              <a:rPr sz="1200" b="0" dirty="0" err="1">
                <a:solidFill>
                  <a:srgbClr val="333333"/>
                </a:solidFill>
              </a:rPr>
              <a:t>ρ</a:t>
            </a:r>
            <a:r>
              <a:rPr sz="1200" b="0" dirty="0">
                <a:solidFill>
                  <a:srgbClr val="333333"/>
                </a:solidFill>
              </a:rPr>
              <a:t> = success (rank-based; robust when Y1 minutes are skewed) · redundancy · percentiles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011680"/>
            <a:ext cx="365760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2011680"/>
            <a:ext cx="73152" cy="2331720"/>
          </a:xfrm>
          <a:prstGeom prst="rect">
            <a:avLst/>
          </a:prstGeom>
          <a:solidFill>
            <a:srgbClr val="1B7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121408"/>
            <a:ext cx="3337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222222"/>
                </a:solidFill>
              </a:rPr>
              <a:t>Measurables</a:t>
            </a:r>
            <a:endParaRPr sz="1600" b="1" dirty="0">
              <a:solidFill>
                <a:srgbClr val="222222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40080" y="2450592"/>
            <a:ext cx="3291840" cy="9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Trait portability — prior ↔ BL Y1 stability r</a:t>
            </a:r>
          </a:p>
          <a:p>
            <a:pPr>
              <a:spcAft>
                <a:spcPts val="400"/>
              </a:spcAft>
            </a:pPr>
            <a:r>
              <a:rPr lang="en-US" sz="1300" b="0" dirty="0">
                <a:solidFill>
                  <a:srgbClr val="333333"/>
                </a:solidFill>
              </a:rPr>
              <a:t>Removed </a:t>
            </a:r>
            <a:r>
              <a:rPr lang="en-US" sz="1300" dirty="0">
                <a:solidFill>
                  <a:srgbClr val="333333"/>
                </a:solidFill>
              </a:rPr>
              <a:t>n</a:t>
            </a:r>
            <a:r>
              <a:rPr sz="1300" b="0" dirty="0">
                <a:solidFill>
                  <a:srgbClr val="333333"/>
                </a:solidFill>
              </a:rPr>
              <a:t>ear-duplicates — </a:t>
            </a:r>
            <a:r>
              <a:rPr sz="1300" b="0" dirty="0" err="1">
                <a:solidFill>
                  <a:srgbClr val="333333"/>
                </a:solidFill>
              </a:rPr>
              <a:t>FBref</a:t>
            </a:r>
            <a:r>
              <a:rPr sz="1300" b="0" dirty="0">
                <a:solidFill>
                  <a:srgbClr val="333333"/>
                </a:solidFill>
              </a:rPr>
              <a:t> |r|≥0.95 · </a:t>
            </a:r>
            <a:r>
              <a:rPr lang="en-US" sz="1300" b="0" dirty="0" err="1">
                <a:solidFill>
                  <a:srgbClr val="333333"/>
                </a:solidFill>
              </a:rPr>
              <a:t>Statsbomb</a:t>
            </a:r>
            <a:r>
              <a:rPr lang="en-US" sz="1300" b="0" dirty="0">
                <a:solidFill>
                  <a:srgbClr val="333333"/>
                </a:solidFill>
              </a:rPr>
              <a:t> (SB)</a:t>
            </a:r>
            <a:r>
              <a:rPr sz="1300" b="0" dirty="0">
                <a:solidFill>
                  <a:srgbClr val="333333"/>
                </a:solidFill>
              </a:rPr>
              <a:t> |r|≥0.85</a:t>
            </a:r>
          </a:p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Y1 profile strength — stable-trait score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011680"/>
            <a:ext cx="365760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97680" y="2011680"/>
            <a:ext cx="73152" cy="233172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80560" y="2121408"/>
            <a:ext cx="3337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222222"/>
                </a:solidFill>
              </a:rPr>
              <a:t>Disclaimer</a:t>
            </a:r>
            <a:endParaRPr sz="1600" b="1" dirty="0">
              <a:solidFill>
                <a:srgbClr val="222222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480560" y="2450592"/>
            <a:ext cx="3291840" cy="13952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Not a production forecast of goals, minutes, or “success.”</a:t>
            </a:r>
          </a:p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Stability ≠ “</a:t>
            </a:r>
            <a:r>
              <a:rPr lang="en-US" sz="1300" dirty="0">
                <a:solidFill>
                  <a:srgbClr val="333333"/>
                </a:solidFill>
              </a:rPr>
              <a:t>player is primed for success</a:t>
            </a:r>
            <a:r>
              <a:rPr sz="1300" b="0" dirty="0">
                <a:solidFill>
                  <a:srgbClr val="333333"/>
                </a:solidFill>
              </a:rPr>
              <a:t>” — it means the ranking tends to travel.</a:t>
            </a:r>
          </a:p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OLS</a:t>
            </a:r>
            <a:r>
              <a:rPr lang="en-US" sz="1300" dirty="0">
                <a:solidFill>
                  <a:srgbClr val="333333"/>
                </a:solidFill>
              </a:rPr>
              <a:t> </a:t>
            </a:r>
            <a:r>
              <a:rPr sz="1300" b="0" dirty="0">
                <a:solidFill>
                  <a:srgbClr val="333333"/>
                </a:solidFill>
              </a:rPr>
              <a:t>is exploratory (Big-5 N=117), not club-grade validation.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011680"/>
            <a:ext cx="356616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38160" y="2011680"/>
            <a:ext cx="73152" cy="233172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21040" y="2121408"/>
            <a:ext cx="32461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222222"/>
                </a:solidFill>
              </a:rPr>
              <a:t>Data science methods</a:t>
            </a:r>
            <a:endParaRPr sz="1600" b="1" dirty="0">
              <a:solidFill>
                <a:srgbClr val="222222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21040" y="2450592"/>
            <a:ext cx="3200400" cy="1783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Cohort design + joins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Correlation / feature screening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Redundancy pruning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Peer percentiles + explorer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Human Step-2 selection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2800" b="1">
                <a:solidFill>
                  <a:srgbClr val="3D5A80"/>
                </a:solidFill>
                <a:latin typeface="Calibri"/>
              </a:rPr>
              <a:t>DATA  ·  FBREF (PRIMARY)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 dirty="0">
                <a:solidFill>
                  <a:srgbClr val="555555"/>
                </a:solidFill>
                <a:latin typeface="Calibri"/>
              </a:rPr>
              <a:t>Scale layer — inbound</a:t>
            </a:r>
            <a:r>
              <a:rPr lang="en-US" sz="1400" b="0" dirty="0">
                <a:solidFill>
                  <a:srgbClr val="555555"/>
                </a:solidFill>
                <a:latin typeface="Calibri"/>
              </a:rPr>
              <a:t> leagues</a:t>
            </a:r>
            <a:r>
              <a:rPr sz="1400" b="0" dirty="0">
                <a:solidFill>
                  <a:srgbClr val="555555"/>
                </a:solidFill>
                <a:latin typeface="Calibri"/>
              </a:rPr>
              <a:t> → Bundesliga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8876714" cy="2357056"/>
          </a:xfrm>
          <a:prstGeom prst="rect">
            <a:avLst/>
          </a:prstGeom>
          <a:solidFill>
            <a:schemeClr val="bg1">
              <a:lumMod val="75000"/>
            </a:schemeClr>
          </a:solidFill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What we use</a:t>
            </a:r>
          </a:p>
          <a:p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lang="en-US" sz="1300" b="0" dirty="0">
                <a:solidFill>
                  <a:srgbClr val="333333"/>
                </a:solidFill>
              </a:rPr>
              <a:t>Outside league </a:t>
            </a:r>
            <a:r>
              <a:rPr sz="1300" b="0" dirty="0">
                <a:solidFill>
                  <a:srgbClr val="333333"/>
                </a:solidFill>
              </a:rPr>
              <a:t>tables + player-page fills</a:t>
            </a:r>
          </a:p>
          <a:p>
            <a:r>
              <a:rPr sz="1300" b="0" dirty="0">
                <a:solidFill>
                  <a:srgbClr val="333333"/>
                </a:solidFill>
              </a:rPr>
              <a:t>Analysis window: first BL end-years 2021–2025</a:t>
            </a:r>
          </a:p>
          <a:p>
            <a:r>
              <a:rPr sz="1300" b="0" dirty="0">
                <a:solidFill>
                  <a:srgbClr val="333333"/>
                </a:solidFill>
              </a:rPr>
              <a:t>Minutes: prior ≥300′ · Y1 ≥300′ → N=329 pairs · 19 leagues</a:t>
            </a:r>
          </a:p>
          <a:p>
            <a:endParaRPr sz="1300" b="0" dirty="0">
              <a:solidFill>
                <a:srgbClr val="333333"/>
              </a:solidFill>
            </a:endParaRPr>
          </a:p>
          <a:p>
            <a:r>
              <a:rPr sz="1300" b="0" dirty="0">
                <a:solidFill>
                  <a:srgbClr val="333333"/>
                </a:solidFill>
              </a:rPr>
              <a:t>No league-relative scaling — it did not help rate→Y1 stability.</a:t>
            </a:r>
          </a:p>
          <a:p>
            <a:r>
              <a:rPr sz="1300" b="0" dirty="0">
                <a:solidFill>
                  <a:srgbClr val="333333"/>
                </a:solidFill>
              </a:rPr>
              <a:t>Absolute per-90 rates kept.</a:t>
            </a:r>
            <a:endParaRPr lang="en-US" sz="1300" b="0" dirty="0">
              <a:solidFill>
                <a:srgbClr val="333333"/>
              </a:solidFill>
            </a:endParaRPr>
          </a:p>
          <a:p>
            <a:endParaRPr lang="en-US" sz="1300" dirty="0">
              <a:solidFill>
                <a:srgbClr val="333333"/>
              </a:solidFill>
            </a:endParaRPr>
          </a:p>
          <a:p>
            <a:r>
              <a:rPr lang="en-US" sz="1300" dirty="0">
                <a:solidFill>
                  <a:srgbClr val="333333"/>
                </a:solidFill>
              </a:rPr>
              <a:t>Window · 2021–2025 · ≥300′ both sides · N=329</a:t>
            </a:r>
          </a:p>
          <a:p>
            <a:endParaRPr sz="1300" b="0" dirty="0">
              <a:solidFill>
                <a:srgbClr val="333333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2800" b="1">
                <a:solidFill>
                  <a:srgbClr val="3D5A80"/>
                </a:solidFill>
                <a:latin typeface="Calibri"/>
              </a:rPr>
              <a:t>DATA  ·  STATSBOMB OPEN DATA (DEEP DIVE)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5303520" cy="4754880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What we use</a:t>
            </a:r>
          </a:p>
          <a:p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sz="1300" b="0" dirty="0">
                <a:solidFill>
                  <a:srgbClr val="333333"/>
                </a:solidFill>
              </a:rPr>
              <a:t>All male open comps as priors</a:t>
            </a:r>
          </a:p>
          <a:p>
            <a:r>
              <a:rPr sz="1300" b="0" dirty="0">
                <a:solidFill>
                  <a:srgbClr val="333333"/>
                </a:solidFill>
              </a:rPr>
              <a:t>BL open dumps: 2015/16 + 2023/24 only</a:t>
            </a:r>
          </a:p>
          <a:p>
            <a:r>
              <a:rPr sz="1300" b="0" dirty="0">
                <a:solidFill>
                  <a:srgbClr val="333333"/>
                </a:solidFill>
              </a:rPr>
              <a:t>N=96 · prior ≥45′ · Y1 ≥30′</a:t>
            </a:r>
          </a:p>
          <a:p>
            <a:r>
              <a:rPr sz="1300" b="0" dirty="0">
                <a:solidFill>
                  <a:srgbClr val="333333"/>
                </a:solidFill>
              </a:rPr>
              <a:t>r≥0.40 → 7 · |r|≥0.85 → keep all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463040"/>
            <a:ext cx="5303520" cy="4754880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vs </a:t>
            </a:r>
            <a:r>
              <a:rPr sz="1300" b="0" dirty="0" err="1">
                <a:solidFill>
                  <a:srgbClr val="333333"/>
                </a:solidFill>
                <a:latin typeface="Calibri"/>
              </a:rPr>
              <a:t>FBref</a:t>
            </a:r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sz="1300" b="0" dirty="0">
                <a:solidFill>
                  <a:srgbClr val="333333"/>
                </a:solidFill>
              </a:rPr>
              <a:t>Same pipeline; thinner year coverage by design.</a:t>
            </a:r>
          </a:p>
          <a:p>
            <a:r>
              <a:rPr sz="1300" b="0" dirty="0">
                <a:solidFill>
                  <a:srgbClr val="333333"/>
                </a:solidFill>
              </a:rPr>
              <a:t>Event check on trait families — not league ranking.</a:t>
            </a:r>
          </a:p>
          <a:p>
            <a:endParaRPr sz="1300" b="0" dirty="0">
              <a:solidFill>
                <a:srgbClr val="333333"/>
              </a:solidFill>
            </a:endParaRPr>
          </a:p>
          <a:p>
            <a:r>
              <a:rPr sz="1300" b="0" dirty="0">
                <a:solidFill>
                  <a:srgbClr val="333333"/>
                </a:solidFill>
              </a:rPr>
              <a:t>No relative scaling: failed on </a:t>
            </a:r>
            <a:r>
              <a:rPr sz="1300" b="0" dirty="0" err="1">
                <a:solidFill>
                  <a:srgbClr val="333333"/>
                </a:solidFill>
              </a:rPr>
              <a:t>FBref</a:t>
            </a:r>
            <a:r>
              <a:rPr sz="1300" b="0" dirty="0">
                <a:solidFill>
                  <a:srgbClr val="333333"/>
                </a:solidFill>
              </a:rPr>
              <a:t>; SB priors are mixed</a:t>
            </a:r>
          </a:p>
          <a:p>
            <a:r>
              <a:rPr sz="1300" b="0" dirty="0">
                <a:solidFill>
                  <a:srgbClr val="333333"/>
                </a:solidFill>
              </a:rPr>
              <a:t>(WC / Euro / CL / leagues), so even less appropriate.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16411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30011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STABILITY (FBREF)</a:t>
            </a:r>
            <a:r>
              <a:rPr lang="en-US" sz="1300" b="1" dirty="0">
                <a:solidFill>
                  <a:srgbClr val="3D5A80"/>
                </a:solidFill>
                <a:latin typeface="Calibri"/>
              </a:rPr>
              <a:t> top metrics</a:t>
            </a:r>
            <a:endParaRPr sz="1300" b="1" dirty="0">
              <a:solidFill>
                <a:srgbClr val="3D5A80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1480" y="1118846"/>
            <a:ext cx="3036279" cy="25699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200" b="0" dirty="0">
                <a:solidFill>
                  <a:srgbClr val="333333"/>
                </a:solidFill>
              </a:rPr>
              <a:t>Prior league → first Bundesliga Y1 (end-year ≥2021)</a:t>
            </a:r>
            <a:endParaRPr lang="en-US" sz="1200" b="0" dirty="0">
              <a:solidFill>
                <a:srgbClr val="333333"/>
              </a:solidFill>
            </a:endParaRPr>
          </a:p>
          <a:p>
            <a:pPr marL="171450" indent="-171450" algn="l">
              <a:spcAft>
                <a:spcPts val="300"/>
              </a:spcAft>
              <a:buFont typeface="Arial" panose="020B0604020202020204" pitchFamily="34" charset="0"/>
              <a:buChar char="•"/>
            </a:pPr>
            <a:endParaRPr sz="1200" b="0" dirty="0">
              <a:solidFill>
                <a:srgbClr val="333333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b="0" dirty="0">
                <a:solidFill>
                  <a:srgbClr val="333333"/>
                </a:solidFill>
              </a:rPr>
              <a:t>Paired N=329 · 19 leagues · minutes ≥300′ both sides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sz="1200" b="0" dirty="0">
              <a:solidFill>
                <a:srgbClr val="333333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b="0" dirty="0">
                <a:solidFill>
                  <a:srgbClr val="333333"/>
                </a:solidFill>
              </a:rPr>
              <a:t>Category gates (not one global cut):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b="0" dirty="0">
                <a:solidFill>
                  <a:srgbClr val="333333"/>
                </a:solidFill>
              </a:rPr>
              <a:t>Attacking / Passing / Other  ·  r ≥ 0.60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b="0" dirty="0">
                <a:solidFill>
                  <a:srgbClr val="333333"/>
                </a:solidFill>
              </a:rPr>
              <a:t>Defending / Carrying  ·  r ≥ 0.50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sz="1200" b="0" dirty="0">
              <a:solidFill>
                <a:srgbClr val="333333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b="0" dirty="0">
                <a:solidFill>
                  <a:srgbClr val="333333"/>
                </a:solidFill>
              </a:rPr>
              <a:t>43 metrics pass gates → redundancy next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b="0" dirty="0">
                <a:solidFill>
                  <a:srgbClr val="333333"/>
                </a:solidFill>
              </a:rPr>
              <a:t>No league-relative scaling — absolute per-90 rates travel better.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6127445"/>
              </p:ext>
            </p:extLst>
          </p:nvPr>
        </p:nvGraphicFramePr>
        <p:xfrm>
          <a:off x="3447759" y="658148"/>
          <a:ext cx="83210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642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Abbrev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DEFPE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 Pen Touches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0.906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95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PrgC Progression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0.805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0.797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NPXG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npxG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0.793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DEF3R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 3rd Touches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95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PRGDI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PrgDist Total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Sh/90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NPXGP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npxG+xAG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XGPLU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xG+xAG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ATTLO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 Long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SOT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SoT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0.775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SOTPE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SoT/90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0.774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CMPLO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Cmp Long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0.767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CMPME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Cmp Medium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0.730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 Medium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0.724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TOTDI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TotDist Total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0.720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PrgR Progression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0.703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GPLUS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G+A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0.702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264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FK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FK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0.697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STABILITY (STATSBOMB)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Prior competition → Bundesliga Y1 · pass if r ≥ 0.40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686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dirty="0">
                <a:solidFill>
                  <a:srgbClr val="333333"/>
                </a:solidFill>
              </a:rPr>
              <a:t>Open Data · cohort N=96 · 7 of 16 pass (r≥0.40)</a:t>
            </a:r>
          </a:p>
          <a:p>
            <a:endParaRPr sz="1100" b="0" dirty="0">
              <a:solidFill>
                <a:srgbClr val="333333"/>
              </a:solidFill>
            </a:endParaRPr>
          </a:p>
          <a:p>
            <a:r>
              <a:rPr sz="1100" b="0" dirty="0">
                <a:solidFill>
                  <a:srgbClr val="333333"/>
                </a:solidFill>
              </a:rPr>
              <a:t>✓  PPC  Progressive passes (~10m+ toward goal)  r=0.74</a:t>
            </a:r>
          </a:p>
          <a:p>
            <a:r>
              <a:rPr sz="1100" b="0" dirty="0">
                <a:solidFill>
                  <a:srgbClr val="333333"/>
                </a:solidFill>
              </a:rPr>
              <a:t>✓  DIS  Dispossessed (inverted)  r=0.59</a:t>
            </a:r>
          </a:p>
          <a:p>
            <a:r>
              <a:rPr sz="1100" b="0" dirty="0">
                <a:solidFill>
                  <a:srgbClr val="333333"/>
                </a:solidFill>
              </a:rPr>
              <a:t>✓  PRS  Pressures  r=0.51</a:t>
            </a:r>
          </a:p>
          <a:p>
            <a:r>
              <a:rPr sz="1100" b="0" dirty="0">
                <a:solidFill>
                  <a:srgbClr val="333333"/>
                </a:solidFill>
              </a:rPr>
              <a:t>✓  PAS  Pass volume  r=0.49</a:t>
            </a:r>
          </a:p>
          <a:p>
            <a:r>
              <a:rPr sz="1100" b="0" dirty="0">
                <a:solidFill>
                  <a:srgbClr val="333333"/>
                </a:solidFill>
              </a:rPr>
              <a:t>✓  CLR  Clearances  r=0.47</a:t>
            </a:r>
          </a:p>
          <a:p>
            <a:r>
              <a:rPr sz="1100" b="0" dirty="0">
                <a:solidFill>
                  <a:srgbClr val="333333"/>
                </a:solidFill>
              </a:rPr>
              <a:t>✓  DRB  Successful dribbles  r=0.46</a:t>
            </a:r>
          </a:p>
          <a:p>
            <a:r>
              <a:rPr sz="1100" b="0" dirty="0">
                <a:solidFill>
                  <a:srgbClr val="333333"/>
                </a:solidFill>
              </a:rPr>
              <a:t>✓  PATT  Passes into final third  r=0.42</a:t>
            </a:r>
          </a:p>
          <a:p>
            <a:r>
              <a:rPr sz="1100" b="0" dirty="0">
                <a:solidFill>
                  <a:srgbClr val="333333"/>
                </a:solidFill>
              </a:rPr>
              <a:t>·  SH  Shots  r=0.40</a:t>
            </a:r>
          </a:p>
          <a:p>
            <a:r>
              <a:rPr sz="1100" b="0" dirty="0">
                <a:solidFill>
                  <a:srgbClr val="333333"/>
                </a:solidFill>
              </a:rPr>
              <a:t>·  CFGP  Progressive carries  r=0.38</a:t>
            </a:r>
          </a:p>
          <a:p>
            <a:r>
              <a:rPr sz="1100" b="0" dirty="0">
                <a:solidFill>
                  <a:srgbClr val="333333"/>
                </a:solidFill>
              </a:rPr>
              <a:t>·  CRY  Carries  r=0.38</a:t>
            </a:r>
          </a:p>
          <a:p>
            <a:r>
              <a:rPr sz="1100" b="0" dirty="0">
                <a:solidFill>
                  <a:srgbClr val="333333"/>
                </a:solidFill>
              </a:rPr>
              <a:t>·  TAC  Tackles  r=0.34</a:t>
            </a:r>
          </a:p>
          <a:p>
            <a:r>
              <a:rPr sz="1100" b="0" dirty="0">
                <a:solidFill>
                  <a:srgbClr val="333333"/>
                </a:solidFill>
              </a:rPr>
              <a:t>·  XG  Non-pen </a:t>
            </a:r>
            <a:r>
              <a:rPr sz="1100" b="0" dirty="0" err="1">
                <a:solidFill>
                  <a:srgbClr val="333333"/>
                </a:solidFill>
              </a:rPr>
              <a:t>xG</a:t>
            </a:r>
            <a:r>
              <a:rPr sz="1100" b="0" dirty="0">
                <a:solidFill>
                  <a:srgbClr val="333333"/>
                </a:solidFill>
              </a:rPr>
              <a:t>  r=0.30</a:t>
            </a:r>
          </a:p>
          <a:p>
            <a:r>
              <a:rPr sz="1100" b="0" dirty="0">
                <a:solidFill>
                  <a:srgbClr val="333333"/>
                </a:solidFill>
              </a:rPr>
              <a:t>·  FLW  Fouls won  r=0.27</a:t>
            </a:r>
          </a:p>
          <a:p>
            <a:r>
              <a:rPr sz="1100" b="0" dirty="0">
                <a:solidFill>
                  <a:srgbClr val="333333"/>
                </a:solidFill>
              </a:rPr>
              <a:t>·  INT  Interceptions  r=0.20</a:t>
            </a:r>
          </a:p>
          <a:p>
            <a:r>
              <a:rPr sz="1100" b="0" dirty="0">
                <a:solidFill>
                  <a:srgbClr val="333333"/>
                </a:solidFill>
              </a:rPr>
              <a:t>·  XA  Expected assists  r=0.13</a:t>
            </a:r>
          </a:p>
          <a:p>
            <a:r>
              <a:rPr sz="1100" b="0" dirty="0">
                <a:solidFill>
                  <a:srgbClr val="333333"/>
                </a:solidFill>
              </a:rPr>
              <a:t>·  AER  Aerials won  r=0.12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1602011"/>
              </p:ext>
            </p:extLst>
          </p:nvPr>
        </p:nvGraphicFramePr>
        <p:xfrm>
          <a:off x="386862" y="1234440"/>
          <a:ext cx="9168618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04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rgbClr val="333333"/>
                          </a:solidFill>
                        </a:rPr>
                        <a:t>Abbrev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rgbClr val="333333"/>
                          </a:solidFill>
                        </a:rPr>
                        <a:t>Gate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PPC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Progressive passes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DIS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Dispossessed (inv)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0.59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Pressures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0.51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 volume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CLR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Clearances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DRB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Successful dribbles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PATT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Passes into final third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Shots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CFGP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Progressive 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CRY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TAC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Tackles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Non-pen xG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FLW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Fouls won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0.27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Interceptions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XA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Expected assists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0.13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Aerials won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62636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Next: redundancy at |r|≥0.85 — only near-dupes cut; passes kept with progressive passes.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333333"/>
                </a:solidFill>
              </a:rPr>
              <a:t/>
            </a:r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REDUNDANCY PICKS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10972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200" b="1" dirty="0">
                <a:solidFill>
                  <a:srgbClr val="1C1C1C"/>
                </a:solidFill>
                <a:latin typeface="Georgia"/>
              </a:rPr>
              <a:t>Collinearity-Style Metric Pruning </a:t>
            </a:r>
            <a:endParaRPr sz="2200" b="1" dirty="0">
              <a:solidFill>
                <a:srgbClr val="1C1C1C"/>
              </a:solidFill>
              <a:latin typeface="Georgi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11480" y="960120"/>
            <a:ext cx="5440680" cy="534924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1803" y="1413801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dirty="0" err="1">
                <a:solidFill>
                  <a:srgbClr val="3D5A80"/>
                </a:solidFill>
                <a:latin typeface="Calibri"/>
              </a:rPr>
              <a:t>StatsBomb</a:t>
            </a:r>
            <a:r>
              <a:rPr sz="1600" b="1" dirty="0">
                <a:solidFill>
                  <a:srgbClr val="3D5A80"/>
                </a:solidFill>
                <a:latin typeface="Calibri"/>
              </a:rPr>
              <a:t> shortlist (7)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555555"/>
                </a:solidFill>
                <a:latin typeface="Calibri"/>
              </a:rPr>
              <a:t>Stability r≥0.40 · redundancy |r|≥0.85 (passes kept)</a:t>
            </a:r>
          </a:p>
          <a:p>
            <a:pPr>
              <a:spcAft>
                <a:spcPts val="300"/>
              </a:spcAft>
            </a:pPr>
            <a:endParaRPr sz="1200" b="0" dirty="0">
              <a:solidFill>
                <a:srgbClr val="555555"/>
              </a:solidFill>
              <a:latin typeface="Calibri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PPC  Progressive passes  r=0.74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DIS  Dispossessed (inv)  r=0.59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PRS  Pressures  r=0.51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PAS  Pass volume  r=0.49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CLR  Clearances  r=0.47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DRB  Dribbles completed  r=0.46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PATT  Passes into final third  r=0.42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1803" y="5279955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SB: |r|≥0.85 — no cuts; passes kept with progressive passes.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960120"/>
            <a:ext cx="5623560" cy="534924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21083" y="1413801"/>
            <a:ext cx="5212080" cy="1405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FBref: 43 gated → 32 kept</a:t>
            </a:r>
          </a:p>
          <a:p>
            <a:r>
              <a:rPr sz="1200" b="0">
                <a:solidFill>
                  <a:srgbClr val="333333"/>
                </a:solidFill>
              </a:rPr>
              <a:t>105 tested · category gates → 43 · |r|≥0.95 → 32</a:t>
            </a:r>
          </a:p>
          <a:p>
            <a:r>
              <a:rPr sz="1200" b="0">
                <a:solidFill>
                  <a:srgbClr val="333333"/>
                </a:solidFill>
              </a:rPr>
              <a:t>Pick order: stability → N → rate/contextual</a:t>
            </a:r>
          </a:p>
          <a:p>
            <a:r>
              <a:rPr sz="1200" b="0">
                <a:solidFill>
                  <a:srgbClr val="333333"/>
                </a:solidFill>
              </a:rPr>
              <a:t>Force-kept: SoT/90 · Gls/90 · Tkld Take · Att Total</a:t>
            </a:r>
          </a:p>
          <a:p>
            <a:r>
              <a:rPr sz="1200" b="0">
                <a:solidFill>
                  <a:srgbClr val="333333"/>
                </a:solidFill>
              </a:rPr>
              <a:t>Top: DEFPE (0.91) · PRGC (0.81) · XG (0.80)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230428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Attacking (3)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18504" y="2926080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Passing (7)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18504" y="254203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XG (0.80)  ·  GLS (0.66)  ·  ATTSH (0.56)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18504" y="3611880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Carrying (4)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18504" y="3163824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PRGC (0.81)  ·  PRGDI (0.79)  ·  KP (0.65)  ·  FINAL (0.62)  ·  CMPPE (0.64)  ·  CRSPA (0.59)  ·  CRS (0.68)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8504" y="4297680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Defending (11)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8504" y="3849624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PRGRR (0.60)  ·  ATT3R (0.54)  ·  SUCC (0.65)  ·  MIS (0.37)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8504" y="5074920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Other (1)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4535424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DEFPE (0.91)  ·  CLR (0.67)  ·  TKLD (0.59)  ·  WON (0.42)  ·  SH (0.79)  ·  INT (0.57)  ·  LOST (0.42)  ·  WONPE (0.50)  ·  DEF3R (0.79)  ·  TKLPE (0.31)  ·  RECOV (0.40)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5312664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</a:rPr>
              <a:t>FLD (0.53)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</a:rPr>
              <a:t>OUTPUT · SCOUT PIZZA CHART (Based on charts used by RBNY)</a:t>
            </a:r>
            <a:endParaRPr sz="1300" b="1" dirty="0">
              <a:solidFill>
                <a:srgbClr val="3D5A80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1480" y="47548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1C1C"/>
                </a:solidFill>
                <a:latin typeface="Georgia"/>
              </a:rPr>
              <a:t>Example player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686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Built from shortlisted traits. Explorer HTML combines FBref + StatsBomb with category slices.</a:t>
            </a:r>
          </a:p>
        </p:txBody>
      </p:sp>
      <p:pic>
        <p:nvPicPr>
          <p:cNvPr id="6" name="Picture 5" descr="mock_pizza_bundeslig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325880"/>
            <a:ext cx="5639438" cy="5029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0" y="1325880"/>
            <a:ext cx="512064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12280" y="150876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Georgia"/>
              </a:rPr>
              <a:t>How to read</a:t>
            </a:r>
          </a:p>
          <a:p>
            <a:r>
              <a:rPr sz="1300" b="0">
                <a:solidFill>
                  <a:srgbClr val="333333"/>
                </a:solidFill>
              </a:rPr>
              <a:t>Blue = BL Y1 · red dotted = prior · dashed = avg (50) · grey = top (90).</a:t>
            </a:r>
          </a:p>
          <a:p>
            <a:r>
              <a:rPr sz="1300" b="0">
                <a:solidFill>
                  <a:srgbClr val="333333"/>
                </a:solidFill>
              </a:rPr>
              <a:t>Percentiles 0–100 vs position peers.</a:t>
            </a:r>
          </a:p>
          <a:p>
            <a:endParaRPr sz="1300" b="0">
              <a:solidFill>
                <a:srgbClr val="333333"/>
              </a:solidFill>
            </a:endParaRPr>
          </a:p>
          <a:p>
            <a:r>
              <a:rPr sz="1300" b="0">
                <a:solidFill>
                  <a:srgbClr val="333333"/>
                </a:solidFill>
              </a:rPr>
              <a:t>Explorer: StatsBomb N=96 · 7 traits · FBref N=329 · 32 traits.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D5A80"/>
                </a:solidFill>
                <a:latin typeface="Calibri"/>
              </a:rPr>
              <a:t>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C1C1C"/>
                </a:solidFill>
                <a:latin typeface="Georgia"/>
              </a:rPr>
              <a:t>What “stable-trait score” means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C1C1C"/>
                </a:solidFill>
                <a:latin typeface="Calibri"/>
              </a:rPr>
              <a:t>One number that answers: in Bundesliga Year-1, how strong is this player on the portable (shortlisted) traits — vs peers at their position?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37360"/>
            <a:ext cx="36576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73152" cy="411480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4088" y="1874519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1 · Pick the traits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240280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1 · Pick the traits</a:t>
            </a:r>
          </a:p>
          <a:p>
            <a:r>
              <a:rPr sz="1300" b="0">
                <a:solidFill>
                  <a:srgbClr val="333333"/>
                </a:solidFill>
              </a:rPr>
              <a:t>Shortlist only (SB 7 · FBref 32). Dropped metrics stay out.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737360"/>
            <a:ext cx="36576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737360"/>
            <a:ext cx="73152" cy="4114800"/>
          </a:xfrm>
          <a:prstGeom prst="rect">
            <a:avLst/>
          </a:prstGeom>
          <a:solidFill>
            <a:srgbClr val="2F9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44568" y="1874519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2 · Turn each into a percentile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240280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For each shortlist trait, take the player’s Bundesliga Y1 per-90 value.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Rank it vs all Bundesliga peers in the same broad position.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0 = worst peer · 50 = average · 100 = best peer.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737360"/>
            <a:ext cx="347472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83879" y="1737360"/>
            <a:ext cx="73152" cy="411480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85048" y="187451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3 · Average them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224028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Stable-trait score = mean of those Y1 percentiles across the shortlist.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Example: if a CB is 70th / 60th / 80th on three traits → score ≈ 70.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Higher = better Year-1 profile on traits that travel.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HOW TO USE THE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C1C1C"/>
                </a:solidFill>
                <a:latin typeface="Georgia"/>
              </a:rPr>
              <a:t>interactive_player_explorer.html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280160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35331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1234439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600200" y="1463039"/>
            <a:ext cx="9601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Open 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interactive_player_explorer.html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 in a browser.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377439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450591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233172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600200" y="2501705"/>
            <a:ext cx="9601200" cy="623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Switch 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StatsBomb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 (N=96 · 7 traits) ↔ 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FBref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 (N=329 · 32 traits).</a:t>
            </a: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Dropdowns: league → position → player.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474720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354787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0" y="342900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600200" y="3657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rgbClr val="1C1C1C"/>
                </a:solidFill>
                <a:latin typeface="Calibri"/>
              </a:rPr>
              <a:t>Radar slices = style categories (attack/pass/carry/defend). Each slice averages that group’s percentiles.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572000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464515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0" y="452628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600200" y="47548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1C1C"/>
                </a:solidFill>
                <a:latin typeface="Calibri"/>
              </a:rPr>
              <a:t>Same explorer combines both sources — pick FBref or StatsBomb in the data-source dropdown.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D5A80"/>
                </a:solidFill>
                <a:latin typeface="Calibri"/>
              </a:rPr>
              <a:t>RESULTS  ·  SUCCESS INDICATORS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C1C1C"/>
                </a:solidFill>
                <a:latin typeface="Georgia"/>
              </a:rPr>
              <a:t>Which prior traits &amp; leagues line up with BL Year-1 success?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914400"/>
            <a:ext cx="11338560" cy="1170432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051560"/>
            <a:ext cx="10881360" cy="748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Phase 2: after shortlisting, test what lines up with BL success.
Outcomes: Y1 minutes · Y1 min </a:t>
            </a:r>
            <a:r>
              <a:rPr lang="en-US" sz="1200" dirty="0">
                <a:solidFill>
                  <a:srgbClr val="333333"/>
                </a:solidFill>
                <a:latin typeface="Calibri"/>
              </a:rPr>
              <a:t>percentile</a:t>
            </a:r>
            <a:r>
              <a:rPr sz="1200" b="0" dirty="0">
                <a:solidFill>
                  <a:srgbClr val="333333"/>
                </a:solidFill>
                <a:latin typeface="Calibri"/>
              </a:rPr>
              <a:t> · stable-trait score.
Spearman ρ ranks players so we test “higher prior trait → more minutes” without a linear minutes scale; then feeder means + exploratory OLS.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148840"/>
            <a:ext cx="35661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" y="2148840"/>
            <a:ext cx="64008" cy="20116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25856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 err="1">
                <a:solidFill>
                  <a:srgbClr val="1C1C1C"/>
                </a:solidFill>
                <a:latin typeface="Georgia"/>
              </a:rPr>
              <a:t>StatsBomb</a:t>
            </a:r>
            <a:endParaRPr sz="1400" b="1" dirty="0">
              <a:solidFill>
                <a:srgbClr val="1C1C1C"/>
              </a:solidFill>
              <a:latin typeface="Georgia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587752"/>
            <a:ext cx="32461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N=96 open-data cohort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Primary priors often intl comps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Weaker league signal · use for traits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0520" y="2148840"/>
            <a:ext cx="35661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160520" y="2148840"/>
            <a:ext cx="64008" cy="2011680"/>
          </a:xfrm>
          <a:prstGeom prst="rect">
            <a:avLst/>
          </a:prstGeom>
          <a:solidFill>
            <a:srgbClr val="1B7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43400" y="2258568"/>
            <a:ext cx="3291840" cy="7463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 dirty="0" err="1">
                <a:solidFill>
                  <a:srgbClr val="333333"/>
                </a:solidFill>
                <a:latin typeface="Georgia" panose="02040502050405020303" pitchFamily="18" charset="0"/>
              </a:rPr>
              <a:t>FBref</a:t>
            </a:r>
            <a:endParaRPr sz="1400" b="1" dirty="0">
              <a:solidFill>
                <a:srgbClr val="3D5A80"/>
              </a:solidFill>
              <a:latin typeface="Georgia" panose="02040502050405020303" pitchFamily="18" charset="0"/>
            </a:endParaRPr>
          </a:p>
          <a:p>
            <a:r>
              <a:rPr sz="1300" b="0" dirty="0">
                <a:solidFill>
                  <a:srgbClr val="333333"/>
                </a:solidFill>
              </a:rPr>
              <a:t>N=329 · 19 leagues</a:t>
            </a:r>
          </a:p>
          <a:p>
            <a:r>
              <a:rPr sz="1300" b="0" dirty="0">
                <a:solidFill>
                  <a:srgbClr val="333333"/>
                </a:solidFill>
              </a:rPr>
              <a:t>Success = Y1 BL minutes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09560" y="2148840"/>
            <a:ext cx="38404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909560" y="2148840"/>
            <a:ext cx="64008" cy="20116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92440" y="2258568"/>
            <a:ext cx="3566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1C1C1C"/>
                </a:solidFill>
                <a:latin typeface="Georgia"/>
              </a:rPr>
              <a:t>Weak </a:t>
            </a:r>
            <a:r>
              <a:rPr lang="en-US" sz="1400" b="1" dirty="0" err="1">
                <a:solidFill>
                  <a:srgbClr val="1C1C1C"/>
                </a:solidFill>
                <a:latin typeface="Georgia"/>
              </a:rPr>
              <a:t>Signalling</a:t>
            </a:r>
            <a:endParaRPr sz="1400" b="1" dirty="0">
              <a:solidFill>
                <a:srgbClr val="1C1C1C"/>
              </a:solidFill>
              <a:latin typeface="Georgia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092440" y="2587752"/>
            <a:ext cx="3520440" cy="933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dirty="0">
                <a:solidFill>
                  <a:srgbClr val="555555"/>
                </a:solidFill>
                <a:latin typeface="Calibri"/>
              </a:rPr>
              <a:t>Supports scouting weights</a:t>
            </a:r>
          </a:p>
          <a:p>
            <a:pPr>
              <a:spcAft>
                <a:spcPts val="400"/>
              </a:spcAft>
            </a:pPr>
            <a:r>
              <a:rPr sz="1200" dirty="0">
                <a:solidFill>
                  <a:srgbClr val="555555"/>
                </a:solidFill>
                <a:latin typeface="Calibri"/>
              </a:rPr>
              <a:t>Does not predict every transfer</a:t>
            </a:r>
          </a:p>
          <a:p>
            <a:pPr>
              <a:spcAft>
                <a:spcPts val="400"/>
              </a:spcAft>
            </a:pPr>
            <a:r>
              <a:rPr lang="en-US" sz="1200" dirty="0"/>
              <a:t>Full interactive tables: </a:t>
            </a:r>
            <a:r>
              <a:rPr lang="en-US" sz="1200" dirty="0" err="1"/>
              <a:t>interactive_player_explorer.html</a:t>
            </a:r>
            <a:r>
              <a:rPr lang="en-US" sz="1200" dirty="0"/>
              <a:t> · </a:t>
            </a:r>
            <a:r>
              <a:rPr lang="en-US" sz="1200" dirty="0" err="1"/>
              <a:t>README.md</a:t>
            </a:r>
            <a:endParaRPr sz="1200" dirty="0">
              <a:solidFill>
                <a:srgbClr val="555555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11480" y="4434840"/>
            <a:ext cx="10972800" cy="743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dirty="0">
                <a:solidFill>
                  <a:srgbClr val="555555"/>
                </a:solidFill>
                <a:latin typeface="Calibri"/>
              </a:rPr>
              <a:t>Interpretation: positive </a:t>
            </a:r>
            <a:r>
              <a:rPr sz="1300" dirty="0" err="1">
                <a:solidFill>
                  <a:srgbClr val="555555"/>
                </a:solidFill>
                <a:latin typeface="Calibri"/>
              </a:rPr>
              <a:t>ρ</a:t>
            </a:r>
            <a:r>
              <a:rPr sz="1300" dirty="0">
                <a:solidFill>
                  <a:srgbClr val="555555"/>
                </a:solidFill>
                <a:latin typeface="Calibri"/>
              </a:rPr>
              <a:t> = arriving with a higher prior percentile on that trait tends to coincide with more BL Y1 minutes / higher trait score.</a:t>
            </a:r>
          </a:p>
          <a:p>
            <a:pPr>
              <a:spcAft>
                <a:spcPts val="400"/>
              </a:spcAft>
            </a:pPr>
            <a:r>
              <a:rPr sz="1300" dirty="0">
                <a:solidFill>
                  <a:srgbClr val="555555"/>
                </a:solidFill>
                <a:latin typeface="Calibri"/>
              </a:rPr>
              <a:t>Negative </a:t>
            </a:r>
            <a:r>
              <a:rPr sz="1300" dirty="0" err="1">
                <a:solidFill>
                  <a:srgbClr val="555555"/>
                </a:solidFill>
                <a:latin typeface="Calibri"/>
              </a:rPr>
              <a:t>ρ</a:t>
            </a:r>
            <a:r>
              <a:rPr sz="1300" dirty="0">
                <a:solidFill>
                  <a:srgbClr val="555555"/>
                </a:solidFill>
                <a:latin typeface="Calibri"/>
              </a:rPr>
              <a:t> on inverted metrics (e.g. dispossessed) can still be informative — read label + sign together</a:t>
            </a:r>
            <a:r>
              <a:rPr lang="en-US" sz="1300" dirty="0">
                <a:solidFill>
                  <a:srgbClr val="555555"/>
                </a:solidFill>
                <a:latin typeface="Calibri"/>
              </a:rPr>
              <a:t> since lower dispossessed score means better player performance</a:t>
            </a:r>
            <a:endParaRPr sz="1300" dirty="0">
              <a:solidFill>
                <a:srgbClr val="5555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3D5A80"/>
                </a:solidFill>
                <a:latin typeface="Georgia"/>
              </a:rPr>
              <a:t>SUCCESS DEFINITION  ·  YEAR-1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555"/>
                </a:solidFill>
                <a:latin typeface="Georgia"/>
              </a:rPr>
              <a:t>How we operationalize “Bundesliga success” in Phase 2 with open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Primary success marker: Bundesliga minutes played in the player’s first BL season (Y1 minutes)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Interpretation: playing-time success — did the club trust and use the inbound player?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Also reported: Y1 minutes percentile (rank in cohort) and stable-trait score (profile fit)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Trait &amp; league tests ask: which prior signals line up with more Y1 minutes?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Regression Δ Y1 min = estimated extra first-season minutes vs a reference league, holding controls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04183" y="1417320"/>
            <a:ext cx="4193345" cy="3222674"/>
          </a:xfrm>
          <a:prstGeom prst="roundRect">
            <a:avLst/>
          </a:prstGeom>
          <a:solidFill>
            <a:srgbClr val="EEF3F8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dirty="0">
                <a:solidFill>
                  <a:srgbClr val="3D5A80"/>
                </a:solidFill>
                <a:latin typeface="Georgia"/>
              </a:rPr>
              <a:t>Why minutes?</a:t>
            </a:r>
          </a:p>
          <a:p>
            <a:endParaRPr sz="1600" b="1" dirty="0">
              <a:solidFill>
                <a:srgbClr val="3D5A80"/>
              </a:solidFill>
              <a:latin typeface="Georgia"/>
            </a:endParaRPr>
          </a:p>
          <a:p>
            <a:r>
              <a:rPr sz="1300" dirty="0">
                <a:solidFill>
                  <a:srgbClr val="1C1C1C"/>
                </a:solidFill>
                <a:latin typeface="Arial"/>
              </a:rPr>
              <a:t>Observable in </a:t>
            </a:r>
            <a:r>
              <a:rPr sz="1300" dirty="0" err="1">
                <a:solidFill>
                  <a:srgbClr val="1C1C1C"/>
                </a:solidFill>
                <a:latin typeface="Arial"/>
              </a:rPr>
              <a:t>FBref</a:t>
            </a:r>
            <a:r>
              <a:rPr sz="1300" dirty="0">
                <a:solidFill>
                  <a:srgbClr val="1C1C1C"/>
                </a:solidFill>
                <a:latin typeface="Arial"/>
              </a:rPr>
              <a:t> / </a:t>
            </a:r>
            <a:r>
              <a:rPr sz="1300" dirty="0" err="1">
                <a:solidFill>
                  <a:srgbClr val="1C1C1C"/>
                </a:solidFill>
                <a:latin typeface="Arial"/>
              </a:rPr>
              <a:t>StatsBomb</a:t>
            </a:r>
            <a:r>
              <a:rPr sz="1300" dirty="0">
                <a:solidFill>
                  <a:srgbClr val="1C1C1C"/>
                </a:solidFill>
                <a:latin typeface="Arial"/>
              </a:rPr>
              <a:t> cohorts</a:t>
            </a:r>
          </a:p>
          <a:p>
            <a:endParaRPr sz="1300" dirty="0">
              <a:solidFill>
                <a:srgbClr val="1C1C1C"/>
              </a:solidFill>
              <a:latin typeface="Arial"/>
            </a:endParaRPr>
          </a:p>
          <a:p>
            <a:r>
              <a:rPr sz="1300" dirty="0">
                <a:solidFill>
                  <a:srgbClr val="1C1C1C"/>
                </a:solidFill>
                <a:latin typeface="Arial"/>
              </a:rPr>
              <a:t>Directly measures opportunity &amp; role</a:t>
            </a:r>
          </a:p>
          <a:p>
            <a:endParaRPr sz="1300" dirty="0">
              <a:solidFill>
                <a:srgbClr val="1C1C1C"/>
              </a:solidFill>
              <a:latin typeface="Arial"/>
            </a:endParaRPr>
          </a:p>
          <a:p>
            <a:r>
              <a:rPr sz="1300" dirty="0">
                <a:solidFill>
                  <a:srgbClr val="1C1C1C"/>
                </a:solidFill>
                <a:latin typeface="Arial"/>
              </a:rPr>
              <a:t>Not the same as goals, </a:t>
            </a:r>
            <a:r>
              <a:rPr sz="1300" dirty="0" err="1">
                <a:solidFill>
                  <a:srgbClr val="1C1C1C"/>
                </a:solidFill>
                <a:latin typeface="Arial"/>
              </a:rPr>
              <a:t>xG</a:t>
            </a:r>
            <a:r>
              <a:rPr sz="1300" dirty="0">
                <a:solidFill>
                  <a:srgbClr val="1C1C1C"/>
                </a:solidFill>
                <a:latin typeface="Arial"/>
              </a:rPr>
              <a:t>, or team points</a:t>
            </a:r>
          </a:p>
          <a:p>
            <a:endParaRPr sz="1300" dirty="0">
              <a:solidFill>
                <a:srgbClr val="1C1C1C"/>
              </a:solidFill>
              <a:latin typeface="Arial"/>
            </a:endParaRPr>
          </a:p>
          <a:p>
            <a:r>
              <a:rPr lang="en-US" sz="1300" dirty="0">
                <a:solidFill>
                  <a:srgbClr val="1C1C1C"/>
                </a:solidFill>
                <a:latin typeface="Arial"/>
              </a:rPr>
              <a:t>S</a:t>
            </a:r>
            <a:r>
              <a:rPr sz="1300" dirty="0">
                <a:solidFill>
                  <a:srgbClr val="1C1C1C"/>
                </a:solidFill>
                <a:latin typeface="Arial"/>
              </a:rPr>
              <a:t>cope: associative scouting weights, not a forecast model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D5A80"/>
                </a:solidFill>
                <a:latin typeface="Calibri"/>
              </a:rPr>
              <a:t>RESULTS  ·  TRAITS → BL SUCCESS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StatsBomb (N=96)</a:t>
            </a:r>
          </a:p>
          <a:p>
            <a:r>
              <a:rPr sz="1200" b="0">
                <a:solidFill>
                  <a:srgbClr val="333333"/>
                </a:solidFill>
              </a:rPr>
              <a:t>prior percentile → Y1 minutes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PRS  ρ=-0.28  p=0.006</a:t>
            </a:r>
          </a:p>
          <a:p>
            <a:r>
              <a:rPr sz="1200" b="0">
                <a:solidFill>
                  <a:srgbClr val="333333"/>
                </a:solidFill>
              </a:rPr>
              <a:t>DRB  ρ=-0.17  p=0.090</a:t>
            </a:r>
          </a:p>
          <a:p>
            <a:r>
              <a:rPr sz="1200" b="0">
                <a:solidFill>
                  <a:srgbClr val="333333"/>
                </a:solidFill>
              </a:rPr>
              <a:t>PPC  ρ=+0.16  p=0.112</a:t>
            </a:r>
          </a:p>
          <a:p>
            <a:r>
              <a:rPr sz="1200" b="0">
                <a:solidFill>
                  <a:srgbClr val="333333"/>
                </a:solidFill>
              </a:rPr>
              <a:t>DIS  ρ=+0.14  p=0.185</a:t>
            </a:r>
          </a:p>
          <a:p>
            <a:r>
              <a:rPr sz="1200" b="0">
                <a:solidFill>
                  <a:srgbClr val="333333"/>
                </a:solidFill>
              </a:rPr>
              <a:t>PATT  ρ=-0.11  p=0.280</a:t>
            </a:r>
          </a:p>
          <a:p>
            <a:r>
              <a:rPr sz="1200" b="0">
                <a:solidFill>
                  <a:srgbClr val="333333"/>
                </a:solidFill>
              </a:rPr>
              <a:t>CLR  ρ=-0.07  p=0.473</a:t>
            </a:r>
          </a:p>
          <a:p>
            <a:r>
              <a:rPr sz="1200" b="0">
                <a:solidFill>
                  <a:srgbClr val="333333"/>
                </a:solidFill>
              </a:rPr>
              <a:t>PAS  ρ=+0.00  p=0.980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2777490"/>
              </p:ext>
            </p:extLst>
          </p:nvPr>
        </p:nvGraphicFramePr>
        <p:xfrm>
          <a:off x="411479" y="1097279"/>
          <a:ext cx="4652888" cy="29542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367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80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80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2031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Trait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ρ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PRS — Pressures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-0.28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0.006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DRB — Successful dribbles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PPC — Progressive passes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+0.16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0.112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DIS — Dispossessed (inv)</a:t>
                      </a:r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+0.14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PATT — Passes into final third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-0.11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0.280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CLR — Clearances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0.473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26480" y="804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FBref (N=329)</a:t>
            </a:r>
          </a:p>
          <a:p>
            <a:r>
              <a:rPr sz="1200" b="0">
                <a:solidFill>
                  <a:srgbClr val="333333"/>
                </a:solidFill>
              </a:rPr>
              <a:t>prior %ile → Y1 minutes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FINAL  ρ=+0.30  p=0.005 *</a:t>
            </a:r>
          </a:p>
          <a:p>
            <a:r>
              <a:rPr sz="1200" b="0">
                <a:solidFill>
                  <a:srgbClr val="333333"/>
                </a:solidFill>
              </a:rPr>
              <a:t>SH  ρ=+0.27  p=0.011 *</a:t>
            </a:r>
          </a:p>
          <a:p>
            <a:r>
              <a:rPr sz="1200" b="0">
                <a:solidFill>
                  <a:srgbClr val="333333"/>
                </a:solidFill>
              </a:rPr>
              <a:t>PRGDI  ρ=+0.24  p=0.025 *</a:t>
            </a:r>
          </a:p>
          <a:p>
            <a:r>
              <a:rPr sz="1200" b="0">
                <a:solidFill>
                  <a:srgbClr val="333333"/>
                </a:solidFill>
              </a:rPr>
              <a:t>TKLD  ρ=+0.23  p=0.030 *</a:t>
            </a:r>
          </a:p>
          <a:p>
            <a:r>
              <a:rPr sz="1200" b="0">
                <a:solidFill>
                  <a:srgbClr val="333333"/>
                </a:solidFill>
              </a:rPr>
              <a:t>ATTLO  ρ=+0.22  p=0.036 *</a:t>
            </a:r>
          </a:p>
          <a:p>
            <a:r>
              <a:rPr sz="1200" b="0">
                <a:solidFill>
                  <a:srgbClr val="333333"/>
                </a:solidFill>
              </a:rPr>
              <a:t>DEF3R  ρ=+0.22  p=0.039 *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* p&lt;0.05  ·  Final Third, shot blocks, progressive distance lead.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3249453"/>
              </p:ext>
            </p:extLst>
          </p:nvPr>
        </p:nvGraphicFramePr>
        <p:xfrm>
          <a:off x="6126479" y="1097279"/>
          <a:ext cx="4349439" cy="3798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44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74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74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2031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Trait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ρ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FINAL — Final Third*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+0.30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0.005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 — Shot Blocks*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PRGDI — PrgDist Total*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0.025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TKLD — Tkld Take*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ATTLO — Att Long*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0.036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DEF3R — Def 3rd Touches*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MIS — Mis 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0.16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0.078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/>
                        <a:t>CLR — Cl</a:t>
                      </a:r>
                      <a:r>
                        <a:rPr lang="en-US" dirty="0"/>
                        <a:t>earances</a:t>
                      </a:r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/>
                        <a:t>0.162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D5A80"/>
                </a:solidFill>
                <a:latin typeface="Calibri"/>
              </a:rPr>
              <a:t>RESULTS  ·  FEEDER LEAGUES → BL SUCCESS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C1C1C"/>
                </a:solidFill>
                <a:latin typeface="Georgia"/>
              </a:rPr>
              <a:t>Which source leagues produce the strongest Year-1 outcomes?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4262344"/>
              </p:ext>
            </p:extLst>
          </p:nvPr>
        </p:nvGraphicFramePr>
        <p:xfrm>
          <a:off x="411480" y="1179576"/>
          <a:ext cx="5669280" cy="2292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824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League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Mean Y1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Median Y1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Trait score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DEN Superliga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1864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1855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48.0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Premier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1424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60.1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Eredivisie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1401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1154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53.4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Ligue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1401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1251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53.5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Serie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1040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56.7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21547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2. Bundesliga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1111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49.6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26783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Belgian Pro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53.1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498155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Austrian Bundesliga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1152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1284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49.6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6173303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4551680"/>
              </p:ext>
            </p:extLst>
          </p:nvPr>
        </p:nvGraphicFramePr>
        <p:xfrm>
          <a:off x="411480" y="3246120"/>
          <a:ext cx="484632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League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Mean Y1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Trait score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FIFA World Cup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288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57.3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Champions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57.8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UEFA Euro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193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45.9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Premier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53.7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La Liga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133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55.2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5029200"/>
            <a:ext cx="11155680" cy="743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555555"/>
                </a:solidFill>
              </a:rPr>
              <a:t>FBref N=329 (n≥8 shown). StatsBomb N=96 — intl priors are directional only.</a:t>
            </a:r>
          </a:p>
          <a:p>
            <a:r>
              <a:rPr sz="1200" b="0">
                <a:solidFill>
                  <a:srgbClr val="555555"/>
                </a:solidFill>
              </a:rPr>
              <a:t>Tables also in the explorer Success tab · README.md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3D5A80"/>
                </a:solidFill>
                <a:latin typeface="Georgia"/>
              </a:rPr>
              <a:t>PHASE 2 · FEEDER REGRESSION (EXPLORATORY)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dirty="0">
                <a:solidFill>
                  <a:srgbClr val="333333"/>
                </a:solidFill>
                <a:latin typeface="Georgia"/>
              </a:rPr>
              <a:t>Descriptive “best feeder</a:t>
            </a:r>
            <a:r>
              <a:rPr lang="en-US" b="0" dirty="0">
                <a:solidFill>
                  <a:srgbClr val="333333"/>
                </a:solidFill>
                <a:latin typeface="Georgia"/>
              </a:rPr>
              <a:t> league</a:t>
            </a:r>
            <a:r>
              <a:rPr b="0" dirty="0">
                <a:solidFill>
                  <a:srgbClr val="333333"/>
                </a:solidFill>
                <a:latin typeface="Georgia"/>
              </a:rPr>
              <a:t>” is not enough — OLS vs Serie A baseline.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5303520" cy="3970318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r>
              <a:rPr lang="en-US" b="1" dirty="0"/>
              <a:t>Model 1</a:t>
            </a:r>
            <a:r>
              <a:rPr lang="en-US" dirty="0"/>
              <a:t> — league only (with basic controls)</a:t>
            </a:r>
            <a:br>
              <a:rPr lang="en-US" dirty="0"/>
            </a:br>
            <a:r>
              <a:rPr lang="en-US" dirty="0"/>
              <a:t>Predict Y1 minutes from:</a:t>
            </a:r>
          </a:p>
          <a:p>
            <a:r>
              <a:rPr lang="en-US" dirty="0"/>
              <a:t>prior league (PL / La Liga / Ligue 1 vs Serie A)</a:t>
            </a:r>
          </a:p>
          <a:p>
            <a:r>
              <a:rPr lang="en-US" dirty="0"/>
              <a:t>How many minutes they played before.</a:t>
            </a:r>
          </a:p>
          <a:p>
            <a:r>
              <a:rPr lang="en-US" i="1" dirty="0"/>
              <a:t>Question:</a:t>
            </a:r>
            <a:r>
              <a:rPr lang="en-US" dirty="0"/>
              <a:t> After that, does league still matter?</a:t>
            </a:r>
          </a:p>
          <a:p>
            <a:r>
              <a:rPr lang="en-US" b="1" dirty="0"/>
              <a:t>Model 2</a:t>
            </a:r>
            <a:r>
              <a:rPr lang="en-US" dirty="0"/>
              <a:t> — league + traits</a:t>
            </a:r>
            <a:br>
              <a:rPr lang="en-US" dirty="0"/>
            </a:br>
            <a:r>
              <a:rPr lang="en-US" dirty="0"/>
              <a:t>Same as M1, plus prior trait percentiles (Final Third, box touches, etc.).</a:t>
            </a:r>
          </a:p>
          <a:p>
            <a:r>
              <a:rPr lang="en-US" i="1" dirty="0"/>
              <a:t>Question:</a:t>
            </a:r>
            <a:r>
              <a:rPr lang="en-US" dirty="0"/>
              <a:t> Once you know their prior profile, do league gaps shrink? </a:t>
            </a:r>
          </a:p>
          <a:p>
            <a:r>
              <a:rPr lang="en-US" b="1" dirty="0"/>
              <a:t>Model 3</a:t>
            </a:r>
            <a:r>
              <a:rPr lang="en-US" dirty="0"/>
              <a:t> — reality check</a:t>
            </a:r>
            <a:br>
              <a:rPr lang="en-US" dirty="0"/>
            </a:br>
            <a:r>
              <a:rPr lang="en-US" dirty="0"/>
              <a:t>Fit on 80% of players, see if predictions match the other 20%.</a:t>
            </a:r>
          </a:p>
          <a:p>
            <a:r>
              <a:rPr lang="en-US" i="1" dirty="0"/>
              <a:t>Question:</a:t>
            </a:r>
            <a:r>
              <a:rPr lang="en-US" dirty="0"/>
              <a:t> Is this just memorizing the sample? 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3D5A80"/>
                </a:solidFill>
                <a:latin typeface="Georgia"/>
              </a:rPr>
              <a:t>RESULTS  ·  REGRESSION — WHY LIGUE 1 LOOKS BEST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80467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dirty="0">
                <a:solidFill>
                  <a:srgbClr val="333333"/>
                </a:solidFill>
              </a:rPr>
              <a:t>M1 R²=0.086 → M2 R²=0.215 when traits added · M3 holdout r=0.35 (exploratory)
Left table = M1 league gaps · Right table = M2 trait effects · M3 = holdout r only</a:t>
            </a:r>
            <a:endParaRPr lang="en-US" sz="1200" b="0" dirty="0">
              <a:solidFill>
                <a:srgbClr val="333333"/>
              </a:solidFill>
            </a:endParaRPr>
          </a:p>
          <a:p>
            <a:r>
              <a:rPr lang="en-US" sz="1200" dirty="0">
                <a:solidFill>
                  <a:srgbClr val="333333"/>
                </a:solidFill>
              </a:rPr>
              <a:t>M3</a:t>
            </a:r>
            <a:r>
              <a:rPr lang="en-US" sz="1200" b="1" dirty="0">
                <a:solidFill>
                  <a:srgbClr val="333333"/>
                </a:solidFill>
              </a:rPr>
              <a:t>: </a:t>
            </a:r>
            <a:r>
              <a:rPr lang="en-US" sz="1200" b="1" dirty="0"/>
              <a:t>r ≈ 0.35 </a:t>
            </a:r>
            <a:r>
              <a:rPr lang="en-US" sz="1200" dirty="0"/>
              <a:t>means: on the 20% of players left out, predicted Y1 minutes lined up with actual minutes only moderately</a:t>
            </a:r>
            <a:endParaRPr sz="1200" dirty="0">
              <a:solidFill>
                <a:srgbClr val="555555"/>
              </a:solidFill>
              <a:latin typeface="Georgia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3676595"/>
              </p:ext>
            </p:extLst>
          </p:nvPr>
        </p:nvGraphicFramePr>
        <p:xfrm>
          <a:off x="548640" y="1786128"/>
          <a:ext cx="3657600" cy="1136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League vs Serie A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Δ Y1 min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La Liga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0.856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Ligue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+163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0.375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Premier League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0.661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3298479"/>
              </p:ext>
            </p:extLst>
          </p:nvPr>
        </p:nvGraphicFramePr>
        <p:xfrm>
          <a:off x="4663440" y="1786128"/>
          <a:ext cx="3657600" cy="1722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Prior trait pct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Δ Y1 min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Lost Aerial*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0.002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Final Third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0.158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Def Pen Touches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0.189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PrgDist 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0.249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1C1C1C"/>
                          </a:solidFill>
                          <a:latin typeface="Arial"/>
                        </a:rPr>
                        <a:t>xG</a:t>
                      </a:r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 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0.430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595360" y="1325880"/>
            <a:ext cx="3108960" cy="21082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</a:rPr>
              <a:t>Ligue 1 +163 min vs Serie A (p≈0.38) — not significant at N=117.</a:t>
            </a:r>
          </a:p>
          <a:p>
            <a:r>
              <a:rPr sz="1200" b="0">
                <a:solidFill>
                  <a:srgbClr val="333333"/>
                </a:solidFill>
              </a:rPr>
              <a:t>Traits raise R² (0.09 → 0.22). Profile &gt; league label.</a:t>
            </a:r>
          </a:p>
          <a:p>
            <a:r>
              <a:rPr sz="1200" b="0">
                <a:solidFill>
                  <a:srgbClr val="333333"/>
                </a:solidFill>
              </a:rPr>
              <a:t>Takeaway: scout portable traits + minutes; league is a weak residual.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Serie A = baseline (lowest mean Y1 minutes among Big-5 feeders).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349240"/>
            <a:ext cx="10972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555555"/>
                </a:solidFill>
                <a:latin typeface="Georgia"/>
              </a:rPr>
              <a:t>* p&lt;0.05. Full tables: README.md (Exploratory feeder regression).</a:t>
            </a:r>
            <a:endParaRPr sz="1100" b="0" dirty="0">
              <a:solidFill>
                <a:srgbClr val="555555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48640" y="502920"/>
            <a:ext cx="11064240" cy="37010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</a:rPr>
              <a:t>Why p-values stay modest</a:t>
            </a:r>
            <a:endParaRPr sz="2600" b="1" dirty="0">
              <a:solidFill>
                <a:srgbClr val="3D5A80"/>
              </a:solidFill>
              <a:latin typeface="Calibri"/>
            </a:endParaRPr>
          </a:p>
          <a:p>
            <a:r>
              <a:rPr sz="1400" b="0">
                <a:solidFill>
                  <a:srgbClr val="333333"/>
                </a:solidFill>
              </a:rPr>
              <a:t/>
            </a:r>
          </a:p>
          <a:p>
            <a:r>
              <a:rPr sz="1400" b="0">
                <a:solidFill>
                  <a:srgbClr val="333333"/>
                </a:solidFill>
              </a:rPr>
              <a:t>• StatsBomb N=96 with messy open-data priors (World Cup / Euro / Champions League mix rather than clean league seasons — larger sample, less consistent prior context)</a:t>
            </a:r>
          </a:p>
          <a:p>
            <a:r>
              <a:rPr sz="1400" b="0">
                <a:solidFill>
                  <a:srgbClr val="333333"/>
                </a:solidFill>
              </a:rPr>
              <a:t>• FBref N=329 helps, but many advanced metrics only have ~90–100 complete pairs</a:t>
            </a:r>
          </a:p>
          <a:p>
            <a:r>
              <a:rPr sz="1400" b="0">
                <a:solidFill>
                  <a:srgbClr val="333333"/>
                </a:solidFill>
              </a:rPr>
              <a:t>• Multiple traits tested — treat Phase 2 as associative, not a forecast</a:t>
            </a:r>
          </a:p>
          <a:p>
            <a:r>
              <a:rPr sz="1400" b="0">
                <a:solidFill>
                  <a:srgbClr val="333333"/>
                </a:solidFill>
              </a:rPr>
              <a:t/>
            </a:r>
          </a:p>
          <a:p>
            <a:r>
              <a:rPr sz="1400" b="0">
                <a:solidFill>
                  <a:srgbClr val="333333"/>
                </a:solidFill>
              </a:rPr>
              <a:t>What hardened the sample</a:t>
            </a:r>
          </a:p>
          <a:p>
            <a:r>
              <a:rPr sz="1400" b="0">
                <a:solidFill>
                  <a:srgbClr val="333333"/>
                </a:solidFill>
              </a:rPr>
              <a:t/>
            </a:r>
          </a:p>
          <a:p>
            <a:r>
              <a:rPr sz="1400" b="0">
                <a:solidFill>
                  <a:srgbClr val="333333"/>
                </a:solidFill>
              </a:rPr>
              <a:t>• 19 leagues · first BL seasons 2021–2025 · prior/Y1 ≥300′ → N=329</a:t>
            </a:r>
          </a:p>
          <a:p>
            <a:r>
              <a:rPr sz="1400" b="0">
                <a:solidFill>
                  <a:srgbClr val="333333"/>
                </a:solidFill>
              </a:rPr>
              <a:t>• Category stability gates + light redundancy (|r|≥0.95) → 32 traits</a:t>
            </a:r>
          </a:p>
          <a:p>
            <a:r>
              <a:rPr sz="1400" b="0">
                <a:solidFill>
                  <a:srgbClr val="333333"/>
                </a:solidFill>
              </a:rPr>
              <a:t>• StatsBomb kept as event deep dive (r≥0.40 · 7 traits), not league ranking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47932" y="282526"/>
            <a:ext cx="10972800" cy="361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2400" b="1" dirty="0">
                <a:solidFill>
                  <a:srgbClr val="3D5A80"/>
                </a:solidFill>
                <a:latin typeface="Calibri"/>
              </a:rPr>
              <a:t>CONCLUSION</a:t>
            </a:r>
            <a:endParaRPr lang="en-US" sz="2400" b="1" dirty="0">
              <a:solidFill>
                <a:srgbClr val="3D5A80"/>
              </a:solidFill>
              <a:latin typeface="Calibri"/>
            </a:endParaRPr>
          </a:p>
          <a:p>
            <a:pPr>
              <a:spcAft>
                <a:spcPts val="300"/>
              </a:spcAft>
            </a:pPr>
            <a:endParaRPr lang="en-US" sz="1600" dirty="0"/>
          </a:p>
          <a:p>
            <a:r>
              <a:rPr lang="en-US" sz="1600" dirty="0">
                <a:solidFill>
                  <a:srgbClr val="333333"/>
                </a:solidFill>
              </a:rPr>
              <a:t>• Portable shortlists: </a:t>
            </a:r>
            <a:r>
              <a:rPr lang="en-US" sz="1600" dirty="0" err="1">
                <a:solidFill>
                  <a:srgbClr val="333333"/>
                </a:solidFill>
              </a:rPr>
              <a:t>FBref</a:t>
            </a:r>
            <a:r>
              <a:rPr lang="en-US" sz="1600" dirty="0">
                <a:solidFill>
                  <a:srgbClr val="333333"/>
                </a:solidFill>
              </a:rPr>
              <a:t> 105→43→32 · </a:t>
            </a:r>
            <a:r>
              <a:rPr lang="en-US" sz="1600" dirty="0" err="1">
                <a:solidFill>
                  <a:srgbClr val="333333"/>
                </a:solidFill>
              </a:rPr>
              <a:t>StatsBomb</a:t>
            </a:r>
            <a:r>
              <a:rPr lang="en-US" sz="1600" dirty="0">
                <a:solidFill>
                  <a:srgbClr val="333333"/>
                </a:solidFill>
              </a:rPr>
              <a:t> 16→7</a:t>
            </a:r>
            <a:endParaRPr lang="en-US" sz="1600" dirty="0"/>
          </a:p>
          <a:p>
            <a:endParaRPr lang="en-US" sz="1600" dirty="0">
              <a:solidFill>
                <a:srgbClr val="333333"/>
              </a:solidFill>
            </a:endParaRPr>
          </a:p>
          <a:p>
            <a:r>
              <a:rPr lang="en-US" sz="1600" dirty="0">
                <a:solidFill>
                  <a:srgbClr val="333333"/>
                </a:solidFill>
              </a:rPr>
              <a:t>• </a:t>
            </a:r>
            <a:r>
              <a:rPr lang="en-US" sz="1600" dirty="0" err="1">
                <a:solidFill>
                  <a:srgbClr val="333333"/>
                </a:solidFill>
              </a:rPr>
              <a:t>Fbref</a:t>
            </a:r>
            <a:r>
              <a:rPr lang="en-US" sz="1600" dirty="0">
                <a:solidFill>
                  <a:srgbClr val="333333"/>
                </a:solidFill>
              </a:rPr>
              <a:t> best/most-stable metrics: final-third passing, shot blocks, progressive distance, box defending ↔ more Y1 minutes (p&lt;0.05)</a:t>
            </a:r>
          </a:p>
          <a:p>
            <a:endParaRPr lang="en-US" sz="1600" dirty="0">
              <a:solidFill>
                <a:srgbClr val="333333"/>
              </a:solidFill>
            </a:endParaRPr>
          </a:p>
          <a:p>
            <a:r>
              <a:rPr lang="en-US" sz="1600" dirty="0">
                <a:solidFill>
                  <a:srgbClr val="333333"/>
                </a:solidFill>
              </a:rPr>
              <a:t>• Feeder league gaps are modest; exploratory OLS (N=117) — traits matter more than the league label or league strength</a:t>
            </a:r>
          </a:p>
          <a:p>
            <a:endParaRPr lang="en-US" sz="1600" dirty="0">
              <a:solidFill>
                <a:srgbClr val="333333"/>
              </a:solidFill>
            </a:endParaRPr>
          </a:p>
          <a:p>
            <a:r>
              <a:rPr lang="en-US" sz="1600" dirty="0">
                <a:solidFill>
                  <a:srgbClr val="333333"/>
                </a:solidFill>
              </a:rPr>
              <a:t>• Scout metrics that travel from league to league. Y1 minutes = open-data success proxy</a:t>
            </a:r>
          </a:p>
          <a:p>
            <a:endParaRPr lang="en-US" sz="1600" dirty="0">
              <a:solidFill>
                <a:srgbClr val="333333"/>
              </a:solidFill>
            </a:endParaRPr>
          </a:p>
          <a:p>
            <a:r>
              <a:rPr lang="en-US" sz="1600" dirty="0">
                <a:solidFill>
                  <a:srgbClr val="333333"/>
                </a:solidFill>
              </a:rPr>
              <a:t>• Future project goals would be to test </a:t>
            </a:r>
            <a:r>
              <a:rPr lang="el-GR" sz="1600" dirty="0">
                <a:solidFill>
                  <a:srgbClr val="333333"/>
                </a:solidFill>
              </a:rPr>
              <a:t>Δ</a:t>
            </a:r>
            <a:r>
              <a:rPr lang="en-US" sz="1600" dirty="0">
                <a:solidFill>
                  <a:srgbClr val="333333"/>
                </a:solidFill>
              </a:rPr>
              <a:t> in</a:t>
            </a:r>
            <a:r>
              <a:rPr lang="el-GR" sz="1600" dirty="0">
                <a:solidFill>
                  <a:srgbClr val="333333"/>
                </a:solidFill>
              </a:rPr>
              <a:t> </a:t>
            </a:r>
            <a:r>
              <a:rPr lang="en-US" sz="1600" dirty="0" err="1">
                <a:solidFill>
                  <a:srgbClr val="333333"/>
                </a:solidFill>
              </a:rPr>
              <a:t>Transfermarkt</a:t>
            </a:r>
            <a:r>
              <a:rPr lang="en-US" sz="1600" dirty="0">
                <a:solidFill>
                  <a:srgbClr val="333333"/>
                </a:solidFill>
              </a:rPr>
              <a:t> market value (discussed in next slide) which is a main club outcome goal</a:t>
            </a:r>
          </a:p>
          <a:p>
            <a:pPr>
              <a:spcAft>
                <a:spcPts val="300"/>
              </a:spcAft>
            </a:pPr>
            <a:endParaRPr sz="2400" b="1" dirty="0">
              <a:solidFill>
                <a:srgbClr val="3D5A8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dirty="0">
                <a:solidFill>
                  <a:srgbClr val="3D5A80"/>
                </a:solidFill>
                <a:latin typeface="Georgia"/>
              </a:rPr>
              <a:t>IF WE HAD THE DATA  ·  TRANSFERMARKT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555"/>
                </a:solidFill>
                <a:latin typeface="Georgia"/>
              </a:rPr>
              <a:t>What we would use instead of (or alongside) Y1 minutes.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10652760" cy="1477328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dirty="0">
                <a:solidFill>
                  <a:srgbClr val="1C1C1C"/>
                </a:solidFill>
                <a:latin typeface="Arial"/>
              </a:rPr>
              <a:t>Top indicator in a full club model: change in market value (</a:t>
            </a:r>
            <a:r>
              <a:rPr sz="1400" dirty="0" err="1">
                <a:solidFill>
                  <a:srgbClr val="1C1C1C"/>
                </a:solidFill>
                <a:latin typeface="Arial"/>
              </a:rPr>
              <a:t>Δ</a:t>
            </a:r>
            <a:r>
              <a:rPr sz="1400" dirty="0">
                <a:solidFill>
                  <a:srgbClr val="1C1C1C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1C1C1C"/>
                </a:solidFill>
                <a:latin typeface="Arial"/>
              </a:rPr>
              <a:t>Transfermarkt</a:t>
            </a:r>
            <a:r>
              <a:rPr sz="1400" dirty="0">
                <a:solidFill>
                  <a:srgbClr val="1C1C1C"/>
                </a:solidFill>
                <a:latin typeface="Arial"/>
              </a:rPr>
              <a:t> M</a:t>
            </a:r>
            <a:r>
              <a:rPr lang="en-US" sz="1400" dirty="0">
                <a:solidFill>
                  <a:srgbClr val="1C1C1C"/>
                </a:solidFill>
                <a:latin typeface="Arial"/>
              </a:rPr>
              <a:t>arket Value</a:t>
            </a:r>
            <a:r>
              <a:rPr sz="1400" dirty="0">
                <a:solidFill>
                  <a:srgbClr val="1C1C1C"/>
                </a:solidFill>
                <a:latin typeface="Arial"/>
              </a:rPr>
              <a:t>)</a:t>
            </a:r>
          </a:p>
          <a:p>
            <a:pPr>
              <a:spcAft>
                <a:spcPts val="600"/>
              </a:spcAft>
            </a:pPr>
            <a:r>
              <a:rPr sz="1400" dirty="0">
                <a:solidFill>
                  <a:srgbClr val="1C1C1C"/>
                </a:solidFill>
                <a:latin typeface="Arial"/>
              </a:rPr>
              <a:t>Captures performance + hype + contract context in one outcome scouts care about</a:t>
            </a:r>
          </a:p>
          <a:p>
            <a:pPr>
              <a:spcAft>
                <a:spcPts val="600"/>
              </a:spcAft>
            </a:pPr>
            <a:r>
              <a:rPr sz="1400" dirty="0">
                <a:solidFill>
                  <a:srgbClr val="1C1C1C"/>
                </a:solidFill>
                <a:latin typeface="Arial"/>
              </a:rPr>
              <a:t>NYRB Axis-3 used </a:t>
            </a:r>
            <a:r>
              <a:rPr lang="en-US" sz="1400" dirty="0">
                <a:solidFill>
                  <a:srgbClr val="1C1C1C"/>
                </a:solidFill>
                <a:latin typeface="Arial"/>
              </a:rPr>
              <a:t>Market Value</a:t>
            </a:r>
            <a:r>
              <a:rPr sz="1400" dirty="0">
                <a:solidFill>
                  <a:srgbClr val="1C1C1C"/>
                </a:solidFill>
                <a:latin typeface="Arial"/>
              </a:rPr>
              <a:t>; this project uses open data only — </a:t>
            </a:r>
            <a:r>
              <a:rPr sz="1400" dirty="0" err="1">
                <a:solidFill>
                  <a:srgbClr val="1C1C1C"/>
                </a:solidFill>
                <a:latin typeface="Arial"/>
              </a:rPr>
              <a:t>Transfermarkt</a:t>
            </a:r>
            <a:r>
              <a:rPr sz="1400" dirty="0">
                <a:solidFill>
                  <a:srgbClr val="1C1C1C"/>
                </a:solidFill>
                <a:latin typeface="Arial"/>
              </a:rPr>
              <a:t> </a:t>
            </a:r>
            <a:r>
              <a:rPr lang="en-US" sz="1400" dirty="0">
                <a:solidFill>
                  <a:srgbClr val="1C1C1C"/>
                </a:solidFill>
                <a:latin typeface="Arial"/>
              </a:rPr>
              <a:t>disallows</a:t>
            </a:r>
            <a:r>
              <a:rPr sz="1400" dirty="0">
                <a:solidFill>
                  <a:srgbClr val="1C1C1C"/>
                </a:solidFill>
                <a:latin typeface="Arial"/>
              </a:rPr>
              <a:t> </a:t>
            </a:r>
            <a:r>
              <a:rPr lang="en-US" sz="1400" dirty="0">
                <a:solidFill>
                  <a:srgbClr val="1C1C1C"/>
                </a:solidFill>
                <a:latin typeface="Arial"/>
              </a:rPr>
              <a:t>scraping</a:t>
            </a:r>
            <a:endParaRPr sz="1400" dirty="0">
              <a:solidFill>
                <a:srgbClr val="1C1C1C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sz="1400" dirty="0">
                <a:solidFill>
                  <a:srgbClr val="1C1C1C"/>
                </a:solidFill>
                <a:latin typeface="Arial"/>
              </a:rPr>
              <a:t>So we proxy success with Y1 minutes until a licensed MV feed is available</a:t>
            </a:r>
          </a:p>
          <a:p>
            <a:pPr>
              <a:spcAft>
                <a:spcPts val="600"/>
              </a:spcAft>
            </a:pPr>
            <a:r>
              <a:rPr sz="1400" dirty="0">
                <a:solidFill>
                  <a:srgbClr val="1C1C1C"/>
                </a:solidFill>
                <a:latin typeface="Arial"/>
              </a:rPr>
              <a:t>Natural extension: prior traits → </a:t>
            </a:r>
            <a:r>
              <a:rPr sz="1400" dirty="0" err="1">
                <a:solidFill>
                  <a:srgbClr val="1C1C1C"/>
                </a:solidFill>
                <a:latin typeface="Arial"/>
              </a:rPr>
              <a:t>Δ</a:t>
            </a:r>
            <a:r>
              <a:rPr sz="1400" dirty="0">
                <a:solidFill>
                  <a:srgbClr val="1C1C1C"/>
                </a:solidFill>
                <a:latin typeface="Arial"/>
              </a:rPr>
              <a:t> MV with holdout regression / ML</a:t>
            </a:r>
          </a:p>
        </p:txBody>
      </p:sp>
    </p:spTree>
    <p:extLst>
      <p:ext uri="{BB962C8B-B14F-4D97-AF65-F5344CB8AC3E}">
        <p14:creationId xmlns:p14="http://schemas.microsoft.com/office/powerpoint/2010/main" val="7975823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2472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en-US" sz="2800" b="1" dirty="0">
                <a:solidFill>
                  <a:srgbClr val="3D5A8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DELIVERABLES</a:t>
            </a:r>
          </a:p>
          <a:p>
            <a:pPr>
              <a:spcAft>
                <a:spcPts val="400"/>
              </a:spcAft>
            </a:pPr>
            <a:endParaRPr sz="2400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sz="1600" b="0" dirty="0">
                <a:latin typeface="Arial" panose="020B0604020202020204" pitchFamily="34" charset="0"/>
                <a:cs typeface="Arial" panose="020B0604020202020204" pitchFamily="34" charset="0"/>
              </a:rPr>
              <a:t>1 · Cohort </a:t>
            </a:r>
            <a:r>
              <a:rPr lang="en-US" sz="1600" b="0" dirty="0">
                <a:latin typeface="Arial" panose="020B0604020202020204" pitchFamily="34" charset="0"/>
                <a:cs typeface="Arial" panose="020B0604020202020204" pitchFamily="34" charset="0"/>
              </a:rPr>
              <a:t>of players </a:t>
            </a:r>
            <a:r>
              <a:rPr sz="1600" b="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600" b="0" dirty="0">
                <a:latin typeface="Arial" panose="020B0604020202020204" pitchFamily="34" charset="0"/>
                <a:cs typeface="Arial" panose="020B0604020202020204" pitchFamily="34" charset="0"/>
              </a:rPr>
              <a:t>with </a:t>
            </a:r>
            <a:r>
              <a:rPr sz="1600" b="0" dirty="0">
                <a:latin typeface="Arial" panose="020B0604020202020204" pitchFamily="34" charset="0"/>
                <a:cs typeface="Arial" panose="020B0604020202020204" pitchFamily="34" charset="0"/>
              </a:rPr>
              <a:t>minute floors) · 2 · Stability · 3 · Redundancy · 4 · Explorer + success</a:t>
            </a:r>
          </a:p>
          <a:p>
            <a:endParaRPr sz="1600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600" b="0" dirty="0">
                <a:latin typeface="Arial" panose="020B0604020202020204" pitchFamily="34" charset="0"/>
                <a:cs typeface="Arial" panose="020B0604020202020204" pitchFamily="34" charset="0"/>
              </a:rPr>
              <a:t>		Repo: </a:t>
            </a:r>
            <a:r>
              <a:rPr sz="1600" b="1" i="1" dirty="0">
                <a:latin typeface="Arial" panose="020B0604020202020204" pitchFamily="34" charset="0"/>
                <a:cs typeface="Arial" panose="020B0604020202020204" pitchFamily="34" charset="0"/>
              </a:rPr>
              <a:t>Deck · </a:t>
            </a:r>
            <a:r>
              <a:rPr lang="en-US" sz="1600" b="1" i="1">
                <a:latin typeface="Arial" panose="020B0604020202020204" pitchFamily="34" charset="0"/>
                <a:cs typeface="Arial" panose="020B0604020202020204" pitchFamily="34" charset="0"/>
              </a:rPr>
              <a:t>README.md </a:t>
            </a:r>
            <a:r>
              <a:rPr lang="en-US" sz="1600" b="1" i="1" dirty="0">
                <a:latin typeface="Arial" panose="020B0604020202020204" pitchFamily="34" charset="0"/>
                <a:cs typeface="Arial" panose="020B0604020202020204" pitchFamily="34" charset="0"/>
              </a:rPr>
              <a:t>· </a:t>
            </a:r>
            <a:r>
              <a:rPr sz="1600" b="1" i="1" dirty="0" err="1">
                <a:latin typeface="Arial" panose="020B0604020202020204" pitchFamily="34" charset="0"/>
                <a:cs typeface="Arial" panose="020B0604020202020204" pitchFamily="34" charset="0"/>
              </a:rPr>
              <a:t>interactive_player_explorer.html</a:t>
            </a:r>
            <a:r>
              <a:rPr sz="1600" b="1" i="1" dirty="0">
                <a:latin typeface="Arial" panose="020B0604020202020204" pitchFamily="34" charset="0"/>
                <a:cs typeface="Arial" panose="020B0604020202020204" pitchFamily="34" charset="0"/>
              </a:rPr>
              <a:t> · </a:t>
            </a:r>
            <a:r>
              <a:rPr sz="1600" b="1" i="1" dirty="0" err="1">
                <a:latin typeface="Arial" panose="020B0604020202020204" pitchFamily="34" charset="0"/>
                <a:cs typeface="Arial" panose="020B0604020202020204" pitchFamily="34" charset="0"/>
              </a:rPr>
              <a:t>stability_redundancy_inspector.html</a:t>
            </a:r>
            <a:endParaRPr sz="1600" b="1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sz="1600" b="1" i="1" dirty="0" err="1">
                <a:latin typeface="Arial" panose="020B0604020202020204" pitchFamily="34" charset="0"/>
                <a:cs typeface="Arial" panose="020B0604020202020204" pitchFamily="34" charset="0"/>
              </a:rPr>
              <a:t>projectproposal</a:t>
            </a:r>
            <a:r>
              <a:rPr sz="1600" b="1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endParaRPr sz="1600" b="0" dirty="0">
              <a:highlight>
                <a:srgbClr val="C0C0C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600" b="0" dirty="0">
                <a:latin typeface="Arial" panose="020B0604020202020204" pitchFamily="34" charset="0"/>
                <a:cs typeface="Arial" panose="020B0604020202020204" pitchFamily="34" charset="0"/>
              </a:rPr>
              <a:t>Stability </a:t>
            </a:r>
            <a:r>
              <a:rPr sz="1600" b="0" dirty="0">
                <a:latin typeface="Arial" panose="020B0604020202020204" pitchFamily="34" charset="0"/>
                <a:cs typeface="Arial" panose="020B0604020202020204" pitchFamily="34" charset="0"/>
              </a:rPr>
              <a:t>Gates: </a:t>
            </a:r>
            <a:r>
              <a:rPr sz="1600" b="0" dirty="0" err="1">
                <a:latin typeface="Arial" panose="020B0604020202020204" pitchFamily="34" charset="0"/>
                <a:cs typeface="Arial" panose="020B0604020202020204" pitchFamily="34" charset="0"/>
              </a:rPr>
              <a:t>FBref</a:t>
            </a:r>
            <a:r>
              <a:rPr sz="1600" b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b="0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sz="1600" b="0" dirty="0">
                <a:latin typeface="Arial" panose="020B0604020202020204" pitchFamily="34" charset="0"/>
                <a:cs typeface="Arial" panose="020B0604020202020204" pitchFamily="34" charset="0"/>
              </a:rPr>
              <a:t>/Pass/Other ≥0.60 · Def/Carry</a:t>
            </a:r>
            <a:r>
              <a:rPr lang="en-US" sz="1600" b="0" dirty="0">
                <a:latin typeface="Arial" panose="020B0604020202020204" pitchFamily="34" charset="0"/>
                <a:cs typeface="Arial" panose="020B0604020202020204" pitchFamily="34" charset="0"/>
              </a:rPr>
              <a:t> metrics</a:t>
            </a:r>
            <a:r>
              <a:rPr sz="1600" b="0" dirty="0">
                <a:latin typeface="Arial" panose="020B0604020202020204" pitchFamily="34" charset="0"/>
                <a:cs typeface="Arial" panose="020B0604020202020204" pitchFamily="34" charset="0"/>
              </a:rPr>
              <a:t> ≥0.50 · SB r≥0.40 · shortlist</a:t>
            </a:r>
            <a:r>
              <a:rPr lang="en-US" sz="1600" b="0" dirty="0">
                <a:latin typeface="Arial" panose="020B0604020202020204" pitchFamily="34" charset="0"/>
                <a:cs typeface="Arial" panose="020B0604020202020204" pitchFamily="34" charset="0"/>
              </a:rPr>
              <a:t> of metrics</a:t>
            </a:r>
            <a:r>
              <a:rPr sz="1600" b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600" b="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sz="1600" b="0" dirty="0">
                <a:latin typeface="Arial" panose="020B0604020202020204" pitchFamily="34" charset="0"/>
                <a:cs typeface="Arial" panose="020B0604020202020204" pitchFamily="34" charset="0"/>
              </a:rPr>
              <a:t>32 / 7</a:t>
            </a:r>
            <a:r>
              <a:rPr lang="en-US" sz="1600" b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sz="1600" b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3010</TotalTime>
  <Words>3358</Words>
  <Application>Microsoft Macintosh PowerPoint</Application>
  <PresentationFormat>Widescreen</PresentationFormat>
  <Paragraphs>632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Colby Morris</cp:lastModifiedBy>
  <cp:revision>15</cp:revision>
  <dcterms:created xsi:type="dcterms:W3CDTF">2013-01-27T09:14:16Z</dcterms:created>
  <dcterms:modified xsi:type="dcterms:W3CDTF">2026-07-20T19:57:32Z</dcterms:modified>
  <cp:category/>
</cp:coreProperties>
</file>