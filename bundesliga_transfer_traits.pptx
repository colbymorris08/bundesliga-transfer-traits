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8" r:id="rId19"/>
    <p:sldId id="259" r:id="rId10"/>
    <p:sldId id="260" r:id="rId11"/>
    <p:sldId id="261" r:id="rId12"/>
    <p:sldId id="262" r:id="rId13"/>
    <p:sldId id="263" r:id="rId14"/>
    <p:sldId id="267" r:id="rId18"/>
    <p:sldId id="264" r:id="rId15"/>
    <p:sldId id="269" r:id="rId20"/>
    <p:sldId id="270" r:id="rId21"/>
    <p:sldId id="271" r:id="rId22"/>
    <p:sldId id="274" r:id="rId25"/>
    <p:sldId id="275" r:id="rId26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slide" Target="slides/slide10.xml"/><Relationship Id="rId19" Type="http://schemas.openxmlformats.org/officeDocument/2006/relationships/slide" Target="slides/slide4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CAL BERKELEY  ·  INDEPENDENT STUDY  ·  METHOD + LIVE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C1C1C"/>
                </a:solidFill>
                <a:latin typeface="Georgia"/>
              </a:rPr>
              <a:t>Which traits travel into the Bundesliga?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  <a:latin typeface="Calibri"/>
              </a:rPr>
              <a:t>Same pipeline on FBref (scale) and StatsBomb (deep dive) — in plain English.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749039"/>
            <a:ext cx="10789920" cy="91440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931920"/>
            <a:ext cx="10378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Pipeline: Stability (does prior ↔ BL Y1 correlate?)  →  Redundancy (are two stable stats duplicates?)  →  Pizza (scout card from the keepers only).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Not Transfermarkt market value — we shortlist portable performance traits for scouting.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C1C1C"/>
                </a:solidFill>
                <a:latin typeface="Calibri"/>
              </a:rPr>
              <a:t>FBref Big 5: N=117 · gate r≥0.50 · shortlist 26    ·    StatsBomb Open Data: N=60 · gate r≥0.41 · shortlist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1 · DESIGN (COLLEGE-KID VERSION)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What we are actually doing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When a player moves into the 1. Bundesliga, which stats stay consistent — and which are mostly league context?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Pipeline: Stability (does prior ↔ BL Y1 correlate?) → Redundancy (are two stable stats duplicates?) → Pizza (scout card from the keepers only).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4864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995928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FBref = 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325112"/>
            <a:ext cx="512064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Big 5 season stats · N=117 inbound pairs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103 metrics tested · gate r≥0.50 → 61 pass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Manual style-quota picks → shortlist 26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Minutes: prior ≥450 · BL Y1 ≥450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86200"/>
            <a:ext cx="5440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886200"/>
            <a:ext cx="73152" cy="233172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399592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StatsBomb = depth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325112"/>
            <a:ext cx="507492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Open-data events · N=60 pairs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16 metrics · gate r≥0.41 → 11 pass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Keep more-stable side of pairs → shortlist 9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Interactive pizzas with Y1 percentile numbers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Stability → redundancy → pizza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Same order as the NYRB metric framework. Destination = 1. Bundesliga. Axis 3 = portable traits, not market value.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56616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D5A80"/>
                </a:solidFill>
                <a:latin typeface="Georgia"/>
              </a:rPr>
              <a:t>① Stability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Correlate prior-league season vs Bundesliga Year-1 for each stat.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High r = the ranking travels.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Gate: FBref r≥0.50 · StatsBomb r≥0.41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26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555555"/>
                </a:solidFill>
                <a:latin typeface="Georgia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554480"/>
            <a:ext cx="356616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2F9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9E79"/>
                </a:solidFill>
                <a:latin typeface="Georgia"/>
              </a:rPr>
              <a:t>② Redundancy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33172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Among passers, find pairs with |r|≥0.70 on BL Y1.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Those are near-duplicates.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Pick 1+ per cluster for style coverage (not only the single best).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926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555555"/>
                </a:solidFill>
                <a:latin typeface="Georgia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554480"/>
            <a:ext cx="356616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BC4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C4749"/>
                </a:solidFill>
                <a:latin typeface="Georgia"/>
              </a:rPr>
              <a:t>③ Pizza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33172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Only shortlisted traits go on the scout card.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Filled wedge = Y1 percentile vs peers.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C1C1C"/>
                </a:solidFill>
                <a:latin typeface="Calibri"/>
              </a:rPr>
              <a:t>Number on the wedge = that percentile.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120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FBref: r≥0.50 → 61/103 pass → style-quota cluster picks → shortlist 26 (some intentional overlaps for success + failure).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StatsBomb: r≥0.41 → 11/16 pass → PAS&gt;CRY · XG&gt;SH · PPC&gt;PAS → shortlist 9.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C1C1C"/>
                </a:solidFill>
                <a:latin typeface="Georgia"/>
              </a:rPr>
              <a:t>Scouting metric evaluation — not a BL crystal ball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47120" cy="86868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1C1C1C"/>
                </a:solidFill>
                <a:latin typeface="Calibri"/>
              </a:rPr>
              <a:t>Family: applied sports analytics / metric selection (same logic as NYRB internship work).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1C1C"/>
                </a:solidFill>
                <a:latin typeface="Calibri"/>
              </a:rPr>
              <a:t>Core stats tools: Pearson correlation, redundancy screening, percentile benchmarking, manual Step-2 judgment.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What we DID 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329184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Trait portability: does prior-league ranking of a stat correlate with Bundesliga Y1 ranking? (stability r)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Trait uniqueness: among portable stats, which are near-duplicates? (|r|≥0.70)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Descriptive Y1 strength on the shortlist (stable-trait score = mean peer percentile).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2011680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12140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What we did NOT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450592"/>
            <a:ext cx="329184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Not a supervised ML model that predicts goals, minutes, or “success.”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No train/test split, no forecast of next-season outcomes.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Stability ≠ “this player will smash it” — it means “this trait’s ranking tends to travel.”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011680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201168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121408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Is that “data science”? Yes.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450592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Cohort design + cleaning + joins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Correlation / feature screening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Redundancy (multicollinearity-style) pruning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Peer percentiles + interactive profiles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Human-in-the-loop selection (Step 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572000"/>
            <a:ext cx="112471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73152" cy="1828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81728"/>
            <a:ext cx="10927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Honest claim for Conrad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010912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This project answers: which measurable traits are trustworthy to weight when scouting Big-5 → Bundesliga moves?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It supports scouting judgment with evidence. It does not claim to predict Bundesliga performance end-to-end.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A natural Phase-2 (if more credits/time): regress Y1 minutes / contribution on prior shortlist traits with validation — that would be prediction.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2 · 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Prior competition → Bundesliga Y1 · pass if r ≥ 0.41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Open Data · cohort N=60 · 11 of 16 pass (green) · 5 out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234440"/>
          <a:ext cx="9144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029200"/>
                <a:gridCol w="1371600"/>
                <a:gridCol w="914400"/>
                <a:gridCol w="82296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Dispossessed (inverted)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Progressive passes (~10m+ toward goal)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0.677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0.491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0.482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0.439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0.413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CFGP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Progressive carries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0.316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0.312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0.289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Next: redundancy among passers → shortlist of 9 → pizzas.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3 · STABILITY (FBREF)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61 metrics pass r ≥ 0.50 — showing top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22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Big 5 → Bundesliga · N=117 · prior≥450 · Y1≥450 · 103 tested · full list in results/fbref_stability_passed_r050.csv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188720"/>
          <a:ext cx="83210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4206240"/>
                <a:gridCol w="1463040"/>
                <a:gridCol w="914400"/>
                <a:gridCol w="731520"/>
              </a:tblGrid>
              <a:tr h="22642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0.920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0.891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0.865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0.843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0.831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0.821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0.790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0.790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Cmp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0.782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0.773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PRGRR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PrgR Receiving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0.769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PrgC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KP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KP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0.756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63093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Style coverage among passers: attacking · passing · carrying · defending · aerials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4 · 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What we kept after resolving duplicates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1C1C"/>
                </a:solidFill>
                <a:latin typeface="Georgia"/>
              </a:rPr>
              <a:t>StatsBomb shortlist (9)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Among |r|≥0.70 pairs, keep the more stable metric: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PAS &gt; CRY  ·  XG &gt; SH  ·  PPC &gt; 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DIS  ·  Dispossessed (inverted)  ·  r=0.79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PPC  ·  Progressive passes (~10m+ toward goa  ·  r=0.72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PRS  ·  Pressures  ·  r=0.68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PAS  ·  Pass volume  ·  r=0.53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11879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TAC  ·  Tackles  ·  r=0.53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77639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CLR  ·  Clearances  ·  r=0.49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XG  ·  Non-pen xG  ·  r=0.48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091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DRB  ·  Successful dribbles  ·  r=0.44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PATT  ·  Passes into final third  ·  r=0.43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0972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1C1C"/>
                </a:solidFill>
                <a:latin typeface="Georgia"/>
              </a:rPr>
              <a:t>FBref shortlist (26)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41732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Style quota: a few from attack / pass / carry / defend / aerial.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Allowed intentional overlaps for success + failure versions of a trait.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2402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Attacking (3)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47802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XG (0.85)  ·  GLS (0.71)  ·  ATTSH (0.69)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916936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15468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PRGC (0.89)  ·  PRGDI (0.87)  ·  KP (0.76)  ·  FINAL (0.70)  ·  CMPPE (0.69)  ·  CRSPA (0.66)  ·  CRS (0.64)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593592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83133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PRGRR (0.77)  ·  ATT3R (0.73)  ·  SUCC (0.71)  ·  MIS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7024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50799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DEFPE (0.92)  ·  CLR (0.72)  ·  TKLD (0.71)  ·  WON (0.71)  ·  SH (0.69)  ·  INT (0.65)  ·  LOST (0.64)  ·  WONPE (0.57)  ·  DEF3R (0.54)  ·  TKLPE (0.51)  ·  RECOV (0.50)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94690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D5A80"/>
                </a:solidFill>
                <a:latin typeface="Calibri"/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18464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1C"/>
                </a:solidFill>
                <a:latin typeface="Calibri"/>
              </a:rPr>
              <a:t>FLD (0.59)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FBREF  ·  FINAL SHORTLIST (26)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C1C1C"/>
                </a:solidFill>
                <a:latin typeface="Georgia"/>
              </a:rPr>
              <a:t>Every kept trait with stability r — same list as the HTML brief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7635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005840"/>
                <a:gridCol w="4023360"/>
                <a:gridCol w="1371600"/>
                <a:gridCol w="822960"/>
              </a:tblGrid>
              <a:tr h="17610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0.920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0.891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0.866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0.849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PRGRR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PrgR Receiving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0.769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KP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KP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0.756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0.723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GLS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Gls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0.714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SUCC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Succ Take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TKLD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Tkld Take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0.709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WON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Won Aerial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0.709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FINAL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0.698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 Short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0.695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Sh Blocks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0.690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CMPPE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Cmp percent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0.688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CRSPA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CrsPA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0.662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0.648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LOST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Lost Aerial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0.644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0.638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FLD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Fld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0.592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WONPE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Won percent Aerial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0.567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 3rd 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0.543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06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TKLPE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Tkl percent Challenges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0.511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176124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RECOV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Recov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0.503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3093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Source: decisions/step2_fbref.json · 10 acknowledged overlapping pairs kept on purpose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OUTPUT  ·  SCOUT PIZZA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1C1C"/>
                </a:solidFill>
                <a:latin typeface="Georgia"/>
              </a:rPr>
              <a:t>How to 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196596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Blue fill = Bundesliga Y1 · red dotted = prior · dashed = avg peer (50) · grey = top peer (90).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Numbers are percentiles 0–100 vs position peers (not raw per-90).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Explorer combines both sources in one tool: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• StatsBomb — N=60 · 11 stability passers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• FBref — N=117 · 26 Step-2 traits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Radar slices = style categories; metric list grouped under each slice.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What “stable-trait score”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Bundesliga Year-1,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Only use the shortlist from Step 2 (StatsBomb: 9 traits that passed stability and redundancy).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Unstable / dropped metrics do not enter the score.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Y1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Y1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Year-1 profile on traits that travel.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5 · 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Open interactive_player_explorer.html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2560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Switch StatsBomb (N=60 · 11 traits) ↔ FBref (N=117 · 26 traits). 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BL Year-1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05156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C1C1C"/>
                </a:solidFill>
                <a:latin typeface="Calibri"/>
              </a:rPr>
              <a:t>Phase 2 (associative): after shortlisting portable traits, test what predicts BL success.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C1C1C"/>
                </a:solidFill>
                <a:latin typeface="Calibri"/>
              </a:rPr>
              <a:t>Outcomes: Y1 minutes (playing time) · Y1 minutes percentile · stable-trait score.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C1C1C"/>
                </a:solidFill>
                <a:latin typeface="Calibri"/>
              </a:rPr>
              <a:t>Trait test: Spearman ρ between prior-season trait percentile and each outcome.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C1C1C"/>
                </a:solidFill>
                <a:latin typeface="Calibri"/>
              </a:rPr>
              <a:t>League test: mean/median outcomes by feeder league. Directional — not a validated forecast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Georgia"/>
              </a:rPr>
              <a:t>StatsBomb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N=60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Georgia"/>
              </a:rPr>
              <a:t>FBref Big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N=117 inbound pairs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Ligue 1 / PL / Serie A / La Liga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Stronger league + trait signal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Georgia"/>
              </a:rPr>
              <a:t>Honest claim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Repo: results/SUCCESS_INDICATORS.md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Interpretation: positive ρ = arriving with a higher prior percentile on that trait tends to coincide with more BL Y1 minutes / higher trait score.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Negative ρ on inverted metrics (e.g. dispossessed) can still be informative — read label + sign together.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TRAITS → BL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Prior trait percentiles most indicative of Year-1 minutes (Spearman ρ)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Calibri"/>
              </a:rPr>
              <a:t>StatsBomb (N=60) — top |ρ|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97280"/>
          <a:ext cx="420624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640080"/>
                <a:gridCol w="640080"/>
              </a:tblGrid>
              <a:tr h="2560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DRB — 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-0.30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0.021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DIS — Dispossessed (inverted)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PRS — 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-0.29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0.026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PPC — Progressive passes (~10m+ 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PATT — 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-0.21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0.104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XG — Non-pen 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7A45"/>
                </a:solidFill>
                <a:latin typeface="Calibri"/>
              </a:rPr>
              <a:t>FBref Big 5 (N=117) — significant traits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26480" y="1097280"/>
          <a:ext cx="39319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94360"/>
                <a:gridCol w="594360"/>
              </a:tblGrid>
              <a:tr h="2560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LOST — Lost Aerial*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0.007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FINAL — Final Third*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SH — Sh Blocks*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DEFPE — Def Pen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WONPE — Won percent Aerial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0.062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PRGDI — PrgDist 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— 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CLR — Clr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3657600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C1C1C"/>
                </a:solidFill>
                <a:latin typeface="Calibri"/>
              </a:rPr>
              <a:t>StatsBomb (directional): higher prior progressive passes (PPC) &amp; dispossessed (inv) ↔ more Y1 minutes; high prior pressures/dribbles ↔ fewer minutes in this sample.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C1C1C"/>
                </a:solidFill>
                <a:latin typeface="Calibri"/>
              </a:rPr>
              <a:t>FBref (stronger N): prior final-third passing, defensive box actions, blocks, aerials ↔ more Y1 minutes (ρ≈0.17–0.25, p&lt;0.05 for top traits).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C1C1C"/>
                </a:solidFill>
                <a:latin typeface="Calibri"/>
              </a:rPr>
              <a:t>Takeaway for scouts: weight defensive involvement + progression in the penalty/third when judging Big-5 → BL transfers.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FEEDER LEAGUES → BL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Year-1 outcomes?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Calibri"/>
              </a:rPr>
              <a:t>FBref Big 5 inbound (N=117) — minutes gate ≥450 both sides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143000"/>
          <a:ext cx="56692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"/>
                <a:gridCol w="1097280"/>
                <a:gridCol w="1097280"/>
                <a:gridCol w="91440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Ligue 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1574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1460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51.1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1479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1411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50.6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1426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29260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Calibri"/>
              </a:rPr>
              <a:t>StatsBomb priors (N=60 · small league cells)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3246120"/>
          <a:ext cx="48463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48640"/>
                <a:gridCol w="1097280"/>
                <a:gridCol w="914400"/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248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53.6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49.7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49.5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203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49.5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02920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C1C1C"/>
                </a:solidFill>
                <a:latin typeface="Calibri"/>
              </a:rPr>
              <a:t>FBref: Ligue 1 arrivals average the most Y1 minutes (~1,574); Serie A the fewest (~1,426) but slightly highest mean trait score (~52). Differences are modest — all Big 5 feeders work.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C1C1C"/>
                </a:solidFill>
                <a:latin typeface="Calibri"/>
              </a:rPr>
              <a:t>StatsBomb: many priors are World Cup/Euro minutes — league ranking is directional only (PL/Ligue 1 cells very small).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C1C1C"/>
                </a:solidFill>
                <a:latin typeface="Calibri"/>
              </a:rPr>
              <a:t>Full tables: results/success_league_indicators_*.csv · script: scripts/run_success_indicators.py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D5A80"/>
                </a:solidFill>
                <a:latin typeface="Georgia"/>
              </a:rPr>
              <a:t>NEXT PHASE  ·  FEEDER REGRESSION (WHY)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Georgia"/>
              </a:rPr>
              <a:t>Descriptive “best feeder” is not enough — OLS explains league gaps vs a baseline.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Outcome: BL Year-1 minutes (playing-time success proxy)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Reference league: Serie A (lowest mean Y1 minutes descriptively)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M1: y1_minutes ~ feeder league dummies + prior minutes + position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M3: add prior trait percentiles (Final Third, box touches, aerials…)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M4: 80/20 holdout check — exploratory, not a production forecast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17320"/>
            <a:ext cx="5303520" cy="4389120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600">
                <a:solidFill>
                  <a:srgbClr val="3D5A80"/>
                </a:solidFill>
                <a:latin typeface="Georgia"/>
              </a:rPr>
              <a:t>What this is / is not</a:t>
            </a:r>
          </a:p>
          <a:p>
            <a:r>
              <a:rPr sz="1300">
                <a:solidFill>
                  <a:srgbClr val="1C1C1C"/>
                </a:solidFill>
                <a:latin typeface="Arial"/>
              </a:rPr>
              <a:t/>
            </a:r>
          </a:p>
          <a:p>
            <a:r>
              <a:rPr sz="1300">
                <a:solidFill>
                  <a:srgbClr val="1C1C1C"/>
                </a:solidFill>
                <a:latin typeface="Arial"/>
              </a:rPr>
              <a:t>IS: next-phase explanatory regression — why Ligue 1 ranks high in means</a:t>
            </a:r>
          </a:p>
          <a:p>
            <a:r>
              <a:rPr sz="1300">
                <a:solidFill>
                  <a:srgbClr val="1C1C1C"/>
                </a:solidFill>
                <a:latin typeface="Arial"/>
              </a:rPr>
              <a:t/>
            </a:r>
          </a:p>
          <a:p>
            <a:r>
              <a:rPr sz="1300">
                <a:solidFill>
                  <a:srgbClr val="1C1C1C"/>
                </a:solidFill>
                <a:latin typeface="Arial"/>
              </a:rPr>
              <a:t>IS: bridge to holdout ML (same features, train/test split)</a:t>
            </a:r>
          </a:p>
          <a:p>
            <a:r>
              <a:rPr sz="1300">
                <a:solidFill>
                  <a:srgbClr val="1C1C1C"/>
                </a:solidFill>
                <a:latin typeface="Arial"/>
              </a:rPr>
              <a:t/>
            </a:r>
          </a:p>
          <a:p>
            <a:r>
              <a:rPr sz="1300">
                <a:solidFill>
                  <a:srgbClr val="1C1C1C"/>
                </a:solidFill>
                <a:latin typeface="Arial"/>
              </a:rPr>
              <a:t>NOT: validated BL performance prediction</a:t>
            </a:r>
          </a:p>
          <a:p>
            <a:r>
              <a:rPr sz="1300">
                <a:solidFill>
                  <a:srgbClr val="1C1C1C"/>
                </a:solidFill>
                <a:latin typeface="Arial"/>
              </a:rPr>
              <a:t/>
            </a:r>
          </a:p>
          <a:p>
            <a:r>
              <a:rPr sz="1300">
                <a:solidFill>
                  <a:srgbClr val="1C1C1C"/>
                </a:solidFill>
                <a:latin typeface="Arial"/>
              </a:rPr>
              <a:t>N = 117 · league cells are small → wide confidence bands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Georgia"/>
              </a:rPr>
              <a:t>M1 R²=0.086  →  M3 R²=0.215 when traits added  ·  holdout r=0.35 (exploratory)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36576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663440" y="1325880"/>
          <a:ext cx="3657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0584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xG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C1C1C"/>
                </a:solidFill>
                <a:latin typeface="Arial"/>
              </a:rPr>
              <a:t>Descriptive: Ligue 1 highest mean Y1 minutes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C1C1C"/>
                </a:solidFill>
                <a:latin typeface="Arial"/>
              </a:rPr>
              <a:t>Regression: +163 min vs Serie A, but p≈0.38 — not significant at N=117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C1C1C"/>
                </a:solidFill>
                <a:latin typeface="Arial"/>
              </a:rPr>
              <a:t>Trait profile matters more than league label (R² doubles)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C1C1C"/>
                </a:solidFill>
                <a:latin typeface="Arial"/>
              </a:rPr>
              <a:t>Lost Aerial prior pct: +9 min per step, p=0.002*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C1C1C"/>
                </a:solidFill>
                <a:latin typeface="Arial"/>
              </a:rPr>
              <a:t>Takeaway: scout traits + minutes; league is a weak residual signal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Georgia"/>
              </a:rPr>
              <a:t>* p&lt;0.05. Full tables: results/FEEDER_REGRESSION.md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D5A80"/>
                </a:solidFill>
                <a:latin typeface="Georgia"/>
              </a:rPr>
              <a:t>NEXT PHASE  ·  FEEDER REGRESSION (WHY)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Georgia"/>
              </a:rPr>
              <a:t>Descriptive “best feeder” is not enough — OLS explains league gaps vs a baseline.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Outcome: BL Year-1 minutes (playing-time success proxy)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Reference league: Serie A (lowest mean Y1 minutes descriptively)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M1: y1_minutes ~ feeder league dummies + prior minutes + position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M3: add prior trait percentiles (Final Third, box touches, aerials…)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M4: 80/20 holdout check — exploratory, not a production forecast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17320"/>
            <a:ext cx="5303520" cy="4389120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600">
                <a:solidFill>
                  <a:srgbClr val="3D5A80"/>
                </a:solidFill>
                <a:latin typeface="Georgia"/>
              </a:rPr>
              <a:t>What this is / is not</a:t>
            </a:r>
          </a:p>
          <a:p>
            <a:r>
              <a:rPr sz="1300">
                <a:solidFill>
                  <a:srgbClr val="1C1C1C"/>
                </a:solidFill>
                <a:latin typeface="Arial"/>
              </a:rPr>
              <a:t/>
            </a:r>
          </a:p>
          <a:p>
            <a:r>
              <a:rPr sz="1300">
                <a:solidFill>
                  <a:srgbClr val="1C1C1C"/>
                </a:solidFill>
                <a:latin typeface="Arial"/>
              </a:rPr>
              <a:t>IS: next-phase explanatory regression — why Ligue 1 ranks high in means</a:t>
            </a:r>
          </a:p>
          <a:p>
            <a:r>
              <a:rPr sz="1300">
                <a:solidFill>
                  <a:srgbClr val="1C1C1C"/>
                </a:solidFill>
                <a:latin typeface="Arial"/>
              </a:rPr>
              <a:t/>
            </a:r>
          </a:p>
          <a:p>
            <a:r>
              <a:rPr sz="1300">
                <a:solidFill>
                  <a:srgbClr val="1C1C1C"/>
                </a:solidFill>
                <a:latin typeface="Arial"/>
              </a:rPr>
              <a:t>IS: bridge to holdout ML (same features, train/test split)</a:t>
            </a:r>
          </a:p>
          <a:p>
            <a:r>
              <a:rPr sz="1300">
                <a:solidFill>
                  <a:srgbClr val="1C1C1C"/>
                </a:solidFill>
                <a:latin typeface="Arial"/>
              </a:rPr>
              <a:t/>
            </a:r>
          </a:p>
          <a:p>
            <a:r>
              <a:rPr sz="1300">
                <a:solidFill>
                  <a:srgbClr val="1C1C1C"/>
                </a:solidFill>
                <a:latin typeface="Arial"/>
              </a:rPr>
              <a:t>NOT: validated BL performance prediction</a:t>
            </a:r>
          </a:p>
          <a:p>
            <a:r>
              <a:rPr sz="1300">
                <a:solidFill>
                  <a:srgbClr val="1C1C1C"/>
                </a:solidFill>
                <a:latin typeface="Arial"/>
              </a:rPr>
              <a:t/>
            </a:r>
          </a:p>
          <a:p>
            <a:r>
              <a:rPr sz="1300">
                <a:solidFill>
                  <a:srgbClr val="1C1C1C"/>
                </a:solidFill>
                <a:latin typeface="Arial"/>
              </a:rPr>
              <a:t>N = 117 · league cells are small → wide confidence bands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Georgia"/>
              </a:rPr>
              <a:t>M1 R²=0.086  →  M3 R²=0.215 when traits added  ·  holdout r=0.35 (exploratory)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36576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663440" y="1325880"/>
          <a:ext cx="3657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0584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xG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C1C1C"/>
                </a:solidFill>
                <a:latin typeface="Arial"/>
              </a:rPr>
              <a:t>Descriptive: Ligue 1 highest mean Y1 minutes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C1C1C"/>
                </a:solidFill>
                <a:latin typeface="Arial"/>
              </a:rPr>
              <a:t>Regression: +163 min vs Serie A, but p≈0.38 — not significant at N=117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C1C1C"/>
                </a:solidFill>
                <a:latin typeface="Arial"/>
              </a:rPr>
              <a:t>Trait profile matters more than league label (R² doubles)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C1C1C"/>
                </a:solidFill>
                <a:latin typeface="Arial"/>
              </a:rPr>
              <a:t>Lost Aerial prior pct: +9 min per step, p=0.002*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C1C1C"/>
                </a:solidFill>
                <a:latin typeface="Arial"/>
              </a:rPr>
              <a:t>Takeaway: scout traits + minutes; league is a weak residual signal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Georgia"/>
              </a:rPr>
              <a:t>* p&lt;0.05. Full tables: results/FEEDER_REGRESSION.md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WHAT TO TAKE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C1C1C"/>
                </a:solidFill>
                <a:latin typeface="Georgia"/>
              </a:rPr>
              <a:t>Traits that travel · how to use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54864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73152" cy="24688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252728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FBref (scale)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81912"/>
            <a:ext cx="5120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Strong travelers: Def Pen touches, PrgC / PrgDist, xG, aerial wins, clearances, take-on success.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Shortlist spans attack · pass · carry · defend · aerial.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143000"/>
            <a:ext cx="544068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43000"/>
            <a:ext cx="73152" cy="246888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25272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StatsBomb (depth)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81912"/>
            <a:ext cx="5074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Strong travelers: dispossessed (inv), progressive passes, pressures.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11 stability passers on N=60 — live in the combined explorer with FBref.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10996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840480"/>
            <a:ext cx="73152" cy="23774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95020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Scout 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4279392"/>
            <a:ext cx="10744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When evaluating a Big 5 → Bundesliga target, weight shortlisted traits higher than flashy unstable ones.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Do not treat two metrics in a redundant pair as independent evidence — unless you intentionally kept both (e.g. aerial wins + losses).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Explorer: one HTML tool combining FBref + StatsBomb (toggle source). Gates: FBref r≥0.50 · StatsBomb r≥0.41.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6 ·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What ships for Conrad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5A80"/>
                </a:solidFill>
                <a:latin typeface="Calibri"/>
              </a:rPr>
              <a:t>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23444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bundesliga_transfer_traits.pptx — this file (mirrors the HTML brief)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5A80"/>
                </a:solidFill>
                <a:latin typeface="Calibri"/>
              </a:rPr>
              <a:t>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73736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interactive_player_explorer.html — combines FBref + StatsBomb; category pizza + percentiles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402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5A80"/>
                </a:solidFill>
                <a:latin typeface="Calibri"/>
              </a:rPr>
              <a:t>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24028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methodology_results_brief.html — same explanation + 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432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5A80"/>
                </a:solidFill>
                <a:latin typeface="Calibri"/>
              </a:rPr>
              <a:t>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74320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projectproposal / conrad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461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5A80"/>
                </a:solidFill>
                <a:latin typeface="Calibri"/>
              </a:rPr>
              <a:t>Decisions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24612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decisions/step2_*.json + PDFs (local)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39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5A80"/>
                </a:solidFill>
                <a:latin typeface="Calibri"/>
              </a:rPr>
              <a:t>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749039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results/ — stability CSVs, FBREF_RESULTS.md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51959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5A80"/>
                </a:solidFill>
                <a:latin typeface="Calibri"/>
              </a:rPr>
              <a:t>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251959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github.com/colbymorris08/bundesliga-transfer-traits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126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FBref gate r≥0.50 · StatsBomb gate r≥0.41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