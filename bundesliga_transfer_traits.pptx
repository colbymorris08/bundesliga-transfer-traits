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8"/>
  </p:normalViewPr>
  <p:slideViewPr>
    <p:cSldViewPr snapToGrid="0" snapToObjects="1">
      <p:cViewPr varScale="1">
        <p:scale>
          <a:sx n="91" d="100"/>
          <a:sy n="91" d="100"/>
        </p:scale>
        <p:origin x="192" y="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39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555555"/>
                </a:solidFill>
                <a:latin typeface="Calibri"/>
              </a:rPr>
              <a:t>Question → scrape → stability → thresholds → redundancy → explorer → significance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Question</a:t>
            </a:r>
          </a:p>
          <a:p>
            <a:r>
              <a:rPr sz="1200" b="0" dirty="0">
                <a:solidFill>
                  <a:srgbClr val="333333"/>
                </a:solidFill>
              </a:rPr>
              <a:t>Which traits travel into </a:t>
            </a:r>
            <a:r>
              <a:rPr lang="en-US" sz="1200" dirty="0">
                <a:solidFill>
                  <a:srgbClr val="333333"/>
                </a:solidFill>
              </a:rPr>
              <a:t>the German Bundesliga (BL) </a:t>
            </a:r>
            <a:r>
              <a:rPr sz="1200" b="0" dirty="0">
                <a:solidFill>
                  <a:srgbClr val="333333"/>
                </a:solidFill>
              </a:rPr>
              <a:t>— and which prior</a:t>
            </a:r>
            <a:r>
              <a:rPr lang="en-US" sz="1200" b="0" dirty="0">
                <a:solidFill>
                  <a:srgbClr val="333333"/>
                </a:solidFill>
              </a:rPr>
              <a:t> stats line </a:t>
            </a:r>
            <a:r>
              <a:rPr sz="1200" b="0" dirty="0">
                <a:solidFill>
                  <a:srgbClr val="333333"/>
                </a:solidFill>
              </a:rPr>
              <a:t>up with </a:t>
            </a:r>
            <a:r>
              <a:rPr lang="en-US" sz="1200" dirty="0">
                <a:solidFill>
                  <a:srgbClr val="333333"/>
                </a:solidFill>
              </a:rPr>
              <a:t>Year 1</a:t>
            </a:r>
            <a:r>
              <a:rPr sz="1200" b="0" dirty="0">
                <a:solidFill>
                  <a:srgbClr val="333333"/>
                </a:solidFill>
              </a:rPr>
              <a:t> </a:t>
            </a:r>
            <a:r>
              <a:rPr lang="en-US" sz="1200" b="0" dirty="0">
                <a:solidFill>
                  <a:srgbClr val="333333"/>
                </a:solidFill>
              </a:rPr>
              <a:t>(Y1) </a:t>
            </a:r>
            <a:r>
              <a:rPr sz="1200" b="0" dirty="0">
                <a:solidFill>
                  <a:srgbClr val="333333"/>
                </a:solidFill>
              </a:rPr>
              <a:t>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Scrape two sources</a:t>
            </a:r>
          </a:p>
          <a:p>
            <a:r>
              <a:rPr lang="en-US" sz="1200" b="0" dirty="0">
                <a:solidFill>
                  <a:srgbClr val="333333"/>
                </a:solidFill>
              </a:rPr>
              <a:t>Football Reference (</a:t>
            </a:r>
            <a:r>
              <a:rPr sz="1200" b="0" dirty="0" err="1">
                <a:solidFill>
                  <a:srgbClr val="333333"/>
                </a:solidFill>
              </a:rPr>
              <a:t>F</a:t>
            </a:r>
            <a:r>
              <a:rPr lang="en-US" sz="1200" b="0" dirty="0" err="1">
                <a:solidFill>
                  <a:srgbClr val="333333"/>
                </a:solidFill>
              </a:rPr>
              <a:t>b</a:t>
            </a:r>
            <a:r>
              <a:rPr sz="1200" b="0" dirty="0" err="1">
                <a:solidFill>
                  <a:srgbClr val="333333"/>
                </a:solidFill>
              </a:rPr>
              <a:t>ref</a:t>
            </a:r>
            <a:r>
              <a:rPr lang="en-US" sz="1200" b="0" dirty="0">
                <a:solidFill>
                  <a:srgbClr val="333333"/>
                </a:solidFill>
              </a:rPr>
              <a:t>)</a:t>
            </a:r>
            <a:r>
              <a:rPr sz="1200" b="0" dirty="0">
                <a:solidFill>
                  <a:srgbClr val="333333"/>
                </a:solidFill>
              </a:rPr>
              <a:t>: 19 leagues, first BL ≥2021, ≥300′.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: 17 comps; BL 2015/16 + 2023/24; ≥45′/≥30′.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BL Y1 per-90</a:t>
            </a:r>
            <a:r>
              <a:rPr lang="en-US" sz="1200" b="0" dirty="0">
                <a:solidFill>
                  <a:srgbClr val="333333"/>
                </a:solidFill>
              </a:rPr>
              <a:t> minutes</a:t>
            </a:r>
            <a:r>
              <a:rPr sz="1200" b="0" dirty="0">
                <a:solidFill>
                  <a:srgbClr val="333333"/>
                </a:solidFill>
              </a:rPr>
              <a:t>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Choose thresholds</a:t>
            </a:r>
          </a:p>
          <a:p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category gates → 43/105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r≥0.40 → 7/16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Redundancy + context</a:t>
            </a:r>
          </a:p>
          <a:p>
            <a:r>
              <a:rPr sz="1200" b="0" dirty="0">
                <a:solidFill>
                  <a:srgbClr val="333333"/>
                </a:solidFill>
              </a:rPr>
              <a:t>Drop </a:t>
            </a:r>
            <a:r>
              <a:rPr lang="en-US" sz="1200" b="0" dirty="0">
                <a:solidFill>
                  <a:srgbClr val="333333"/>
                </a:solidFill>
              </a:rPr>
              <a:t>near-duplicates</a:t>
            </a:r>
            <a:r>
              <a:rPr sz="1200" b="0" dirty="0">
                <a:solidFill>
                  <a:srgbClr val="333333"/>
                </a:solidFill>
              </a:rPr>
              <a:t>.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lang="en-US" sz="1200" b="0" dirty="0" err="1">
                <a:solidFill>
                  <a:srgbClr val="333333"/>
                </a:solidFill>
              </a:rPr>
              <a:t>Fbref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43→32 · SB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Explorer &amp; graphics</a:t>
            </a:r>
          </a:p>
          <a:p>
            <a:r>
              <a:rPr sz="1200" b="0" dirty="0">
                <a:solidFill>
                  <a:srgbClr val="333333"/>
                </a:solidFill>
              </a:rPr>
              <a:t>Radars / pizzas on shortlist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 (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Significance tests</a:t>
            </a:r>
          </a:p>
          <a:p>
            <a:r>
              <a:rPr sz="1200" b="0" dirty="0">
                <a:solidFill>
                  <a:srgbClr val="333333"/>
                </a:solidFill>
              </a:rPr>
              <a:t>Spearman: prior trait</a:t>
            </a:r>
            <a:r>
              <a:rPr lang="en-US" sz="1200" b="0" dirty="0">
                <a:solidFill>
                  <a:srgbClr val="333333"/>
                </a:solidFill>
              </a:rPr>
              <a:t> percentile</a:t>
            </a:r>
            <a:r>
              <a:rPr sz="1200" b="0" dirty="0">
                <a:solidFill>
                  <a:srgbClr val="333333"/>
                </a:solidFill>
              </a:rPr>
              <a:t> vs Y1 minutes; feeder</a:t>
            </a:r>
            <a:r>
              <a:rPr lang="en-US" sz="1200" b="0" dirty="0">
                <a:solidFill>
                  <a:srgbClr val="333333"/>
                </a:solidFill>
              </a:rPr>
              <a:t> league</a:t>
            </a:r>
            <a:r>
              <a:rPr sz="1200" b="0" dirty="0">
                <a:solidFill>
                  <a:srgbClr val="333333"/>
                </a:solidFill>
              </a:rPr>
              <a:t>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Compared to the project completed with Red Bull New York, </a:t>
            </a:r>
            <a:r>
              <a:rPr lang="en-US" sz="1300" i="1" dirty="0">
                <a:solidFill>
                  <a:srgbClr val="555555"/>
                </a:solidFill>
                <a:latin typeface="Calibri"/>
              </a:rPr>
              <a:t>the project 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defines the most portable traits for scouting leading to playing time in the Bundesliga year 1 post-transfer rather rather than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555555"/>
                </a:solidFill>
                <a:latin typeface="Calibri"/>
              </a:rPr>
              <a:t>Transfermarkt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value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. Scouts and teams will be able to answer the questions: ‘Which traits do we scout in outside leagues to best predict playing time? Which leagues provide the most reliable statistics to best predict results in the BL?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When a player moves into </a:t>
            </a:r>
            <a:r>
              <a:rPr lang="en-US" sz="1400" dirty="0">
                <a:solidFill>
                  <a:srgbClr val="333333"/>
                </a:solidFill>
                <a:latin typeface="Calibri"/>
              </a:rPr>
              <a:t>the top German league, the 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BL, which stats stay consistent — and which are league context?</a:t>
            </a:r>
            <a:r>
              <a:rPr lang="en-US" sz="1400" b="0" dirty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Aft>
                <a:spcPts val="500"/>
              </a:spcAft>
            </a:pPr>
            <a:r>
              <a:rPr lang="en-US" sz="1400" i="1" dirty="0">
                <a:solidFill>
                  <a:srgbClr val="333333"/>
                </a:solidFill>
                <a:latin typeface="Calibri"/>
              </a:rPr>
              <a:t>This applies only to player who entered the BL from a different league. AKA player transfers</a:t>
            </a:r>
            <a:endParaRPr sz="1400" b="0" i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Stability → Redundancy → Pizza/explorer → Success.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scale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19 leagues · BL ≥2021 · ≥300′</a:t>
            </a:r>
          </a:p>
          <a:p>
            <a:r>
              <a:rPr sz="1300" b="0" dirty="0">
                <a:solidFill>
                  <a:srgbClr val="333333"/>
                </a:solidFill>
              </a:rPr>
              <a:t>N=329 · 105→43→32</a:t>
            </a:r>
          </a:p>
          <a:p>
            <a:r>
              <a:rPr sz="1300" b="0" dirty="0" err="1">
                <a:solidFill>
                  <a:srgbClr val="333333"/>
                </a:solidFill>
              </a:rPr>
              <a:t>Att</a:t>
            </a:r>
            <a:r>
              <a:rPr sz="1300" b="0" dirty="0">
                <a:solidFill>
                  <a:srgbClr val="333333"/>
                </a:solidFill>
              </a:rPr>
              <a:t>/Pass/Other ≥0.60 · Def/Carry ≥0.50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metric 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depth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N=96 · ≥45′ /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keep all 7</a:t>
            </a:r>
          </a:p>
          <a:p>
            <a:r>
              <a:rPr sz="1300" b="0" dirty="0">
                <a:solidFill>
                  <a:srgbClr val="333333"/>
                </a:solidFill>
              </a:rPr>
              <a:t>Priors: 17 comps · BL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Pearson r = stability · Spearman </a:t>
            </a:r>
            <a:r>
              <a:rPr sz="1200" b="0" dirty="0" err="1">
                <a:solidFill>
                  <a:srgbClr val="333333"/>
                </a:solidFill>
              </a:rPr>
              <a:t>ρ</a:t>
            </a:r>
            <a:r>
              <a:rPr sz="1200" b="0" dirty="0">
                <a:solidFill>
                  <a:srgbClr val="333333"/>
                </a:solidFill>
              </a:rPr>
              <a:t> = success (rank-based; robust when Y1 minutes are skewed) · redundancy · percentiles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BL Y1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lang="en-US" sz="1300" b="0" dirty="0">
                <a:solidFill>
                  <a:srgbClr val="333333"/>
                </a:solidFill>
              </a:rPr>
              <a:t>Outside league </a:t>
            </a:r>
            <a:r>
              <a:rPr sz="1300" b="0" dirty="0">
                <a:solidFill>
                  <a:srgbClr val="333333"/>
                </a:solidFill>
              </a:rPr>
              <a:t>tables + player-page fills</a:t>
            </a:r>
          </a:p>
          <a:p>
            <a:r>
              <a:rPr sz="1300" b="0" dirty="0">
                <a:solidFill>
                  <a:srgbClr val="333333"/>
                </a:solidFill>
              </a:rPr>
              <a:t>Analysis window: first BL end-years 2021–2025</a:t>
            </a:r>
          </a:p>
          <a:p>
            <a:r>
              <a:rPr sz="1300" b="0" dirty="0">
                <a:solidFill>
                  <a:srgbClr val="333333"/>
                </a:solidFill>
              </a:rPr>
              <a:t>Minutes: prior ≥300′ · Y1 ≥300′ → N=329 pairs · 19 leagues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league-relative scaling — it did not help rate→Y1 stability.</a:t>
            </a:r>
          </a:p>
          <a:p>
            <a:r>
              <a:rPr sz="1300" b="0" dirty="0">
                <a:solidFill>
                  <a:srgbClr val="333333"/>
                </a:solidFill>
              </a:rPr>
              <a:t>Absolute per-90 rates kept.</a:t>
            </a:r>
            <a:endParaRPr lang="en-US" sz="1300" b="0" dirty="0">
              <a:solidFill>
                <a:srgbClr val="333333"/>
              </a:solidFill>
            </a:endParaRPr>
          </a:p>
          <a:p>
            <a:endParaRPr lang="en-US" sz="1300" dirty="0">
              <a:solidFill>
                <a:srgbClr val="333333"/>
              </a:solidFill>
            </a:endParaRPr>
          </a:p>
          <a:p>
            <a:r>
              <a:rPr lang="en-US" sz="1300" dirty="0">
                <a:solidFill>
                  <a:srgbClr val="333333"/>
                </a:solidFill>
              </a:rPr>
              <a:t>Window · 2021–2025 · ≥300′ both sides · N=329</a:t>
            </a:r>
          </a:p>
          <a:p>
            <a:endParaRPr sz="13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All male open comps as priors</a:t>
            </a:r>
          </a:p>
          <a:p>
            <a:r>
              <a:rPr sz="1300" b="0" dirty="0">
                <a:solidFill>
                  <a:srgbClr val="333333"/>
                </a:solidFill>
              </a:rPr>
              <a:t>BL open dumps: 2015/16 + 2023/24 only</a:t>
            </a:r>
          </a:p>
          <a:p>
            <a:r>
              <a:rPr sz="1300" b="0" dirty="0">
                <a:solidFill>
                  <a:srgbClr val="333333"/>
                </a:solidFill>
              </a:rPr>
              <a:t>N=96 · prior ≥45′ · Y1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vs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300" b="0" dirty="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relative scaling: failed on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; SB priors are mixed</a:t>
            </a:r>
          </a:p>
          <a:p>
            <a:r>
              <a:rPr sz="1300" b="0" dirty="0">
                <a:solidFill>
                  <a:srgbClr val="333333"/>
                </a:solidFill>
              </a:rPr>
              <a:t>(WC / Euro / CL / leagues), so even less appropriate.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Prior league → first Bundesliga Y1 (end-year ≥2021)</a:t>
            </a: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 · 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 ·  r ≥ 0.50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43 metrics pass gates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>No league-relative scaling — absolute per-90 rates travel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8321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Open Data · cohort N=96 · 7 of 16 pass (r≥0.40)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>
                <a:solidFill>
                  <a:srgbClr val="333333"/>
                </a:solidFill>
              </a:rPr>
              <a:t>·  XG  Non-pen xG  r=0.30</a:t>
            </a:r>
          </a:p>
          <a:p>
            <a:r>
              <a:rPr sz="1100" b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9144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Next: redundancy at |r|≥0.85 — only near-dupes cut; passes kept with progressive passes.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63434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097280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FBref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: 43 gated → 32 kept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105 tested · category gates → 43 · |r|≥0.95 → 32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Pick order: stability → N → rate/contextual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Force-kept: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SoT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/90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Gls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/90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Tkld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Take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Att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Total</a:t>
            </a:r>
          </a:p>
          <a:p>
            <a:pPr>
              <a:spcAft>
                <a:spcPts val="2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Top: Def Pen Touches (0.91) ·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PrgC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(0.81) ·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xG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888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949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3D5A80"/>
                </a:solidFill>
                <a:latin typeface="Calibri"/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7326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PRGC (0.89)  ·  PRGDI (0.87)  ·  KP (0.76)  ·  FINAL (0.70)  ·  CMPPE (0.69)  ·  CRSPA (0.66)  ·  CRS (0.64)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17156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093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PRGRR (0.77)  ·  ATT3R (0.73)  ·  SUCC (0.71)  ·  MIS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82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859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DEFPE (0.92)  ·  CLR (0.72)  ·  TKLD (0.71)  ·  WON (0.71)  ·  SH (0.69)  ·  INT (0.65)  ·  LOST (0.64)  ·  WONPE (0.57)  ·  DEF3R (0.54)  ·  TKLPE (0.51)  ·  RECOV (0.50)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2487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626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FLD (0.59)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OUTPUT  ·  SCOUT PIZZA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CHART (Based on charts used by RBNY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Open interactive_player_explorer.html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Switch StatsBomb (N=96 · 7 traits) ↔ FBref (N=329 · 32 traits).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StatsBomb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600" b="1" dirty="0">
              <a:solidFill>
                <a:srgbClr val="3D5A80"/>
              </a:solidFill>
              <a:latin typeface="Calibri"/>
            </a:endParaRPr>
          </a:p>
          <a:p>
            <a:r>
              <a:rPr sz="13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Honest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417320"/>
            <a:ext cx="5212080" cy="411480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Y1 minutes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797722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r>
                        <a:rPr lang="en-US" dirty="0"/>
                        <a:t/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Y1 minutes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717155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  <a:r>
                        <a:rPr lang="en-US" dirty="0"/>
                        <a:t/>
                      </a:r>
                      <a:r>
                        <a:rPr dirty="0"/>
                        <a:t/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350146"/>
              </p:ext>
            </p:extLst>
          </p:nvPr>
        </p:nvGraphicFramePr>
        <p:xfrm>
          <a:off x="411480" y="1179576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 sz="1000" b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46120"/>
          <a:ext cx="48463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shown). StatsBomb N=96 — intl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333333"/>
                </a:solidFill>
                <a:latin typeface="Georgia"/>
              </a:rPr>
              <a:t>Descriptive “best feeder</a:t>
            </a:r>
            <a:r>
              <a:rPr lang="en-US" b="0" dirty="0">
                <a:solidFill>
                  <a:srgbClr val="333333"/>
                </a:solidFill>
                <a:latin typeface="Georgia"/>
              </a:rPr>
              <a:t> league</a:t>
            </a:r>
            <a:r>
              <a:rPr b="0" dirty="0">
                <a:solidFill>
                  <a:srgbClr val="333333"/>
                </a:solidFill>
                <a:latin typeface="Georgia"/>
              </a:rPr>
              <a:t>” is not enough — OLS vs Serie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Model 1</a:t>
            </a:r>
            <a:r>
              <a:rPr lang="en-US" dirty="0"/>
              <a:t> — league only (with basic controls)</a:t>
            </a:r>
            <a:br>
              <a:rPr lang="en-US" dirty="0"/>
            </a:br>
            <a:r>
              <a:rPr lang="en-US" dirty="0"/>
              <a:t>Predict Y1 minutes from:</a:t>
            </a:r>
          </a:p>
          <a:p>
            <a:r>
              <a:rPr lang="en-US" dirty="0"/>
              <a:t>prior league (PL / La Liga / Ligue 1 vs Serie A)</a:t>
            </a:r>
          </a:p>
          <a:p>
            <a:r>
              <a:rPr lang="en-US" dirty="0"/>
              <a:t>How many minutes they played before.</a:t>
            </a:r>
          </a:p>
          <a:p>
            <a:r>
              <a:rPr lang="en-US" i="1" dirty="0"/>
              <a:t>Question:</a:t>
            </a:r>
            <a:r>
              <a:rPr lang="en-US" dirty="0"/>
              <a:t> After that, does league still matter?</a:t>
            </a:r>
          </a:p>
          <a:p>
            <a:r>
              <a:rPr lang="en-US" b="1" dirty="0"/>
              <a:t>Model 2</a:t>
            </a:r>
            <a:r>
              <a:rPr lang="en-US" dirty="0"/>
              <a:t> — league + traits</a:t>
            </a:r>
            <a:br>
              <a:rPr lang="en-US" dirty="0"/>
            </a:br>
            <a:r>
              <a:rPr lang="en-US" dirty="0"/>
              <a:t>Same as M1, plus prior trait percentiles (Final Third, box touches, etc.).</a:t>
            </a:r>
          </a:p>
          <a:p>
            <a:r>
              <a:rPr lang="en-US" i="1" dirty="0"/>
              <a:t>Question:</a:t>
            </a:r>
            <a:r>
              <a:rPr lang="en-US" dirty="0"/>
              <a:t> Once you know their prior profile, do league gaps shrink? </a:t>
            </a:r>
          </a:p>
          <a:p>
            <a:r>
              <a:rPr lang="en-US" b="1" dirty="0"/>
              <a:t>Model 3</a:t>
            </a:r>
            <a:r>
              <a:rPr lang="en-US" dirty="0"/>
              <a:t> — reality check</a:t>
            </a:r>
            <a:br>
              <a:rPr lang="en-US" dirty="0"/>
            </a:br>
            <a:r>
              <a:rPr lang="en-US" dirty="0"/>
              <a:t>Fit on 80% of players, see if predictions match the other 20%.</a:t>
            </a:r>
          </a:p>
          <a:p>
            <a:r>
              <a:rPr lang="en-US" i="1" dirty="0"/>
              <a:t>Question:</a:t>
            </a:r>
            <a:r>
              <a:rPr lang="en-US" dirty="0"/>
              <a:t> Is this just memorizing the sample?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M1 R²=0.086 → M2 R²=0.215 when traits added · M3 holdout r=0.35 (exploratory)
Left table = M1 league gaps · Right table = M2 trait effects · M3 = holdout r only (no third chart needed)</a:t>
            </a:r>
            <a:endParaRPr sz="1300" b="0" dirty="0">
              <a:solidFill>
                <a:srgbClr val="555555"/>
              </a:solidFill>
              <a:latin typeface="Georg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3657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32588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xG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+163 min vs Serie A (p≈0.38) — not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Traits raise R² (0.09 → 0.22). Profile &gt; league label.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mean Y1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600" b="1" dirty="0">
                <a:solidFill>
                  <a:srgbClr val="3D5A80"/>
                </a:solidFill>
                <a:latin typeface="Calibri"/>
              </a:rPr>
              <a:t>Why p-values stay modest</a:t>
            </a:r>
          </a:p>
          <a:p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600" b="0" dirty="0">
                <a:solidFill>
                  <a:srgbClr val="333333"/>
                </a:solidFill>
              </a:rPr>
              <a:t>• </a:t>
            </a:r>
            <a:r>
              <a:rPr sz="1600" b="0" dirty="0" err="1">
                <a:solidFill>
                  <a:srgbClr val="333333"/>
                </a:solidFill>
              </a:rPr>
              <a:t>StatsBomb</a:t>
            </a:r>
            <a:r>
              <a:rPr sz="1600" b="0" dirty="0">
                <a:solidFill>
                  <a:srgbClr val="333333"/>
                </a:solidFill>
              </a:rPr>
              <a:t> N=96 with messy open-data priors (</a:t>
            </a:r>
            <a:r>
              <a:rPr lang="en-US" sz="1600" b="0" dirty="0">
                <a:solidFill>
                  <a:srgbClr val="333333"/>
                </a:solidFill>
              </a:rPr>
              <a:t>World Cup</a:t>
            </a:r>
            <a:r>
              <a:rPr sz="1600" b="0" dirty="0">
                <a:solidFill>
                  <a:srgbClr val="333333"/>
                </a:solidFill>
              </a:rPr>
              <a:t> / Euro</a:t>
            </a:r>
            <a:r>
              <a:rPr lang="en-US" sz="1600" b="0" dirty="0">
                <a:solidFill>
                  <a:srgbClr val="333333"/>
                </a:solidFill>
              </a:rPr>
              <a:t> tournament</a:t>
            </a:r>
            <a:r>
              <a:rPr sz="1600" b="0" dirty="0">
                <a:solidFill>
                  <a:srgbClr val="333333"/>
                </a:solidFill>
              </a:rPr>
              <a:t> / </a:t>
            </a:r>
            <a:r>
              <a:rPr lang="en-US" sz="1600" b="0" dirty="0">
                <a:solidFill>
                  <a:srgbClr val="333333"/>
                </a:solidFill>
              </a:rPr>
              <a:t>Champions League</a:t>
            </a:r>
            <a:r>
              <a:rPr sz="1600" b="0" dirty="0">
                <a:solidFill>
                  <a:srgbClr val="333333"/>
                </a:solidFill>
              </a:rPr>
              <a:t> mix</a:t>
            </a:r>
            <a:r>
              <a:rPr lang="en-US" sz="1600" b="0" dirty="0">
                <a:solidFill>
                  <a:srgbClr val="333333"/>
                </a:solidFill>
              </a:rPr>
              <a:t> rather than stock ‘league-based’ data – this allows for a larger player sample, but less consistent league and opponent label for each event</a:t>
            </a:r>
            <a:r>
              <a:rPr sz="1600" b="0" dirty="0">
                <a:solidFill>
                  <a:srgbClr val="333333"/>
                </a:solidFill>
              </a:rPr>
              <a:t>)</a:t>
            </a:r>
          </a:p>
          <a:p>
            <a:r>
              <a:rPr sz="1600" b="0" dirty="0">
                <a:solidFill>
                  <a:srgbClr val="333333"/>
                </a:solidFill>
              </a:rPr>
              <a:t>• </a:t>
            </a:r>
            <a:r>
              <a:rPr sz="1600" b="0" dirty="0" err="1">
                <a:solidFill>
                  <a:srgbClr val="333333"/>
                </a:solidFill>
              </a:rPr>
              <a:t>FBref</a:t>
            </a:r>
            <a:r>
              <a:rPr sz="1600" b="0" dirty="0">
                <a:solidFill>
                  <a:srgbClr val="333333"/>
                </a:solidFill>
              </a:rPr>
              <a:t> N=329 helps, but many advanced metrics only have ~90–100 complete pairs</a:t>
            </a:r>
            <a:r>
              <a:rPr lang="en-US" sz="1600" b="0" dirty="0">
                <a:solidFill>
                  <a:srgbClr val="333333"/>
                </a:solidFill>
              </a:rPr>
              <a:t> based on the venue, game, minutes etc.</a:t>
            </a:r>
            <a:endParaRPr sz="1600" b="0" dirty="0">
              <a:solidFill>
                <a:srgbClr val="333333"/>
              </a:solidFill>
            </a:endParaRPr>
          </a:p>
          <a:p>
            <a:r>
              <a:rPr sz="1600" b="0" dirty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600" b="0" dirty="0">
              <a:solidFill>
                <a:srgbClr val="333333"/>
              </a:solidFill>
            </a:endParaRPr>
          </a:p>
          <a:p>
            <a:r>
              <a:rPr sz="1800" b="1" dirty="0">
                <a:solidFill>
                  <a:srgbClr val="222222"/>
                </a:solidFill>
              </a:rPr>
              <a:t>What hardened the sample</a:t>
            </a:r>
          </a:p>
          <a:p>
            <a:endParaRPr sz="1800" b="1" dirty="0">
              <a:solidFill>
                <a:srgbClr val="222222"/>
              </a:solidFill>
            </a:endParaRPr>
          </a:p>
          <a:p>
            <a:r>
              <a:rPr sz="1600" b="0" dirty="0">
                <a:solidFill>
                  <a:srgbClr val="333333"/>
                </a:solidFill>
              </a:rPr>
              <a:t>• 19 leagues · first BL </a:t>
            </a:r>
            <a:r>
              <a:rPr lang="en-US" sz="1600" b="0" dirty="0">
                <a:solidFill>
                  <a:srgbClr val="333333"/>
                </a:solidFill>
              </a:rPr>
              <a:t>season played: withing range </a:t>
            </a:r>
            <a:r>
              <a:rPr sz="1600" b="0" dirty="0">
                <a:solidFill>
                  <a:srgbClr val="333333"/>
                </a:solidFill>
              </a:rPr>
              <a:t>2021</a:t>
            </a:r>
            <a:r>
              <a:rPr lang="en-US" sz="1600" b="0" dirty="0">
                <a:solidFill>
                  <a:srgbClr val="333333"/>
                </a:solidFill>
              </a:rPr>
              <a:t>-2025</a:t>
            </a:r>
            <a:r>
              <a:rPr sz="1600" b="0" dirty="0">
                <a:solidFill>
                  <a:srgbClr val="333333"/>
                </a:solidFill>
              </a:rPr>
              <a:t> · prior/Y1 ≥300′ → N=329</a:t>
            </a:r>
          </a:p>
          <a:p>
            <a:r>
              <a:rPr sz="1600" b="0" dirty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600" b="0" dirty="0">
                <a:solidFill>
                  <a:srgbClr val="333333"/>
                </a:solidFill>
              </a:rPr>
              <a:t>• </a:t>
            </a:r>
            <a:r>
              <a:rPr sz="1600" b="0" dirty="0" err="1">
                <a:solidFill>
                  <a:srgbClr val="333333"/>
                </a:solidFill>
              </a:rPr>
              <a:t>StatsBomb</a:t>
            </a:r>
            <a:r>
              <a:rPr sz="1600" b="0" dirty="0">
                <a:solidFill>
                  <a:srgbClr val="333333"/>
                </a:solidFill>
              </a:rPr>
              <a:t> kept as event deep dive (r≥0.40 · 7 traits), not league ranking</a:t>
            </a:r>
          </a:p>
          <a:p>
            <a:endParaRPr sz="16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 dirty="0">
                <a:solidFill>
                  <a:srgbClr val="3D5A80"/>
                </a:solidFill>
                <a:latin typeface="Calibri"/>
              </a:rPr>
              <a:t>CONCLUSION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• Portable shortlists: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105→43→32 · </a:t>
            </a:r>
            <a:r>
              <a:rPr lang="en-US" sz="1600" dirty="0" err="1">
                <a:solidFill>
                  <a:srgbClr val="333333"/>
                </a:solidFill>
              </a:rPr>
              <a:t>StatsBomb</a:t>
            </a:r>
            <a:r>
              <a:rPr lang="en-US" sz="1600" dirty="0">
                <a:solidFill>
                  <a:srgbClr val="333333"/>
                </a:solidFill>
              </a:rPr>
              <a:t> 16→7</a:t>
            </a:r>
            <a:endParaRPr lang="en-US" sz="1600" dirty="0"/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best/most-stable metrics: final-third passing, shot blocks, progressive distance, box defending ↔ more Y1 minutes (p&lt;0.05)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Feeder league gaps are modest; exploratory OLS (N=117) — traits matter more than the league label or league strength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Scout metrics that travel from league to league. Y1 minutes = open-data success proxy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Future project goals would be to test </a:t>
            </a:r>
            <a:r>
              <a:rPr lang="el-GR" sz="1600" dirty="0">
                <a:solidFill>
                  <a:srgbClr val="333333"/>
                </a:solidFill>
              </a:rPr>
              <a:t>Δ</a:t>
            </a:r>
            <a:r>
              <a:rPr lang="en-US" sz="1600" dirty="0">
                <a:solidFill>
                  <a:srgbClr val="333333"/>
                </a:solidFill>
              </a:rPr>
              <a:t> in</a:t>
            </a:r>
            <a:r>
              <a:rPr lang="el-GR" sz="1600" dirty="0">
                <a:solidFill>
                  <a:srgbClr val="333333"/>
                </a:solidFill>
              </a:rPr>
              <a:t> </a:t>
            </a:r>
            <a:r>
              <a:rPr lang="en-US" sz="1600" dirty="0" err="1">
                <a:solidFill>
                  <a:srgbClr val="333333"/>
                </a:solidFill>
              </a:rPr>
              <a:t>Transfermarkt</a:t>
            </a:r>
            <a:r>
              <a:rPr lang="en-US" sz="1600" dirty="0">
                <a:solidFill>
                  <a:srgbClr val="333333"/>
                </a:solidFill>
              </a:rPr>
              <a:t> market value (discussed in next slide) which is a main club outcome goal</a:t>
            </a:r>
          </a:p>
          <a:p>
            <a:pPr>
              <a:spcAft>
                <a:spcPts val="300"/>
              </a:spcAft>
            </a:pPr>
            <a:endParaRPr sz="2400" b="1" dirty="0">
              <a:solidFill>
                <a:srgbClr val="3D5A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Top indicator in a full club model: change in market value (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M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Captures performance + hype + contract context in one outcome scouts care about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NYRB Axis-3 used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Market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; this project uses open data only —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disallows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scraping</a:t>
            </a:r>
            <a:endParaRPr sz="1400" dirty="0">
              <a:solidFill>
                <a:srgbClr val="1C1C1C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So we proxy success with Y1 minutes until a licensed MV feed is available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Natural extension: prior traits →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MV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800" b="1" dirty="0">
                <a:solidFill>
                  <a:srgbClr val="3D5A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  <a:p>
            <a:pPr>
              <a:spcAft>
                <a:spcPts val="400"/>
              </a:spcAft>
            </a:pPr>
            <a:endParaRPr sz="2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1 · Cohort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of players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minute floors) · 2 · Stability · 3 · Redundancy · 4 · Explorer + success</a:t>
            </a:r>
          </a:p>
          <a:p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		Repo: 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Deck · </a:t>
            </a:r>
            <a:r>
              <a:rPr lang="en-US" sz="1600" b="1" i="1">
                <a:latin typeface="Arial" panose="020B0604020202020204" pitchFamily="34" charset="0"/>
                <a:cs typeface="Arial" panose="020B0604020202020204" pitchFamily="34" charset="0"/>
              </a:rPr>
              <a:t>README.md </a:t>
            </a:r>
            <a:r>
              <a:rPr lang="en-US" sz="1600" b="1" i="1" dirty="0"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interactive_player_explorer.html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stability_redundancy_inspector.html</a:t>
            </a:r>
            <a:endParaRPr sz="1600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projectproposal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sz="1600" b="0" dirty="0"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Stability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Gates: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FBref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/Pass/Other ≥0.60 · Def/Carry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≥0.50 · SB r≥0.40 · shortlist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of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32 / 7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3002</TotalTime>
  <Words>3350</Words>
  <Application>Microsoft Macintosh PowerPoint</Application>
  <PresentationFormat>Widescreen</PresentationFormat>
  <Paragraphs>616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13</cp:revision>
  <dcterms:created xsi:type="dcterms:W3CDTF">2013-01-27T09:14:16Z</dcterms:created>
  <dcterms:modified xsi:type="dcterms:W3CDTF">2026-07-20T19:45:11Z</dcterms:modified>
  <cp:category/>
</cp:coreProperties>
</file>