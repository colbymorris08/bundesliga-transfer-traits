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 dirty="0">
                <a:solidFill>
                  <a:srgbClr val="333333"/>
                </a:solidFill>
              </a:rPr>
              <a:t>Which traits travel into </a:t>
            </a:r>
            <a:r>
              <a:rPr lang="en-US" sz="1200" dirty="0">
                <a:solidFill>
                  <a:srgbClr val="333333"/>
                </a:solidFill>
              </a:rPr>
              <a:t>the German Bundesliga (BL) </a:t>
            </a:r>
            <a:r>
              <a:rPr sz="1200" b="0" dirty="0">
                <a:solidFill>
                  <a:srgbClr val="333333"/>
                </a:solidFill>
              </a:rPr>
              <a:t>— and which prior</a:t>
            </a:r>
            <a:r>
              <a:rPr lang="en-US" sz="1200" b="0" dirty="0">
                <a:solidFill>
                  <a:srgbClr val="333333"/>
                </a:solidFill>
              </a:rPr>
              <a:t> stats line </a:t>
            </a:r>
            <a:r>
              <a:rPr sz="1200" b="0" dirty="0">
                <a:solidFill>
                  <a:srgbClr val="333333"/>
                </a:solidFill>
              </a:rPr>
              <a:t>up with </a:t>
            </a:r>
            <a:r>
              <a:rPr lang="en-US" sz="1200" dirty="0">
                <a:solidFill>
                  <a:srgbClr val="333333"/>
                </a:solidFill>
              </a:rPr>
              <a:t>Year 1</a:t>
            </a:r>
            <a:r>
              <a:rPr sz="1200" b="0" dirty="0">
                <a:solidFill>
                  <a:srgbClr val="333333"/>
                </a:solidFill>
              </a:rPr>
              <a:t> </a:t>
            </a:r>
            <a:r>
              <a:rPr lang="en-US" sz="1200" b="0" dirty="0">
                <a:solidFill>
                  <a:srgbClr val="333333"/>
                </a:solidFill>
              </a:rPr>
              <a:t>(Y1) </a:t>
            </a:r>
            <a:r>
              <a:rPr sz="1200" b="0" dirty="0">
                <a:solidFill>
                  <a:srgbClr val="333333"/>
                </a:solidFill>
              </a:rPr>
              <a:t>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lang="en-US" sz="1200" b="0" dirty="0">
                <a:solidFill>
                  <a:srgbClr val="333333"/>
                </a:solidFill>
              </a:rPr>
              <a:t>Football Reference (</a:t>
            </a:r>
            <a:r>
              <a:rPr sz="1200" b="0" dirty="0" err="1">
                <a:solidFill>
                  <a:srgbClr val="333333"/>
                </a:solidFill>
              </a:rPr>
              <a:t>F</a:t>
            </a:r>
            <a:r>
              <a:rPr lang="en-US" sz="1200" b="0" dirty="0" err="1">
                <a:solidFill>
                  <a:srgbClr val="333333"/>
                </a:solidFill>
              </a:rPr>
              <a:t>b</a:t>
            </a:r>
            <a:r>
              <a:rPr sz="1200" b="0" dirty="0" err="1">
                <a:solidFill>
                  <a:srgbClr val="333333"/>
                </a:solidFill>
              </a:rPr>
              <a:t>ref</a:t>
            </a:r>
            <a:r>
              <a:rPr lang="en-US" sz="1200" b="0" dirty="0">
                <a:solidFill>
                  <a:srgbClr val="333333"/>
                </a:solidFill>
              </a:rPr>
              <a:t>)</a:t>
            </a:r>
            <a:r>
              <a:rPr sz="1200" b="0" dirty="0">
                <a:solidFill>
                  <a:srgbClr val="333333"/>
                </a:solidFill>
              </a:rPr>
              <a:t>: 19 leagues, first BL ≥2021, ≥300′.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BL Y1 per-90</a:t>
            </a:r>
            <a:r>
              <a:rPr lang="en-US" sz="1200" b="0" dirty="0">
                <a:solidFill>
                  <a:srgbClr val="333333"/>
                </a:solidFill>
              </a:rPr>
              <a:t> minutes</a:t>
            </a:r>
            <a:r>
              <a:rPr sz="1200" b="0" dirty="0">
                <a:solidFill>
                  <a:srgbClr val="333333"/>
                </a:solidFill>
              </a:rPr>
              <a:t>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category gates → 43/105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r≥0.40 → 7/16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 dirty="0">
                <a:solidFill>
                  <a:srgbClr val="333333"/>
                </a:solidFill>
              </a:rPr>
              <a:t>Drop </a:t>
            </a:r>
            <a:r>
              <a:rPr lang="en-US" sz="1200" b="0" dirty="0">
                <a:solidFill>
                  <a:srgbClr val="333333"/>
                </a:solidFill>
              </a:rPr>
              <a:t>near-duplicates</a:t>
            </a:r>
            <a:r>
              <a:rPr sz="1200" b="0" dirty="0">
                <a:solidFill>
                  <a:srgbClr val="333333"/>
                </a:solidFill>
              </a:rPr>
              <a:t>.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lang="en-US" sz="1200" b="0" dirty="0" err="1">
                <a:solidFill>
                  <a:srgbClr val="333333"/>
                </a:solidFill>
              </a:rPr>
              <a:t>Fbref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43→32 · SB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 dirty="0">
                <a:solidFill>
                  <a:srgbClr val="333333"/>
                </a:solidFill>
              </a:rPr>
              <a:t>Radars / pizzas on shortlist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 (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 dirty="0">
                <a:solidFill>
                  <a:srgbClr val="333333"/>
                </a:solidFill>
              </a:rPr>
              <a:t>Spearman: prior trait</a:t>
            </a:r>
            <a:r>
              <a:rPr lang="en-US" sz="1200" b="0" dirty="0">
                <a:solidFill>
                  <a:srgbClr val="333333"/>
                </a:solidFill>
              </a:rPr>
              <a:t> percentile</a:t>
            </a:r>
            <a:r>
              <a:rPr sz="1200" b="0" dirty="0">
                <a:solidFill>
                  <a:srgbClr val="333333"/>
                </a:solidFill>
              </a:rPr>
              <a:t> vs Y1 minutes; feeder</a:t>
            </a:r>
            <a:r>
              <a:rPr lang="en-US" sz="1200" b="0" dirty="0">
                <a:solidFill>
                  <a:srgbClr val="333333"/>
                </a:solidFill>
              </a:rPr>
              <a:t> league</a:t>
            </a:r>
            <a:r>
              <a:rPr sz="1200" b="0" dirty="0">
                <a:solidFill>
                  <a:srgbClr val="333333"/>
                </a:solidFill>
              </a:rPr>
              <a:t>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Compared to the project completed with Red Bull New York, </a:t>
            </a:r>
            <a:r>
              <a:rPr lang="en-US" sz="1300" i="1" dirty="0">
                <a:solidFill>
                  <a:srgbClr val="555555"/>
                </a:solidFill>
                <a:latin typeface="Calibri"/>
              </a:rPr>
              <a:t>the project 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defines the most portable traits for scouting leading to playing time in the Bundesliga year 1 post-transfer rather rather than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555555"/>
                </a:solidFill>
                <a:latin typeface="Calibri"/>
              </a:rPr>
              <a:t>Transfermarkt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value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. Scouts and teams will be able to answer the questions: ‘Which traits do we scout in outside leagues to best predict playing time? Which leagues provide the most reliable statistics to best predict results in the BL?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When a player moves into </a:t>
            </a:r>
            <a:r>
              <a:rPr lang="en-US" sz="1400" dirty="0">
                <a:solidFill>
                  <a:srgbClr val="333333"/>
                </a:solidFill>
                <a:latin typeface="Calibri"/>
              </a:rPr>
              <a:t>the top German league, the 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BL, which stats stay consistent — and which are league context?</a:t>
            </a:r>
            <a:r>
              <a:rPr lang="en-US" sz="1400" b="0" dirty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Aft>
                <a:spcPts val="500"/>
              </a:spcAft>
            </a:pPr>
            <a:r>
              <a:rPr lang="en-US" sz="1400" i="1" dirty="0">
                <a:solidFill>
                  <a:srgbClr val="333333"/>
                </a:solidFill>
                <a:latin typeface="Calibri"/>
              </a:rPr>
              <a:t>This applies only to player who entered the BL from a different league. AKA player transfers</a:t>
            </a:r>
            <a:endParaRPr sz="1400" b="0" i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scale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 dirty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metric 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depth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 dirty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Pearson r = stability · Spearman </a:t>
            </a:r>
            <a:r>
              <a:rPr sz="1200" b="0" dirty="0" err="1">
                <a:solidFill>
                  <a:srgbClr val="333333"/>
                </a:solidFill>
              </a:rPr>
              <a:t>ρ</a:t>
            </a:r>
            <a:r>
              <a:rPr sz="1200" b="0" dirty="0">
                <a:solidFill>
                  <a:srgbClr val="333333"/>
                </a:solidFill>
              </a:rPr>
              <a:t> = success (rank-based; robust when Y1 minutes are skewed) · redundancy · percentiles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lang="en-US" sz="1300" b="0" dirty="0">
                <a:solidFill>
                  <a:srgbClr val="333333"/>
                </a:solidFill>
              </a:rPr>
              <a:t>Outside league </a:t>
            </a:r>
            <a:r>
              <a:rPr sz="1300" b="0" dirty="0">
                <a:solidFill>
                  <a:srgbClr val="333333"/>
                </a:solidFill>
              </a:rPr>
              <a:t>tables + player-page fills</a:t>
            </a:r>
          </a:p>
          <a:p>
            <a:r>
              <a:rPr sz="1300" b="0" dirty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 dirty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 dirty="0">
                <a:solidFill>
                  <a:srgbClr val="333333"/>
                </a:solidFill>
              </a:rPr>
              <a:t>Absolute per-90 rates kept.</a:t>
            </a:r>
            <a:endParaRPr lang="en-US" sz="1300" b="0" dirty="0">
              <a:solidFill>
                <a:srgbClr val="333333"/>
              </a:solidFill>
            </a:endParaRPr>
          </a:p>
          <a:p>
            <a:endParaRPr lang="en-US" sz="1300" dirty="0">
              <a:solidFill>
                <a:srgbClr val="333333"/>
              </a:solidFill>
            </a:endParaRPr>
          </a:p>
          <a:p>
            <a:r>
              <a:rPr lang="en-US" sz="1300" dirty="0">
                <a:solidFill>
                  <a:srgbClr val="333333"/>
                </a:solidFill>
              </a:rPr>
              <a:t>Window · 2021–2025 · ≥300′ both sides · N=329</a:t>
            </a:r>
          </a:p>
          <a:p>
            <a:endParaRPr sz="13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 dirty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 dirty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vs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 dirty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relative scaling: failed on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; SB priors are mixed</a:t>
            </a:r>
          </a:p>
          <a:p>
            <a:r>
              <a:rPr sz="1300" b="0" dirty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Y1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Attacking / Passing / Other  ·  r ≥ 0.60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Defending / Carrying  ·  r ≥ 0.50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43 metrics pass gates → redundancy next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333333"/>
                </a:solidFill>
              </a:rPr>
              <a:t>XG (0.80)  ·  SHPER (0.79)  ·  SOTPE (0.77)  ·  GLS (0.66)</a:t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1083" y="2305341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Attacking (4)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1083" y="2811429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Passing (13)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1083" y="3049173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NPXGP (0.79)  ·  CMPME (0.73)  ·  TOTDI (0.72)  ·  PRGR (0.70)  ·  CRS (0.68)  ·  KP (0.65)  ·  CMPPE (0.64)  ·  XAG (0.64)  ·  FINAL (0.62)  ·  CMPPE (0.62)  ·  CMPPE (0.61)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1083" y="348808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Carrying (5)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1083" y="372582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(0.68)  ·  CPA (0.66)  ·  SUCC (0.65)  ·  PRGRR (0.60)  ·  ATT3R (0.54)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1083" y="4164741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Defending (6)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1083" y="4402485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DEF3R (0.79)  ·  SH (0.68)  ·  CLR (0.67)  ·  TKLD (0.59)  ·  INT (0.57)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1083" y="4841397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Other (4)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1083" y="507914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ATTLO (0.79)  ·  GPLUS (0.70)  ·  FK (0.70)  ·  ATT (0.65)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292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551680"/>
              </p:ext>
            </p:extLst>
          </p:nvPr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shown). StatsBomb N=96 — intl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333333"/>
                </a:solidFill>
                <a:latin typeface="Georgia"/>
              </a:rPr>
              <a:t>Descriptive “best feeder</a:t>
            </a:r>
            <a:r>
              <a:rPr lang="en-US" b="0" dirty="0">
                <a:solidFill>
                  <a:srgbClr val="333333"/>
                </a:solidFill>
                <a:latin typeface="Georgia"/>
              </a:rPr>
              <a:t> league</a:t>
            </a:r>
            <a:r>
              <a:rPr b="0" dirty="0">
                <a:solidFill>
                  <a:srgbClr val="333333"/>
                </a:solidFill>
                <a:latin typeface="Georgia"/>
              </a:rPr>
              <a:t>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Model 1</a:t>
            </a:r>
            <a:r>
              <a:rPr lang="en-US" dirty="0"/>
              <a:t> — league only (with basic controls)</a:t>
            </a:r>
            <a:br>
              <a:rPr lang="en-US" dirty="0"/>
            </a:br>
            <a:r>
              <a:rPr lang="en-US" dirty="0"/>
              <a:t>Predict Y1 minutes from:</a:t>
            </a:r>
          </a:p>
          <a:p>
            <a:r>
              <a:rPr lang="en-US" dirty="0"/>
              <a:t>prior league (PL / La Liga / Ligue 1 vs Serie A)</a:t>
            </a:r>
          </a:p>
          <a:p>
            <a:r>
              <a:rPr lang="en-US" dirty="0"/>
              <a:t>How many minutes they played before.</a:t>
            </a:r>
          </a:p>
          <a:p>
            <a:r>
              <a:rPr lang="en-US" i="1" dirty="0"/>
              <a:t>Question:</a:t>
            </a:r>
            <a:r>
              <a:rPr lang="en-US" dirty="0"/>
              <a:t> After that, does league still matter?</a:t>
            </a:r>
          </a:p>
          <a:p>
            <a:r>
              <a:rPr lang="en-US" b="1" dirty="0"/>
              <a:t>Model 2</a:t>
            </a:r>
            <a:r>
              <a:rPr lang="en-US" dirty="0"/>
              <a:t> — league + traits</a:t>
            </a:r>
            <a:br>
              <a:rPr lang="en-US" dirty="0"/>
            </a:br>
            <a:r>
              <a:rPr lang="en-US" dirty="0"/>
              <a:t>Same as M1, plus prior trait percentiles (Final Third, box touches, etc.).</a:t>
            </a:r>
          </a:p>
          <a:p>
            <a:r>
              <a:rPr lang="en-US" i="1" dirty="0"/>
              <a:t>Question:</a:t>
            </a:r>
            <a:r>
              <a:rPr lang="en-US" dirty="0"/>
              <a:t> Once you know their prior profile, do league gaps shrink? </a:t>
            </a:r>
          </a:p>
          <a:p>
            <a:r>
              <a:rPr lang="en-US" b="1" dirty="0"/>
              <a:t>Model 3</a:t>
            </a:r>
            <a:r>
              <a:rPr lang="en-US" dirty="0"/>
              <a:t> — reality check</a:t>
            </a:r>
            <a:br>
              <a:rPr lang="en-US" dirty="0"/>
            </a:br>
            <a:r>
              <a:rPr lang="en-US" dirty="0"/>
              <a:t>Fit on 80% of players, see if predictions match the other 20%.</a:t>
            </a:r>
          </a:p>
          <a:p>
            <a:r>
              <a:rPr lang="en-US" i="1" dirty="0"/>
              <a:t>Question:</a:t>
            </a:r>
            <a:r>
              <a:rPr lang="en-US" dirty="0"/>
              <a:t> Is this just memorizing the sample?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3333"/>
                </a:solidFill>
              </a:rPr>
              <a:t>M1 R²=0.086 → M2 R²=0.215 when traits added · M3 holdout r=0.35 (exploratory)
Left table = M1 league gaps · Right table = M2 trait effects · M3 = holdout r only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M3</a:t>
            </a:r>
            <a:r>
              <a:rPr lang="en-US" sz="1200" b="1" dirty="0">
                <a:solidFill>
                  <a:srgbClr val="333333"/>
                </a:solidFill>
              </a:rPr>
              <a:t>: </a:t>
            </a:r>
            <a:r>
              <a:rPr lang="en-US" sz="1200" b="1" dirty="0"/>
              <a:t>r ≈ 0.35 </a:t>
            </a:r>
            <a:r>
              <a:rPr lang="en-US" sz="1200" dirty="0"/>
              <a:t>means: on the 20% of players left out, predicted Y1 minutes lined up with actual minutes only moderately</a:t>
            </a:r>
            <a:endParaRPr sz="1200" dirty="0">
              <a:solidFill>
                <a:srgbClr val="555555"/>
              </a:solidFill>
              <a:latin typeface="Georg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1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+163 min vs Serie A (p≈0.38) — not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Why p-values stay modest</a:t>
            </a:r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What hardened the sample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prior/Y1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best/most-stable metrics: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league gaps are modest; exploratory OLS (N=117) — traits matter more than the league label or league strength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metrics that travel from league to league.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(discussed in next slide)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Top indicator in a full club model: change in market value (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M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NYRB Axis-3 used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Market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; this project uses open data only —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disallows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scraping</a:t>
            </a:r>
            <a:endParaRPr sz="1400" dirty="0">
              <a:solidFill>
                <a:srgbClr val="1C1C1C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Natural extension: prior traits →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MV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800" b="1" dirty="0">
                <a:solidFill>
                  <a:srgbClr val="3D5A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  <a:p>
            <a:pPr>
              <a:spcAft>
                <a:spcPts val="400"/>
              </a:spcAft>
            </a:pPr>
            <a:endParaRPr sz="2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1 · Cohort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of players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minute floors) · 2 · Stability · 3 · Redundancy · 4 · Explorer + success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		Repo: 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Deck · </a:t>
            </a:r>
            <a:r>
              <a:rPr lang="en-US" sz="1600" b="1" i="1">
                <a:latin typeface="Arial" panose="020B0604020202020204" pitchFamily="34" charset="0"/>
                <a:cs typeface="Arial" panose="020B0604020202020204" pitchFamily="34" charset="0"/>
              </a:rPr>
              <a:t>README.md </a:t>
            </a:r>
            <a:r>
              <a:rPr lang="en-US" sz="1600" b="1" i="1" dirty="0"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interactive_player_explorer.html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stability_redundancy_inspector.html</a:t>
            </a:r>
            <a:endParaRPr sz="1600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projectproposal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sz="1600" b="0" dirty="0"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Stability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Gates: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FBref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/Pass/Other ≥0.60 · Def/Carry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≥0.50 · SB r≥0.40 · shortlist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of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32 / 7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3010</TotalTime>
  <Words>3358</Words>
  <Application>Microsoft Macintosh PowerPoint</Application>
  <PresentationFormat>Widescreen</PresentationFormat>
  <Paragraphs>632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15</cp:revision>
  <dcterms:created xsi:type="dcterms:W3CDTF">2013-01-27T09:14:16Z</dcterms:created>
  <dcterms:modified xsi:type="dcterms:W3CDTF">2026-07-20T19:57:32Z</dcterms:modified>
  <cp:category/>
</cp:coreProperties>
</file>