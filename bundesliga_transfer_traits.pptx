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3" r:id="rId3"/>
    <p:sldId id="257" r:id="rId4"/>
    <p:sldId id="285" r:id="rId5"/>
    <p:sldId id="268" r:id="rId6"/>
    <p:sldId id="281" r:id="rId7"/>
    <p:sldId id="282" r:id="rId8"/>
    <p:sldId id="260" r:id="rId9"/>
    <p:sldId id="259" r:id="rId10"/>
    <p:sldId id="261" r:id="rId11"/>
    <p:sldId id="263" r:id="rId12"/>
    <p:sldId id="267" r:id="rId13"/>
    <p:sldId id="264" r:id="rId14"/>
    <p:sldId id="269" r:id="rId15"/>
    <p:sldId id="276" r:id="rId16"/>
    <p:sldId id="270" r:id="rId17"/>
    <p:sldId id="271" r:id="rId18"/>
    <p:sldId id="274" r:id="rId19"/>
    <p:sldId id="275" r:id="rId20"/>
    <p:sldId id="280" r:id="rId21"/>
    <p:sldId id="278" r:id="rId22"/>
    <p:sldId id="277" r:id="rId23"/>
    <p:sldId id="284" r:id="rId24"/>
    <p:sldId id="279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891"/>
    <p:restoredTop sz="94697"/>
  </p:normalViewPr>
  <p:slideViewPr>
    <p:cSldViewPr snapToGrid="0" snapToObjects="1">
      <p:cViewPr varScale="1">
        <p:scale>
          <a:sx n="108" d="100"/>
          <a:sy n="108" d="100"/>
        </p:scale>
        <p:origin x="352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rgbClr val="555555"/>
                </a:solidFill>
              </a:rPr>
              <a:t>COLBY MORRIS  · 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BERKELEY</a:t>
            </a:r>
            <a:r>
              <a:rPr lang="en-US" sz="1200" b="0" dirty="0">
                <a:solidFill>
                  <a:srgbClr val="555555"/>
                </a:solidFill>
                <a:latin typeface="Calibri"/>
              </a:rPr>
              <a:t> HAAS</a:t>
            </a:r>
            <a:r>
              <a:rPr sz="1200" b="0" dirty="0">
                <a:solidFill>
                  <a:srgbClr val="555555"/>
                </a:solidFill>
                <a:latin typeface="Calibri"/>
              </a:rPr>
              <a:t>  ·  INDEPENDENT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</a:rPr>
              <a:t>Which traits most accurately travel into the Bundesliga (Germany’s top men’s soccer league) from other professional soccer leagues?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5156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Football Reference + StatsBomb data sources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*Based on framework used in data science internship with Red Bull New York transfer-market evaluation*</a:t>
            </a:r>
          </a:p>
        </p:txBody>
      </p:sp>
      <p:pic>
        <p:nvPicPr>
          <p:cNvPr id="6" name="Picture 5" descr="feeder_to_bundesliga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000" y="3950000"/>
            <a:ext cx="11500000" cy="3162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3D5A80"/>
                </a:solidFill>
                <a:latin typeface="Calibri"/>
              </a:rPr>
              <a:t>PROJECT STEPS  · 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556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</a:rPr>
              <a:t>Flow: research question → collect data (Football Reference + StatsBomb) → keep traits that stay consistent after the move → drop near-duplicate traits → interactive player charts → test which prior traits and leagues line up with more first-season Bundesliga minutes</a:t>
            </a:r>
          </a:p>
        </p:txBody>
      </p:sp>
      <p:sp>
        <p:nvSpPr>
          <p:cNvPr id="5" name="Oval 4"/>
          <p:cNvSpPr/>
          <p:nvPr/>
        </p:nvSpPr>
        <p:spPr>
          <a:xfrm>
            <a:off x="411480" y="1207008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1170432"/>
            <a:ext cx="5029200" cy="671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Question</a:t>
            </a:r>
          </a:p>
          <a:p>
            <a:r>
              <a:rPr sz="1200" b="0">
                <a:solidFill>
                  <a:srgbClr val="333333"/>
                </a:solidFill>
              </a:rPr>
              <a:t>Which traits travel into the Bundesliga (Germany’s top men’s soccer league) — and which prior stats line up with more minutes in a player’s first Bundesliga season?</a:t>
            </a:r>
          </a:p>
        </p:txBody>
      </p:sp>
      <p:sp>
        <p:nvSpPr>
          <p:cNvPr id="7" name="Oval 6"/>
          <p:cNvSpPr/>
          <p:nvPr/>
        </p:nvSpPr>
        <p:spPr>
          <a:xfrm>
            <a:off x="411480" y="2110245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" y="2090283"/>
            <a:ext cx="5029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 dirty="0">
                <a:solidFill>
                  <a:srgbClr val="333333"/>
                </a:solidFill>
              </a:rPr>
              <a:t>Collect data from two sources</a:t>
            </a:r>
          </a:p>
          <a:p>
            <a:r>
              <a:rPr sz="1100" b="0" dirty="0">
                <a:solidFill>
                  <a:srgbClr val="333333"/>
                </a:solidFill>
              </a:rPr>
              <a:t>Football Reference (</a:t>
            </a:r>
            <a:r>
              <a:rPr sz="1100" b="0" dirty="0" err="1">
                <a:solidFill>
                  <a:srgbClr val="333333"/>
                </a:solidFill>
              </a:rPr>
              <a:t>FBref</a:t>
            </a:r>
            <a:r>
              <a:rPr sz="1100" b="0" dirty="0">
                <a:solidFill>
                  <a:srgbClr val="333333"/>
                </a:solidFill>
              </a:rPr>
              <a:t>): 19 leagues; first Bundesliga season in 2021–2025; prior season and first Bundesliga season each ≥300 minutes.</a:t>
            </a:r>
          </a:p>
          <a:p>
            <a:r>
              <a:rPr sz="1100" b="0" dirty="0" err="1">
                <a:solidFill>
                  <a:srgbClr val="333333"/>
                </a:solidFill>
              </a:rPr>
              <a:t>StatsBomb</a:t>
            </a:r>
            <a:r>
              <a:rPr sz="1100" b="0" dirty="0">
                <a:solidFill>
                  <a:srgbClr val="333333"/>
                </a:solidFill>
              </a:rPr>
              <a:t>: 17 competitions; Bundesliga match files for 2015/16 and 2023/24; prior ≥45 minutes / first Bundesliga season ≥30 minutes.</a:t>
            </a:r>
          </a:p>
        </p:txBody>
      </p:sp>
      <p:sp>
        <p:nvSpPr>
          <p:cNvPr id="9" name="Oval 8"/>
          <p:cNvSpPr/>
          <p:nvPr/>
        </p:nvSpPr>
        <p:spPr>
          <a:xfrm>
            <a:off x="411480" y="3463831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3100358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 dirty="0">
                <a:solidFill>
                  <a:srgbClr val="333333"/>
                </a:solidFill>
              </a:rPr>
              <a:t>Consistency check (“stability”)</a:t>
            </a:r>
          </a:p>
          <a:p>
            <a:r>
              <a:rPr sz="1100" b="0" dirty="0">
                <a:solidFill>
                  <a:srgbClr val="333333"/>
                </a:solidFill>
              </a:rPr>
              <a:t>For each per-90-minute rate, correlate the prior-league season with the first Bundesliga season. Keep traits that clear a minimum correlation (“travel”). Traits that miss the cutoff are treated as non-traveling (do not clear the consistency floor) and listed in the inspector, not on the final shortlist.</a:t>
            </a:r>
          </a:p>
        </p:txBody>
      </p:sp>
      <p:sp>
        <p:nvSpPr>
          <p:cNvPr id="11" name="Oval 10"/>
          <p:cNvSpPr/>
          <p:nvPr/>
        </p:nvSpPr>
        <p:spPr>
          <a:xfrm>
            <a:off x="411480" y="4142349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dirty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" y="4176312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 dirty="0">
                <a:solidFill>
                  <a:srgbClr val="333333"/>
                </a:solidFill>
              </a:rPr>
              <a:t>Choose cutoffs</a:t>
            </a:r>
          </a:p>
          <a:p>
            <a:r>
              <a:rPr sz="1100" b="0" dirty="0">
                <a:solidFill>
                  <a:srgbClr val="333333"/>
                </a:solidFill>
              </a:rPr>
              <a:t>Football Reference category cutoffs → 43 of 105 metrics met the consistency floor. </a:t>
            </a:r>
            <a:r>
              <a:rPr sz="1100" b="0" dirty="0" err="1">
                <a:solidFill>
                  <a:srgbClr val="333333"/>
                </a:solidFill>
              </a:rPr>
              <a:t>StatsBomb</a:t>
            </a:r>
            <a:r>
              <a:rPr sz="1100" b="0" dirty="0">
                <a:solidFill>
                  <a:srgbClr val="333333"/>
                </a:solidFill>
              </a:rPr>
              <a:t> Pearson r ≥ 0.40 → 7 of 16.</a:t>
            </a:r>
          </a:p>
        </p:txBody>
      </p:sp>
      <p:sp>
        <p:nvSpPr>
          <p:cNvPr id="13" name="Oval 12"/>
          <p:cNvSpPr/>
          <p:nvPr/>
        </p:nvSpPr>
        <p:spPr>
          <a:xfrm>
            <a:off x="5989320" y="1207008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1170432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</a:rPr>
              <a:t>Drop near-duplicates</a:t>
            </a:r>
          </a:p>
          <a:p>
            <a:r>
              <a:rPr sz="1100" b="0">
                <a:solidFill>
                  <a:srgbClr val="333333"/>
                </a:solidFill>
              </a:rPr>
              <a:t>Remove traits that almost always move together (same information twice). Football Reference 43→32 · StatsBomb keep all 7.</a:t>
            </a:r>
          </a:p>
        </p:txBody>
      </p:sp>
      <p:sp>
        <p:nvSpPr>
          <p:cNvPr id="15" name="Oval 14"/>
          <p:cNvSpPr/>
          <p:nvPr/>
        </p:nvSpPr>
        <p:spPr>
          <a:xfrm>
            <a:off x="5989320" y="1920240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9944" y="1883664"/>
            <a:ext cx="5029200" cy="487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</a:rPr>
              <a:t>Player charts</a:t>
            </a:r>
          </a:p>
          <a:p>
            <a:r>
              <a:rPr sz="1100" b="0">
                <a:solidFill>
                  <a:srgbClr val="333333"/>
                </a:solidFill>
              </a:rPr>
              <a:t>Category radar charts on the shortlisted traits (interactive_player_explorer.html).</a:t>
            </a:r>
          </a:p>
        </p:txBody>
      </p:sp>
      <p:sp>
        <p:nvSpPr>
          <p:cNvPr id="17" name="Oval 16"/>
          <p:cNvSpPr/>
          <p:nvPr/>
        </p:nvSpPr>
        <p:spPr>
          <a:xfrm>
            <a:off x="5989320" y="2633472"/>
            <a:ext cx="329184" cy="329184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2596896"/>
            <a:ext cx="5029200" cy="671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</a:rPr>
              <a:t>Success tests</a:t>
            </a:r>
          </a:p>
          <a:p>
            <a:r>
              <a:rPr sz="1100" b="0">
                <a:solidFill>
                  <a:srgbClr val="333333"/>
                </a:solidFill>
              </a:rPr>
              <a:t>Spearman rank correlation: prior trait percentile vs first-season Bundesliga minutes; averages by prior league; exploratory ordinary least squares (OLS) regression.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5469259-8206-2172-4E02-B549B0A1904C}"/>
              </a:ext>
            </a:extLst>
          </p:cNvPr>
          <p:cNvSpPr txBox="1"/>
          <p:nvPr/>
        </p:nvSpPr>
        <p:spPr>
          <a:xfrm>
            <a:off x="455419" y="5133214"/>
            <a:ext cx="10515600" cy="692497"/>
          </a:xfrm>
          <a:prstGeom prst="rect">
            <a:avLst/>
          </a:prstGeom>
          <a:solidFill>
            <a:schemeClr val="bg1">
              <a:lumMod val="75000"/>
            </a:schemeClr>
          </a:solidFill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dirty="0">
                <a:solidFill>
                  <a:srgbClr val="333333"/>
                </a:solidFill>
              </a:rPr>
              <a:t>Compared with the New York Red Bulls project: here we define which traits stay consistent after a move and which prior rates line up with more first-season Bundesliga minutes — not </a:t>
            </a:r>
            <a:r>
              <a:rPr sz="1200" b="0" dirty="0" err="1">
                <a:solidFill>
                  <a:srgbClr val="333333"/>
                </a:solidFill>
              </a:rPr>
              <a:t>Transfermarkt</a:t>
            </a:r>
            <a:r>
              <a:rPr sz="1200" b="0" dirty="0">
                <a:solidFill>
                  <a:srgbClr val="333333"/>
                </a:solidFill>
              </a:rPr>
              <a:t> market value. Analysts can ask which outside-league rates best relate to playing time once a player arrives.</a:t>
            </a:r>
            <a:endParaRPr sz="1300" b="0" i="1" dirty="0">
              <a:solidFill>
                <a:srgbClr val="555555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1 ·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C1C1C"/>
                </a:solidFill>
                <a:latin typeface="Georgia"/>
              </a:rPr>
              <a:t>Research Question</a:t>
            </a:r>
            <a:endParaRPr sz="26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02920" y="1097280"/>
            <a:ext cx="548640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097280"/>
            <a:ext cx="73152" cy="15544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04088" y="1207007"/>
            <a:ext cx="5166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1C1C"/>
                </a:solidFill>
                <a:latin typeface="Georgia"/>
              </a:rPr>
              <a:t>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1536192"/>
            <a:ext cx="5120640" cy="10182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</a:rPr>
              <a:t>When a player moves into the top German league, the Bundesliga, which stats stay consistent — and which are league context?</a:t>
            </a:r>
          </a:p>
          <a:p>
            <a:r>
              <a:rPr sz="1300" b="0">
                <a:solidFill>
                  <a:srgbClr val="333333"/>
                </a:solidFill>
              </a:rPr>
              <a:t>This applies only to players who entered the Bundesliga from a different league (transfers / promotions).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097280"/>
            <a:ext cx="5440680" cy="15544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172200" y="1097280"/>
            <a:ext cx="73152" cy="155448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3368" y="1207007"/>
            <a:ext cx="5120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</a:rPr>
              <a:t>Difference from New York Red Bulls Project: Not market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3368" y="1536192"/>
            <a:ext cx="5074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 b="0">
                <a:solidFill>
                  <a:srgbClr val="333333"/>
                </a:solidFill>
              </a:rPr>
              <a:t>We do not optimize Transfermarkt price. We shortlist performance traits that stay consistent after the move into the Bundesliga.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880360"/>
            <a:ext cx="11109960" cy="777240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3063240"/>
            <a:ext cx="106984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</a:rPr>
              <a:t>Consistency check → drop near-duplicates → radar charts / explorer → success tests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550000"/>
            <a:ext cx="5486400" cy="1991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2920" y="4550000"/>
            <a:ext cx="73152" cy="19918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04088" y="4550000"/>
            <a:ext cx="5166360" cy="91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Football Reference = larger sample, season-rate metrics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200" b="0">
                <a:solidFill>
                  <a:srgbClr val="333333"/>
                </a:solidFill>
              </a:rPr>
              <a:t>19 leagues · first Bundesliga season 2021–2025 · ≥300 minutes each side</a:t>
            </a:r>
          </a:p>
          <a:p>
            <a:r>
              <a:rPr sz="1200" b="0">
                <a:solidFill>
                  <a:srgbClr val="333333"/>
                </a:solidFill>
              </a:rPr>
              <a:t>N=329 player pairs</a:t>
            </a:r>
          </a:p>
          <a:p>
            <a:r>
              <a:rPr sz="1200" b="0">
                <a:solidFill>
                  <a:srgbClr val="333333"/>
                </a:solidFill>
              </a:rPr>
              <a:t>105 metrics tested → 43 met consistency floor → 32 left after dropping near-duplicates</a:t>
            </a:r>
          </a:p>
          <a:p>
            <a:r>
              <a:rPr sz="1200" b="0">
                <a:solidFill>
                  <a:srgbClr val="333333"/>
                </a:solidFill>
              </a:rPr>
              <a:t>Attacking / Passing / Other: Pearson r ≥ 0.60</a:t>
            </a:r>
          </a:p>
          <a:p>
            <a:r>
              <a:rPr sz="1200" b="0">
                <a:solidFill>
                  <a:srgbClr val="333333"/>
                </a:solidFill>
              </a:rPr>
              <a:t>Defending / Carrying: Pearson r ≥ 0.50 (slightly lower so enough defensive metrics remain)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4550000"/>
            <a:ext cx="5440680" cy="1991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72200" y="4550000"/>
            <a:ext cx="73152" cy="1991800"/>
          </a:xfrm>
          <a:prstGeom prst="rect">
            <a:avLst/>
          </a:prstGeom>
          <a:solidFill>
            <a:srgbClr val="2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73368" y="4550000"/>
            <a:ext cx="5120640" cy="931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StatsBomb = deeper event metrics, smaller sample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200" b="0">
                <a:solidFill>
                  <a:srgbClr val="333333"/>
                </a:solidFill>
              </a:rPr>
              <a:t>N=96 · prior ≥45 minutes / first Bundesliga season ≥30 minutes</a:t>
            </a:r>
          </a:p>
          <a:p>
            <a:r>
              <a:rPr sz="1200" b="0">
                <a:solidFill>
                  <a:srgbClr val="333333"/>
                </a:solidFill>
              </a:rPr>
              <a:t>Pearson r ≥ 0.40 → 7 of 16 · near-duplicate cutoff |r| ≥ 0.85 (all 7 kept)</a:t>
            </a:r>
          </a:p>
          <a:p>
            <a:r>
              <a:rPr sz="1200" b="0">
                <a:solidFill>
                  <a:srgbClr val="333333"/>
                </a:solidFill>
              </a:rPr>
              <a:t>Prior competitions: 17 · Bundesliga files: 2015/16 + 2023/24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20D9A-CA05-B390-A111-8EF555C174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3FFF173-1B67-703E-F4CF-543D51E90C88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C5A663-8ACF-1B45-0C3E-B03A46755894}"/>
              </a:ext>
            </a:extLst>
          </p:cNvPr>
          <p:cNvSpPr txBox="1"/>
          <p:nvPr/>
        </p:nvSpPr>
        <p:spPr>
          <a:xfrm>
            <a:off x="502920" y="27432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1 · DESIGN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24C91A-B18B-A00B-0A82-7B6740FD3FAC}"/>
              </a:ext>
            </a:extLst>
          </p:cNvPr>
          <p:cNvSpPr txBox="1"/>
          <p:nvPr/>
        </p:nvSpPr>
        <p:spPr>
          <a:xfrm>
            <a:off x="502920" y="548640"/>
            <a:ext cx="10972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C1C1C"/>
                </a:solidFill>
                <a:latin typeface="Georgia"/>
              </a:rPr>
              <a:t>GENERAL OVERVIEW</a:t>
            </a:r>
            <a:endParaRPr sz="2600" b="1" dirty="0">
              <a:solidFill>
                <a:srgbClr val="1C1C1C"/>
              </a:solidFill>
              <a:latin typeface="Georgia"/>
            </a:endParaRPr>
          </a:p>
        </p:txBody>
      </p:sp>
      <p:pic>
        <p:nvPicPr>
          <p:cNvPr id="22" name="Picture 21" descr="feeder_to_bundesliga_design.png">
            <a:extLst>
              <a:ext uri="{FF2B5EF4-FFF2-40B4-BE49-F238E27FC236}">
                <a16:creationId xmlns:a16="http://schemas.microsoft.com/office/drawing/2014/main" id="{E3B9D340-9236-584D-9CBF-1C4383A045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704" y="1508167"/>
            <a:ext cx="10484591" cy="4718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86276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20116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3D5A80"/>
                </a:solidFill>
                <a:latin typeface="Calibri"/>
              </a:rPr>
              <a:t>METHODOLOGY  ·  WHAT THIS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70597"/>
            <a:ext cx="10972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D5A80"/>
                </a:solidFill>
              </a:rPr>
              <a:t>Metric evaluation for transfers into the Bundesliga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971994"/>
            <a:ext cx="11064240" cy="1774165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097280"/>
            <a:ext cx="10789920" cy="528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Applied sports analytics / metric selection (same broad framework as a New York Red Bulls internship project).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Pearson r = consistency (“stability”): does a player’s ranking on a rate in the prior league tend to show up again in the first Bundesliga season?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Success = more minutes in the first Bundesliga season (playing time), not goals or market value. Spearman ρ asks whether higher prior trait ranks line up with more first-season minutes.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Near-duplicates = traits that move together; we keep one. Percentiles = rank versus Bundesliga players at a similar position (0–100).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844014"/>
            <a:ext cx="36576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2844014"/>
            <a:ext cx="73152" cy="2331720"/>
          </a:xfrm>
          <a:prstGeom prst="rect">
            <a:avLst/>
          </a:prstGeom>
          <a:solidFill>
            <a:srgbClr val="1B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953742"/>
            <a:ext cx="3337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Measurables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40080" y="3282926"/>
            <a:ext cx="3291840" cy="9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Trait consistency — prior season ↔ first Bundesliga season (Pearson r)</a:t>
            </a:r>
          </a:p>
          <a:p>
            <a:r>
              <a:rPr sz="1200" b="0">
                <a:solidFill>
                  <a:srgbClr val="333333"/>
                </a:solidFill>
              </a:rPr>
              <a:t>Near-duplicates removed — Football Reference |r| ≥ 0.95 · StatsBomb |r| ≥ 0.85</a:t>
            </a:r>
          </a:p>
          <a:p>
            <a:r>
              <a:rPr sz="1200" b="0">
                <a:solidFill>
                  <a:srgbClr val="333333"/>
                </a:solidFill>
              </a:rPr>
              <a:t>First-season profile strength — stable-trait score (average percentile on kept traits)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844014"/>
            <a:ext cx="365760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2844014"/>
            <a:ext cx="73152" cy="233172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80560" y="2953742"/>
            <a:ext cx="3337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Disclaimer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480560" y="3282926"/>
            <a:ext cx="3291840" cy="14362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dirty="0">
                <a:solidFill>
                  <a:srgbClr val="333333"/>
                </a:solidFill>
              </a:rPr>
              <a:t>Not a production forecast of goals, minutes, or “success.”</a:t>
            </a:r>
          </a:p>
          <a:p>
            <a:r>
              <a:rPr sz="1200" b="0" dirty="0">
                <a:solidFill>
                  <a:srgbClr val="333333"/>
                </a:solidFill>
              </a:rPr>
              <a:t>Consistency ≠ “this player will succeed” — it means the ranking tends to travel</a:t>
            </a:r>
            <a:r>
              <a:rPr lang="en-US" sz="1200" b="0" dirty="0">
                <a:solidFill>
                  <a:srgbClr val="333333"/>
                </a:solidFill>
              </a:rPr>
              <a:t> from one league to the Bundesliga</a:t>
            </a:r>
            <a:r>
              <a:rPr sz="1200" b="0" dirty="0">
                <a:solidFill>
                  <a:srgbClr val="333333"/>
                </a:solidFill>
              </a:rPr>
              <a:t>.</a:t>
            </a:r>
          </a:p>
          <a:p>
            <a:r>
              <a:rPr sz="1200" b="0" dirty="0">
                <a:solidFill>
                  <a:srgbClr val="333333"/>
                </a:solidFill>
              </a:rPr>
              <a:t>OLS is exploratory (Big Five European leagues subset, N=117), not club-grade validation.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844014"/>
            <a:ext cx="3566160" cy="233172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38160" y="2844014"/>
            <a:ext cx="73152" cy="233172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1040" y="2953742"/>
            <a:ext cx="32461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1600" b="1" dirty="0">
                <a:solidFill>
                  <a:srgbClr val="222222"/>
                </a:solidFill>
              </a:rPr>
              <a:t>Data science methods</a:t>
            </a:r>
            <a:endParaRPr sz="1600" b="1" dirty="0">
              <a:solidFill>
                <a:srgbClr val="222222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21040" y="3282926"/>
            <a:ext cx="3200400" cy="17830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33333"/>
                </a:solidFill>
              </a:rPr>
              <a:t>Cohort design + data joins</a:t>
            </a:r>
          </a:p>
          <a:p>
            <a:r>
              <a:rPr sz="1200" b="0">
                <a:solidFill>
                  <a:srgbClr val="333333"/>
                </a:solidFill>
              </a:rPr>
              <a:t>Correlation / feature screening</a:t>
            </a:r>
          </a:p>
          <a:p>
            <a:r>
              <a:rPr sz="1200" b="0">
                <a:solidFill>
                  <a:srgbClr val="333333"/>
                </a:solidFill>
              </a:rPr>
              <a:t>Near-duplicate pruning</a:t>
            </a:r>
          </a:p>
          <a:p>
            <a:r>
              <a:rPr sz="1200" b="0">
                <a:solidFill>
                  <a:srgbClr val="333333"/>
                </a:solidFill>
              </a:rPr>
              <a:t>Peer percentiles + interactive explorer</a:t>
            </a:r>
          </a:p>
          <a:p>
            <a:r>
              <a:rPr sz="1200" b="0">
                <a:solidFill>
                  <a:srgbClr val="333333"/>
                </a:solidFill>
              </a:rPr>
              <a:t>Analyst review of the shortlist after the automated filters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3D5A80"/>
                </a:solidFill>
              </a:rPr>
              <a:t>DATA  ·  FOOTBALL REFERENCE (Primary Source)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3D5A80"/>
                </a:solidFill>
              </a:rPr>
              <a:t>Scale layer — prior leagues → Bundesliga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8876714" cy="1964640"/>
          </a:xfrm>
          <a:prstGeom prst="rect">
            <a:avLst/>
          </a:prstGeom>
          <a:solidFill>
            <a:schemeClr val="bg1">
              <a:lumMod val="75000"/>
            </a:schemeClr>
          </a:solidFill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 dirty="0">
                <a:solidFill>
                  <a:srgbClr val="333333"/>
                </a:solidFill>
              </a:rPr>
              <a:t>What we use</a:t>
            </a:r>
          </a:p>
          <a:p>
            <a:endParaRPr sz="1200" b="0" dirty="0">
              <a:solidFill>
                <a:srgbClr val="333333"/>
              </a:solidFill>
            </a:endParaRPr>
          </a:p>
          <a:p>
            <a:r>
              <a:rPr sz="1200" b="0" dirty="0">
                <a:solidFill>
                  <a:srgbClr val="333333"/>
                </a:solidFill>
              </a:rPr>
              <a:t>Season tables from leagues outside the Bundesliga, plus player-page fills when needed</a:t>
            </a:r>
          </a:p>
          <a:p>
            <a:r>
              <a:rPr sz="1200" b="0" dirty="0">
                <a:solidFill>
                  <a:srgbClr val="333333"/>
                </a:solidFill>
              </a:rPr>
              <a:t>Analysis window: first Bundesliga seasons ending 2021–2025</a:t>
            </a:r>
          </a:p>
          <a:p>
            <a:r>
              <a:rPr sz="1200" b="0" dirty="0">
                <a:solidFill>
                  <a:srgbClr val="333333"/>
                </a:solidFill>
              </a:rPr>
              <a:t>Minutes: prior season ≥300′ and first Bundesliga season ≥300′ → N=329 pairs · 19 leagues</a:t>
            </a:r>
          </a:p>
          <a:p>
            <a:endParaRPr sz="1200" b="0" dirty="0">
              <a:solidFill>
                <a:srgbClr val="333333"/>
              </a:solidFill>
            </a:endParaRPr>
          </a:p>
          <a:p>
            <a:r>
              <a:rPr sz="1200" b="0" dirty="0">
                <a:solidFill>
                  <a:srgbClr val="333333"/>
                </a:solidFill>
              </a:rPr>
              <a:t>League-relative scaling (mentioned once): we tried scoring each rate as “how high vs peers in the same prior league” (z-score / percentile). It did not improve </a:t>
            </a:r>
            <a:r>
              <a:rPr sz="1200" b="0" dirty="0" err="1">
                <a:solidFill>
                  <a:srgbClr val="333333"/>
                </a:solidFill>
              </a:rPr>
              <a:t>prior→first-season</a:t>
            </a:r>
            <a:r>
              <a:rPr sz="1200" b="0" dirty="0">
                <a:solidFill>
                  <a:srgbClr val="333333"/>
                </a:solidFill>
              </a:rPr>
              <a:t> consistency, so we keep absolute per-90-minute rates everywhere.</a:t>
            </a:r>
          </a:p>
          <a:p>
            <a:endParaRPr sz="1200" b="0" dirty="0">
              <a:solidFill>
                <a:srgbClr val="333333"/>
              </a:solidFill>
            </a:endParaRPr>
          </a:p>
          <a:p>
            <a:r>
              <a:rPr lang="en-US" sz="1200" b="0" dirty="0">
                <a:solidFill>
                  <a:srgbClr val="333333"/>
                </a:solidFill>
              </a:rPr>
              <a:t>Time </a:t>
            </a:r>
            <a:r>
              <a:rPr sz="1200" b="0" dirty="0">
                <a:solidFill>
                  <a:srgbClr val="333333"/>
                </a:solidFill>
              </a:rPr>
              <a:t>Window · 2021–2025 · ≥300′ both sides · N=329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2800" b="1" dirty="0">
                <a:solidFill>
                  <a:srgbClr val="3D5A80"/>
                </a:solidFill>
                <a:latin typeface="Calibri"/>
              </a:rPr>
              <a:t>DATA  ·  STATSBOMB OPEN DATA (</a:t>
            </a:r>
            <a:r>
              <a:rPr lang="en-US" sz="2800" b="1" dirty="0">
                <a:solidFill>
                  <a:srgbClr val="3D5A80"/>
                </a:solidFill>
                <a:latin typeface="Calibri"/>
              </a:rPr>
              <a:t>Deeper but secondary/smaller data source</a:t>
            </a:r>
            <a:r>
              <a:rPr sz="2800" b="1" dirty="0">
                <a:solidFill>
                  <a:srgbClr val="3D5A80"/>
                </a:solidFill>
                <a:latin typeface="Calibri"/>
              </a:rP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5303520" cy="4754880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</a:rPr>
              <a:t>What we use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“Open” = free public StatsBomb match files (not a paid feed). Priors = any of those men’s competitions the player appeared in before the Bundesliga (club leagues and tournaments such as the World Cup, European Championship, and Champions League).</a:t>
            </a:r>
          </a:p>
          <a:p>
            <a:r>
              <a:rPr sz="1100" b="0">
                <a:solidFill>
                  <a:srgbClr val="333333"/>
                </a:solidFill>
              </a:rPr>
              <a:t>Bundesliga open match files available: 2015/16 and 2023/24 only</a:t>
            </a:r>
          </a:p>
          <a:p>
            <a:r>
              <a:rPr sz="1100" b="0">
                <a:solidFill>
                  <a:srgbClr val="333333"/>
                </a:solidFill>
              </a:rPr>
              <a:t>N=96 · prior ≥45′ · first Bundesliga season ≥30′</a:t>
            </a:r>
          </a:p>
          <a:p>
            <a:r>
              <a:rPr sz="1100" b="0">
                <a:solidFill>
                  <a:srgbClr val="333333"/>
                </a:solidFill>
              </a:rPr>
              <a:t>Pearson r ≥ 0.40 → 7 metrics · near-duplicate cutoff |r| ≥ 0.85 → keep all 7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Smaller open-data sample · only two Bundesliga seasons · event-level 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463040"/>
            <a:ext cx="5303520" cy="4754880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</a:rPr>
              <a:t>Versus Football Reference</a:t>
            </a:r>
            <a:endParaRPr sz="1300" b="0" dirty="0">
              <a:solidFill>
                <a:srgbClr val="333333"/>
              </a:solidFill>
              <a:latin typeface="Calibri"/>
            </a:endParaRPr>
          </a:p>
          <a:p>
            <a:r>
              <a:rPr sz="1200" b="0">
                <a:solidFill>
                  <a:srgbClr val="333333"/>
                </a:solidFill>
              </a:rPr>
              <a:t>Same pipeline; thinner year coverage by design.</a:t>
            </a:r>
          </a:p>
          <a:p>
            <a:r>
              <a:rPr sz="1200" b="0">
                <a:solidFill>
                  <a:srgbClr val="333333"/>
                </a:solidFill>
              </a:rPr>
              <a:t>Event-level check on trait families — not a second league-ranking study.</a:t>
            </a:r>
          </a:p>
          <a:p>
            <a:r>
              <a:rPr sz="1200" b="0">
                <a:solidFill>
                  <a:srgbClr val="333333"/>
                </a:solidFill>
              </a:rPr>
              <a:t>Priors mix club and international competitions, so prior-league tables here are directional only.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30011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D5A80"/>
                </a:solidFill>
              </a:rPr>
              <a:t>CONSISTENCY CHECK (FOOTBALL REFERENCE) · top metrics</a:t>
            </a:r>
            <a:endParaRPr sz="1300" b="1" dirty="0">
              <a:solidFill>
                <a:srgbClr val="3D5A8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1118846"/>
            <a:ext cx="3036279" cy="38241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sz="1100" b="0">
                <a:solidFill>
                  <a:srgbClr val="333333"/>
                </a:solidFill>
              </a:rPr>
              <a:t>Prior league → first Bundesliga season (end-years 2021–2025)</a:t>
            </a:r>
            <a:endParaRPr lang="en-US" sz="1200" b="0" dirty="0">
              <a:solidFill>
                <a:srgbClr val="333333"/>
              </a:solidFill>
            </a:endParaRPr>
          </a:p>
          <a:p>
            <a:endParaRPr lang="en-US" sz="1200" b="0" dirty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Paired N=329 · 19 leagues · ≥300 minutes on both sides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Category cutoffs (not one global cut):</a:t>
            </a:r>
          </a:p>
          <a:p>
            <a:r>
              <a:rPr sz="1100" b="0">
                <a:solidFill>
                  <a:srgbClr val="333333"/>
                </a:solidFill>
              </a:rPr>
              <a:t>Attacking / Passing / Other · Pearson r ≥ 0.60</a:t>
            </a:r>
          </a:p>
          <a:p>
            <a:r>
              <a:rPr sz="1100" b="0">
                <a:solidFill>
                  <a:srgbClr val="333333"/>
                </a:solidFill>
              </a:rPr>
              <a:t>Defending / Carrying · Pearson r ≥ 0.50</a:t>
            </a:r>
          </a:p>
          <a:p>
            <a:r>
              <a:rPr sz="1100" b="0">
                <a:solidFill>
                  <a:srgbClr val="333333"/>
                </a:solidFill>
              </a:rPr>
              <a:t>43 of 105 metrics pass → next: drop near-duplicates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The defending cutoff is lower because fewer defensive rates cleared 0.60, and defending is harder to capture in event counts (positioning off the ball is mostly missing).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Full names in the table; see Glossary for any leftover codes.</a:t>
            </a:r>
          </a:p>
          <a:p>
            <a:r>
              <a:rPr sz="1100" b="0">
                <a:solidFill>
                  <a:srgbClr val="333333"/>
                </a:solidFill>
              </a:rPr>
              <a:t>The other 62 metrics miss the floor — non-traveling; listed in the inspector.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0694422"/>
              </p:ext>
            </p:extLst>
          </p:nvPr>
        </p:nvGraphicFramePr>
        <p:xfrm>
          <a:off x="3490950" y="852269"/>
          <a:ext cx="832104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6422"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Short code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Full metric name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DEFPE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Defensive penalty-area touches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0.906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95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PRGC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Progressive 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0.805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Expected goals (xG)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0.797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NPXG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Non-penalty expected goals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0.793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DEF3R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Defensive-third touches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95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PRGDI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Progressive carry distance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SHPER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Shots per 90 minutes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0.789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Shots (standard counting)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0.788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NPXGP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Non-penalty xG + expected assists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0.787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XGPLU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Expected goals + expected assists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0.786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ATTLO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Long pass attempts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0.785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SOT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Shots on target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0.775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SOTPE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Shots on target per 90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0.774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292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CMPLO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Long pass completions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0.767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CMPME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Medium pass completions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0.730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ATTME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Medium pass attempts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0.724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TOTDI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Total pass distance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PRGR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Progressive passes received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0.703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2642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GPLUS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Goals + assists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0.702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26440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FK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Free kicks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0.697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100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9875520" y="137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D5A80"/>
                </a:solidFill>
              </a:rPr>
              <a:t>→ Glossary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STABILITY (STATSBOMB)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Prior competition → Bundesliga Year 1 in Bundesliga · pass if r ≥ 0.40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686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dirty="0">
                <a:solidFill>
                  <a:srgbClr val="333333"/>
                </a:solidFill>
              </a:rPr>
              <a:t>Open data · cohort N=96 · 7 of 16 pass (r ≥ 0.40)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✓  Progressive passes (~10m+ toward goal)  r=0.74</a:t>
            </a:r>
          </a:p>
          <a:p>
            <a:r>
              <a:rPr sz="1100" b="0" dirty="0">
                <a:solidFill>
                  <a:srgbClr val="333333"/>
                </a:solidFill>
              </a:rPr>
              <a:t>✓  Times dispossessed (inverted: fewer is better)  r=0.59</a:t>
            </a:r>
          </a:p>
          <a:p>
            <a:r>
              <a:rPr sz="1100" b="0" dirty="0">
                <a:solidFill>
                  <a:srgbClr val="333333"/>
                </a:solidFill>
              </a:rPr>
              <a:t>✓  Pressures (closing down opponents)  r=0.51</a:t>
            </a:r>
          </a:p>
          <a:p>
            <a:r>
              <a:rPr sz="1100" b="0" dirty="0">
                <a:solidFill>
                  <a:srgbClr val="333333"/>
                </a:solidFill>
              </a:rPr>
              <a:t>✓  Pass volume  r=0.49</a:t>
            </a:r>
          </a:p>
          <a:p>
            <a:r>
              <a:rPr sz="1100" b="0" dirty="0">
                <a:solidFill>
                  <a:srgbClr val="333333"/>
                </a:solidFill>
              </a:rPr>
              <a:t>✓  Clearances  r=0.47</a:t>
            </a:r>
          </a:p>
          <a:p>
            <a:r>
              <a:rPr sz="1100" b="0" dirty="0">
                <a:solidFill>
                  <a:srgbClr val="333333"/>
                </a:solidFill>
              </a:rPr>
              <a:t>✓  Successful dribbles  r=0.46</a:t>
            </a:r>
          </a:p>
          <a:p>
            <a:r>
              <a:rPr sz="1100" b="0" dirty="0">
                <a:solidFill>
                  <a:srgbClr val="333333"/>
                </a:solidFill>
              </a:rPr>
              <a:t>✓  Passes into the final third  r=0.42</a:t>
            </a:r>
          </a:p>
          <a:p>
            <a:r>
              <a:rPr sz="1100" b="0" dirty="0">
                <a:solidFill>
                  <a:srgbClr val="333333"/>
                </a:solidFill>
              </a:rPr>
              <a:t>·  Shots  r=0.40 (out)</a:t>
            </a:r>
          </a:p>
          <a:p>
            <a:r>
              <a:rPr sz="1100" b="0" dirty="0">
                <a:solidFill>
                  <a:srgbClr val="333333"/>
                </a:solidFill>
              </a:rPr>
              <a:t>·  Progressive carries  r=0.38 (out)</a:t>
            </a:r>
          </a:p>
          <a:p>
            <a:r>
              <a:rPr sz="1100" b="0" dirty="0">
                <a:solidFill>
                  <a:srgbClr val="333333"/>
                </a:solidFill>
              </a:rPr>
              <a:t>·  Carries  r=0.38 (out)</a:t>
            </a:r>
          </a:p>
          <a:p>
            <a:r>
              <a:rPr sz="1100" b="0" dirty="0">
                <a:solidFill>
                  <a:srgbClr val="333333"/>
                </a:solidFill>
              </a:rPr>
              <a:t>·  Tackles  r=0.34 · Non-penalty expected goals  r=0.30 · Fouls won  r=0.27</a:t>
            </a:r>
          </a:p>
          <a:p>
            <a:r>
              <a:rPr sz="1100" b="0" dirty="0">
                <a:solidFill>
                  <a:srgbClr val="333333"/>
                </a:solidFill>
              </a:rPr>
              <a:t>·  Interceptions  r=0.20 · Expected assists  r=0.13 · Aerials won  r=0.12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8026013"/>
              </p:ext>
            </p:extLst>
          </p:nvPr>
        </p:nvGraphicFramePr>
        <p:xfrm>
          <a:off x="4821382" y="1066800"/>
          <a:ext cx="6686003" cy="4145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14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674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02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668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01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sz="1000"/>
                        <a:t>Short code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Full metric name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Category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rgbClr val="333333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rgbClr val="333333"/>
                          </a:solidFill>
                        </a:rPr>
                        <a:t>Gate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PPC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0.74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DIS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Times dispossessed (inverted: fewer is better)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0.59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Pressures (closing down opponents)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0.51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/>
                        <a:t>Pass volume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CLR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dirty="0"/>
                        <a:t>Clearances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DRB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Successful dribbles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PATT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Passes into the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PASS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SH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Shots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0.40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CFGP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Progressive 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CRY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Carries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TAC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Tackles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Non-penalty expected goals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FLW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Fouls won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Other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0.27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Interceptions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XA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Expected assists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Attacking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0.13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3418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AER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/>
                        <a:t>Aerials won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Defending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80852" y="58978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</a:rPr>
              <a:t>Next: drop near-duplicates at Pearson |r| ≥ 0.85 — only near-duplicates cut; pass volume kept with progressive passes (related but not identical).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Position changes: we use broad position groups for peer ranks. We do not model “center back became fullback” as the main story — role switches can add noise to consistency, but this project is about which rate traits travel, not which players changed position.</a:t>
            </a:r>
          </a:p>
        </p:txBody>
      </p:sp>
      <p:sp>
        <p:nvSpPr>
          <p:cNvPr id="8" name="TextBox 7">
            <a:hlinkClick r:id="rId2" action="ppaction://hlinksldjump"/>
          </p:cNvPr>
          <p:cNvSpPr txBox="1"/>
          <p:nvPr/>
        </p:nvSpPr>
        <p:spPr>
          <a:xfrm>
            <a:off x="9875520" y="1371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D5A80"/>
                </a:solidFill>
              </a:rPr>
              <a:t>→ Glossary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317639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REDUNDANCY PICKS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109728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3D5A80"/>
                </a:solidFill>
              </a:rPr>
              <a:t>Drop near-duplicate metrics</a:t>
            </a:r>
            <a:endParaRPr sz="2200" b="1" dirty="0">
              <a:solidFill>
                <a:srgbClr val="1C1C1C"/>
              </a:solidFill>
              <a:latin typeface="Georgia"/>
            </a:endParaRPr>
          </a:p>
          <a:p>
            <a:r>
              <a:rPr sz="1200">
                <a:solidFill>
                  <a:srgbClr val="555555"/>
                </a:solidFill>
              </a:rPr>
              <a:t>(metrics that move together — same information twice)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960120"/>
            <a:ext cx="544068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1803" y="1413801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</a:rPr>
              <a:t>StatsBomb shortlist (7)</a:t>
            </a:r>
          </a:p>
          <a:p>
            <a:r>
              <a:rPr sz="1100" b="0">
                <a:solidFill>
                  <a:srgbClr val="333333"/>
                </a:solidFill>
              </a:rPr>
              <a:t>Consistency r ≥ 0.40 · near-duplicate |r| ≥ 0.85 (passes kept)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Progressive passes  r=0.74</a:t>
            </a:r>
          </a:p>
          <a:p>
            <a:r>
              <a:rPr sz="1100" b="0">
                <a:solidFill>
                  <a:srgbClr val="333333"/>
                </a:solidFill>
              </a:rPr>
              <a:t>Times dispossessed (inverted)  r=0.59</a:t>
            </a:r>
          </a:p>
          <a:p>
            <a:r>
              <a:rPr sz="1100" b="0">
                <a:solidFill>
                  <a:srgbClr val="333333"/>
                </a:solidFill>
              </a:rPr>
              <a:t>Pressures (closing down opponents)  r=0.51</a:t>
            </a:r>
          </a:p>
          <a:p>
            <a:r>
              <a:rPr sz="1100" b="0">
                <a:solidFill>
                  <a:srgbClr val="333333"/>
                </a:solidFill>
              </a:rPr>
              <a:t>Pass volume  r=0.49</a:t>
            </a:r>
          </a:p>
          <a:p>
            <a:r>
              <a:rPr sz="1100" b="0">
                <a:solidFill>
                  <a:srgbClr val="333333"/>
                </a:solidFill>
              </a:rPr>
              <a:t>Clearances  r=0.47</a:t>
            </a:r>
          </a:p>
          <a:p>
            <a:r>
              <a:rPr sz="1100" b="0">
                <a:solidFill>
                  <a:srgbClr val="333333"/>
                </a:solidFill>
              </a:rPr>
              <a:t>Successful dribbles  r=0.46</a:t>
            </a:r>
          </a:p>
          <a:p>
            <a:r>
              <a:rPr sz="1100" b="0">
                <a:solidFill>
                  <a:srgbClr val="333333"/>
                </a:solidFill>
              </a:rPr>
              <a:t>Passes into the final third  r=0.42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1803" y="5279955"/>
            <a:ext cx="49377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 b="0">
                <a:solidFill>
                  <a:srgbClr val="333333"/>
                </a:solidFill>
              </a:rPr>
              <a:t>StatsBomb: |r| ≥ 0.85 — no cuts; pass volume kept with progressive passes (related definitions, not identical).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80760" y="960120"/>
            <a:ext cx="5623560" cy="534924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18504" y="1373874"/>
            <a:ext cx="5212080" cy="14055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333333"/>
                </a:solidFill>
              </a:rPr>
              <a:t>Football Reference: 43 cleared consistency → 32 kept</a:t>
            </a:r>
          </a:p>
          <a:p>
            <a:r>
              <a:rPr sz="1100" b="0">
                <a:solidFill>
                  <a:srgbClr val="333333"/>
                </a:solidFill>
              </a:rPr>
              <a:t>105 tested · category cutoffs → 43 · Pearson |r| ≥ 0.95 → drop near-duplicates → 32</a:t>
            </a:r>
          </a:p>
          <a:p>
            <a:r>
              <a:rPr sz="1100" b="0">
                <a:solidFill>
                  <a:srgbClr val="333333"/>
                </a:solidFill>
              </a:rPr>
              <a:t>Near-duplicate = two metrics that almost always move together (same information twice).</a:t>
            </a:r>
          </a:p>
          <a:p>
            <a:r>
              <a:rPr sz="1100" b="0">
                <a:solidFill>
                  <a:srgbClr val="333333"/>
                </a:solidFill>
              </a:rPr>
              <a:t>When choosing which to keep: higher consistency → larger sample size → prefer rate/context metrics</a:t>
            </a:r>
          </a:p>
          <a:p>
            <a:r>
              <a:rPr sz="1100" b="0">
                <a:solidFill>
                  <a:srgbClr val="333333"/>
                </a:solidFill>
              </a:rPr>
              <a:t>Top consistency examples: Defensive penalty-area touches (0.91) · Progressive carries (0.81) · Expected goals (0.80)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2708038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222222"/>
                </a:solidFill>
              </a:rPr>
              <a:t>Attacking (3)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8504" y="3222955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Passing (7)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8504" y="294578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</a:rPr>
              <a:t>Expected goals (0.80) · Goals (0.66) · Shots on target (0.56)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8504" y="3908755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Carrying (4)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18504" y="3460699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</a:rPr>
              <a:t>Progressive carries (0.81) · Progressive carry distance (0.79) · Key passes (0.65) · Passes into final third (0.62) · Medium completion % (0.64) · Crosses into box (0.59) · Crosses (0.68)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18504" y="4594555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Defending (11)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8504" y="4146499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</a:rPr>
              <a:t>Progressive receives (0.60) · Attacking-third touches (0.54) · Successful take-ons (0.65) · Miscontrols (0.37)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8504" y="5371795"/>
            <a:ext cx="5212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</a:rPr>
              <a:t>Other (1)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8504" y="4832299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333333"/>
                </a:solidFill>
              </a:rPr>
              <a:t>Defensive box touches (0.91) · Clearances (0.67) · Tackled while dribbling (0.59) · Aerials won (0.42) · Shot blocks (0.79) · Interceptions (0.57) · Aerials lost (0.42) · Aerial win % (0.50) · Defensive-third touches (0.79) · Tackle % (0.31) · Recoveries (0.40)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18504" y="5609539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333333"/>
                </a:solidFill>
              </a:rPr>
              <a:t>Fouls drawn (0.53)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22860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3D5A80"/>
                </a:solidFill>
              </a:rPr>
              <a:t>OUTPUT · CATEGORY RADAR CHART (Same chart style used in the New York Red Bulls internship project)</a:t>
            </a:r>
            <a:endParaRPr sz="1300" b="1" dirty="0">
              <a:solidFill>
                <a:srgbClr val="3D5A8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11480" y="475488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1C1C"/>
                </a:solidFill>
                <a:latin typeface="Georgia"/>
              </a:rPr>
              <a:t>Example player profile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868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</a:rPr>
              <a:t>Built from shortlisted traits. Explorer HTML combines Football Reference + StatsBomb with category slices.</a:t>
            </a:r>
          </a:p>
        </p:txBody>
      </p:sp>
      <p:pic>
        <p:nvPicPr>
          <p:cNvPr id="6" name="Picture 5" descr="mock_pizza_bundeslig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325880"/>
            <a:ext cx="5639438" cy="5029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0" y="1325880"/>
            <a:ext cx="512064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12280" y="1508760"/>
            <a:ext cx="466344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How to read</a:t>
            </a:r>
          </a:p>
          <a:p>
            <a:r>
              <a:rPr sz="1200" b="0">
                <a:solidFill>
                  <a:srgbClr val="333333"/>
                </a:solidFill>
              </a:rPr>
              <a:t>Blue = first Bundesliga season</a:t>
            </a:r>
          </a:p>
          <a:p>
            <a:r>
              <a:rPr sz="1200" b="0">
                <a:solidFill>
                  <a:srgbClr val="333333"/>
                </a:solidFill>
              </a:rPr>
              <a:t>Red dotted = prior season</a:t>
            </a:r>
          </a:p>
          <a:p>
            <a:r>
              <a:rPr sz="1200" b="0">
                <a:solidFill>
                  <a:srgbClr val="333333"/>
                </a:solidFill>
              </a:rPr>
              <a:t>Dashed = average peer (50th percentile)</a:t>
            </a:r>
          </a:p>
          <a:p>
            <a:r>
              <a:rPr sz="1200" b="0">
                <a:solidFill>
                  <a:srgbClr val="333333"/>
                </a:solidFill>
              </a:rPr>
              <a:t>Grey = top peer (~90th percentile)</a:t>
            </a:r>
          </a:p>
          <a:p>
            <a:r>
              <a:rPr sz="1200" b="0">
                <a:solidFill>
                  <a:srgbClr val="333333"/>
                </a:solidFill>
              </a:rPr>
              <a:t>Each slice averages shortlisted traits in that style category.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dirty="0">
                <a:solidFill>
                  <a:srgbClr val="333333"/>
                </a:solidFill>
              </a:rPr>
              <a:t>What “stable-trait score” means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One number that answers: in Year 1 in Bundesliga, how strong is this player on the shortlisted (traveling) traits — vs peers at their position?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Phase 2 note: this is a secondary success outcome (alongside Year 1 minutes and minutes percentile) — a profile-fit score, not the primary playing-time marker.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3657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73152" cy="411480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4088" y="18745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1 · Pick the traits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22402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</a:rPr>
              <a:t>1 · Pick the traits</a:t>
            </a:r>
          </a:p>
          <a:p>
            <a:r>
              <a:rPr sz="1300" b="0">
                <a:solidFill>
                  <a:srgbClr val="333333"/>
                </a:solidFill>
              </a:rPr>
              <a:t>Shortlist only (StatsBomb 7 · Football Reference 32). Dropped metrics stay out.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737360"/>
            <a:ext cx="365760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43400" y="1737360"/>
            <a:ext cx="73152" cy="4114800"/>
          </a:xfrm>
          <a:prstGeom prst="rect">
            <a:avLst/>
          </a:prstGeom>
          <a:solidFill>
            <a:srgbClr val="2F9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44568" y="1874519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2 · Turn each into a percentile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2240280"/>
            <a:ext cx="32918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For each shortlist trait, take the player’s Bundesliga Year 1 in Bundesliga per-90 value.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Rank it vs all Bundesliga peers in the same broad position.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  <a:latin typeface="Calibri"/>
              </a:rPr>
              <a:t>0 = worst peer · 50 = average · 100 = best peer.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737360"/>
            <a:ext cx="3474720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83879" y="1737360"/>
            <a:ext cx="73152" cy="4114800"/>
          </a:xfrm>
          <a:prstGeom prst="rect">
            <a:avLst/>
          </a:prstGeom>
          <a:solidFill>
            <a:srgbClr val="BC47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85048" y="187451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C1C1C"/>
                </a:solidFill>
                <a:latin typeface="Georgia"/>
              </a:rPr>
              <a:t>3 · Average them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224028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</a:rPr>
              <a:t>Stable-trait score = mean of those Year 1 in Bundesliga percentiles across the shortlist.</a:t>
            </a:r>
          </a:p>
          <a:p>
            <a:r>
              <a:rPr sz="1300" b="0">
                <a:solidFill>
                  <a:srgbClr val="333333"/>
                </a:solidFill>
              </a:rPr>
              <a:t>Example: if a center back is 70th / 60th / 80th on three traits → score ≈ 70.</a:t>
            </a:r>
          </a:p>
          <a:p>
            <a:r>
              <a:rPr sz="1300" b="0">
                <a:solidFill>
                  <a:srgbClr val="333333"/>
                </a:solidFill>
              </a:rPr>
              <a:t>Higher = better Year 1 in Bundesliga profile on traits that travel.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dirty="0">
                <a:solidFill>
                  <a:srgbClr val="3D5A80"/>
                </a:solidFill>
                <a:latin typeface="Calibri"/>
              </a:rPr>
              <a:t>HOW TO USE THE EXPLORER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C1C1C"/>
                </a:solidFill>
                <a:latin typeface="Georgia"/>
              </a:rPr>
              <a:t>interactive_player_explorer.html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28016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35331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234439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600200" y="1463039"/>
            <a:ext cx="96012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 dirty="0">
                <a:solidFill>
                  <a:srgbClr val="333333"/>
                </a:solidFill>
                <a:latin typeface="Calibri"/>
              </a:rPr>
              <a:t>Open </a:t>
            </a:r>
            <a:r>
              <a:rPr sz="1600" b="0" dirty="0" err="1">
                <a:solidFill>
                  <a:srgbClr val="333333"/>
                </a:solidFill>
                <a:latin typeface="Calibri"/>
              </a:rPr>
              <a:t>interactive_player_explorer.html</a:t>
            </a:r>
            <a:r>
              <a:rPr sz="1600" b="0" dirty="0">
                <a:solidFill>
                  <a:srgbClr val="333333"/>
                </a:solidFill>
                <a:latin typeface="Calibri"/>
              </a:rPr>
              <a:t> in a browser.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377439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450591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233172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600200" y="2501705"/>
            <a:ext cx="9601200" cy="623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333333"/>
                </a:solidFill>
              </a:rPr>
              <a:t>Switch StatsBomb (N=96 · 7 traits) ↔ Football Reference (N=329 · 32 traits).</a:t>
            </a:r>
          </a:p>
          <a:p>
            <a:r>
              <a:rPr sz="1600" b="0">
                <a:solidFill>
                  <a:srgbClr val="333333"/>
                </a:solidFill>
              </a:rPr>
              <a:t>Dropdowns: league → position → player.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347472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354787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371600" y="342900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600200" y="3657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dirty="0">
                <a:solidFill>
                  <a:srgbClr val="1C1C1C"/>
                </a:solidFill>
                <a:latin typeface="Calibri"/>
              </a:rPr>
              <a:t>Radar slices = style categories (attack/pass/carry/defend). Each slice averages that group’s percentiles.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572000"/>
            <a:ext cx="502920" cy="502920"/>
          </a:xfrm>
          <a:prstGeom prst="ellipse">
            <a:avLst/>
          </a:prstGeom>
          <a:solidFill>
            <a:srgbClr val="D6E2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464515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3D5A80"/>
                </a:solidFill>
                <a:latin typeface="Calibri"/>
              </a:rP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0" y="4526280"/>
            <a:ext cx="100584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600200" y="47548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</a:rPr>
              <a:t>Same explorer combines both sources — pick Football Reference or StatsBomb in the data-source dropdown.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-24226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3D5A80"/>
                </a:solidFill>
                <a:latin typeface="Calibri"/>
              </a:rPr>
              <a:t>RESULTS  ·  SUCCESS INDICATORS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C1C1C"/>
                </a:solidFill>
                <a:latin typeface="Georgia"/>
              </a:rPr>
              <a:t>Which prior traits &amp; leagues line up with Year 1 in Bundesliga success?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79" y="914399"/>
            <a:ext cx="11338561" cy="2838915"/>
          </a:xfrm>
          <a:prstGeom prst="roundRect">
            <a:avLst/>
          </a:prstGeom>
          <a:solidFill>
            <a:srgbClr val="EEF3F8"/>
          </a:solidFill>
          <a:ln>
            <a:solidFill>
              <a:srgbClr val="3D5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051560"/>
            <a:ext cx="10881360" cy="748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 dirty="0">
                <a:solidFill>
                  <a:srgbClr val="333333"/>
                </a:solidFill>
              </a:rPr>
              <a:t>Phase 2: after trimming the metrics to the shortlist of traits that travel, test what lines up with Bundesliga success.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Success = Year 1 in Bundesliga minutes (more minutes = more playing time).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We also show two supporting numbers (not the main success definition):</a:t>
            </a:r>
          </a:p>
          <a:p>
            <a:r>
              <a:rPr sz="1100" b="0" dirty="0">
                <a:solidFill>
                  <a:srgbClr val="333333"/>
                </a:solidFill>
              </a:rPr>
              <a:t>• Year 1 minutes percentile — where this player’s first-season minutes rank among other arriving players in the study (0–100).</a:t>
            </a:r>
          </a:p>
          <a:p>
            <a:r>
              <a:rPr sz="1100" b="0" dirty="0">
                <a:solidFill>
                  <a:srgbClr val="333333"/>
                </a:solidFill>
              </a:rPr>
              <a:t>• Stable-trait score — how strong their Year 1 profile looks on the traits that travel we kept (average percentile vs position peers).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Spearman </a:t>
            </a:r>
            <a:r>
              <a:rPr sz="1100" b="0" dirty="0" err="1">
                <a:solidFill>
                  <a:srgbClr val="333333"/>
                </a:solidFill>
              </a:rPr>
              <a:t>ρ</a:t>
            </a:r>
            <a:r>
              <a:rPr sz="1100" b="0" dirty="0">
                <a:solidFill>
                  <a:srgbClr val="333333"/>
                </a:solidFill>
              </a:rPr>
              <a:t>: sort players from high to low on a prior trait, sort them from high to low on Year 1 minutes, and measure how often those two orderings agree. A positive link means players who ranked higher on that trait before the move also tended to play more in their first Bundesliga season.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Playing time still depends on the roster, injuries, and coaching choices — we use minutes as an observable open-data stand-in for “the club gave this player a real role,” not as proof that the player should have gotten those minutes.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Next steps on later slides: compare average Year 1 minutes by prior league (feeder-league averages), then run exploratory ordinary least squares (OLS) regression with controls.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79" y="4571402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79" y="4571402"/>
            <a:ext cx="64008" cy="20116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59" y="468113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 err="1">
                <a:solidFill>
                  <a:srgbClr val="1C1C1C"/>
                </a:solidFill>
                <a:latin typeface="Georgia"/>
              </a:rPr>
              <a:t>StatsBomb</a:t>
            </a:r>
            <a:endParaRPr sz="14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94359" y="5010314"/>
            <a:ext cx="32461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N=96 open-data cohort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Primary priors often intl comps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555555"/>
                </a:solidFill>
                <a:latin typeface="Calibri"/>
              </a:rPr>
              <a:t>Weaker league signal · use for traits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60519" y="4571402"/>
            <a:ext cx="356616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160519" y="4571402"/>
            <a:ext cx="64008" cy="2011680"/>
          </a:xfrm>
          <a:prstGeom prst="rect">
            <a:avLst/>
          </a:prstGeom>
          <a:solidFill>
            <a:srgbClr val="1B7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43399" y="4681130"/>
            <a:ext cx="3291840" cy="7463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333333"/>
                </a:solidFill>
              </a:rPr>
              <a:t>Football Reference</a:t>
            </a:r>
            <a:endParaRPr sz="1400" b="1" dirty="0">
              <a:solidFill>
                <a:srgbClr val="3D5A80"/>
              </a:solidFill>
              <a:latin typeface="Georgia" panose="02040502050405020303" pitchFamily="18" charset="0"/>
            </a:endParaRPr>
          </a:p>
          <a:p>
            <a:r>
              <a:rPr sz="1400" b="0">
                <a:solidFill>
                  <a:srgbClr val="333333"/>
                </a:solidFill>
              </a:rPr>
              <a:t>N=329 · 19 leagues</a:t>
            </a:r>
          </a:p>
          <a:p>
            <a:r>
              <a:rPr sz="1400" b="0">
                <a:solidFill>
                  <a:srgbClr val="333333"/>
                </a:solidFill>
              </a:rPr>
              <a:t>Success = Year 1 in Bundesliga minutes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09559" y="4571402"/>
            <a:ext cx="38404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909559" y="4571402"/>
            <a:ext cx="64008" cy="2011680"/>
          </a:xfrm>
          <a:prstGeom prst="rect">
            <a:avLst/>
          </a:prstGeom>
          <a:solidFill>
            <a:srgbClr val="3D5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92439" y="4681130"/>
            <a:ext cx="35661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1C1C1C"/>
                </a:solidFill>
                <a:latin typeface="Georgia"/>
              </a:rPr>
              <a:t>Weak Signaling</a:t>
            </a:r>
            <a:endParaRPr sz="1400" b="1" dirty="0">
              <a:solidFill>
                <a:srgbClr val="1C1C1C"/>
              </a:solidFill>
              <a:latin typeface="Georgia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092439" y="5010314"/>
            <a:ext cx="3520440" cy="9335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dirty="0">
                <a:solidFill>
                  <a:srgbClr val="333333"/>
                </a:solidFill>
              </a:rPr>
              <a:t>Supports weights for evaluation</a:t>
            </a:r>
          </a:p>
          <a:p>
            <a:r>
              <a:rPr sz="1200" b="0" dirty="0">
                <a:solidFill>
                  <a:srgbClr val="333333"/>
                </a:solidFill>
              </a:rPr>
              <a:t>Does not predict every transfer</a:t>
            </a:r>
          </a:p>
          <a:p>
            <a:r>
              <a:rPr sz="1200" b="0" dirty="0">
                <a:solidFill>
                  <a:srgbClr val="333333"/>
                </a:solidFill>
              </a:rPr>
              <a:t>Full interactive tables: </a:t>
            </a:r>
            <a:r>
              <a:rPr sz="1200" b="0" dirty="0" err="1">
                <a:solidFill>
                  <a:srgbClr val="333333"/>
                </a:solidFill>
              </a:rPr>
              <a:t>interactive_player_explorer.html</a:t>
            </a:r>
            <a:r>
              <a:rPr sz="1200" b="0" dirty="0">
                <a:solidFill>
                  <a:srgbClr val="333333"/>
                </a:solidFill>
              </a:rPr>
              <a:t> · </a:t>
            </a:r>
            <a:r>
              <a:rPr sz="1200" b="0" dirty="0" err="1">
                <a:solidFill>
                  <a:srgbClr val="333333"/>
                </a:solidFill>
              </a:rPr>
              <a:t>README.md</a:t>
            </a:r>
            <a:endParaRPr sz="1200" b="0" dirty="0">
              <a:solidFill>
                <a:srgbClr val="333333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11480" y="3817323"/>
            <a:ext cx="10972800" cy="7437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dirty="0">
                <a:solidFill>
                  <a:srgbClr val="555555"/>
                </a:solidFill>
                <a:latin typeface="Calibri"/>
              </a:rPr>
              <a:t>Interpretation: positive ρ = arriving with a higher prior percentile on that trait tends to coincide with more Year 1 in Bundesliga minutes / higher trait score.</a:t>
            </a:r>
          </a:p>
          <a:p>
            <a:pPr>
              <a:spcAft>
                <a:spcPts val="400"/>
              </a:spcAft>
            </a:pPr>
            <a:r>
              <a:rPr sz="1300" dirty="0">
                <a:solidFill>
                  <a:srgbClr val="555555"/>
                </a:solidFill>
                <a:latin typeface="Calibri"/>
              </a:rPr>
              <a:t>Negative </a:t>
            </a:r>
            <a:r>
              <a:rPr sz="1300" dirty="0" err="1">
                <a:solidFill>
                  <a:srgbClr val="555555"/>
                </a:solidFill>
                <a:latin typeface="Calibri"/>
              </a:rPr>
              <a:t>ρ</a:t>
            </a:r>
            <a:r>
              <a:rPr sz="1300" dirty="0">
                <a:solidFill>
                  <a:srgbClr val="555555"/>
                </a:solidFill>
                <a:latin typeface="Calibri"/>
              </a:rPr>
              <a:t> on inverted metrics (e.g. dispossessed) can still be informative — read label + sign together</a:t>
            </a:r>
            <a:r>
              <a:rPr lang="en-US" sz="1300" dirty="0">
                <a:solidFill>
                  <a:srgbClr val="555555"/>
                </a:solidFill>
                <a:latin typeface="Calibri"/>
              </a:rPr>
              <a:t> since lower dispossessed score means better player performance</a:t>
            </a:r>
            <a:endParaRPr sz="1300" dirty="0">
              <a:solidFill>
                <a:srgbClr val="5555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3D5A80"/>
                </a:solidFill>
                <a:latin typeface="Georgia"/>
              </a:rPr>
              <a:t>SUCCESS DEFINITION  ·  YEAR-1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Georgia"/>
              </a:rPr>
              <a:t>How we operationalize “Bundesliga success” in Phase 2 with open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33333"/>
                </a:solidFill>
              </a:rPr>
              <a:t>Primary success marker: minutes played in the player’s first Bundesliga season (“Year 1 in Bundesliga minutes”).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Success means the club gave the arriving player playing time — not goals scored and not market value.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Also reported (secondary):</a:t>
            </a:r>
          </a:p>
          <a:p>
            <a:r>
              <a:rPr sz="1200" b="0">
                <a:solidFill>
                  <a:srgbClr val="333333"/>
                </a:solidFill>
              </a:rPr>
              <a:t>• Year 1 minutes percentile — where that player’s minutes rank among peers in the study</a:t>
            </a:r>
          </a:p>
          <a:p>
            <a:r>
              <a:rPr sz="1200" b="0">
                <a:solidFill>
                  <a:srgbClr val="333333"/>
                </a:solidFill>
              </a:rPr>
              <a:t>• Stable-trait score — how strong the Year 1 profile looks on the traits that travel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Trait and league tests ask: which prior signals line up with more Year 1 minutes?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Regression Δ Year 1 minutes = estimated extra first-season minutes versus a reference league (Serie A), holding other controls fixed.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04183" y="1417320"/>
            <a:ext cx="4193345" cy="3222674"/>
          </a:xfrm>
          <a:prstGeom prst="roundRect">
            <a:avLst/>
          </a:prstGeom>
          <a:solidFill>
            <a:srgbClr val="EEF3F8"/>
          </a:solidFill>
          <a:ln>
            <a:solidFill>
              <a:srgbClr val="D0D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0">
                <a:solidFill>
                  <a:srgbClr val="333333"/>
                </a:solidFill>
              </a:rPr>
              <a:t>Why minutes?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Observable in Football Reference / StatsBomb cohorts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Directly measures opportunity and role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Not the same as goals, expected goals, or team points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Scope: associations useful when weighing which prior rates matter — not a forecast model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632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D5A80"/>
                </a:solidFill>
                <a:latin typeface="Calibri"/>
              </a:rPr>
              <a:t>RESULTS  ·  TRAITS → BUNDESLIGA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</a:rPr>
              <a:t>StatsBomb (N=96)</a:t>
            </a:r>
          </a:p>
          <a:p>
            <a:r>
              <a:rPr sz="1100" b="0">
                <a:solidFill>
                  <a:srgbClr val="333333"/>
                </a:solidFill>
              </a:rPr>
              <a:t>prior percentile → Year 1 in Bundesliga minutes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Pressures (closing down opponents)  ρ=-0.28  p=0.006</a:t>
            </a:r>
          </a:p>
          <a:p>
            <a:r>
              <a:rPr sz="1100" b="0">
                <a:solidFill>
                  <a:srgbClr val="333333"/>
                </a:solidFill>
              </a:rPr>
              <a:t>Successful dribbles  ρ=-0.17  p=0.090</a:t>
            </a:r>
          </a:p>
          <a:p>
            <a:r>
              <a:rPr sz="1100" b="0">
                <a:solidFill>
                  <a:srgbClr val="333333"/>
                </a:solidFill>
              </a:rPr>
              <a:t>Progressive passes  ρ=+0.16  p=0.112</a:t>
            </a:r>
          </a:p>
          <a:p>
            <a:r>
              <a:rPr sz="1100" b="0">
                <a:solidFill>
                  <a:srgbClr val="333333"/>
                </a:solidFill>
              </a:rPr>
              <a:t>Times dispossessed (inverted)  ρ=+0.14  p=0.185</a:t>
            </a:r>
          </a:p>
          <a:p>
            <a:r>
              <a:rPr sz="1100" b="0">
                <a:solidFill>
                  <a:srgbClr val="333333"/>
                </a:solidFill>
              </a:rPr>
              <a:t>Passes into the final third  ρ=-0.11  p=0.280</a:t>
            </a:r>
          </a:p>
          <a:p>
            <a:r>
              <a:rPr sz="1100" b="0">
                <a:solidFill>
                  <a:srgbClr val="333333"/>
                </a:solidFill>
              </a:rPr>
              <a:t>Clearances  ρ=-0.07  p=0.473</a:t>
            </a:r>
          </a:p>
          <a:p>
            <a:r>
              <a:rPr sz="1100" b="0">
                <a:solidFill>
                  <a:srgbClr val="333333"/>
                </a:solidFill>
              </a:rPr>
              <a:t>Pass volume  ρ=+0.00  p=0.980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5329408"/>
              </p:ext>
            </p:extLst>
          </p:nvPr>
        </p:nvGraphicFramePr>
        <p:xfrm>
          <a:off x="411480" y="2657626"/>
          <a:ext cx="4652888" cy="32121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67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80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80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Trait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ρ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Pressures (closing down opponents)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-0.28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0.006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Successful dribbles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Progressive passes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+0.16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0.112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Times dispossessed (inverted: fewer is better)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+0.14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0.185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Passes into the final third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-0.11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0.280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Clearances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-0.07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0.473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26480" y="804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100" b="0">
                <a:solidFill>
                  <a:srgbClr val="333333"/>
                </a:solidFill>
              </a:rPr>
              <a:t>Football Reference (N=329)</a:t>
            </a:r>
          </a:p>
          <a:p>
            <a:r>
              <a:rPr sz="1100" b="0">
                <a:solidFill>
                  <a:srgbClr val="333333"/>
                </a:solidFill>
              </a:rPr>
              <a:t>prior percentile → Year 1 in Bundesliga minutes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Passes into the final third  ρ=+0.30  p=0.005 *</a:t>
            </a:r>
          </a:p>
          <a:p>
            <a:r>
              <a:rPr sz="1100" b="0">
                <a:solidFill>
                  <a:srgbClr val="333333"/>
                </a:solidFill>
              </a:rPr>
              <a:t>Shot blocks  ρ=+0.27  p=0.011 *</a:t>
            </a:r>
          </a:p>
          <a:p>
            <a:r>
              <a:rPr sz="1100" b="0">
                <a:solidFill>
                  <a:srgbClr val="333333"/>
                </a:solidFill>
              </a:rPr>
              <a:t>Progressive carry distance  ρ=+0.24  p=0.025 *</a:t>
            </a:r>
          </a:p>
          <a:p>
            <a:r>
              <a:rPr sz="1100" b="0">
                <a:solidFill>
                  <a:srgbClr val="333333"/>
                </a:solidFill>
              </a:rPr>
              <a:t>Times tackled while dribbling  ρ=+0.23  p=0.030 *</a:t>
            </a:r>
          </a:p>
          <a:p>
            <a:r>
              <a:rPr sz="1100" b="0">
                <a:solidFill>
                  <a:srgbClr val="333333"/>
                </a:solidFill>
              </a:rPr>
              <a:t>Long pass attempts  ρ=+0.22  p=0.036 *</a:t>
            </a:r>
          </a:p>
          <a:p>
            <a:r>
              <a:rPr sz="1100" b="0">
                <a:solidFill>
                  <a:srgbClr val="333333"/>
                </a:solidFill>
              </a:rPr>
              <a:t>Defensive-third touches  ρ=+0.22  p=0.039 *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* p&lt;0.05  ·  Final-third passes, shot blocks, progressive carry distance lead.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5664275"/>
              </p:ext>
            </p:extLst>
          </p:nvPr>
        </p:nvGraphicFramePr>
        <p:xfrm>
          <a:off x="6126480" y="2927016"/>
          <a:ext cx="4349439" cy="36200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344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74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74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Trait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ρ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Passes into the final third*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+0.30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0.005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Shot blocks*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Progressive carry distance*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0.025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Times tackled while dribbling*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Long pass attempts*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Defensive-third touches*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+0.22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0.039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Miscontrols while carrying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0.16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0.078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2031">
                <a:tc>
                  <a:txBody>
                    <a:bodyPr/>
                    <a:lstStyle/>
                    <a:p>
                      <a:r>
                        <a:t>Clearances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t>0.13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dirty="0"/>
                        <a:t>0.162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11480" y="1828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D5A80"/>
                </a:solidFill>
                <a:latin typeface="Calibri"/>
              </a:rPr>
              <a:t>RESULTS  ·  FEEDER LEAGUES → BUNDESLIGA SUCCESS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389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C1C1C"/>
                </a:solidFill>
                <a:latin typeface="Georgia"/>
              </a:rPr>
              <a:t>Which source leagues produce the strongest Year 1 in Bundesliga outcomes?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4262344"/>
              </p:ext>
            </p:extLst>
          </p:nvPr>
        </p:nvGraphicFramePr>
        <p:xfrm>
          <a:off x="411480" y="1179576"/>
          <a:ext cx="5669280" cy="2444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8244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League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Mean Year 1 in Bundesliga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Median Year 1 in Bundesliga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Trait score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DEN Superliga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1864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1855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48.0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Premier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60.1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Eredivisie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1401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1154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53.4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Ligue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1401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1251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Serie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56.7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1547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2. Bundesliga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49.6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26783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Belgian Pro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53.1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498155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Austrian Bundesliga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1152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>
                          <a:solidFill>
                            <a:srgbClr val="333333"/>
                          </a:solidFill>
                        </a:rPr>
                        <a:t>1284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b="0" dirty="0">
                          <a:solidFill>
                            <a:srgbClr val="333333"/>
                          </a:solidFill>
                        </a:rPr>
                        <a:t>49.6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6173303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4765181"/>
              </p:ext>
            </p:extLst>
          </p:nvPr>
        </p:nvGraphicFramePr>
        <p:xfrm>
          <a:off x="411480" y="3738486"/>
          <a:ext cx="4846320" cy="167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League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>
                          <a:solidFill>
                            <a:schemeClr val="bg1"/>
                          </a:solidFill>
                        </a:rPr>
                        <a:t>Mean Year 1 in Bundesliga min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rPr sz="1000" b="1" dirty="0">
                          <a:solidFill>
                            <a:schemeClr val="bg1"/>
                          </a:solidFill>
                        </a:rPr>
                        <a:t>Trait score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FIFA World Cup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288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57.3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Champions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257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57.8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UEFA Euro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17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193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45.9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Premier League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53.7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La Liga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>
                          <a:solidFill>
                            <a:srgbClr val="333333"/>
                          </a:solidFill>
                        </a:rPr>
                        <a:t>133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1C1C1C"/>
                          </a:solidFill>
                          <a:latin typeface="Calibri"/>
                        </a:defRPr>
                      </a:pPr>
                      <a:r>
                        <a:rPr sz="1000" dirty="0">
                          <a:solidFill>
                            <a:srgbClr val="333333"/>
                          </a:solidFill>
                        </a:rPr>
                        <a:t>55.2</a:t>
                      </a:r>
                    </a:p>
                  </a:txBody>
                  <a:tcPr>
                    <a:solidFill>
                      <a:srgbClr val="F0FA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111242" y="1313482"/>
            <a:ext cx="6080453" cy="21749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 dirty="0">
                <a:solidFill>
                  <a:srgbClr val="333333"/>
                </a:solidFill>
              </a:rPr>
              <a:t>Football Reference N=329 (only leagues with ≥8 players shown). </a:t>
            </a:r>
            <a:r>
              <a:rPr sz="1100" b="0" dirty="0" err="1">
                <a:solidFill>
                  <a:srgbClr val="333333"/>
                </a:solidFill>
              </a:rPr>
              <a:t>StatsBomb</a:t>
            </a:r>
            <a:r>
              <a:rPr sz="1100" b="0" dirty="0">
                <a:solidFill>
                  <a:srgbClr val="333333"/>
                </a:solidFill>
              </a:rPr>
              <a:t> N=96 — international priors are directional only.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How to read these averages: each row is players who already moved from that competition into the Bundesliga. Clubs chose whom to sign, so this is not a random sample of everyone in that league.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Relative prior-league averages are a useful description of arrivals. They are not a causal claim that “coming from league X causes more minutes” or that the league produces better transferable talent — that would need separating the league label from who gets signed and where they land. (The exploratory OLS later holds prior minutes / position / traits fixed and finds league gaps are modest.)</a:t>
            </a:r>
          </a:p>
          <a:p>
            <a:endParaRPr sz="1100" b="0" dirty="0">
              <a:solidFill>
                <a:srgbClr val="333333"/>
              </a:solidFill>
            </a:endParaRPr>
          </a:p>
          <a:p>
            <a:r>
              <a:rPr sz="1100" b="0" dirty="0">
                <a:solidFill>
                  <a:srgbClr val="333333"/>
                </a:solidFill>
              </a:rPr>
              <a:t>Tables also in the explorer Success tab · </a:t>
            </a:r>
            <a:r>
              <a:rPr sz="1100" b="0" dirty="0" err="1">
                <a:solidFill>
                  <a:srgbClr val="333333"/>
                </a:solidFill>
              </a:rPr>
              <a:t>README.md</a:t>
            </a:r>
            <a:endParaRPr sz="1100" b="0" dirty="0">
              <a:solidFill>
                <a:srgbClr val="333333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dirty="0">
                <a:solidFill>
                  <a:srgbClr val="3D5A80"/>
                </a:solidFill>
                <a:latin typeface="Georgia"/>
              </a:rPr>
              <a:t>PHASE 2 · FEEDER REGRESSION (EXPLORATORY)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</a:rPr>
              <a:t>Descriptive “best feeder league” averages are not enough — ordinary least squares (OLS) regression asks whether league gaps remain after controls.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5303520" cy="3970318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br>
              <a:rPr lang="en-US" dirty="0"/>
            </a:br>
            <a:r>
              <a:rPr sz="1200" b="0">
                <a:solidFill>
                  <a:srgbClr val="333333"/>
                </a:solidFill>
              </a:rPr>
              <a:t>Model 1 — league only (with basic controls)</a:t>
            </a:r>
          </a:p>
          <a:p>
            <a:r>
              <a:rPr sz="1200" b="0">
                <a:solidFill>
                  <a:srgbClr val="333333"/>
                </a:solidFill>
              </a:rPr>
              <a:t>Year 1 minutes = prior league (Premier League / La Liga / Ligue 1 vs Serie A baseline)</a:t>
            </a:r>
          </a:p>
          <a:p>
            <a:r>
              <a:rPr sz="1200" b="0">
                <a:solidFill>
                  <a:srgbClr val="333333"/>
                </a:solidFill>
              </a:rPr>
              <a:t>                 + prior minutes + position</a:t>
            </a:r>
          </a:p>
          <a:p>
            <a:r>
              <a:rPr sz="1200" b="0">
                <a:solidFill>
                  <a:srgbClr val="333333"/>
                </a:solidFill>
              </a:rPr>
              <a:t>Question: after that, does league still matter?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Model 2 — league + traits</a:t>
            </a:r>
          </a:p>
          <a:p>
            <a:r>
              <a:rPr sz="1200" b="0">
                <a:solidFill>
                  <a:srgbClr val="333333"/>
                </a:solidFill>
              </a:rPr>
              <a:t>Year 1 minutes = Model 1 + prior trait percentiles</a:t>
            </a:r>
          </a:p>
          <a:p>
            <a:r>
              <a:rPr sz="1200" b="0">
                <a:solidFill>
                  <a:srgbClr val="333333"/>
                </a:solidFill>
              </a:rPr>
              <a:t>                 (e.g. passes into the final third, defensive penalty-area touches, …)</a:t>
            </a:r>
          </a:p>
          <a:p>
            <a:r>
              <a:rPr sz="1200" b="0">
                <a:solidFill>
                  <a:srgbClr val="333333"/>
                </a:solidFill>
              </a:rPr>
              <a:t>Question: once you know the prior profile, do league gaps shrink?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Model 3 — holdout check</a:t>
            </a:r>
          </a:p>
          <a:p>
            <a:r>
              <a:rPr sz="1200" b="0">
                <a:solidFill>
                  <a:srgbClr val="333333"/>
                </a:solidFill>
              </a:rPr>
              <a:t>Fit Model 2 on 80% of players; correlate predicted vs actual Year 1 minutes on the other 20%.</a:t>
            </a:r>
          </a:p>
          <a:p>
            <a:r>
              <a:rPr sz="1200" b="0">
                <a:solidFill>
                  <a:srgbClr val="333333"/>
                </a:solidFill>
              </a:rPr>
              <a:t>Question: is the fit just memorizing this sample?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Serie A = baseline (lowest average Year 1 minutes among Big Five feeders in this subset).</a:t>
            </a:r>
          </a:p>
          <a:p>
            <a:r>
              <a:rPr sz="1200" b="0">
                <a:solidFill>
                  <a:srgbClr val="333333"/>
                </a:solidFill>
              </a:rPr>
              <a:t>Big Five Football Reference subset N=117. Exploratory associations — not a validated forecast.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3D5A80"/>
                </a:solidFill>
                <a:latin typeface="Georgia"/>
              </a:rPr>
              <a:t>RESULTS  ·  REGRESSION — WHY LIGUE 1 LOOKS BEST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804672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3333"/>
                </a:solidFill>
              </a:rPr>
              <a:t>Model 1 R²=0.086 → Model 2 R²=0.215 when traits added · Model 3 holdout correlation r=0.35 (exploratory)</a:t>
            </a:r>
            <a:endParaRPr lang="en-US" sz="1200" b="0" dirty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Left table = Model 1 league gaps · Right table = Model 2 trait effects · Model 3 = holdout check only (no third chart)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3676595"/>
              </p:ext>
            </p:extLst>
          </p:nvPr>
        </p:nvGraphicFramePr>
        <p:xfrm>
          <a:off x="548640" y="1786128"/>
          <a:ext cx="3657600" cy="14721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League vs Serie A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Δ Year 1 in Bundesliga min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La Liga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0.856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Ligue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+163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0.375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Premier League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0.661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3298479"/>
              </p:ext>
            </p:extLst>
          </p:nvPr>
        </p:nvGraphicFramePr>
        <p:xfrm>
          <a:off x="4663440" y="1786128"/>
          <a:ext cx="36576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Prior trait pct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Δ Year 1 in Bundesliga min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C1C1C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t>Aerials lost (fewer is better)*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0.002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t>Passes into the final third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0.158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t>Defensive penalty-area touches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0.189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t>Progressive carry distance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C1C1C"/>
                          </a:solidFill>
                          <a:latin typeface="Arial"/>
                        </a:rPr>
                        <a:t>0.249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t>Expected goals (xG)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1C1C1C"/>
                          </a:solidFill>
                          <a:latin typeface="Arial"/>
                        </a:rPr>
                        <a:t>0.430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595360" y="1325880"/>
            <a:ext cx="3108960" cy="21082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333333"/>
                </a:solidFill>
              </a:rPr>
              <a:t>Does the Ligue 1 result make sense?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The table shows Ligue 1 arrivals with about +163 Year 1 minutes versus Serie A. That gap looks large, but p≈0.38 with N=117 — under usual standards it is not distinguishable from chance. In plain terms: we do not have clear evidence that Ligue 1 labels alone buy more first-season playing time once prior minutes and position are held fixed.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What does look clearer: adding prior trait percentiles raises R² from about 0.09 to 0.22, so the player’s prior profile explains Year 1 minutes better than the league name. The holdout check (correlation ≈0.35) is only moderate — useful as exploration, not a strong forecast.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Takeaway: prioritize traits that travel and Year 1 minutes; treat prior-league labels as a weak leftover signal.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Serie A = baseline (lowest mean Year 1 minutes among Big Five feeders).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4629224"/>
            <a:ext cx="10972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dirty="0">
                <a:solidFill>
                  <a:srgbClr val="555555"/>
                </a:solidFill>
                <a:latin typeface="Georgia"/>
              </a:rPr>
              <a:t>* p&lt;0.05. Full tables: README.md (Exploratory feeder regression).</a:t>
            </a:r>
            <a:endParaRPr sz="1100" b="0" dirty="0">
              <a:solidFill>
                <a:srgbClr val="555555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FDC249-A5FD-8DEF-D331-6AC779D7AD0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5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333333"/>
                </a:solidFill>
              </a:rPr>
              <a:t>• StatsBomb N=96 with mixed open-data priors (World Cup / European Championship / Champions League mix rather than clean domestic league seasons — larger count, less consistent prior context)</a:t>
            </a:r>
            <a:endParaRPr sz="2600" b="1" dirty="0">
              <a:solidFill>
                <a:srgbClr val="3D5A80"/>
              </a:solidFill>
              <a:latin typeface="Georgia" panose="02040502050405020303" pitchFamily="18" charset="0"/>
            </a:endParaRPr>
          </a:p>
          <a:p>
            <a:r>
              <a:rPr sz="1200" b="0">
                <a:solidFill>
                  <a:srgbClr val="333333"/>
                </a:solidFill>
              </a:rPr>
              <a:t>• Football Reference N=329 helps, but many advanced metrics only have ~90–100 complete pairs</a:t>
            </a:r>
          </a:p>
          <a:p>
            <a:r>
              <a:rPr sz="1200" b="0">
                <a:solidFill>
                  <a:srgbClr val="333333"/>
                </a:solidFill>
              </a:rPr>
              <a:t>• Multiple traits tested — treat Phase 2 as associations, not a forecast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What hardened the sample</a:t>
            </a:r>
          </a:p>
          <a:p>
            <a:endParaRPr sz="1200" b="0">
              <a:solidFill>
                <a:srgbClr val="333333"/>
              </a:solidFill>
            </a:endParaRPr>
          </a:p>
          <a:p>
            <a:r>
              <a:rPr sz="1200" b="0">
                <a:solidFill>
                  <a:srgbClr val="333333"/>
                </a:solidFill>
              </a:rPr>
              <a:t>• 19 leagues · first Bundesliga seasons 2021–2025 · prior / Year 1 ≥300′ → N=329</a:t>
            </a:r>
          </a:p>
          <a:p>
            <a:r>
              <a:rPr sz="1200" b="0">
                <a:solidFill>
                  <a:srgbClr val="333333"/>
                </a:solidFill>
              </a:rPr>
              <a:t>• Category consistency cutoffs + light near-duplicate filter (|r| ≥ 0.95) → 32 traits</a:t>
            </a:r>
          </a:p>
          <a:p>
            <a:r>
              <a:rPr sz="1200" b="0">
                <a:solidFill>
                  <a:srgbClr val="333333"/>
                </a:solidFill>
              </a:rPr>
              <a:t>• StatsBomb kept as an event deep dive (r ≥ 0.40 · 7 traits), not a league ranking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3D5A80"/>
                </a:solidFill>
                <a:latin typeface="Georgia"/>
              </a:rPr>
              <a:t>WHY P-VALUES STAY MODEST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40DF8E9-F5CF-8327-48D0-70D97E7B353A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47932" y="960120"/>
            <a:ext cx="10972800" cy="250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 dirty="0">
                <a:solidFill>
                  <a:srgbClr val="333333"/>
                </a:solidFill>
              </a:rPr>
              <a:t>• Shortlists of traits that travel: Football Reference 105 tested → 43 met consistency floor → 32 after dropping near-duplicates · </a:t>
            </a:r>
            <a:r>
              <a:rPr sz="1300" b="0" dirty="0" err="1">
                <a:solidFill>
                  <a:srgbClr val="333333"/>
                </a:solidFill>
              </a:rPr>
              <a:t>StatsBomb</a:t>
            </a:r>
            <a:r>
              <a:rPr sz="1300" b="0" dirty="0">
                <a:solidFill>
                  <a:srgbClr val="333333"/>
                </a:solidFill>
              </a:rPr>
              <a:t> 16 tested → 7 met consistency floor (all 7 kept)</a:t>
            </a:r>
            <a:endParaRPr lang="en-US" sz="2400" b="1" dirty="0">
              <a:solidFill>
                <a:srgbClr val="3D5A80"/>
              </a:solidFill>
              <a:latin typeface="Calibri"/>
            </a:endParaRPr>
          </a:p>
          <a:p>
            <a:endParaRPr lang="en-US" sz="2400" b="1" dirty="0">
              <a:solidFill>
                <a:srgbClr val="3D5A80"/>
              </a:solidFill>
              <a:latin typeface="Calibri"/>
            </a:endParaRPr>
          </a:p>
          <a:p>
            <a:r>
              <a:rPr sz="1300" b="0" dirty="0">
                <a:solidFill>
                  <a:srgbClr val="333333"/>
                </a:solidFill>
              </a:rPr>
              <a:t>• Football Reference traits most linked to Year 1 Bundesliga minutes (p&lt;0.05): passes into the final third, shot blocks, progressive carry distance, box defending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1" dirty="0">
                <a:solidFill>
                  <a:srgbClr val="333333"/>
                </a:solidFill>
              </a:rPr>
              <a:t>• The player (prior trait profile) matters more than the prior-league label: exploratory OLS (N=117) finds league gaps modest/non-significant once controls and traits are included, while adding traits raises fit more than league names alone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• Use metrics that stay consistent across leagues. Year 1 Bundesliga minutes = open-data success measure</a:t>
            </a:r>
          </a:p>
          <a:p>
            <a:endParaRPr sz="1300" b="0" dirty="0">
              <a:solidFill>
                <a:srgbClr val="333333"/>
              </a:solidFill>
            </a:endParaRPr>
          </a:p>
          <a:p>
            <a:r>
              <a:rPr sz="1300" b="0" dirty="0">
                <a:solidFill>
                  <a:srgbClr val="333333"/>
                </a:solidFill>
              </a:rPr>
              <a:t>• Future work: change in </a:t>
            </a:r>
            <a:r>
              <a:rPr sz="1300" b="0" dirty="0" err="1">
                <a:solidFill>
                  <a:srgbClr val="333333"/>
                </a:solidFill>
              </a:rPr>
              <a:t>Transfermarkt</a:t>
            </a:r>
            <a:r>
              <a:rPr sz="1300" b="0" dirty="0">
                <a:solidFill>
                  <a:srgbClr val="333333"/>
                </a:solidFill>
              </a:rPr>
              <a:t> market value (next slide) as a club-grade 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3D5A80"/>
                </a:solidFill>
                <a:latin typeface="Georgia"/>
              </a:rPr>
              <a:t>TAKEAWAYS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dirty="0">
                <a:solidFill>
                  <a:srgbClr val="3D5A80"/>
                </a:solidFill>
                <a:latin typeface="Georgia"/>
              </a:rPr>
              <a:t>IF WE HAD THE DATA  ·  TRANSFERMARKT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55555"/>
                </a:solidFill>
                <a:latin typeface="Georgia"/>
              </a:rPr>
              <a:t>What we would use instead of (or alongside) Year 1 in Bundesliga minutes.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17320"/>
            <a:ext cx="10652760" cy="1477328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333333"/>
                </a:solidFill>
              </a:rPr>
              <a:t>Top indicator in a full club model: change in market value (change in Transfermarkt market value)</a:t>
            </a:r>
          </a:p>
          <a:p>
            <a:r>
              <a:rPr sz="1300" b="0">
                <a:solidFill>
                  <a:srgbClr val="333333"/>
                </a:solidFill>
              </a:rPr>
              <a:t>Captures performance + hype + contract context in one outcome clubs care about</a:t>
            </a:r>
          </a:p>
          <a:p>
            <a:r>
              <a:rPr sz="1300" b="0">
                <a:solidFill>
                  <a:srgbClr val="333333"/>
                </a:solidFill>
              </a:rPr>
              <a:t>The New York Red Bulls internship project’s player-value work used market value rather than Year 1 Bundesliga minutes; this project uses open data only — Transfermarkt disallows scraping</a:t>
            </a:r>
          </a:p>
          <a:p>
            <a:r>
              <a:rPr sz="1300" b="0">
                <a:solidFill>
                  <a:srgbClr val="333333"/>
                </a:solidFill>
              </a:rPr>
              <a:t>So we use Year 1 Bundesliga minutes as the success measure until a licensed market-value feed is available</a:t>
            </a:r>
          </a:p>
          <a:p>
            <a:r>
              <a:rPr sz="1300" b="0">
                <a:solidFill>
                  <a:srgbClr val="333333"/>
                </a:solidFill>
              </a:rPr>
              <a:t>Natural extension: prior traits → change in market value with holdout regression / machine learning</a:t>
            </a:r>
          </a:p>
        </p:txBody>
      </p:sp>
    </p:spTree>
    <p:extLst>
      <p:ext uri="{BB962C8B-B14F-4D97-AF65-F5344CB8AC3E}">
        <p14:creationId xmlns:p14="http://schemas.microsoft.com/office/powerpoint/2010/main" val="7975823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3D5A80"/>
                </a:solidFill>
              </a:rPr>
              <a:t>GLOSSARY · SHORT CODES → FULL NAMES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54864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Football Reference (examples)</a:t>
            </a:r>
          </a:p>
          <a:p>
            <a:r>
              <a:rPr sz="1100" b="0">
                <a:solidFill>
                  <a:srgbClr val="333333"/>
                </a:solidFill>
              </a:rPr>
              <a:t>DEFPE — Defensive penalty-area touches /90</a:t>
            </a:r>
          </a:p>
          <a:p>
            <a:r>
              <a:rPr sz="1100" b="0">
                <a:solidFill>
                  <a:srgbClr val="333333"/>
                </a:solidFill>
              </a:rPr>
              <a:t>DEF3R — Defensive-third touches /90</a:t>
            </a:r>
          </a:p>
          <a:p>
            <a:r>
              <a:rPr sz="1100" b="0">
                <a:solidFill>
                  <a:srgbClr val="333333"/>
                </a:solidFill>
              </a:rPr>
              <a:t>PRGC — Progressive carries /90</a:t>
            </a:r>
          </a:p>
          <a:p>
            <a:r>
              <a:rPr sz="1100" b="0">
                <a:solidFill>
                  <a:srgbClr val="333333"/>
                </a:solidFill>
              </a:rPr>
              <a:t>PRGDI — Progressive carry distance /90</a:t>
            </a:r>
          </a:p>
          <a:p>
            <a:r>
              <a:rPr sz="1100" b="0">
                <a:solidFill>
                  <a:srgbClr val="333333"/>
                </a:solidFill>
              </a:rPr>
              <a:t>PRGRR — Progressive receives /90</a:t>
            </a:r>
          </a:p>
          <a:p>
            <a:r>
              <a:rPr sz="1100" b="0">
                <a:solidFill>
                  <a:srgbClr val="333333"/>
                </a:solidFill>
              </a:rPr>
              <a:t>XG — Expected goals /90</a:t>
            </a:r>
          </a:p>
          <a:p>
            <a:r>
              <a:rPr sz="1100" b="0">
                <a:solidFill>
                  <a:srgbClr val="333333"/>
                </a:solidFill>
              </a:rPr>
              <a:t>GLS — Goals /90</a:t>
            </a:r>
          </a:p>
          <a:p>
            <a:r>
              <a:rPr sz="1100" b="0">
                <a:solidFill>
                  <a:srgbClr val="333333"/>
                </a:solidFill>
              </a:rPr>
              <a:t>SOTPE / ATTSH — Shots on target /90</a:t>
            </a:r>
          </a:p>
          <a:p>
            <a:r>
              <a:rPr sz="1100" b="0">
                <a:solidFill>
                  <a:srgbClr val="333333"/>
                </a:solidFill>
              </a:rPr>
              <a:t>FINAL — Passes into final third /90</a:t>
            </a:r>
          </a:p>
          <a:p>
            <a:r>
              <a:rPr sz="1100" b="0">
                <a:solidFill>
                  <a:srgbClr val="333333"/>
                </a:solidFill>
              </a:rPr>
              <a:t>KP — Key passes /90</a:t>
            </a:r>
          </a:p>
          <a:p>
            <a:r>
              <a:rPr sz="1100" b="0">
                <a:solidFill>
                  <a:srgbClr val="333333"/>
                </a:solidFill>
              </a:rPr>
              <a:t>SH — Shot blocks /90</a:t>
            </a:r>
          </a:p>
          <a:p>
            <a:r>
              <a:rPr sz="1100" b="0">
                <a:solidFill>
                  <a:srgbClr val="333333"/>
                </a:solidFill>
              </a:rPr>
              <a:t>TKLD — Tackled (take-ons) /90</a:t>
            </a:r>
          </a:p>
          <a:p>
            <a:r>
              <a:rPr sz="1100" b="0">
                <a:solidFill>
                  <a:srgbClr val="333333"/>
                </a:solidFill>
              </a:rPr>
              <a:t>CLR — Clearances /90</a:t>
            </a:r>
          </a:p>
          <a:p>
            <a:r>
              <a:rPr sz="1100" b="0">
                <a:solidFill>
                  <a:srgbClr val="333333"/>
                </a:solidFill>
              </a:rPr>
              <a:t>INT — Interceptions /90</a:t>
            </a:r>
          </a:p>
          <a:p>
            <a:r>
              <a:rPr sz="1100" b="0">
                <a:solidFill>
                  <a:srgbClr val="333333"/>
                </a:solidFill>
              </a:rPr>
              <a:t>ATTLO — Long pass attempts /90</a:t>
            </a:r>
          </a:p>
          <a:p>
            <a:r>
              <a:rPr sz="1100" b="0">
                <a:solidFill>
                  <a:srgbClr val="333333"/>
                </a:solidFill>
              </a:rPr>
              <a:t>FLD — Fouls drawn /90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0" y="822960"/>
            <a:ext cx="548640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333333"/>
                </a:solidFill>
              </a:rPr>
              <a:t>StatsBomb (N=96)</a:t>
            </a:r>
          </a:p>
          <a:p>
            <a:r>
              <a:rPr sz="1100" b="0">
                <a:solidFill>
                  <a:srgbClr val="333333"/>
                </a:solidFill>
              </a:rPr>
              <a:t>prior percentile → Year 1 in Bundesliga minutes</a:t>
            </a:r>
          </a:p>
          <a:p>
            <a:endParaRPr sz="1100" b="0">
              <a:solidFill>
                <a:srgbClr val="333333"/>
              </a:solidFill>
            </a:endParaRPr>
          </a:p>
          <a:p>
            <a:r>
              <a:rPr sz="1100" b="0">
                <a:solidFill>
                  <a:srgbClr val="333333"/>
                </a:solidFill>
              </a:rPr>
              <a:t>Pressures (closing down opponents)  ρ=-0.28  p=0.006</a:t>
            </a:r>
          </a:p>
          <a:p>
            <a:r>
              <a:rPr sz="1100" b="0">
                <a:solidFill>
                  <a:srgbClr val="333333"/>
                </a:solidFill>
              </a:rPr>
              <a:t>Successful dribbles  ρ=-0.17  p=0.090</a:t>
            </a:r>
          </a:p>
          <a:p>
            <a:r>
              <a:rPr sz="1100" b="0">
                <a:solidFill>
                  <a:srgbClr val="333333"/>
                </a:solidFill>
              </a:rPr>
              <a:t>Progressive passes  ρ=+0.16  p=0.112</a:t>
            </a:r>
          </a:p>
          <a:p>
            <a:r>
              <a:rPr sz="1100" b="0">
                <a:solidFill>
                  <a:srgbClr val="333333"/>
                </a:solidFill>
              </a:rPr>
              <a:t>Times dispossessed (inverted)  ρ=+0.14  p=0.185</a:t>
            </a:r>
          </a:p>
          <a:p>
            <a:r>
              <a:rPr sz="1100" b="0">
                <a:solidFill>
                  <a:srgbClr val="333333"/>
                </a:solidFill>
              </a:rPr>
              <a:t>Passes into the final third  ρ=-0.11  p=0.280</a:t>
            </a:r>
          </a:p>
          <a:p>
            <a:r>
              <a:rPr sz="1100" b="0">
                <a:solidFill>
                  <a:srgbClr val="333333"/>
                </a:solidFill>
              </a:rPr>
              <a:t>Clearances  ρ=-0.07  p=0.473</a:t>
            </a:r>
          </a:p>
          <a:p>
            <a:r>
              <a:rPr sz="1100" b="0">
                <a:solidFill>
                  <a:srgbClr val="333333"/>
                </a:solidFill>
              </a:rPr>
              <a:t>Pass volume  ρ=+0.00  p=0.980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0972800" cy="17440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200" b="1">
                <a:solidFill>
                  <a:srgbClr val="3D5A80"/>
                </a:solidFill>
              </a:rPr>
              <a:t>Deliverables (submit package — these five files only)</a:t>
            </a:r>
          </a:p>
          <a:p>
            <a:r>
              <a:rPr sz="1400" b="0">
                <a:solidFill>
                  <a:srgbClr val="333333"/>
                </a:solidFill>
              </a:rPr>
              <a:t/>
            </a:r>
          </a:p>
          <a:p>
            <a:r>
              <a:rPr sz="1400" b="0">
                <a:solidFill>
                  <a:srgbClr val="333333"/>
                </a:solidFill>
              </a:rPr>
              <a:t>1. bundesliga_transfer_traits.pptx — method + results deck</a:t>
            </a:r>
          </a:p>
          <a:p>
            <a:r>
              <a:rPr sz="1400" b="0">
                <a:solidFill>
                  <a:srgbClr val="333333"/>
                </a:solidFill>
              </a:rPr>
              <a:t>2. README.md — package overview + regression tables</a:t>
            </a:r>
          </a:p>
          <a:p>
            <a:r>
              <a:rPr sz="1400" b="0">
                <a:solidFill>
                  <a:srgbClr val="333333"/>
                </a:solidFill>
              </a:rPr>
              <a:t>3. interactive_player_explorer.html — success summary + player radar charts</a:t>
            </a:r>
          </a:p>
          <a:p>
            <a:r>
              <a:rPr sz="1400" b="0">
                <a:solidFill>
                  <a:srgbClr val="333333"/>
                </a:solidFill>
              </a:rPr>
              <a:t>4. stability_redundancy_inspector.html — consistency floors &amp; near-duplicate cuts</a:t>
            </a:r>
          </a:p>
          <a:p>
            <a:r>
              <a:rPr sz="1400" b="0">
                <a:solidFill>
                  <a:srgbClr val="333333"/>
                </a:solidFill>
              </a:rPr>
              <a:t>5. projectproposal.docx — proposal memo (projectproposal.txt = same memo, plain text)</a:t>
            </a:r>
          </a:p>
          <a:p>
            <a:r>
              <a:rPr sz="1400" b="0">
                <a:solidFill>
                  <a:srgbClr val="333333"/>
                </a:solidFill>
              </a:rPr>
              <a:t/>
            </a:r>
          </a:p>
          <a:p>
            <a:r>
              <a:rPr sz="1400" b="0">
                <a:solidFill>
                  <a:srgbClr val="333333"/>
                </a:solidFill>
              </a:rPr>
              <a:t>Pipeline (not separate files): cohort with minute floors → consistency check → drop near-duplicates → explorer + success tests</a:t>
            </a:r>
          </a:p>
          <a:p>
            <a:r>
              <a:rPr sz="1400" b="0">
                <a:solidFill>
                  <a:srgbClr val="333333"/>
                </a:solidFill>
              </a:rPr>
              <a:t/>
            </a:r>
          </a:p>
          <a:p>
            <a:r>
              <a:rPr sz="1400" b="0">
                <a:solidFill>
                  <a:srgbClr val="333333"/>
                </a:solidFill>
              </a:rPr>
              <a:t>Consistency floors: Football Reference Attacking/Passing/Other Pearson r ≥ 0.60 · Defending/Carrying Pearson r ≥ 0.50 · StatsBomb Pearson r ≥ 0.40 · final shortlists 32 /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4546</TotalTime>
  <Words>4775</Words>
  <Application>Microsoft Macintosh PowerPoint</Application>
  <PresentationFormat>Widescreen</PresentationFormat>
  <Paragraphs>709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Colby Morris</cp:lastModifiedBy>
  <cp:revision>30</cp:revision>
  <dcterms:created xsi:type="dcterms:W3CDTF">2013-01-27T09:14:16Z</dcterms:created>
  <dcterms:modified xsi:type="dcterms:W3CDTF">2026-08-06T05:36:00Z</dcterms:modified>
  <cp:category/>
</cp:coreProperties>
</file>