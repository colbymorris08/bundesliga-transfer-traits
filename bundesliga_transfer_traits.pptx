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84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57"/>
    <p:restoredTop sz="94697"/>
  </p:normalViewPr>
  <p:slideViewPr>
    <p:cSldViewPr snapToGrid="0" snapToObjects="1">
      <p:cViewPr varScale="1">
        <p:scale>
          <a:sx n="108" d="100"/>
          <a:sy n="108" d="100"/>
        </p:scale>
        <p:origin x="4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</a:rPr>
              <a:t>Which traits most accurately travel into the Bundesliga (Germany’s top men’s soccer league) from other professional soccer leagues?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6" name="Picture 5" descr="feeder_to_bundesliga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00" y="4000000"/>
            <a:ext cx="11400000" cy="299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Research question → data scrape from FBref and StatsBomb → stability thresholds → redundancy thresholds → HTML player explorer → team-based significance findings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German Bundesliga — and which prior stats line up with Year 1 in Bundesliga 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752147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Scrape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and Year 1 in Bundesliga minutes ≥300′.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2015/16 + 2023/24; prior ≥45′ / Year 1 in Bundesliga 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70381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70847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Year 1 in Bundesliga per-90 rates. Keep metrics that travel (clear the floor). Metrics that miss the floor are non-portable — reported as failed/unstable in the inspector, not on the scout shortlist.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774215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5112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Choose thresholds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 category gates → 43 of 105 metrics met the stability floor.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Pearson r≥0.40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Redundancy + context</a:t>
            </a:r>
          </a:p>
          <a:p>
            <a:r>
              <a:rPr sz="1200" b="0">
                <a:solidFill>
                  <a:srgbClr val="333333"/>
                </a:solidFill>
              </a:rPr>
              <a:t>Drop near-duplicates. FBref 43→32 · StatsBomb keep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Explorer &amp; graphics</a:t>
            </a:r>
          </a:p>
          <a:p>
            <a:r>
              <a:rPr sz="1200" b="0">
                <a:solidFill>
                  <a:srgbClr val="333333"/>
                </a:solidFill>
              </a:rPr>
              <a:t>Radars / pizzas on shortlisted metrics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Significance tests</a:t>
            </a:r>
          </a:p>
          <a:p>
            <a:r>
              <a:rPr sz="1100" b="0">
                <a:solidFill>
                  <a:srgbClr val="333333"/>
                </a:solidFill>
              </a:rPr>
              <a:t>Spearman: prior trait percentile vs Year 1 in Bundesliga minutes; feeder-league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Compared to the project completed with Red Bull New York, the project defines the most portable traits for scouting leading to playing time in the Bundesliga year 1 post-transfer rather than Transfermarkt value. Scouts and teams will be able to answer the questions: ‘Which traits do we scout in outside leagues to best predict playing time? Which leagues provide the most reliable statistics to best predict results in the Bundesliga?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00000"/>
            <a:ext cx="548640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4300000"/>
            <a:ext cx="73152" cy="1991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4300000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FBref = scaled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19 leagues · first Bundesliga season 2021–2025 · ≥300′</a:t>
            </a:r>
          </a:p>
          <a:p>
            <a:r>
              <a:rPr sz="1100" b="0">
                <a:solidFill>
                  <a:srgbClr val="333333"/>
                </a:solidFill>
              </a:rPr>
              <a:t>N=329 pairs</a:t>
            </a:r>
          </a:p>
          <a:p>
            <a:r>
              <a:rPr sz="1100" b="0">
                <a:solidFill>
                  <a:srgbClr val="333333"/>
                </a:solidFill>
              </a:rPr>
              <a:t>105 metrics tested → 43 met stability floor → 32 met redundancy floor (final list)</a:t>
            </a:r>
          </a:p>
          <a:p>
            <a:r>
              <a:rPr sz="1100" b="0">
                <a:solidFill>
                  <a:srgbClr val="333333"/>
                </a:solidFill>
              </a:rPr>
              <a:t>Attacking/Passing/Other: Pearson stability ≥0.60</a:t>
            </a:r>
          </a:p>
          <a:p>
            <a:r>
              <a:rPr sz="1100" b="0">
                <a:solidFill>
                  <a:srgbClr val="333333"/>
                </a:solidFill>
              </a:rPr>
              <a:t>Defending/Carrying: Pearson stability ≥0.50 (lower floor to keep enough defensive volume)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300000"/>
            <a:ext cx="544068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4300000"/>
            <a:ext cx="73152" cy="1991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4300000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= metric depth,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100" b="0">
                <a:solidFill>
                  <a:srgbClr val="333333"/>
                </a:solidFill>
              </a:rPr>
              <a:t>N=96 · prior ≥45′ / Year 1 in Bundesliga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r≥0.40 → 7 of 16 · Pearson |r|≥0.85 keep all 7</a:t>
            </a:r>
          </a:p>
          <a:p>
            <a:r>
              <a:rPr sz="1100" b="0">
                <a:solidFill>
                  <a:srgbClr val="333333"/>
                </a:solidFill>
              </a:rPr>
              <a:t>Priors: 17 competitions · Bundesliga 2015/16 + 2023/24</a:t>
            </a:r>
          </a:p>
        </p:txBody>
      </p:sp>
      <p:pic>
        <p:nvPicPr>
          <p:cNvPr id="22" name="Picture 21" descr="feeder_to_bundesliga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2650000"/>
            <a:ext cx="11500000" cy="16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109960" cy="1190526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r>
              <a:rPr sz="1200" b="0">
                <a:solidFill>
                  <a:srgbClr val="333333"/>
                </a:solidFill>
              </a:rPr>
              <a:t>Pearson r = stability (does the prior ranking of a rate recur in Year 1 in Bundesliga?).</a:t>
            </a:r>
          </a:p>
          <a:p>
            <a:r>
              <a:rPr sz="1200" b="0">
                <a:solidFill>
                  <a:srgbClr val="333333"/>
                </a:solidFill>
              </a:rPr>
              <a:t>Spearman ρ = success — yes: success means more Year 1 in Bundesliga minutes (playing time), not goals or market value. We ask whether higher prior trait ranks line up with more first-season minutes.</a:t>
            </a:r>
          </a:p>
          <a:p>
            <a:r>
              <a:rPr sz="1200" b="0">
                <a:solidFill>
                  <a:srgbClr val="333333"/>
                </a:solidFill>
              </a:rPr>
              <a:t>Redundancy = drop near-duplicate metrics. Percentiles = rank vs Bundesliga position peers.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Year 1 in Bundesliga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Year 1 in Bundesliga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FBREF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Primary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Outside-league tables + player-page fills</a:t>
            </a:r>
          </a:p>
          <a:p>
            <a:r>
              <a:rPr sz="1200" b="0">
                <a:solidFill>
                  <a:srgbClr val="333333"/>
                </a:solidFill>
              </a:rPr>
              <a:t>Analysis window: first Bundesliga end-years 2021–2025</a:t>
            </a:r>
          </a:p>
          <a:p>
            <a:r>
              <a:rPr sz="1200" b="0">
                <a:solidFill>
                  <a:srgbClr val="333333"/>
                </a:solidFill>
              </a:rPr>
              <a:t>Minutes: prior ≥300′ · Year 1 in Bundesliga ≥300′ → N=329 pairs · 19 leagues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League-relative scaling (mentioned once): we tried “how high vs peers in the same prior league” (z-score / percentile). It did not improve prior→Year 1 stability, so we keep absolute per-90 rates everywhere.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STATSBOMB OPEN DATA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Deeper but secondary/smaller data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What we use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Priors = any StatsBomb open men’s competition the player played before Bundesliga (club leagues and internationals — World Cup, Euro, Champions League, etc.).</a:t>
            </a:r>
          </a:p>
          <a:p>
            <a:r>
              <a:rPr sz="1200" b="0">
                <a:solidFill>
                  <a:srgbClr val="333333"/>
                </a:solidFill>
              </a:rPr>
              <a:t>1. Bundesliga open dumps: 2015/16 + 2023/24 only</a:t>
            </a:r>
          </a:p>
          <a:p>
            <a:r>
              <a:rPr sz="1200" b="0">
                <a:solidFill>
                  <a:srgbClr val="333333"/>
                </a:solidFill>
              </a:rPr>
              <a:t>N=96 · prior ≥45′ · Year 1 in Bundesliga ≥30′</a:t>
            </a:r>
          </a:p>
          <a:p>
            <a:r>
              <a:rPr sz="1200" b="0">
                <a:solidFill>
                  <a:srgbClr val="333333"/>
                </a:solidFill>
              </a:rPr>
              <a:t>Pearson r≥0.40 → 7 · Pearson |r|≥0.85 → keep all 7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Open-data thinness · two BL seasons · event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vs 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 b="0">
                <a:solidFill>
                  <a:srgbClr val="333333"/>
                </a:solidFill>
              </a:rPr>
              <a:t>Event check on trait families — not a second league-ranking study.</a:t>
            </a:r>
          </a:p>
          <a:p>
            <a:r>
              <a:rPr sz="1200" b="0">
                <a:solidFill>
                  <a:srgbClr val="333333"/>
                </a:solidFill>
              </a:rPr>
              <a:t>Priors mix club + international competitions, so feeder tables here are directional only.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3824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Prior league → first Bundesliga season (end-years 2021–2025)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Category gates (not one global cut):</a:t>
            </a:r>
          </a:p>
          <a:p>
            <a:r>
              <a:rPr sz="1200" b="0" dirty="0">
                <a:solidFill>
                  <a:srgbClr val="333333"/>
                </a:solidFill>
              </a:rPr>
              <a:t>Attacking / Passing / Other · Pearson r ≥ 0.60</a:t>
            </a:r>
          </a:p>
          <a:p>
            <a:r>
              <a:rPr sz="1200" b="0" dirty="0">
                <a:solidFill>
                  <a:srgbClr val="333333"/>
                </a:solidFill>
              </a:rPr>
              <a:t>Defending / Carrying · Pearson r ≥ 0.50</a:t>
            </a:r>
          </a:p>
          <a:p>
            <a:r>
              <a:rPr sz="1200" b="0" dirty="0">
                <a:solidFill>
                  <a:srgbClr val="333333"/>
                </a:solidFill>
              </a:rPr>
              <a:t>43 of 105 metrics pass → redundancy next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Defending Pearson threshold was lower because less metrics made it above the 0.6 cutoff and defending is inherently harder to calculate due to importance of non-represented on field positioning.</a:t>
            </a:r>
            <a:endParaRPr sz="1200" b="0" dirty="0">
              <a:solidFill>
                <a:srgbClr val="333333"/>
              </a:solidFill>
            </a:endParaRP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Metric codes: see Glossary slide.</a:t>
            </a:r>
          </a:p>
          <a:p>
            <a:r>
              <a:rPr sz="1200" b="0" dirty="0">
                <a:solidFill>
                  <a:srgbClr val="333333"/>
                </a:solidFill>
              </a:rPr>
              <a:t>Unstable metrics (the other 62) miss the floor — non-portable; listed in the inspector.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80852" y="5897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Next: redundancy at Pearson |r|≥0.85 — only near-dupes cut; passes kept with progressive passes.</a:t>
            </a:r>
          </a:p>
          <a:p>
            <a:r>
              <a:rPr sz="1100" b="0" dirty="0">
                <a:solidFill>
                  <a:srgbClr val="333333"/>
                </a:solidFill>
              </a:rPr>
              <a:t>Metric codes: see Glossary slide (PPC, DIS, PRS, …).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Position changes: we use broad position groups for peer ranks. We do not model "CB became FB" as the main story — role switches can add noise to stability, but this project is about which rate traits travel, not which players changed position.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17639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Drop near-duplicate metrics</a:t>
            </a:r>
            <a:endParaRPr sz="2200" b="1" dirty="0">
              <a:solidFill>
                <a:srgbClr val="1C1C1C"/>
              </a:solidFill>
              <a:latin typeface="Georgia"/>
            </a:endParaRPr>
          </a:p>
          <a:p>
            <a:r>
              <a:rPr sz="1200">
                <a:solidFill>
                  <a:srgbClr val="555555"/>
                </a:solidFill>
              </a:rPr>
              <a:t>(metrics that move together — same information twice)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</a:t>
            </a:r>
            <a:r>
              <a:rPr lang="en-US" sz="1200" b="0" dirty="0">
                <a:solidFill>
                  <a:srgbClr val="333333"/>
                </a:solidFill>
                <a:latin typeface="Calibri"/>
              </a:rPr>
              <a:t> due to fundamental difference in definition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18504" y="1373874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: 43 cleared stability → 32 kept</a:t>
            </a:r>
          </a:p>
          <a:p>
            <a:r>
              <a:rPr sz="1100" b="0" dirty="0">
                <a:solidFill>
                  <a:srgbClr val="333333"/>
                </a:solidFill>
              </a:rPr>
              <a:t>105 tested · category gates → 43 · Pearson |r|≥0.95 → drop near-duplicates → 32</a:t>
            </a:r>
          </a:p>
          <a:p>
            <a:r>
              <a:rPr sz="1100" b="0" dirty="0">
                <a:solidFill>
                  <a:srgbClr val="333333"/>
                </a:solidFill>
              </a:rPr>
              <a:t>Near-duplicate = two metrics that almost always move together (same information twice).</a:t>
            </a:r>
          </a:p>
          <a:p>
            <a:r>
              <a:rPr sz="1100" b="0" dirty="0">
                <a:solidFill>
                  <a:srgbClr val="333333"/>
                </a:solidFill>
              </a:rPr>
              <a:t>Pick order when choosing which to keep: higher stability → larger N → prefer rate/contextual</a:t>
            </a:r>
          </a:p>
          <a:p>
            <a:r>
              <a:rPr sz="1100" b="0" dirty="0">
                <a:solidFill>
                  <a:srgbClr val="333333"/>
                </a:solidFill>
              </a:rPr>
              <a:t>Top stability examples: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70803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32229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94578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9087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4606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5945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41464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37179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83229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095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FLD (0.53)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333333"/>
                </a:solidFill>
              </a:rPr>
              <a:t>How to read</a:t>
            </a:r>
          </a:p>
          <a:p>
            <a:r>
              <a:rPr sz="1200" b="0" dirty="0">
                <a:solidFill>
                  <a:srgbClr val="333333"/>
                </a:solidFill>
              </a:rPr>
              <a:t>Blue = Year 1 in Bundesliga 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R</a:t>
            </a:r>
            <a:r>
              <a:rPr sz="1200" b="0" dirty="0">
                <a:solidFill>
                  <a:srgbClr val="333333"/>
                </a:solidFill>
              </a:rPr>
              <a:t>ed dotted = prior </a:t>
            </a:r>
            <a:r>
              <a:rPr lang="en-US" sz="1200" b="0" dirty="0">
                <a:solidFill>
                  <a:srgbClr val="333333"/>
                </a:solidFill>
              </a:rPr>
              <a:t>Season</a:t>
            </a:r>
          </a:p>
          <a:p>
            <a:r>
              <a:rPr lang="en-US" sz="1200" dirty="0">
                <a:solidFill>
                  <a:srgbClr val="333333"/>
                </a:solidFill>
              </a:rPr>
              <a:t>D</a:t>
            </a:r>
            <a:r>
              <a:rPr sz="1200" b="0" dirty="0">
                <a:solidFill>
                  <a:srgbClr val="333333"/>
                </a:solidFill>
              </a:rPr>
              <a:t>ashed = 50th-percentile Bundesliga peer </a:t>
            </a:r>
            <a:endParaRPr lang="en-US" sz="1200" dirty="0">
              <a:solidFill>
                <a:srgbClr val="333333"/>
              </a:solidFill>
            </a:endParaRPr>
          </a:p>
          <a:p>
            <a:r>
              <a:rPr lang="en-US" sz="1200" b="0" dirty="0">
                <a:solidFill>
                  <a:srgbClr val="333333"/>
                </a:solidFill>
              </a:rPr>
              <a:t>G</a:t>
            </a:r>
            <a:r>
              <a:rPr sz="1200" b="0" dirty="0">
                <a:solidFill>
                  <a:srgbClr val="333333"/>
                </a:solidFill>
              </a:rPr>
              <a:t>rey = 90th-percentile Bundesliga peer</a:t>
            </a:r>
            <a:endParaRPr lang="en-US" sz="1200" b="0" dirty="0">
              <a:solidFill>
                <a:srgbClr val="333333"/>
              </a:solidFill>
            </a:endParaRP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Numbers are percentiles 0–100 vs position peers.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Explorer: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 N=96 · 7 traits · </a:t>
            </a:r>
            <a:r>
              <a:rPr sz="1200" b="0" dirty="0" err="1">
                <a:solidFill>
                  <a:srgbClr val="333333"/>
                </a:solidFill>
              </a:rPr>
              <a:t>FBref</a:t>
            </a:r>
            <a:r>
              <a:rPr sz="1200" b="0" dirty="0">
                <a:solidFill>
                  <a:srgbClr val="333333"/>
                </a:solidFill>
              </a:rPr>
              <a:t> N=329 · 32 traits.</a:t>
            </a:r>
          </a:p>
          <a:p>
            <a:r>
              <a:rPr sz="1200" b="0" dirty="0">
                <a:solidFill>
                  <a:srgbClr val="333333"/>
                </a:solidFill>
              </a:rPr>
              <a:t>Metric abbreviations: see Glossary slide (click codes on stability/success slides where linked).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What “stable-trait score” means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One number that answers: in Year 1 in Bundesliga, how strong is this player on the portable (shortlisted) traits — vs peers at their position?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Phase 2 note: this is a secondary success outcome (alongside Year 1 minutes and minutes percentile) — a profile-fit score, not the primary playing-time marker.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Year 1 in Bundesliga,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Year 1 in Bundesliga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</a:rPr>
              <a:t>Phase 2: after trimming the metrics to the portable shortlist, test what lines up with Bundesliga success.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Success = Year 1 in Bundesliga minutes (more minutes = more playing time).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We also show two supporting numbers (not the main success definition):</a:t>
            </a:r>
          </a:p>
          <a:p>
            <a:r>
              <a:rPr sz="1100">
                <a:solidFill>
                  <a:srgbClr val="333333"/>
                </a:solidFill>
              </a:rPr>
              <a:t>• Year 1 minutes percentile — where this player’s first-season minutes rank among other inbound players in the study (0–100).</a:t>
            </a:r>
          </a:p>
          <a:p>
            <a:r>
              <a:rPr sz="1100">
                <a:solidFill>
                  <a:srgbClr val="333333"/>
                </a:solidFill>
              </a:rPr>
              <a:t>• Stable-trait score — how strong their Year 1 profile looks on the portable traits we kept (average percentile vs position peers).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Spearman ρ: sort players from high to low on a prior trait, sort them from high to low on Year 1 minutes, and measure how often those two orderings agree. A positive link means players who ranked higher on that trait before the move also tended to play more in their first Bundesliga season.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Playing time still depends on the roster, injuries, and coaching choices — we use minutes as an observable open-data stand-in for “the club gave this player a real role,” not as proof that the player should have gotten those minutes.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Next steps on later slides: compare average Year 1 minutes by prior league (feeder-league averages), then run exploratory ordinary least squares (OLS) regression with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333333"/>
                </a:solidFill>
              </a:rPr>
              <a:t>Primary success marker: minutes played in the player’s first Bundesliga season (“Year 1 in Bundesliga minutes”).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Success means the club gave the inbound player playing time — not goals scored and not market value.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Also reported (secondary):</a:t>
            </a:r>
          </a:p>
          <a:p>
            <a:r>
              <a:rPr sz="1200">
                <a:solidFill>
                  <a:srgbClr val="333333"/>
                </a:solidFill>
              </a:rPr>
              <a:t>• Year 1 minutes percentile — where that player’s minutes rank among peers in the study</a:t>
            </a:r>
          </a:p>
          <a:p>
            <a:r>
              <a:rPr sz="1200">
                <a:solidFill>
                  <a:srgbClr val="333333"/>
                </a:solidFill>
              </a:rPr>
              <a:t>• Stable-trait score — how strong the Year 1 profile looks on the portable traits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Trait and league tests ask: which prior signals line up with more Year 1 minutes?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Regression Δ Year 1 minutes = estimated extra first-season minutes versus a reference league (Serie A), holding other controls fixed.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Year 1 in Bundesliga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  <a:p>
            <a:r>
              <a:rPr sz="1200" b="0">
                <a:solidFill>
                  <a:srgbClr val="333333"/>
                </a:solidFill>
              </a:rPr>
              <a:t>Metric codes: see Glossary slide.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TextBox 8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521566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</a:rPr>
              <a:t>FBref N=329 (n≥8 players per league shown). StatsBomb N=96 — international priors are directional only.</a:t>
            </a:r>
          </a:p>
          <a:p>
            <a:r>
              <a:rPr sz="1100" b="0">
                <a:solidFill>
                  <a:srgbClr val="333333"/>
                </a:solidFill>
              </a:rPr>
              <a:t>Selection bias: these are players clubs already chose to sign from each feeder — not a random draw from that league. Means describe arrived cohorts, not “transfer from X causes minutes.”</a:t>
            </a:r>
          </a:p>
          <a:p>
            <a:r>
              <a:rPr sz="1100" b="0">
                <a:solidFill>
                  <a:srgbClr val="333333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Year 1 minutes = prior league (PL / La Liga / Ligue 1 vs Serie A baseline)</a:t>
            </a:r>
          </a:p>
          <a:p>
            <a:r>
              <a:rPr sz="1200" b="0">
                <a:solidFill>
                  <a:srgbClr val="333333"/>
                </a:solidFill>
              </a:rPr>
              <a:t>                 + prior minutes + position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Year 1 minutes = Model 1 + prior trait percentiles</a:t>
            </a:r>
          </a:p>
          <a:p>
            <a:r>
              <a:rPr sz="1200" b="0">
                <a:solidFill>
                  <a:srgbClr val="333333"/>
                </a:solidFill>
              </a:rPr>
              <a:t>                 (e.g. Final Third, Def Pen Touches, …)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Model 2 on 80% of players; correlate predicted vs actual Year 1 minutes on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average Year 1 minutes among Big-5 feeders in this subset).</a:t>
            </a:r>
          </a:p>
          <a:p>
            <a:r>
              <a:rPr sz="1200" b="0">
                <a:solidFill>
                  <a:srgbClr val="333333"/>
                </a:solidFill>
              </a:rPr>
              <a:t>Big-5 FBref subset N=117. Associative / exploratory — not a validated forecast.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Does this make sense?</a:t>
            </a:r>
          </a:p>
          <a:p>
            <a:r>
              <a:rPr sz="1200" b="0">
                <a:solidFill>
                  <a:srgbClr val="333333"/>
                </a:solidFill>
              </a:rPr>
              <a:t>Yes — Ligue 1’s +163 minutes vs Serie A looks large on the table but p≈0.38 (N=117): not statistically distinguishable from noise. Modest, non-significant league gaps are exactly what you’d expect if clubs already select carefully and league labels are weak once minutes/position are controlled.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Adding traits raises R² (0.09 → 0.22): prior profile matters more than league label.</a:t>
            </a:r>
          </a:p>
          <a:p>
            <a:r>
              <a:rPr sz="1200" b="0">
                <a:solidFill>
                  <a:srgbClr val="333333"/>
                </a:solidFill>
              </a:rPr>
              <a:t>Model 3 holdout r≈0.35 = moderate match on held-out players (not a strong forecast).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Year 1 minutes; league is a weak residual signal.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mean Year 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endParaRPr sz="1400" b="0">
              <a:solidFill>
                <a:srgbClr val="333333"/>
              </a:solidFill>
            </a:endParaRPr>
          </a:p>
          <a:p>
            <a:r>
              <a:rPr sz="1400" b="1">
                <a:solidFill>
                  <a:srgbClr val="333333"/>
                </a:solidFill>
              </a:rPr>
              <a:t>What hardened the sample</a:t>
            </a:r>
          </a:p>
          <a:p>
            <a:endParaRPr sz="1400" b="1">
              <a:solidFill>
                <a:srgbClr val="333333"/>
              </a:solidFill>
            </a:endParaRP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 / Year 1 in Bundesliga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333333"/>
                </a:solidFill>
              </a:rPr>
              <a:t>• Portable shortlists: FBref 105 metrics tested → 43 met stability floor → 32 met redundancy floor · StatsBomb 16 metrics tested → 7 met stability floor (all 7 kept after redundancy)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300">
                <a:solidFill>
                  <a:srgbClr val="333333"/>
                </a:solidFill>
              </a:rPr>
              <a:t/>
            </a:r>
          </a:p>
          <a:p>
            <a:r>
              <a:rPr sz="1300">
                <a:solidFill>
                  <a:srgbClr val="333333"/>
                </a:solidFill>
              </a:rPr>
              <a:t>• FBref traits most linked to Year 1 in Bundesliga minutes (p&lt;0.05): final-third passing, shot blocks, progressive distance, box defending</a:t>
            </a:r>
          </a:p>
          <a:p>
            <a:r>
              <a:rPr sz="1300">
                <a:solidFill>
                  <a:srgbClr val="333333"/>
                </a:solidFill>
              </a:rPr>
              <a:t/>
            </a:r>
          </a:p>
          <a:p>
            <a:r>
              <a:rPr sz="1300">
                <a:solidFill>
                  <a:srgbClr val="333333"/>
                </a:solidFill>
              </a:rPr>
              <a:t>• The player (prior trait profile) matters more than the feeder-league label: exploratory OLS (N=117) finds league gaps modest/non-significant once controls and traits are included, while adding traits raises fit more than league names alone</a:t>
            </a:r>
          </a:p>
          <a:p>
            <a:r>
              <a:rPr sz="1300">
                <a:solidFill>
                  <a:srgbClr val="333333"/>
                </a:solidFill>
              </a:rPr>
              <a:t/>
            </a:r>
          </a:p>
          <a:p>
            <a:r>
              <a:rPr sz="1300">
                <a:solidFill>
                  <a:srgbClr val="333333"/>
                </a:solidFill>
              </a:rPr>
              <a:t>• Scout metrics that travel league-to-league. Year 1 in Bundesliga minutes = open-data success proxy</a:t>
            </a:r>
          </a:p>
          <a:p>
            <a:r>
              <a:rPr sz="1300">
                <a:solidFill>
                  <a:srgbClr val="333333"/>
                </a:solidFill>
              </a:rPr>
              <a:t/>
            </a:r>
          </a:p>
          <a:p>
            <a:r>
              <a:rPr sz="1300">
                <a:solidFill>
                  <a:srgbClr val="333333"/>
                </a:solidFill>
              </a:rPr>
              <a:t>• Future work: Δ Transfermarkt market value (next slide) as the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(Δ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scouts care about</a:t>
            </a:r>
          </a:p>
          <a:p>
            <a:r>
              <a:rPr sz="1300" b="0">
                <a:solidFill>
                  <a:srgbClr val="333333"/>
                </a:solidFill>
              </a:rPr>
              <a:t>NYRB project Axis-3 testing of player value used market value rather than Year 1 in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proxy success with Year 1 in Bundesliga minutes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Δ market value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3D5A80"/>
                </a:solidFill>
              </a:rPr>
              <a:t>GLOSSARY · METRIC ABBREVIATIONS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FBref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</a:t>
            </a:r>
          </a:p>
          <a:p>
            <a:r>
              <a:rPr sz="1100" b="0">
                <a:solidFill>
                  <a:srgbClr val="333333"/>
                </a:solidFill>
              </a:rPr>
              <a:t>PPC — Progressive passes (~10m+ toward goal) /90</a:t>
            </a:r>
          </a:p>
          <a:p>
            <a:r>
              <a:rPr sz="1100" b="0">
                <a:solidFill>
                  <a:srgbClr val="333333"/>
                </a:solidFill>
              </a:rPr>
              <a:t>DIS — Dispossessed /90 (often inverted: fewer = better)</a:t>
            </a:r>
          </a:p>
          <a:p>
            <a:r>
              <a:rPr sz="1100" b="0">
                <a:solidFill>
                  <a:srgbClr val="333333"/>
                </a:solidFill>
              </a:rPr>
              <a:t>PRS — Pressures /90</a:t>
            </a:r>
          </a:p>
          <a:p>
            <a:r>
              <a:rPr sz="1100" b="0">
                <a:solidFill>
                  <a:srgbClr val="333333"/>
                </a:solidFill>
              </a:rPr>
              <a:t>PAS — Pass volume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DRB — Successful dribbles /90</a:t>
            </a:r>
          </a:p>
          <a:p>
            <a:r>
              <a:rPr sz="1100" b="0">
                <a:solidFill>
                  <a:srgbClr val="333333"/>
                </a:solidFill>
              </a:rPr>
              <a:t>PATT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SH — Shots /90</a:t>
            </a:r>
          </a:p>
          <a:p>
            <a:r>
              <a:rPr sz="1100" b="0">
                <a:solidFill>
                  <a:srgbClr val="333333"/>
                </a:solidFill>
              </a:rPr>
              <a:t>XG — Non-penalty expected goals /90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Other terms</a:t>
            </a:r>
          </a:p>
          <a:p>
            <a:r>
              <a:rPr sz="1100" b="0">
                <a:solidFill>
                  <a:srgbClr val="333333"/>
                </a:solidFill>
              </a:rPr>
              <a:t>Pearson r — linear correlation (stability)</a:t>
            </a:r>
          </a:p>
          <a:p>
            <a:r>
              <a:rPr sz="1100" b="0">
                <a:solidFill>
                  <a:srgbClr val="333333"/>
                </a:solidFill>
              </a:rPr>
              <a:t>Spearman ρ — rank correlation (success vs minutes)</a:t>
            </a:r>
          </a:p>
          <a:p>
            <a:r>
              <a:rPr sz="1100" b="0">
                <a:solidFill>
                  <a:srgbClr val="333333"/>
                </a:solidFill>
              </a:rPr>
              <a:t>Year 1 in Bundesliga — first Bundesliga season</a:t>
            </a:r>
          </a:p>
          <a:p>
            <a:r>
              <a:rPr sz="1100" b="0">
                <a:solidFill>
                  <a:srgbClr val="333333"/>
                </a:solidFill>
              </a:rPr>
              <a:t>Feeder league — prior league before Bundesliga arrival</a:t>
            </a:r>
          </a:p>
          <a:p>
            <a:r>
              <a:rPr sz="1100" b="0">
                <a:solidFill>
                  <a:srgbClr val="333333"/>
                </a:solidFill>
              </a:rPr>
              <a:t>n≥8 — only show leagues with ≥8 players in the cell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 dirty="0">
                <a:solidFill>
                  <a:srgbClr val="333333"/>
                </a:solidFill>
                <a:latin typeface="Georgia" panose="02040502050405020303" pitchFamily="18" charset="0"/>
              </a:rPr>
              <a:t>Deliverables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1 · Cohort (with minute floors) · 2 · Stability · 3 · Redundancy · 4 · Explorer + success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Repo: deck · </a:t>
            </a:r>
            <a:r>
              <a:rPr sz="1300" b="0" dirty="0" err="1">
                <a:solidFill>
                  <a:srgbClr val="333333"/>
                </a:solidFill>
              </a:rPr>
              <a:t>README.md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interactive_player_explorer.html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stability_redundancy_inspector.html</a:t>
            </a:r>
            <a:r>
              <a:rPr sz="1300" b="0" dirty="0">
                <a:solidFill>
                  <a:srgbClr val="333333"/>
                </a:solidFill>
              </a:rPr>
              <a:t> · </a:t>
            </a:r>
            <a:r>
              <a:rPr sz="1300" b="0" dirty="0" err="1">
                <a:solidFill>
                  <a:srgbClr val="333333"/>
                </a:solidFill>
              </a:rPr>
              <a:t>projectproposal</a:t>
            </a:r>
            <a:endParaRPr sz="1300" b="0" dirty="0">
              <a:solidFill>
                <a:srgbClr val="333333"/>
              </a:solidFill>
            </a:endParaRP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Stability floors: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Attacking/Passing/Other Pearson r ≥ 0.60 · Defending/Carrying Pearson r ≥ 0.50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4520</TotalTime>
  <Words>4318</Words>
  <Application>Microsoft Macintosh PowerPoint</Application>
  <PresentationFormat>Widescreen</PresentationFormat>
  <Paragraphs>707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21</cp:revision>
  <dcterms:created xsi:type="dcterms:W3CDTF">2013-01-27T09:14:16Z</dcterms:created>
  <dcterms:modified xsi:type="dcterms:W3CDTF">2026-08-05T16:19:08Z</dcterms:modified>
  <cp:category/>
</cp:coreProperties>
</file>