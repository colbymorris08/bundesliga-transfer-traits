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83" r:id="rId3"/>
    <p:sldId id="257" r:id="rId4"/>
    <p:sldId id="268" r:id="rId5"/>
    <p:sldId id="281" r:id="rId6"/>
    <p:sldId id="282" r:id="rId7"/>
    <p:sldId id="260" r:id="rId8"/>
    <p:sldId id="259" r:id="rId9"/>
    <p:sldId id="261" r:id="rId10"/>
    <p:sldId id="263" r:id="rId11"/>
    <p:sldId id="267" r:id="rId12"/>
    <p:sldId id="264" r:id="rId13"/>
    <p:sldId id="269" r:id="rId14"/>
    <p:sldId id="276" r:id="rId15"/>
    <p:sldId id="270" r:id="rId16"/>
    <p:sldId id="271" r:id="rId17"/>
    <p:sldId id="274" r:id="rId18"/>
    <p:sldId id="275" r:id="rId19"/>
    <p:sldId id="280" r:id="rId20"/>
    <p:sldId id="278" r:id="rId21"/>
    <p:sldId id="277" r:id="rId22"/>
    <p:sldId id="284" r:id="rId23"/>
    <p:sldId id="279"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171"/>
    <p:restoredTop sz="94678"/>
  </p:normalViewPr>
  <p:slideViewPr>
    <p:cSldViewPr snapToGrid="0" snapToObjects="1">
      <p:cViewPr varScale="1">
        <p:scale>
          <a:sx n="109" d="100"/>
          <a:sy n="109" d="100"/>
        </p:scale>
        <p:origin x="512"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1371600"/>
            <a:ext cx="10972800" cy="276999"/>
          </a:xfrm>
          <a:prstGeom prst="rect">
            <a:avLst/>
          </a:prstGeom>
          <a:noFill/>
        </p:spPr>
        <p:txBody>
          <a:bodyPr wrap="square">
            <a:spAutoFit/>
          </a:bodyPr>
          <a:lstStyle/>
          <a:p>
            <a:r>
              <a:rPr lang="en-US" sz="1200" dirty="0">
                <a:solidFill>
                  <a:srgbClr val="555555"/>
                </a:solidFill>
              </a:rPr>
              <a:t>COLBY MORRIS  · </a:t>
            </a:r>
            <a:r>
              <a:rPr sz="1200" b="0" dirty="0">
                <a:solidFill>
                  <a:srgbClr val="555555"/>
                </a:solidFill>
                <a:latin typeface="Calibri"/>
              </a:rPr>
              <a:t>BERKELEY</a:t>
            </a:r>
            <a:r>
              <a:rPr lang="en-US" sz="1200" b="0" dirty="0">
                <a:solidFill>
                  <a:srgbClr val="555555"/>
                </a:solidFill>
                <a:latin typeface="Calibri"/>
              </a:rPr>
              <a:t> HAAS</a:t>
            </a:r>
            <a:r>
              <a:rPr sz="1200" b="0" dirty="0">
                <a:solidFill>
                  <a:srgbClr val="555555"/>
                </a:solidFill>
                <a:latin typeface="Calibri"/>
              </a:rPr>
              <a:t>  ·  INDEPENDENT STUDY</a:t>
            </a:r>
          </a:p>
        </p:txBody>
      </p:sp>
      <p:sp>
        <p:nvSpPr>
          <p:cNvPr id="4" name="TextBox 3"/>
          <p:cNvSpPr txBox="1"/>
          <p:nvPr/>
        </p:nvSpPr>
        <p:spPr>
          <a:xfrm>
            <a:off x="640080" y="1920240"/>
            <a:ext cx="10972800" cy="954107"/>
          </a:xfrm>
          <a:prstGeom prst="rect">
            <a:avLst/>
          </a:prstGeom>
          <a:noFill/>
        </p:spPr>
        <p:txBody>
          <a:bodyPr wrap="square">
            <a:spAutoFit/>
          </a:bodyPr>
          <a:lstStyle/>
          <a:p>
            <a:pPr algn="l"/>
            <a:r>
              <a:rPr sz="2000" b="1">
                <a:solidFill>
                  <a:srgbClr val="333333"/>
                </a:solidFill>
              </a:rPr>
              <a:t>Which traits most accurately travel into the Bundesliga (Germany’s top men’s soccer league) from other professional soccer leagues?</a:t>
            </a:r>
          </a:p>
        </p:txBody>
      </p:sp>
      <p:sp>
        <p:nvSpPr>
          <p:cNvPr id="5" name="TextBox 4"/>
          <p:cNvSpPr txBox="1"/>
          <p:nvPr/>
        </p:nvSpPr>
        <p:spPr>
          <a:xfrm>
            <a:off x="640080" y="2834640"/>
            <a:ext cx="10515600" cy="830997"/>
          </a:xfrm>
          <a:prstGeom prst="rect">
            <a:avLst/>
          </a:prstGeom>
          <a:noFill/>
        </p:spPr>
        <p:txBody>
          <a:bodyPr wrap="square">
            <a:spAutoFit/>
          </a:bodyPr>
          <a:lstStyle/>
          <a:p>
            <a:pPr algn="l"/>
            <a:r>
              <a:rPr sz="1600" b="0" i="1" dirty="0">
                <a:solidFill>
                  <a:srgbClr val="333333"/>
                </a:solidFill>
                <a:latin typeface="Calibri"/>
              </a:rPr>
              <a:t>F</a:t>
            </a:r>
            <a:r>
              <a:rPr lang="en-US" sz="1600" b="0" i="1" dirty="0">
                <a:solidFill>
                  <a:srgbClr val="333333"/>
                </a:solidFill>
                <a:latin typeface="Calibri"/>
              </a:rPr>
              <a:t>ootball R</a:t>
            </a:r>
            <a:r>
              <a:rPr sz="1600" b="0" i="1" dirty="0">
                <a:solidFill>
                  <a:srgbClr val="333333"/>
                </a:solidFill>
                <a:latin typeface="Calibri"/>
              </a:rPr>
              <a:t>ef</a:t>
            </a:r>
            <a:r>
              <a:rPr lang="en-US" sz="1600" b="0" i="1" dirty="0">
                <a:solidFill>
                  <a:srgbClr val="333333"/>
                </a:solidFill>
                <a:latin typeface="Calibri"/>
              </a:rPr>
              <a:t>erence</a:t>
            </a:r>
            <a:r>
              <a:rPr sz="1600" b="0" i="1" dirty="0">
                <a:solidFill>
                  <a:srgbClr val="333333"/>
                </a:solidFill>
                <a:latin typeface="Calibri"/>
              </a:rPr>
              <a:t> + </a:t>
            </a:r>
            <a:r>
              <a:rPr sz="1600" b="0" i="1" dirty="0" err="1">
                <a:solidFill>
                  <a:srgbClr val="333333"/>
                </a:solidFill>
                <a:latin typeface="Calibri"/>
              </a:rPr>
              <a:t>StatsBomb</a:t>
            </a:r>
            <a:r>
              <a:rPr lang="en-US" sz="1600" b="0" i="1" dirty="0">
                <a:solidFill>
                  <a:srgbClr val="333333"/>
                </a:solidFill>
                <a:latin typeface="Calibri"/>
              </a:rPr>
              <a:t> data sources</a:t>
            </a:r>
          </a:p>
          <a:p>
            <a:pPr algn="l"/>
            <a:endParaRPr lang="en-US" sz="1600" b="0" i="1" dirty="0">
              <a:solidFill>
                <a:srgbClr val="333333"/>
              </a:solidFill>
              <a:latin typeface="Calibri"/>
            </a:endParaRPr>
          </a:p>
          <a:p>
            <a:pPr algn="l"/>
            <a:r>
              <a:rPr lang="en-US" sz="1600" i="1" dirty="0">
                <a:solidFill>
                  <a:srgbClr val="333333"/>
                </a:solidFill>
                <a:latin typeface="Calibri"/>
              </a:rPr>
              <a:t>*Based on framework used in data science internship with Red Bull New York Transfer Market scouting analysis*</a:t>
            </a:r>
            <a:endParaRPr sz="1600" b="0" i="1" dirty="0">
              <a:solidFill>
                <a:srgbClr val="333333"/>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292608"/>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92608"/>
            <a:ext cx="11155680" cy="502920"/>
          </a:xfrm>
          <a:prstGeom prst="rect">
            <a:avLst/>
          </a:prstGeom>
          <a:noFill/>
        </p:spPr>
        <p:txBody>
          <a:bodyPr wrap="square">
            <a:spAutoFit/>
          </a:bodyPr>
          <a:lstStyle/>
          <a:p>
            <a:pPr>
              <a:spcAft>
                <a:spcPts val="200"/>
              </a:spcAft>
            </a:pPr>
            <a:r>
              <a:rPr sz="2600" b="1">
                <a:solidFill>
                  <a:srgbClr val="3D5A80"/>
                </a:solidFill>
                <a:latin typeface="Calibri"/>
              </a:rPr>
              <a:t>PROJECT STEPS  ·  TIMELINE</a:t>
            </a:r>
          </a:p>
        </p:txBody>
      </p:sp>
      <p:sp>
        <p:nvSpPr>
          <p:cNvPr id="4" name="TextBox 3"/>
          <p:cNvSpPr txBox="1"/>
          <p:nvPr/>
        </p:nvSpPr>
        <p:spPr>
          <a:xfrm>
            <a:off x="502920" y="777240"/>
            <a:ext cx="11155680" cy="292388"/>
          </a:xfrm>
          <a:prstGeom prst="rect">
            <a:avLst/>
          </a:prstGeom>
          <a:noFill/>
        </p:spPr>
        <p:txBody>
          <a:bodyPr wrap="square">
            <a:spAutoFit/>
          </a:bodyPr>
          <a:lstStyle/>
          <a:p>
            <a:pPr>
              <a:spcAft>
                <a:spcPts val="200"/>
              </a:spcAft>
            </a:pPr>
            <a:r>
              <a:rPr sz="1200">
                <a:solidFill>
                  <a:srgbClr val="333333"/>
                </a:solidFill>
              </a:rPr>
              <a:t>Question</a:t>
            </a:r>
          </a:p>
          <a:p>
            <a:r>
              <a:rPr sz="1200">
                <a:solidFill>
                  <a:srgbClr val="333333"/>
                </a:solidFill>
              </a:rPr>
              <a:t>Which traits travel into the Bundesliga (Germany’s top men’s soccer league) — and which prior stats line up with Year 1 in Bundesliga minutes?</a:t>
            </a:r>
          </a:p>
        </p:txBody>
      </p:sp>
      <p:sp>
        <p:nvSpPr>
          <p:cNvPr id="5" name="Oval 4"/>
          <p:cNvSpPr/>
          <p:nvPr/>
        </p:nvSpPr>
        <p:spPr>
          <a:xfrm>
            <a:off x="411480" y="1207008"/>
            <a:ext cx="329184" cy="329184"/>
          </a:xfrm>
          <a:prstGeom prst="ellipse">
            <a:avLst/>
          </a:prstGeom>
          <a:solidFill>
            <a:srgbClr val="1C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1</a:t>
            </a:r>
          </a:p>
        </p:txBody>
      </p:sp>
      <p:sp>
        <p:nvSpPr>
          <p:cNvPr id="6" name="TextBox 5"/>
          <p:cNvSpPr txBox="1"/>
          <p:nvPr/>
        </p:nvSpPr>
        <p:spPr>
          <a:xfrm>
            <a:off x="832104" y="1170432"/>
            <a:ext cx="5029200" cy="671979"/>
          </a:xfrm>
          <a:prstGeom prst="rect">
            <a:avLst/>
          </a:prstGeom>
          <a:noFill/>
        </p:spPr>
        <p:txBody>
          <a:bodyPr wrap="square">
            <a:spAutoFit/>
          </a:bodyPr>
          <a:lstStyle/>
          <a:p>
            <a:pPr>
              <a:spcAft>
                <a:spcPts val="200"/>
              </a:spcAft>
            </a:pPr>
            <a:r>
              <a:rPr sz="1200">
                <a:solidFill>
                  <a:srgbClr val="333333"/>
                </a:solidFill>
              </a:rPr>
              <a:t>Question</a:t>
            </a:r>
          </a:p>
          <a:p>
            <a:r>
              <a:rPr sz="1200">
                <a:solidFill>
                  <a:srgbClr val="333333"/>
                </a:solidFill>
              </a:rPr>
              <a:t>Which traits travel into the Bundesliga (Germany’s top men’s soccer league) — and which prior stats line up with Year 1 in Bundesliga minutes?</a:t>
            </a:r>
          </a:p>
        </p:txBody>
      </p:sp>
      <p:sp>
        <p:nvSpPr>
          <p:cNvPr id="7" name="Oval 6"/>
          <p:cNvSpPr/>
          <p:nvPr/>
        </p:nvSpPr>
        <p:spPr>
          <a:xfrm>
            <a:off x="411480" y="1920240"/>
            <a:ext cx="329184" cy="329184"/>
          </a:xfrm>
          <a:prstGeom prst="ellipse">
            <a:avLst/>
          </a:prstGeom>
          <a:solidFill>
            <a:srgbClr val="1C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2</a:t>
            </a:r>
          </a:p>
        </p:txBody>
      </p:sp>
      <p:sp>
        <p:nvSpPr>
          <p:cNvPr id="8" name="TextBox 7"/>
          <p:cNvSpPr txBox="1"/>
          <p:nvPr/>
        </p:nvSpPr>
        <p:spPr>
          <a:xfrm>
            <a:off x="832104" y="1752147"/>
            <a:ext cx="5029200" cy="685800"/>
          </a:xfrm>
          <a:prstGeom prst="rect">
            <a:avLst/>
          </a:prstGeom>
          <a:noFill/>
        </p:spPr>
        <p:txBody>
          <a:bodyPr wrap="square">
            <a:spAutoFit/>
          </a:bodyPr>
          <a:lstStyle/>
          <a:p>
            <a:pPr>
              <a:spcAft>
                <a:spcPts val="200"/>
              </a:spcAft>
            </a:pPr>
            <a:r>
              <a:rPr sz="1100" b="0" dirty="0">
                <a:solidFill>
                  <a:srgbClr val="333333"/>
                </a:solidFill>
              </a:rPr>
              <a:t>Scrape two sources</a:t>
            </a:r>
          </a:p>
          <a:p>
            <a:r>
              <a:rPr sz="1100" b="0" dirty="0">
                <a:solidFill>
                  <a:srgbClr val="333333"/>
                </a:solidFill>
              </a:rPr>
              <a:t>Football Reference (</a:t>
            </a:r>
            <a:r>
              <a:rPr sz="1100" b="0" dirty="0" err="1">
                <a:solidFill>
                  <a:srgbClr val="333333"/>
                </a:solidFill>
              </a:rPr>
              <a:t>FBref</a:t>
            </a:r>
            <a:r>
              <a:rPr sz="1100" b="0" dirty="0">
                <a:solidFill>
                  <a:srgbClr val="333333"/>
                </a:solidFill>
              </a:rPr>
              <a:t>): 19 leagues; first Bundesliga season in 2021–2025; prior and Year 1 in Bundesliga minutes ≥300′.</a:t>
            </a:r>
          </a:p>
          <a:p>
            <a:r>
              <a:rPr sz="1100" b="0" dirty="0" err="1">
                <a:solidFill>
                  <a:srgbClr val="333333"/>
                </a:solidFill>
              </a:rPr>
              <a:t>StatsBomb</a:t>
            </a:r>
            <a:r>
              <a:rPr sz="1100" b="0" dirty="0">
                <a:solidFill>
                  <a:srgbClr val="333333"/>
                </a:solidFill>
              </a:rPr>
              <a:t>: 17 competitions; Bundesliga 2015/16 + 2023/24; prior ≥45′ / Year 1 in Bundesliga ≥30′.</a:t>
            </a:r>
          </a:p>
        </p:txBody>
      </p:sp>
      <p:sp>
        <p:nvSpPr>
          <p:cNvPr id="9" name="Oval 8"/>
          <p:cNvSpPr/>
          <p:nvPr/>
        </p:nvSpPr>
        <p:spPr>
          <a:xfrm>
            <a:off x="411480" y="2703810"/>
            <a:ext cx="329184" cy="329184"/>
          </a:xfrm>
          <a:prstGeom prst="ellipse">
            <a:avLst/>
          </a:prstGeom>
          <a:solidFill>
            <a:srgbClr val="1C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dirty="0">
                <a:solidFill>
                  <a:srgbClr val="FFFFFF"/>
                </a:solidFill>
                <a:latin typeface="Calibri"/>
              </a:rPr>
              <a:t>3</a:t>
            </a:r>
          </a:p>
        </p:txBody>
      </p:sp>
      <p:sp>
        <p:nvSpPr>
          <p:cNvPr id="10" name="TextBox 9"/>
          <p:cNvSpPr txBox="1"/>
          <p:nvPr/>
        </p:nvSpPr>
        <p:spPr>
          <a:xfrm>
            <a:off x="832104" y="2708474"/>
            <a:ext cx="5029200" cy="487313"/>
          </a:xfrm>
          <a:prstGeom prst="rect">
            <a:avLst/>
          </a:prstGeom>
          <a:noFill/>
        </p:spPr>
        <p:txBody>
          <a:bodyPr wrap="square">
            <a:spAutoFit/>
          </a:bodyPr>
          <a:lstStyle/>
          <a:p>
            <a:pPr>
              <a:spcAft>
                <a:spcPts val="200"/>
              </a:spcAft>
            </a:pPr>
            <a:r>
              <a:rPr sz="1200" b="0">
                <a:solidFill>
                  <a:srgbClr val="333333"/>
                </a:solidFill>
              </a:rPr>
              <a:t>Stability</a:t>
            </a:r>
          </a:p>
          <a:p>
            <a:r>
              <a:rPr sz="1200" b="0">
                <a:solidFill>
                  <a:srgbClr val="333333"/>
                </a:solidFill>
              </a:rPr>
              <a:t>Correlate prior → Year 1 in Bundesliga per-90 rates. Keep metrics that travel (clear the floor). Metrics that miss the floor are non-portable — reported as failed/unstable in the inspector, not on the scout shortlist.</a:t>
            </a:r>
          </a:p>
        </p:txBody>
      </p:sp>
      <p:sp>
        <p:nvSpPr>
          <p:cNvPr id="11" name="Oval 10"/>
          <p:cNvSpPr/>
          <p:nvPr/>
        </p:nvSpPr>
        <p:spPr>
          <a:xfrm>
            <a:off x="411480" y="3346704"/>
            <a:ext cx="329184" cy="329184"/>
          </a:xfrm>
          <a:prstGeom prst="ellipse">
            <a:avLst/>
          </a:prstGeom>
          <a:solidFill>
            <a:srgbClr val="1C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4</a:t>
            </a:r>
          </a:p>
        </p:txBody>
      </p:sp>
      <p:sp>
        <p:nvSpPr>
          <p:cNvPr id="12" name="TextBox 11"/>
          <p:cNvSpPr txBox="1"/>
          <p:nvPr/>
        </p:nvSpPr>
        <p:spPr>
          <a:xfrm>
            <a:off x="832104" y="3310128"/>
            <a:ext cx="5029200" cy="487313"/>
          </a:xfrm>
          <a:prstGeom prst="rect">
            <a:avLst/>
          </a:prstGeom>
          <a:noFill/>
        </p:spPr>
        <p:txBody>
          <a:bodyPr wrap="square">
            <a:spAutoFit/>
          </a:bodyPr>
          <a:lstStyle/>
          <a:p>
            <a:pPr>
              <a:spcAft>
                <a:spcPts val="200"/>
              </a:spcAft>
            </a:pPr>
            <a:r>
              <a:rPr sz="1100" b="0">
                <a:solidFill>
                  <a:srgbClr val="333333"/>
                </a:solidFill>
              </a:rPr>
              <a:t>Choose thresholds</a:t>
            </a:r>
          </a:p>
          <a:p>
            <a:r>
              <a:rPr sz="1100" b="0">
                <a:solidFill>
                  <a:srgbClr val="333333"/>
                </a:solidFill>
              </a:rPr>
              <a:t>FBref category gates → 43 of 105 metrics met the stability floor. StatsBomb Pearson r≥0.40 → 7 of 16.</a:t>
            </a:r>
          </a:p>
        </p:txBody>
      </p:sp>
      <p:sp>
        <p:nvSpPr>
          <p:cNvPr id="13" name="Oval 12"/>
          <p:cNvSpPr/>
          <p:nvPr/>
        </p:nvSpPr>
        <p:spPr>
          <a:xfrm>
            <a:off x="5989320" y="1207008"/>
            <a:ext cx="329184" cy="329184"/>
          </a:xfrm>
          <a:prstGeom prst="ellipse">
            <a:avLst/>
          </a:prstGeom>
          <a:solidFill>
            <a:srgbClr val="1C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5</a:t>
            </a:r>
          </a:p>
        </p:txBody>
      </p:sp>
      <p:sp>
        <p:nvSpPr>
          <p:cNvPr id="14" name="TextBox 13"/>
          <p:cNvSpPr txBox="1"/>
          <p:nvPr/>
        </p:nvSpPr>
        <p:spPr>
          <a:xfrm>
            <a:off x="6409944" y="1170432"/>
            <a:ext cx="5029200" cy="487313"/>
          </a:xfrm>
          <a:prstGeom prst="rect">
            <a:avLst/>
          </a:prstGeom>
          <a:noFill/>
        </p:spPr>
        <p:txBody>
          <a:bodyPr wrap="square">
            <a:spAutoFit/>
          </a:bodyPr>
          <a:lstStyle/>
          <a:p>
            <a:pPr>
              <a:spcAft>
                <a:spcPts val="200"/>
              </a:spcAft>
            </a:pPr>
            <a:r>
              <a:rPr sz="1200" b="0">
                <a:solidFill>
                  <a:srgbClr val="333333"/>
                </a:solidFill>
              </a:rPr>
              <a:t>Redundancy + context</a:t>
            </a:r>
          </a:p>
          <a:p>
            <a:r>
              <a:rPr sz="1200" b="0">
                <a:solidFill>
                  <a:srgbClr val="333333"/>
                </a:solidFill>
              </a:rPr>
              <a:t>Drop near-duplicates. FBref 43→32 · StatsBomb keep 7.</a:t>
            </a:r>
          </a:p>
        </p:txBody>
      </p:sp>
      <p:sp>
        <p:nvSpPr>
          <p:cNvPr id="15" name="Oval 14"/>
          <p:cNvSpPr/>
          <p:nvPr/>
        </p:nvSpPr>
        <p:spPr>
          <a:xfrm>
            <a:off x="5989320" y="1920240"/>
            <a:ext cx="329184" cy="329184"/>
          </a:xfrm>
          <a:prstGeom prst="ellipse">
            <a:avLst/>
          </a:prstGeom>
          <a:solidFill>
            <a:srgbClr val="1C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6</a:t>
            </a:r>
          </a:p>
        </p:txBody>
      </p:sp>
      <p:sp>
        <p:nvSpPr>
          <p:cNvPr id="16" name="TextBox 15"/>
          <p:cNvSpPr txBox="1"/>
          <p:nvPr/>
        </p:nvSpPr>
        <p:spPr>
          <a:xfrm>
            <a:off x="6409944" y="1883664"/>
            <a:ext cx="5029200" cy="487313"/>
          </a:xfrm>
          <a:prstGeom prst="rect">
            <a:avLst/>
          </a:prstGeom>
          <a:noFill/>
        </p:spPr>
        <p:txBody>
          <a:bodyPr wrap="square">
            <a:spAutoFit/>
          </a:bodyPr>
          <a:lstStyle/>
          <a:p>
            <a:pPr>
              <a:spcAft>
                <a:spcPts val="200"/>
              </a:spcAft>
            </a:pPr>
            <a:r>
              <a:rPr sz="1200" b="0">
                <a:solidFill>
                  <a:srgbClr val="333333"/>
                </a:solidFill>
              </a:rPr>
              <a:t>Explorer &amp; graphics</a:t>
            </a:r>
          </a:p>
          <a:p>
            <a:r>
              <a:rPr sz="1200" b="0">
                <a:solidFill>
                  <a:srgbClr val="333333"/>
                </a:solidFill>
              </a:rPr>
              <a:t>Radars / pizzas on shortlisted metrics (interactive_player_explorer.html).</a:t>
            </a:r>
          </a:p>
        </p:txBody>
      </p:sp>
      <p:sp>
        <p:nvSpPr>
          <p:cNvPr id="17" name="Oval 16"/>
          <p:cNvSpPr/>
          <p:nvPr/>
        </p:nvSpPr>
        <p:spPr>
          <a:xfrm>
            <a:off x="5989320" y="2633472"/>
            <a:ext cx="329184" cy="329184"/>
          </a:xfrm>
          <a:prstGeom prst="ellipse">
            <a:avLst/>
          </a:prstGeom>
          <a:solidFill>
            <a:srgbClr val="1C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7</a:t>
            </a:r>
          </a:p>
        </p:txBody>
      </p:sp>
      <p:sp>
        <p:nvSpPr>
          <p:cNvPr id="18" name="TextBox 17"/>
          <p:cNvSpPr txBox="1"/>
          <p:nvPr/>
        </p:nvSpPr>
        <p:spPr>
          <a:xfrm>
            <a:off x="6409944" y="2596896"/>
            <a:ext cx="5029200" cy="671979"/>
          </a:xfrm>
          <a:prstGeom prst="rect">
            <a:avLst/>
          </a:prstGeom>
          <a:noFill/>
        </p:spPr>
        <p:txBody>
          <a:bodyPr wrap="square">
            <a:spAutoFit/>
          </a:bodyPr>
          <a:lstStyle/>
          <a:p>
            <a:pPr>
              <a:spcAft>
                <a:spcPts val="200"/>
              </a:spcAft>
            </a:pPr>
            <a:r>
              <a:rPr sz="1100" b="0">
                <a:solidFill>
                  <a:srgbClr val="333333"/>
                </a:solidFill>
              </a:rPr>
              <a:t>Significance tests</a:t>
            </a:r>
          </a:p>
          <a:p>
            <a:r>
              <a:rPr sz="1100" b="0">
                <a:solidFill>
                  <a:srgbClr val="333333"/>
                </a:solidFill>
              </a:rPr>
              <a:t>Spearman: prior trait percentile vs Year 1 in Bundesliga minutes; feeder-league summaries; exploratory OLS.</a:t>
            </a:r>
          </a:p>
        </p:txBody>
      </p:sp>
      <p:sp>
        <p:nvSpPr>
          <p:cNvPr id="19" name="TextBox 18">
            <a:extLst>
              <a:ext uri="{FF2B5EF4-FFF2-40B4-BE49-F238E27FC236}">
                <a16:creationId xmlns:a16="http://schemas.microsoft.com/office/drawing/2014/main" id="{C5469259-8206-2172-4E02-B549B0A1904C}"/>
              </a:ext>
            </a:extLst>
          </p:cNvPr>
          <p:cNvSpPr txBox="1"/>
          <p:nvPr/>
        </p:nvSpPr>
        <p:spPr>
          <a:xfrm>
            <a:off x="502920" y="4753206"/>
            <a:ext cx="10515600" cy="692497"/>
          </a:xfrm>
          <a:prstGeom prst="rect">
            <a:avLst/>
          </a:prstGeom>
          <a:solidFill>
            <a:schemeClr val="bg1">
              <a:lumMod val="75000"/>
            </a:schemeClr>
          </a:solidFill>
          <a:ln w="19050">
            <a:solidFill>
              <a:srgbClr val="002060"/>
            </a:solidFill>
          </a:ln>
        </p:spPr>
        <p:txBody>
          <a:bodyPr wrap="square">
            <a:spAutoFit/>
          </a:bodyPr>
          <a:lstStyle/>
          <a:p>
            <a:pPr>
              <a:spcAft>
                <a:spcPts val="400"/>
              </a:spcAft>
            </a:pPr>
            <a:r>
              <a:rPr sz="1100" b="0">
                <a:solidFill>
                  <a:srgbClr val="333333"/>
                </a:solidFill>
              </a:rPr>
              <a:t>Compared to the project completed with Red Bull New York, the project defines the most portable traits for scouting leading to playing time in the Bundesliga year 1 post-transfer rather than Transfermarkt value. Scouts and teams will be able to answer the questions: ‘Which traits do we scout in outside leagues to best predict playing time? Which leagues provide the most reliable statistics to best predict results in the Bundesliga?</a:t>
            </a:r>
            <a:endParaRPr sz="1300" b="0" i="1" dirty="0">
              <a:solidFill>
                <a:srgbClr val="555555"/>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74320"/>
            <a:ext cx="10972800" cy="292388"/>
          </a:xfrm>
          <a:prstGeom prst="rect">
            <a:avLst/>
          </a:prstGeom>
          <a:noFill/>
        </p:spPr>
        <p:txBody>
          <a:bodyPr wrap="square">
            <a:spAutoFit/>
          </a:bodyPr>
          <a:lstStyle/>
          <a:p>
            <a:pPr algn="l"/>
            <a:r>
              <a:rPr sz="1300" b="1" dirty="0">
                <a:solidFill>
                  <a:srgbClr val="3D5A80"/>
                </a:solidFill>
                <a:latin typeface="Calibri"/>
              </a:rPr>
              <a:t>1 · DESIGN</a:t>
            </a:r>
          </a:p>
        </p:txBody>
      </p:sp>
      <p:sp>
        <p:nvSpPr>
          <p:cNvPr id="4" name="TextBox 3"/>
          <p:cNvSpPr txBox="1"/>
          <p:nvPr/>
        </p:nvSpPr>
        <p:spPr>
          <a:xfrm>
            <a:off x="502920" y="548640"/>
            <a:ext cx="10972800" cy="492443"/>
          </a:xfrm>
          <a:prstGeom prst="rect">
            <a:avLst/>
          </a:prstGeom>
          <a:noFill/>
        </p:spPr>
        <p:txBody>
          <a:bodyPr wrap="square">
            <a:spAutoFit/>
          </a:bodyPr>
          <a:lstStyle/>
          <a:p>
            <a:pPr algn="l"/>
            <a:r>
              <a:rPr lang="en-US" sz="2600" b="1" dirty="0">
                <a:solidFill>
                  <a:srgbClr val="1C1C1C"/>
                </a:solidFill>
                <a:latin typeface="Georgia"/>
              </a:rPr>
              <a:t>Research Question</a:t>
            </a:r>
            <a:endParaRPr sz="2600" b="1" dirty="0">
              <a:solidFill>
                <a:srgbClr val="1C1C1C"/>
              </a:solidFill>
              <a:latin typeface="Georgia"/>
            </a:endParaRPr>
          </a:p>
        </p:txBody>
      </p:sp>
      <p:sp>
        <p:nvSpPr>
          <p:cNvPr id="5" name="Rounded Rectangle 4"/>
          <p:cNvSpPr/>
          <p:nvPr/>
        </p:nvSpPr>
        <p:spPr>
          <a:xfrm>
            <a:off x="502920" y="1097280"/>
            <a:ext cx="5486400" cy="155448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2920" y="1097280"/>
            <a:ext cx="73152" cy="1554480"/>
          </a:xfrm>
          <a:prstGeom prst="rect">
            <a:avLst/>
          </a:prstGeom>
          <a:solidFill>
            <a:srgbClr val="3D5A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04088" y="1207007"/>
            <a:ext cx="5166360" cy="292608"/>
          </a:xfrm>
          <a:prstGeom prst="rect">
            <a:avLst/>
          </a:prstGeom>
          <a:noFill/>
        </p:spPr>
        <p:txBody>
          <a:bodyPr wrap="square">
            <a:spAutoFit/>
          </a:bodyPr>
          <a:lstStyle/>
          <a:p>
            <a:pPr algn="l"/>
            <a:r>
              <a:rPr sz="1400" b="1">
                <a:solidFill>
                  <a:srgbClr val="1C1C1C"/>
                </a:solidFill>
                <a:latin typeface="Georgia"/>
              </a:rPr>
              <a:t>Question</a:t>
            </a:r>
          </a:p>
        </p:txBody>
      </p:sp>
      <p:sp>
        <p:nvSpPr>
          <p:cNvPr id="8" name="TextBox 7"/>
          <p:cNvSpPr txBox="1"/>
          <p:nvPr/>
        </p:nvSpPr>
        <p:spPr>
          <a:xfrm>
            <a:off x="704088" y="1536192"/>
            <a:ext cx="5120640" cy="1018227"/>
          </a:xfrm>
          <a:prstGeom prst="rect">
            <a:avLst/>
          </a:prstGeom>
          <a:noFill/>
        </p:spPr>
        <p:txBody>
          <a:bodyPr wrap="square">
            <a:spAutoFit/>
          </a:bodyPr>
          <a:lstStyle/>
          <a:p>
            <a:pPr>
              <a:spcAft>
                <a:spcPts val="500"/>
              </a:spcAft>
            </a:pPr>
            <a:r>
              <a:rPr sz="1300" b="0">
                <a:solidFill>
                  <a:srgbClr val="333333"/>
                </a:solidFill>
              </a:rPr>
              <a:t>When a player moves into the top German league, the Bundesliga, which stats stay consistent — and which are league context?</a:t>
            </a:r>
          </a:p>
          <a:p>
            <a:r>
              <a:rPr sz="1300" b="0">
                <a:solidFill>
                  <a:srgbClr val="333333"/>
                </a:solidFill>
              </a:rPr>
              <a:t>This applies only to players who entered the Bundesliga from a different league (transfers / promotions).</a:t>
            </a:r>
          </a:p>
        </p:txBody>
      </p:sp>
      <p:sp>
        <p:nvSpPr>
          <p:cNvPr id="9" name="Rounded Rectangle 8"/>
          <p:cNvSpPr/>
          <p:nvPr/>
        </p:nvSpPr>
        <p:spPr>
          <a:xfrm>
            <a:off x="6172200" y="1097280"/>
            <a:ext cx="5440680" cy="155448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172200" y="1097280"/>
            <a:ext cx="73152" cy="1554480"/>
          </a:xfrm>
          <a:prstGeom prst="rect">
            <a:avLst/>
          </a:prstGeom>
          <a:solidFill>
            <a:srgbClr val="BC47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73368" y="1207007"/>
            <a:ext cx="5120640" cy="307777"/>
          </a:xfrm>
          <a:prstGeom prst="rect">
            <a:avLst/>
          </a:prstGeom>
          <a:noFill/>
        </p:spPr>
        <p:txBody>
          <a:bodyPr wrap="square">
            <a:spAutoFit/>
          </a:bodyPr>
          <a:lstStyle/>
          <a:p>
            <a:pPr algn="l"/>
            <a:r>
              <a:rPr lang="en-US" sz="1400" b="1" dirty="0">
                <a:solidFill>
                  <a:srgbClr val="1C1C1C"/>
                </a:solidFill>
                <a:latin typeface="Georgia"/>
              </a:rPr>
              <a:t>Difference from NYRB Project: </a:t>
            </a:r>
            <a:r>
              <a:rPr sz="1400" b="1" dirty="0">
                <a:solidFill>
                  <a:srgbClr val="1C1C1C"/>
                </a:solidFill>
                <a:latin typeface="Georgia"/>
              </a:rPr>
              <a:t>Not market value</a:t>
            </a:r>
          </a:p>
        </p:txBody>
      </p:sp>
      <p:sp>
        <p:nvSpPr>
          <p:cNvPr id="12" name="TextBox 11"/>
          <p:cNvSpPr txBox="1"/>
          <p:nvPr/>
        </p:nvSpPr>
        <p:spPr>
          <a:xfrm>
            <a:off x="6373368" y="1536192"/>
            <a:ext cx="5074920" cy="1005840"/>
          </a:xfrm>
          <a:prstGeom prst="rect">
            <a:avLst/>
          </a:prstGeom>
          <a:noFill/>
        </p:spPr>
        <p:txBody>
          <a:bodyPr wrap="square">
            <a:spAutoFit/>
          </a:bodyPr>
          <a:lstStyle/>
          <a:p>
            <a:pPr>
              <a:spcAft>
                <a:spcPts val="500"/>
              </a:spcAft>
            </a:pPr>
            <a:r>
              <a:rPr sz="1300" b="0">
                <a:solidFill>
                  <a:srgbClr val="555555"/>
                </a:solidFill>
                <a:latin typeface="Calibri"/>
              </a:rPr>
              <a:t>We do not optimize Transfermarkt price. We shortlist portable performance traits for scouting.</a:t>
            </a:r>
          </a:p>
        </p:txBody>
      </p:sp>
      <p:sp>
        <p:nvSpPr>
          <p:cNvPr id="13" name="Rounded Rectangle 12"/>
          <p:cNvSpPr/>
          <p:nvPr/>
        </p:nvSpPr>
        <p:spPr>
          <a:xfrm>
            <a:off x="502920" y="2880360"/>
            <a:ext cx="11109960" cy="777240"/>
          </a:xfrm>
          <a:prstGeom prst="roundRect">
            <a:avLst/>
          </a:prstGeom>
          <a:solidFill>
            <a:srgbClr val="EEF3F8"/>
          </a:solidFill>
          <a:ln>
            <a:solidFill>
              <a:srgbClr val="3D5A8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31520" y="3063240"/>
            <a:ext cx="10698480" cy="292388"/>
          </a:xfrm>
          <a:prstGeom prst="rect">
            <a:avLst/>
          </a:prstGeom>
          <a:noFill/>
        </p:spPr>
        <p:txBody>
          <a:bodyPr wrap="square">
            <a:spAutoFit/>
          </a:bodyPr>
          <a:lstStyle/>
          <a:p>
            <a:pPr>
              <a:spcAft>
                <a:spcPts val="500"/>
              </a:spcAft>
            </a:pPr>
            <a:r>
              <a:rPr sz="1300" b="0">
                <a:solidFill>
                  <a:srgbClr val="333333"/>
                </a:solidFill>
              </a:rPr>
              <a:t>Stability → Redundancy → Pizza/explorer → Success</a:t>
            </a:r>
          </a:p>
        </p:txBody>
      </p:sp>
      <p:sp>
        <p:nvSpPr>
          <p:cNvPr id="15" name="Rounded Rectangle 14"/>
          <p:cNvSpPr/>
          <p:nvPr/>
        </p:nvSpPr>
        <p:spPr>
          <a:xfrm>
            <a:off x="502920" y="3886200"/>
            <a:ext cx="5486400" cy="233172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02920" y="3886200"/>
            <a:ext cx="73152" cy="2331720"/>
          </a:xfrm>
          <a:prstGeom prst="rect">
            <a:avLst/>
          </a:prstGeom>
          <a:solidFill>
            <a:srgbClr val="3D5A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4088" y="3995928"/>
            <a:ext cx="5166360" cy="918200"/>
          </a:xfrm>
          <a:prstGeom prst="rect">
            <a:avLst/>
          </a:prstGeom>
          <a:noFill/>
        </p:spPr>
        <p:txBody>
          <a:bodyPr wrap="square">
            <a:spAutoFit/>
          </a:bodyPr>
          <a:lstStyle/>
          <a:p>
            <a:pPr algn="l">
              <a:spcAft>
                <a:spcPts val="200"/>
              </a:spcAft>
            </a:pPr>
            <a:r>
              <a:rPr sz="1100" b="0">
                <a:solidFill>
                  <a:srgbClr val="333333"/>
                </a:solidFill>
              </a:rPr>
              <a:t>FBref = scaled metrics, larger sample</a:t>
            </a:r>
            <a:endParaRPr sz="1300" b="0" dirty="0">
              <a:solidFill>
                <a:srgbClr val="333333"/>
              </a:solidFill>
              <a:latin typeface="Calibri"/>
            </a:endParaRPr>
          </a:p>
          <a:p>
            <a:r>
              <a:rPr sz="1100" b="0">
                <a:solidFill>
                  <a:srgbClr val="333333"/>
                </a:solidFill>
              </a:rPr>
              <a:t>19 leagues · first Bundesliga season 2021–2025 · ≥300′</a:t>
            </a:r>
          </a:p>
          <a:p>
            <a:r>
              <a:rPr sz="1100" b="0">
                <a:solidFill>
                  <a:srgbClr val="333333"/>
                </a:solidFill>
              </a:rPr>
              <a:t>N=329 pairs</a:t>
            </a:r>
          </a:p>
          <a:p>
            <a:r>
              <a:rPr sz="1100" b="0">
                <a:solidFill>
                  <a:srgbClr val="333333"/>
                </a:solidFill>
              </a:rPr>
              <a:t>105 metrics tested → 43 met stability floor → 32 met redundancy floor (final list)</a:t>
            </a:r>
          </a:p>
          <a:p>
            <a:r>
              <a:rPr sz="1100" b="0">
                <a:solidFill>
                  <a:srgbClr val="333333"/>
                </a:solidFill>
              </a:rPr>
              <a:t>Attacking/Passing/Other: Pearson stability ≥0.60</a:t>
            </a:r>
          </a:p>
          <a:p>
            <a:r>
              <a:rPr sz="1100" b="0">
                <a:solidFill>
                  <a:srgbClr val="333333"/>
                </a:solidFill>
              </a:rPr>
              <a:t>Defending/Carrying: Pearson stability ≥0.50 (lower floor to keep enough defensive volume)</a:t>
            </a:r>
          </a:p>
        </p:txBody>
      </p:sp>
      <p:sp>
        <p:nvSpPr>
          <p:cNvPr id="19" name="Rounded Rectangle 18"/>
          <p:cNvSpPr/>
          <p:nvPr/>
        </p:nvSpPr>
        <p:spPr>
          <a:xfrm>
            <a:off x="6172200" y="3886200"/>
            <a:ext cx="5440680" cy="233172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172200" y="3886200"/>
            <a:ext cx="73152" cy="2331720"/>
          </a:xfrm>
          <a:prstGeom prst="rect">
            <a:avLst/>
          </a:prstGeom>
          <a:solidFill>
            <a:srgbClr val="2F9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373368" y="3995928"/>
            <a:ext cx="5120640" cy="931024"/>
          </a:xfrm>
          <a:prstGeom prst="rect">
            <a:avLst/>
          </a:prstGeom>
          <a:noFill/>
        </p:spPr>
        <p:txBody>
          <a:bodyPr wrap="square">
            <a:spAutoFit/>
          </a:bodyPr>
          <a:lstStyle/>
          <a:p>
            <a:pPr algn="l">
              <a:spcAft>
                <a:spcPts val="300"/>
              </a:spcAft>
            </a:pPr>
            <a:r>
              <a:rPr sz="1100" b="0">
                <a:solidFill>
                  <a:srgbClr val="333333"/>
                </a:solidFill>
              </a:rPr>
              <a:t>StatsBomb = metric depth, smaller sample</a:t>
            </a:r>
            <a:endParaRPr sz="1300" b="0" dirty="0">
              <a:solidFill>
                <a:srgbClr val="333333"/>
              </a:solidFill>
              <a:latin typeface="Calibri"/>
            </a:endParaRPr>
          </a:p>
          <a:p>
            <a:r>
              <a:rPr sz="1100" b="0">
                <a:solidFill>
                  <a:srgbClr val="333333"/>
                </a:solidFill>
              </a:rPr>
              <a:t>N=96 · prior ≥45′ / Year 1 in Bundesliga ≥30′</a:t>
            </a:r>
          </a:p>
          <a:p>
            <a:r>
              <a:rPr sz="1100" b="0">
                <a:solidFill>
                  <a:srgbClr val="333333"/>
                </a:solidFill>
              </a:rPr>
              <a:t>Pearson r≥0.40 → 7 of 16 · Pearson |r|≥0.85 keep all 7</a:t>
            </a:r>
          </a:p>
          <a:p>
            <a:r>
              <a:rPr sz="1100" b="0">
                <a:solidFill>
                  <a:srgbClr val="333333"/>
                </a:solidFill>
              </a:rPr>
              <a:t>Priors: 17 competitions · Bundesliga 2015/16 + 2023/24</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01168"/>
            <a:ext cx="10972800" cy="256032"/>
          </a:xfrm>
          <a:prstGeom prst="rect">
            <a:avLst/>
          </a:prstGeom>
          <a:noFill/>
        </p:spPr>
        <p:txBody>
          <a:bodyPr wrap="square">
            <a:spAutoFit/>
          </a:bodyPr>
          <a:lstStyle/>
          <a:p>
            <a:pPr algn="l"/>
            <a:r>
              <a:rPr sz="1300" b="1">
                <a:solidFill>
                  <a:srgbClr val="3D5A80"/>
                </a:solidFill>
                <a:latin typeface="Calibri"/>
              </a:rPr>
              <a:t>METHODOLOGY  ·  WHAT THIS IS</a:t>
            </a:r>
          </a:p>
        </p:txBody>
      </p:sp>
      <p:sp>
        <p:nvSpPr>
          <p:cNvPr id="4" name="TextBox 3"/>
          <p:cNvSpPr txBox="1"/>
          <p:nvPr/>
        </p:nvSpPr>
        <p:spPr>
          <a:xfrm>
            <a:off x="502920" y="470597"/>
            <a:ext cx="10972800" cy="461665"/>
          </a:xfrm>
          <a:prstGeom prst="rect">
            <a:avLst/>
          </a:prstGeom>
          <a:noFill/>
        </p:spPr>
        <p:txBody>
          <a:bodyPr wrap="square">
            <a:spAutoFit/>
          </a:bodyPr>
          <a:lstStyle/>
          <a:p>
            <a:pPr algn="l"/>
            <a:r>
              <a:rPr sz="2400" b="1" dirty="0">
                <a:solidFill>
                  <a:srgbClr val="1C1C1C"/>
                </a:solidFill>
                <a:latin typeface="Georgia"/>
              </a:rPr>
              <a:t>Scouting metric evaluation</a:t>
            </a:r>
          </a:p>
        </p:txBody>
      </p:sp>
      <p:sp>
        <p:nvSpPr>
          <p:cNvPr id="5" name="Rounded Rectangle 4"/>
          <p:cNvSpPr/>
          <p:nvPr/>
        </p:nvSpPr>
        <p:spPr>
          <a:xfrm>
            <a:off x="457200" y="960120"/>
            <a:ext cx="11109960" cy="1190526"/>
          </a:xfrm>
          <a:prstGeom prst="roundRect">
            <a:avLst/>
          </a:prstGeom>
          <a:solidFill>
            <a:srgbClr val="EEF3F8"/>
          </a:solidFill>
          <a:ln>
            <a:solidFill>
              <a:srgbClr val="3D5A8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85800" y="1097280"/>
            <a:ext cx="10789920" cy="528350"/>
          </a:xfrm>
          <a:prstGeom prst="rect">
            <a:avLst/>
          </a:prstGeom>
          <a:noFill/>
        </p:spPr>
        <p:txBody>
          <a:bodyPr wrap="square">
            <a:spAutoFit/>
          </a:bodyPr>
          <a:lstStyle/>
          <a:p>
            <a:pPr>
              <a:spcAft>
                <a:spcPts val="400"/>
              </a:spcAft>
            </a:pPr>
            <a:r>
              <a:rPr sz="1200">
                <a:solidFill>
                  <a:srgbClr val="333333"/>
                </a:solidFill>
              </a:rPr>
              <a:t>Applied sports analytics / metric selection (NYRB-style framework).</a:t>
            </a:r>
          </a:p>
          <a:p>
            <a:r>
              <a:rPr sz="1200">
                <a:solidFill>
                  <a:srgbClr val="333333"/>
                </a:solidFill>
              </a:rPr>
              <a:t/>
            </a:r>
          </a:p>
          <a:p>
            <a:r>
              <a:rPr sz="1200">
                <a:solidFill>
                  <a:srgbClr val="333333"/>
                </a:solidFill>
              </a:rPr>
              <a:t>Pearson r = stability: does a player’s ranking on a rate in the prior league tend to show up again in Year 1 in the Bundesliga?</a:t>
            </a:r>
          </a:p>
          <a:p>
            <a:r>
              <a:rPr sz="1200">
                <a:solidFill>
                  <a:srgbClr val="333333"/>
                </a:solidFill>
              </a:rPr>
              <a:t/>
            </a:r>
          </a:p>
          <a:p>
            <a:r>
              <a:rPr sz="1200">
                <a:solidFill>
                  <a:srgbClr val="333333"/>
                </a:solidFill>
              </a:rPr>
              <a:t>Success = more minutes in Year 1 in the Bundesliga (playing time), not goals or market value. Spearman ρ asks whether higher prior trait ranks line up with more first-season minutes.</a:t>
            </a:r>
          </a:p>
          <a:p>
            <a:r>
              <a:rPr sz="1200">
                <a:solidFill>
                  <a:srgbClr val="333333"/>
                </a:solidFill>
              </a:rPr>
              <a:t/>
            </a:r>
          </a:p>
          <a:p>
            <a:r>
              <a:rPr sz="1200">
                <a:solidFill>
                  <a:srgbClr val="333333"/>
                </a:solidFill>
              </a:rPr>
              <a:t>Redundancy = drop near-duplicate metrics. Percentiles = rank vs Bundesliga position peers.</a:t>
            </a:r>
          </a:p>
        </p:txBody>
      </p:sp>
      <p:sp>
        <p:nvSpPr>
          <p:cNvPr id="7" name="Rounded Rectangle 6"/>
          <p:cNvSpPr/>
          <p:nvPr/>
        </p:nvSpPr>
        <p:spPr>
          <a:xfrm>
            <a:off x="457200" y="2844014"/>
            <a:ext cx="3657600" cy="233172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57200" y="2844014"/>
            <a:ext cx="73152" cy="2331720"/>
          </a:xfrm>
          <a:prstGeom prst="rect">
            <a:avLst/>
          </a:prstGeom>
          <a:solidFill>
            <a:srgbClr val="1B7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 y="2953742"/>
            <a:ext cx="3337560" cy="338554"/>
          </a:xfrm>
          <a:prstGeom prst="rect">
            <a:avLst/>
          </a:prstGeom>
          <a:noFill/>
        </p:spPr>
        <p:txBody>
          <a:bodyPr wrap="square">
            <a:spAutoFit/>
          </a:bodyPr>
          <a:lstStyle/>
          <a:p>
            <a:pPr algn="l">
              <a:spcAft>
                <a:spcPts val="400"/>
              </a:spcAft>
            </a:pPr>
            <a:r>
              <a:rPr lang="en-US" sz="1600" b="1" dirty="0">
                <a:solidFill>
                  <a:srgbClr val="222222"/>
                </a:solidFill>
              </a:rPr>
              <a:t>Measurables</a:t>
            </a:r>
            <a:endParaRPr sz="1600" b="1" dirty="0">
              <a:solidFill>
                <a:srgbClr val="222222"/>
              </a:solidFill>
            </a:endParaRPr>
          </a:p>
        </p:txBody>
      </p:sp>
      <p:sp>
        <p:nvSpPr>
          <p:cNvPr id="10" name="TextBox 9"/>
          <p:cNvSpPr txBox="1"/>
          <p:nvPr/>
        </p:nvSpPr>
        <p:spPr>
          <a:xfrm>
            <a:off x="640080" y="3282926"/>
            <a:ext cx="3291840" cy="995144"/>
          </a:xfrm>
          <a:prstGeom prst="rect">
            <a:avLst/>
          </a:prstGeom>
          <a:noFill/>
        </p:spPr>
        <p:txBody>
          <a:bodyPr wrap="square">
            <a:spAutoFit/>
          </a:bodyPr>
          <a:lstStyle/>
          <a:p>
            <a:pPr>
              <a:spcAft>
                <a:spcPts val="400"/>
              </a:spcAft>
            </a:pPr>
            <a:r>
              <a:rPr sz="1300" b="0" dirty="0">
                <a:solidFill>
                  <a:srgbClr val="333333"/>
                </a:solidFill>
              </a:rPr>
              <a:t>Trait portability — prior ↔ Year 1 in Bundesliga stability r</a:t>
            </a:r>
          </a:p>
          <a:p>
            <a:pPr>
              <a:spcAft>
                <a:spcPts val="400"/>
              </a:spcAft>
            </a:pPr>
            <a:r>
              <a:rPr lang="en-US" sz="1300" b="0" dirty="0">
                <a:solidFill>
                  <a:srgbClr val="333333"/>
                </a:solidFill>
              </a:rPr>
              <a:t>Removed </a:t>
            </a:r>
            <a:r>
              <a:rPr lang="en-US" sz="1300" dirty="0">
                <a:solidFill>
                  <a:srgbClr val="333333"/>
                </a:solidFill>
              </a:rPr>
              <a:t>n</a:t>
            </a:r>
            <a:r>
              <a:rPr sz="1300" b="0" dirty="0">
                <a:solidFill>
                  <a:srgbClr val="333333"/>
                </a:solidFill>
              </a:rPr>
              <a:t>ear-duplicates — </a:t>
            </a:r>
            <a:r>
              <a:rPr sz="1300" b="0" dirty="0" err="1">
                <a:solidFill>
                  <a:srgbClr val="333333"/>
                </a:solidFill>
              </a:rPr>
              <a:t>FBref</a:t>
            </a:r>
            <a:r>
              <a:rPr sz="1300" b="0" dirty="0">
                <a:solidFill>
                  <a:srgbClr val="333333"/>
                </a:solidFill>
              </a:rPr>
              <a:t> |r|≥0.95 · </a:t>
            </a:r>
            <a:r>
              <a:rPr lang="en-US" sz="1300" b="0" dirty="0" err="1">
                <a:solidFill>
                  <a:srgbClr val="333333"/>
                </a:solidFill>
              </a:rPr>
              <a:t>Statsbomb</a:t>
            </a:r>
            <a:r>
              <a:rPr lang="en-US" sz="1300" b="0" dirty="0">
                <a:solidFill>
                  <a:srgbClr val="333333"/>
                </a:solidFill>
              </a:rPr>
              <a:t> (SB)</a:t>
            </a:r>
            <a:r>
              <a:rPr sz="1300" b="0" dirty="0">
                <a:solidFill>
                  <a:srgbClr val="333333"/>
                </a:solidFill>
              </a:rPr>
              <a:t> |r|≥0.85</a:t>
            </a:r>
          </a:p>
          <a:p>
            <a:pPr>
              <a:spcAft>
                <a:spcPts val="400"/>
              </a:spcAft>
            </a:pPr>
            <a:r>
              <a:rPr sz="1300" b="0" dirty="0">
                <a:solidFill>
                  <a:srgbClr val="333333"/>
                </a:solidFill>
              </a:rPr>
              <a:t>Year 1 in Bundesliga profile strength — stable-trait score</a:t>
            </a:r>
          </a:p>
        </p:txBody>
      </p:sp>
      <p:sp>
        <p:nvSpPr>
          <p:cNvPr id="11" name="Rounded Rectangle 10"/>
          <p:cNvSpPr/>
          <p:nvPr/>
        </p:nvSpPr>
        <p:spPr>
          <a:xfrm>
            <a:off x="4297680" y="2844014"/>
            <a:ext cx="3657600" cy="233172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297680" y="2844014"/>
            <a:ext cx="73152" cy="2331720"/>
          </a:xfrm>
          <a:prstGeom prst="rect">
            <a:avLst/>
          </a:prstGeom>
          <a:solidFill>
            <a:srgbClr val="BC47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80560" y="2953742"/>
            <a:ext cx="3337560" cy="338554"/>
          </a:xfrm>
          <a:prstGeom prst="rect">
            <a:avLst/>
          </a:prstGeom>
          <a:noFill/>
        </p:spPr>
        <p:txBody>
          <a:bodyPr wrap="square">
            <a:spAutoFit/>
          </a:bodyPr>
          <a:lstStyle/>
          <a:p>
            <a:pPr algn="l">
              <a:spcAft>
                <a:spcPts val="400"/>
              </a:spcAft>
            </a:pPr>
            <a:r>
              <a:rPr lang="en-US" sz="1600" b="1" dirty="0">
                <a:solidFill>
                  <a:srgbClr val="222222"/>
                </a:solidFill>
              </a:rPr>
              <a:t>Disclaimer</a:t>
            </a:r>
            <a:endParaRPr sz="1600" b="1" dirty="0">
              <a:solidFill>
                <a:srgbClr val="222222"/>
              </a:solidFill>
            </a:endParaRPr>
          </a:p>
        </p:txBody>
      </p:sp>
      <p:sp>
        <p:nvSpPr>
          <p:cNvPr id="14" name="TextBox 13"/>
          <p:cNvSpPr txBox="1"/>
          <p:nvPr/>
        </p:nvSpPr>
        <p:spPr>
          <a:xfrm>
            <a:off x="4480560" y="3282926"/>
            <a:ext cx="3291840" cy="1395254"/>
          </a:xfrm>
          <a:prstGeom prst="rect">
            <a:avLst/>
          </a:prstGeom>
          <a:noFill/>
        </p:spPr>
        <p:txBody>
          <a:bodyPr wrap="square">
            <a:spAutoFit/>
          </a:bodyPr>
          <a:lstStyle/>
          <a:p>
            <a:pPr>
              <a:spcAft>
                <a:spcPts val="400"/>
              </a:spcAft>
            </a:pPr>
            <a:r>
              <a:rPr sz="1300" b="0" dirty="0">
                <a:solidFill>
                  <a:srgbClr val="333333"/>
                </a:solidFill>
              </a:rPr>
              <a:t>Not a production forecast of goals, minutes, or “success.”</a:t>
            </a:r>
          </a:p>
          <a:p>
            <a:pPr>
              <a:spcAft>
                <a:spcPts val="400"/>
              </a:spcAft>
            </a:pPr>
            <a:r>
              <a:rPr sz="1300" b="0" dirty="0">
                <a:solidFill>
                  <a:srgbClr val="333333"/>
                </a:solidFill>
              </a:rPr>
              <a:t>Stability ≠ “</a:t>
            </a:r>
            <a:r>
              <a:rPr lang="en-US" sz="1300" dirty="0">
                <a:solidFill>
                  <a:srgbClr val="333333"/>
                </a:solidFill>
              </a:rPr>
              <a:t>player is primed for success</a:t>
            </a:r>
            <a:r>
              <a:rPr sz="1300" b="0" dirty="0">
                <a:solidFill>
                  <a:srgbClr val="333333"/>
                </a:solidFill>
              </a:rPr>
              <a:t>” — it means the ranking tends to travel.</a:t>
            </a:r>
          </a:p>
          <a:p>
            <a:pPr>
              <a:spcAft>
                <a:spcPts val="400"/>
              </a:spcAft>
            </a:pPr>
            <a:r>
              <a:rPr sz="1300" b="0" dirty="0">
                <a:solidFill>
                  <a:srgbClr val="333333"/>
                </a:solidFill>
              </a:rPr>
              <a:t>OLS</a:t>
            </a:r>
            <a:r>
              <a:rPr lang="en-US" sz="1300" dirty="0">
                <a:solidFill>
                  <a:srgbClr val="333333"/>
                </a:solidFill>
              </a:rPr>
              <a:t> </a:t>
            </a:r>
            <a:r>
              <a:rPr sz="1300" b="0" dirty="0">
                <a:solidFill>
                  <a:srgbClr val="333333"/>
                </a:solidFill>
              </a:rPr>
              <a:t>is exploratory (Big-5 N=117), not club-grade validation.</a:t>
            </a:r>
          </a:p>
        </p:txBody>
      </p:sp>
      <p:sp>
        <p:nvSpPr>
          <p:cNvPr id="15" name="Rounded Rectangle 14"/>
          <p:cNvSpPr/>
          <p:nvPr/>
        </p:nvSpPr>
        <p:spPr>
          <a:xfrm>
            <a:off x="8138160" y="2844014"/>
            <a:ext cx="3566160" cy="233172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138160" y="2844014"/>
            <a:ext cx="73152" cy="2331720"/>
          </a:xfrm>
          <a:prstGeom prst="rect">
            <a:avLst/>
          </a:prstGeom>
          <a:solidFill>
            <a:srgbClr val="3D5A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21040" y="2953742"/>
            <a:ext cx="3246120" cy="338554"/>
          </a:xfrm>
          <a:prstGeom prst="rect">
            <a:avLst/>
          </a:prstGeom>
          <a:noFill/>
        </p:spPr>
        <p:txBody>
          <a:bodyPr wrap="square">
            <a:spAutoFit/>
          </a:bodyPr>
          <a:lstStyle/>
          <a:p>
            <a:pPr algn="l">
              <a:spcAft>
                <a:spcPts val="400"/>
              </a:spcAft>
            </a:pPr>
            <a:r>
              <a:rPr lang="en-US" sz="1600" b="1" dirty="0">
                <a:solidFill>
                  <a:srgbClr val="222222"/>
                </a:solidFill>
              </a:rPr>
              <a:t>Data science methods</a:t>
            </a:r>
            <a:endParaRPr sz="1600" b="1" dirty="0">
              <a:solidFill>
                <a:srgbClr val="222222"/>
              </a:solidFill>
            </a:endParaRPr>
          </a:p>
        </p:txBody>
      </p:sp>
      <p:sp>
        <p:nvSpPr>
          <p:cNvPr id="18" name="TextBox 17"/>
          <p:cNvSpPr txBox="1"/>
          <p:nvPr/>
        </p:nvSpPr>
        <p:spPr>
          <a:xfrm>
            <a:off x="8321040" y="3282926"/>
            <a:ext cx="3200400" cy="1783079"/>
          </a:xfrm>
          <a:prstGeom prst="rect">
            <a:avLst/>
          </a:prstGeom>
          <a:noFill/>
        </p:spPr>
        <p:txBody>
          <a:bodyPr wrap="square">
            <a:spAutoFit/>
          </a:bodyPr>
          <a:lstStyle/>
          <a:p>
            <a:pPr>
              <a:spcAft>
                <a:spcPts val="400"/>
              </a:spcAft>
            </a:pPr>
            <a:r>
              <a:rPr sz="1300" b="0">
                <a:solidFill>
                  <a:srgbClr val="333333"/>
                </a:solidFill>
              </a:rPr>
              <a:t>Cohort design + joins</a:t>
            </a:r>
          </a:p>
          <a:p>
            <a:pPr>
              <a:spcAft>
                <a:spcPts val="400"/>
              </a:spcAft>
            </a:pPr>
            <a:r>
              <a:rPr sz="1300" b="0">
                <a:solidFill>
                  <a:srgbClr val="333333"/>
                </a:solidFill>
              </a:rPr>
              <a:t>Correlation / feature screening</a:t>
            </a:r>
          </a:p>
          <a:p>
            <a:pPr>
              <a:spcAft>
                <a:spcPts val="400"/>
              </a:spcAft>
            </a:pPr>
            <a:r>
              <a:rPr sz="1300" b="0">
                <a:solidFill>
                  <a:srgbClr val="333333"/>
                </a:solidFill>
              </a:rPr>
              <a:t>Redundancy pruning</a:t>
            </a:r>
          </a:p>
          <a:p>
            <a:pPr>
              <a:spcAft>
                <a:spcPts val="400"/>
              </a:spcAft>
            </a:pPr>
            <a:r>
              <a:rPr sz="1300" b="0">
                <a:solidFill>
                  <a:srgbClr val="333333"/>
                </a:solidFill>
              </a:rPr>
              <a:t>Peer percentiles + explorer</a:t>
            </a:r>
          </a:p>
          <a:p>
            <a:pPr>
              <a:spcAft>
                <a:spcPts val="400"/>
              </a:spcAft>
            </a:pPr>
            <a:r>
              <a:rPr sz="1300" b="0">
                <a:solidFill>
                  <a:srgbClr val="333333"/>
                </a:solidFill>
              </a:rPr>
              <a:t>Human Step-2 selection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0972800" cy="640080"/>
          </a:xfrm>
          <a:prstGeom prst="rect">
            <a:avLst/>
          </a:prstGeom>
          <a:noFill/>
        </p:spPr>
        <p:txBody>
          <a:bodyPr wrap="square">
            <a:spAutoFit/>
          </a:bodyPr>
          <a:lstStyle/>
          <a:p>
            <a:pPr>
              <a:spcAft>
                <a:spcPts val="300"/>
              </a:spcAft>
            </a:pPr>
            <a:r>
              <a:rPr sz="2800" b="1">
                <a:solidFill>
                  <a:srgbClr val="3D5A80"/>
                </a:solidFill>
                <a:latin typeface="Calibri"/>
              </a:rPr>
              <a:t>DATA  ·  FBREF (PRIMARY)</a:t>
            </a:r>
          </a:p>
        </p:txBody>
      </p:sp>
      <p:sp>
        <p:nvSpPr>
          <p:cNvPr id="4" name="TextBox 3"/>
          <p:cNvSpPr txBox="1"/>
          <p:nvPr/>
        </p:nvSpPr>
        <p:spPr>
          <a:xfrm>
            <a:off x="548640" y="960120"/>
            <a:ext cx="10972800" cy="307777"/>
          </a:xfrm>
          <a:prstGeom prst="rect">
            <a:avLst/>
          </a:prstGeom>
          <a:noFill/>
        </p:spPr>
        <p:txBody>
          <a:bodyPr wrap="square">
            <a:spAutoFit/>
          </a:bodyPr>
          <a:lstStyle/>
          <a:p>
            <a:pPr>
              <a:spcAft>
                <a:spcPts val="300"/>
              </a:spcAft>
            </a:pPr>
            <a:r>
              <a:rPr sz="1400" b="0" dirty="0">
                <a:solidFill>
                  <a:srgbClr val="555555"/>
                </a:solidFill>
                <a:latin typeface="Calibri"/>
              </a:rPr>
              <a:t>Scale layer — inbound</a:t>
            </a:r>
            <a:r>
              <a:rPr lang="en-US" sz="1400" b="0" dirty="0">
                <a:solidFill>
                  <a:srgbClr val="555555"/>
                </a:solidFill>
                <a:latin typeface="Calibri"/>
              </a:rPr>
              <a:t> leagues</a:t>
            </a:r>
            <a:r>
              <a:rPr sz="1400" b="0" dirty="0">
                <a:solidFill>
                  <a:srgbClr val="555555"/>
                </a:solidFill>
                <a:latin typeface="Calibri"/>
              </a:rPr>
              <a:t> → Bundesliga</a:t>
            </a:r>
          </a:p>
        </p:txBody>
      </p:sp>
      <p:sp>
        <p:nvSpPr>
          <p:cNvPr id="5" name="TextBox 4"/>
          <p:cNvSpPr txBox="1"/>
          <p:nvPr/>
        </p:nvSpPr>
        <p:spPr>
          <a:xfrm>
            <a:off x="548640" y="1463040"/>
            <a:ext cx="8876714" cy="2357056"/>
          </a:xfrm>
          <a:prstGeom prst="rect">
            <a:avLst/>
          </a:prstGeom>
          <a:solidFill>
            <a:schemeClr val="bg1">
              <a:lumMod val="75000"/>
            </a:schemeClr>
          </a:solidFill>
          <a:ln w="19050">
            <a:solidFill>
              <a:srgbClr val="002060"/>
            </a:solidFill>
          </a:ln>
        </p:spPr>
        <p:txBody>
          <a:bodyPr wrap="square">
            <a:spAutoFit/>
          </a:bodyPr>
          <a:lstStyle/>
          <a:p>
            <a:pPr>
              <a:spcAft>
                <a:spcPts val="200"/>
              </a:spcAft>
            </a:pPr>
            <a:r>
              <a:rPr sz="1200" b="0">
                <a:solidFill>
                  <a:srgbClr val="333333"/>
                </a:solidFill>
              </a:rPr>
              <a:t>What we use</a:t>
            </a:r>
          </a:p>
          <a:p>
            <a:r>
              <a:rPr sz="1200" b="0">
                <a:solidFill>
                  <a:srgbClr val="333333"/>
                </a:solidFill>
              </a:rPr>
              <a:t/>
            </a:r>
          </a:p>
          <a:p>
            <a:r>
              <a:rPr sz="1200" b="0">
                <a:solidFill>
                  <a:srgbClr val="333333"/>
                </a:solidFill>
              </a:rPr>
              <a:t>Outside-league tables + player-page fills</a:t>
            </a:r>
          </a:p>
          <a:p>
            <a:r>
              <a:rPr sz="1200" b="0">
                <a:solidFill>
                  <a:srgbClr val="333333"/>
                </a:solidFill>
              </a:rPr>
              <a:t>Analysis window: first Bundesliga end-years 2021–2025</a:t>
            </a:r>
          </a:p>
          <a:p>
            <a:r>
              <a:rPr sz="1200" b="0">
                <a:solidFill>
                  <a:srgbClr val="333333"/>
                </a:solidFill>
              </a:rPr>
              <a:t>Minutes: prior ≥300′ · Year 1 in Bundesliga ≥300′ → N=329 pairs · 19 leagues</a:t>
            </a:r>
          </a:p>
          <a:p>
            <a:r>
              <a:rPr sz="1200" b="0">
                <a:solidFill>
                  <a:srgbClr val="333333"/>
                </a:solidFill>
              </a:rPr>
              <a:t/>
            </a:r>
          </a:p>
          <a:p>
            <a:r>
              <a:rPr sz="1200" b="0">
                <a:solidFill>
                  <a:srgbClr val="333333"/>
                </a:solidFill>
              </a:rPr>
              <a:t>League-relative scaling (mentioned once): we tried “how high vs peers in the same prior league” (z-score / percentile). It did not improve prior→Year 1 stability, so we keep absolute per-90 rates everywhere.</a:t>
            </a:r>
          </a:p>
          <a:p>
            <a:r>
              <a:rPr sz="1200" b="0">
                <a:solidFill>
                  <a:srgbClr val="333333"/>
                </a:solidFill>
              </a:rPr>
              <a:t/>
            </a:r>
          </a:p>
          <a:p>
            <a:r>
              <a:rPr sz="1200" b="0">
                <a:solidFill>
                  <a:srgbClr val="333333"/>
                </a:solidFill>
              </a:rPr>
              <a:t>Window · 2021–2025 · ≥300′ both sides · N=329</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0972800" cy="640080"/>
          </a:xfrm>
          <a:prstGeom prst="rect">
            <a:avLst/>
          </a:prstGeom>
          <a:noFill/>
        </p:spPr>
        <p:txBody>
          <a:bodyPr wrap="square">
            <a:spAutoFit/>
          </a:bodyPr>
          <a:lstStyle/>
          <a:p>
            <a:pPr>
              <a:spcAft>
                <a:spcPts val="300"/>
              </a:spcAft>
            </a:pPr>
            <a:r>
              <a:rPr sz="2800" b="1">
                <a:solidFill>
                  <a:srgbClr val="3D5A80"/>
                </a:solidFill>
                <a:latin typeface="Calibri"/>
              </a:rPr>
              <a:t>DATA  ·  STATSBOMB OPEN DATA (DEEP DIVE)</a:t>
            </a:r>
          </a:p>
        </p:txBody>
      </p:sp>
      <p:sp>
        <p:nvSpPr>
          <p:cNvPr id="5" name="TextBox 4"/>
          <p:cNvSpPr txBox="1"/>
          <p:nvPr/>
        </p:nvSpPr>
        <p:spPr>
          <a:xfrm>
            <a:off x="548640" y="1463040"/>
            <a:ext cx="5303520" cy="4754880"/>
          </a:xfrm>
          <a:prstGeom prst="rect">
            <a:avLst/>
          </a:prstGeom>
          <a:noFill/>
          <a:ln w="19050">
            <a:solidFill>
              <a:srgbClr val="002060"/>
            </a:solidFill>
          </a:ln>
        </p:spPr>
        <p:txBody>
          <a:bodyPr wrap="square">
            <a:spAutoFit/>
          </a:bodyPr>
          <a:lstStyle/>
          <a:p>
            <a:pPr>
              <a:spcAft>
                <a:spcPts val="300"/>
              </a:spcAft>
            </a:pPr>
            <a:r>
              <a:rPr sz="1100">
                <a:solidFill>
                  <a:srgbClr val="333333"/>
                </a:solidFill>
              </a:rPr>
              <a:t>What we use</a:t>
            </a:r>
          </a:p>
          <a:p>
            <a:r>
              <a:rPr sz="1100">
                <a:solidFill>
                  <a:srgbClr val="333333"/>
                </a:solidFill>
              </a:rPr>
              <a:t/>
            </a:r>
          </a:p>
          <a:p>
            <a:r>
              <a:rPr sz="1100">
                <a:solidFill>
                  <a:srgbClr val="333333"/>
                </a:solidFill>
              </a:rPr>
              <a:t>“Open” means free public StatsBomb match files anyone can download — not a paid data feed. Priors come from those open men’s competitions the player appeared in before the Bundesliga (club leagues and tournaments such as the World Cup, European Championship, and Champions League).</a:t>
            </a:r>
          </a:p>
          <a:p>
            <a:r>
              <a:rPr sz="1100">
                <a:solidFill>
                  <a:srgbClr val="333333"/>
                </a:solidFill>
              </a:rPr>
              <a:t>Bundesliga open dumps available: 2015/16 + 2023/24 only</a:t>
            </a:r>
          </a:p>
          <a:p>
            <a:r>
              <a:rPr sz="1100">
                <a:solidFill>
                  <a:srgbClr val="333333"/>
                </a:solidFill>
              </a:rPr>
              <a:t>N=96 · prior ≥45′ · Year 1 in Bundesliga ≥30′</a:t>
            </a:r>
          </a:p>
          <a:p>
            <a:r>
              <a:rPr sz="1100">
                <a:solidFill>
                  <a:srgbClr val="333333"/>
                </a:solidFill>
              </a:rPr>
              <a:t>Pearson r≥0.40 → 7 · Pearson |r|≥0.85 → keep all 7</a:t>
            </a:r>
          </a:p>
          <a:p>
            <a:r>
              <a:rPr sz="1100">
                <a:solidFill>
                  <a:srgbClr val="333333"/>
                </a:solidFill>
              </a:rPr>
              <a:t/>
            </a:r>
          </a:p>
          <a:p>
            <a:r>
              <a:rPr sz="1100">
                <a:solidFill>
                  <a:srgbClr val="333333"/>
                </a:solidFill>
              </a:rPr>
              <a:t>Open-data thinness · two Bundesliga seasons · event check</a:t>
            </a:r>
          </a:p>
        </p:txBody>
      </p:sp>
      <p:sp>
        <p:nvSpPr>
          <p:cNvPr id="6" name="TextBox 5"/>
          <p:cNvSpPr txBox="1"/>
          <p:nvPr/>
        </p:nvSpPr>
        <p:spPr>
          <a:xfrm>
            <a:off x="6126480" y="1463040"/>
            <a:ext cx="5303520" cy="4754880"/>
          </a:xfrm>
          <a:prstGeom prst="rect">
            <a:avLst/>
          </a:prstGeom>
          <a:noFill/>
          <a:ln w="19050">
            <a:solidFill>
              <a:srgbClr val="002060"/>
            </a:solidFill>
          </a:ln>
        </p:spPr>
        <p:txBody>
          <a:bodyPr wrap="square">
            <a:spAutoFit/>
          </a:bodyPr>
          <a:lstStyle/>
          <a:p>
            <a:pPr>
              <a:spcAft>
                <a:spcPts val="200"/>
              </a:spcAft>
            </a:pPr>
            <a:r>
              <a:rPr sz="1200" b="0">
                <a:solidFill>
                  <a:srgbClr val="333333"/>
                </a:solidFill>
              </a:rPr>
              <a:t>vs FBref</a:t>
            </a:r>
            <a:endParaRPr sz="1300" b="0" dirty="0">
              <a:solidFill>
                <a:srgbClr val="333333"/>
              </a:solidFill>
              <a:latin typeface="Calibri"/>
            </a:endParaRPr>
          </a:p>
          <a:p>
            <a:r>
              <a:rPr sz="1200" b="0">
                <a:solidFill>
                  <a:srgbClr val="333333"/>
                </a:solidFill>
              </a:rPr>
              <a:t>Same pipeline; thinner year coverage by design.</a:t>
            </a:r>
          </a:p>
          <a:p>
            <a:r>
              <a:rPr sz="1200" b="0">
                <a:solidFill>
                  <a:srgbClr val="333333"/>
                </a:solidFill>
              </a:rPr>
              <a:t>Event check on trait families — not a second league-ranking study.</a:t>
            </a:r>
          </a:p>
          <a:p>
            <a:r>
              <a:rPr sz="1200" b="0">
                <a:solidFill>
                  <a:srgbClr val="333333"/>
                </a:solidFill>
              </a:rPr>
              <a:t>Priors mix club + international competitions, so feeder tables here are directional only.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6411"/>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300110"/>
            <a:ext cx="10972800" cy="292388"/>
          </a:xfrm>
          <a:prstGeom prst="rect">
            <a:avLst/>
          </a:prstGeom>
          <a:noFill/>
        </p:spPr>
        <p:txBody>
          <a:bodyPr wrap="square">
            <a:spAutoFit/>
          </a:bodyPr>
          <a:lstStyle/>
          <a:p>
            <a:pPr algn="l"/>
            <a:r>
              <a:rPr sz="1300" b="1" dirty="0">
                <a:solidFill>
                  <a:srgbClr val="3D5A80"/>
                </a:solidFill>
                <a:latin typeface="Calibri"/>
              </a:rPr>
              <a:t>STABILITY (FBREF)</a:t>
            </a:r>
            <a:r>
              <a:rPr lang="en-US" sz="1300" b="1" dirty="0">
                <a:solidFill>
                  <a:srgbClr val="3D5A80"/>
                </a:solidFill>
                <a:latin typeface="Calibri"/>
              </a:rPr>
              <a:t> top metrics</a:t>
            </a:r>
            <a:endParaRPr sz="1300" b="1" dirty="0">
              <a:solidFill>
                <a:srgbClr val="3D5A80"/>
              </a:solidFill>
              <a:latin typeface="Calibri"/>
            </a:endParaRPr>
          </a:p>
        </p:txBody>
      </p:sp>
      <p:sp>
        <p:nvSpPr>
          <p:cNvPr id="4" name="TextBox 3"/>
          <p:cNvSpPr txBox="1"/>
          <p:nvPr/>
        </p:nvSpPr>
        <p:spPr>
          <a:xfrm>
            <a:off x="411480" y="1118846"/>
            <a:ext cx="3036279" cy="2569934"/>
          </a:xfrm>
          <a:prstGeom prst="rect">
            <a:avLst/>
          </a:prstGeom>
          <a:noFill/>
        </p:spPr>
        <p:txBody>
          <a:bodyPr wrap="square">
            <a:spAutoFit/>
          </a:bodyPr>
          <a:lstStyle/>
          <a:p>
            <a:pPr marL="171450" indent="-171450" algn="l">
              <a:spcAft>
                <a:spcPts val="300"/>
              </a:spcAft>
              <a:buFont typeface="Arial" panose="020B0604020202020204" pitchFamily="34" charset="0"/>
              <a:buChar char="•"/>
            </a:pPr>
            <a:r>
              <a:rPr sz="1200" b="0">
                <a:solidFill>
                  <a:srgbClr val="333333"/>
                </a:solidFill>
              </a:rPr>
              <a:t>Prior league → first Bundesliga season (end-years 2021–2025)</a:t>
            </a:r>
            <a:endParaRPr lang="en-US" sz="1200" b="0" dirty="0">
              <a:solidFill>
                <a:srgbClr val="333333"/>
              </a:solidFill>
            </a:endParaRPr>
          </a:p>
          <a:p>
            <a:r>
              <a:rPr sz="1200" b="0">
                <a:solidFill>
                  <a:srgbClr val="333333"/>
                </a:solidFill>
              </a:rPr>
              <a:t/>
            </a:r>
          </a:p>
          <a:p>
            <a:r>
              <a:rPr sz="1200" b="0">
                <a:solidFill>
                  <a:srgbClr val="333333"/>
                </a:solidFill>
              </a:rPr>
              <a:t>Paired N=329 · 19 leagues · minutes ≥300′ both sides</a:t>
            </a:r>
          </a:p>
          <a:p>
            <a:r>
              <a:rPr sz="1200" b="0">
                <a:solidFill>
                  <a:srgbClr val="333333"/>
                </a:solidFill>
              </a:rPr>
              <a:t/>
            </a:r>
          </a:p>
          <a:p>
            <a:r>
              <a:rPr sz="1200" b="0">
                <a:solidFill>
                  <a:srgbClr val="333333"/>
                </a:solidFill>
              </a:rPr>
              <a:t>Category gates (not one global cut):</a:t>
            </a:r>
          </a:p>
          <a:p>
            <a:r>
              <a:rPr sz="1200" b="0">
                <a:solidFill>
                  <a:srgbClr val="333333"/>
                </a:solidFill>
              </a:rPr>
              <a:t>Attacking / Passing / Other · Pearson r ≥ 0.60</a:t>
            </a:r>
          </a:p>
          <a:p>
            <a:r>
              <a:rPr sz="1200" b="0">
                <a:solidFill>
                  <a:srgbClr val="333333"/>
                </a:solidFill>
              </a:rPr>
              <a:t>Defending / Carrying · Pearson r ≥ 0.50</a:t>
            </a:r>
          </a:p>
          <a:p>
            <a:r>
              <a:rPr sz="1200" b="0">
                <a:solidFill>
                  <a:srgbClr val="333333"/>
                </a:solidFill>
              </a:rPr>
              <a:t>43 of 105 metrics pass → redundancy next</a:t>
            </a:r>
          </a:p>
          <a:p>
            <a:r>
              <a:rPr sz="1200" b="0">
                <a:solidFill>
                  <a:srgbClr val="333333"/>
                </a:solidFill>
              </a:rPr>
              <a:t/>
            </a:r>
          </a:p>
          <a:p>
            <a:r>
              <a:rPr sz="1200" b="0">
                <a:solidFill>
                  <a:srgbClr val="333333"/>
                </a:solidFill>
              </a:rPr>
              <a:t>Metric codes: see Glossary slide.</a:t>
            </a:r>
          </a:p>
          <a:p>
            <a:r>
              <a:rPr sz="1200" b="0">
                <a:solidFill>
                  <a:srgbClr val="333333"/>
                </a:solidFill>
              </a:rPr>
              <a:t>Unstable metrics (the other 62) miss the floor — non-portable; listed in the inspector.</a:t>
            </a:r>
          </a:p>
        </p:txBody>
      </p:sp>
      <p:graphicFrame>
        <p:nvGraphicFramePr>
          <p:cNvPr id="6" name="Table 5"/>
          <p:cNvGraphicFramePr>
            <a:graphicFrameLocks noGrp="1"/>
          </p:cNvGraphicFramePr>
          <p:nvPr>
            <p:extLst>
              <p:ext uri="{D42A27DB-BD31-4B8C-83A1-F6EECF244321}">
                <p14:modId xmlns:p14="http://schemas.microsoft.com/office/powerpoint/2010/main" val="856127445"/>
              </p:ext>
            </p:extLst>
          </p:nvPr>
        </p:nvGraphicFramePr>
        <p:xfrm>
          <a:off x="3447759" y="658148"/>
          <a:ext cx="8321040" cy="5120640"/>
        </p:xfrm>
        <a:graphic>
          <a:graphicData uri="http://schemas.openxmlformats.org/drawingml/2006/table">
            <a:tbl>
              <a:tblPr firstRow="1" bandRow="1">
                <a:tableStyleId>{5C22544A-7EE6-4342-B048-85BDC9FD1C3A}</a:tableStyleId>
              </a:tblPr>
              <a:tblGrid>
                <a:gridCol w="100584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731520">
                  <a:extLst>
                    <a:ext uri="{9D8B030D-6E8A-4147-A177-3AD203B41FA5}">
                      <a16:colId xmlns:a16="http://schemas.microsoft.com/office/drawing/2014/main" val="20004"/>
                    </a:ext>
                  </a:extLst>
                </a:gridCol>
              </a:tblGrid>
              <a:tr h="226422">
                <a:tc>
                  <a:txBody>
                    <a:bodyPr/>
                    <a:lstStyle/>
                    <a:p>
                      <a:r>
                        <a:t>Code</a:t>
                      </a:r>
                    </a:p>
                  </a:txBody>
                  <a:tcPr>
                    <a:solidFill>
                      <a:srgbClr val="1C1C1C"/>
                    </a:solidFill>
                  </a:tcPr>
                </a:tc>
                <a:tc>
                  <a:txBody>
                    <a:bodyPr/>
                    <a:lstStyle/>
                    <a:p>
                      <a:r>
                        <a:t>Metric (full name)</a:t>
                      </a:r>
                    </a:p>
                  </a:txBody>
                  <a:tcPr>
                    <a:solidFill>
                      <a:srgbClr val="1C1C1C"/>
                    </a:solidFill>
                  </a:tcPr>
                </a:tc>
                <a:tc>
                  <a:txBody>
                    <a:bodyPr/>
                    <a:lstStyle/>
                    <a:p>
                      <a:pPr>
                        <a:defRPr sz="1100" b="1">
                          <a:solidFill>
                            <a:srgbClr val="FFFFFF"/>
                          </a:solidFill>
                          <a:latin typeface="Calibri"/>
                        </a:defRPr>
                      </a:pPr>
                      <a:r>
                        <a:rPr sz="1000" b="1" dirty="0">
                          <a:solidFill>
                            <a:schemeClr val="bg1"/>
                          </a:solidFill>
                        </a:rPr>
                        <a:t>Category</a:t>
                      </a:r>
                    </a:p>
                  </a:txBody>
                  <a:tcPr>
                    <a:solidFill>
                      <a:srgbClr val="1C1C1C"/>
                    </a:solidFill>
                  </a:tcPr>
                </a:tc>
                <a:tc>
                  <a:txBody>
                    <a:bodyPr/>
                    <a:lstStyle/>
                    <a:p>
                      <a:pPr>
                        <a:defRPr sz="1100" b="1">
                          <a:solidFill>
                            <a:srgbClr val="FFFFFF"/>
                          </a:solidFill>
                          <a:latin typeface="Calibri"/>
                        </a:defRPr>
                      </a:pPr>
                      <a:r>
                        <a:rPr sz="1000" b="1" dirty="0">
                          <a:solidFill>
                            <a:schemeClr val="bg1"/>
                          </a:solidFill>
                        </a:rPr>
                        <a:t>r</a:t>
                      </a:r>
                    </a:p>
                  </a:txBody>
                  <a:tcPr>
                    <a:solidFill>
                      <a:srgbClr val="1C1C1C"/>
                    </a:solidFill>
                  </a:tcPr>
                </a:tc>
                <a:tc>
                  <a:txBody>
                    <a:bodyPr/>
                    <a:lstStyle/>
                    <a:p>
                      <a:pPr>
                        <a:defRPr sz="1100" b="1">
                          <a:solidFill>
                            <a:srgbClr val="FFFFFF"/>
                          </a:solidFill>
                          <a:latin typeface="Calibri"/>
                        </a:defRPr>
                      </a:pPr>
                      <a:r>
                        <a:rPr sz="1000" b="1" dirty="0">
                          <a:solidFill>
                            <a:schemeClr val="bg1"/>
                          </a:solidFill>
                        </a:rPr>
                        <a:t>N</a:t>
                      </a:r>
                    </a:p>
                  </a:txBody>
                  <a:tcPr>
                    <a:solidFill>
                      <a:srgbClr val="1C1C1C"/>
                    </a:solidFill>
                  </a:tcPr>
                </a:tc>
                <a:extLst>
                  <a:ext uri="{0D108BD9-81ED-4DB2-BD59-A6C34878D82A}">
                    <a16:rowId xmlns:a16="http://schemas.microsoft.com/office/drawing/2014/main" val="10000"/>
                  </a:ext>
                </a:extLst>
              </a:tr>
              <a:tr h="226422">
                <a:tc>
                  <a:txBody>
                    <a:bodyPr/>
                    <a:lstStyle/>
                    <a:p>
                      <a:pPr>
                        <a:defRPr sz="1100" b="0">
                          <a:solidFill>
                            <a:srgbClr val="1C1C1C"/>
                          </a:solidFill>
                          <a:latin typeface="Calibri"/>
                        </a:defRPr>
                      </a:pPr>
                      <a:r>
                        <a:rPr sz="1000">
                          <a:solidFill>
                            <a:srgbClr val="333333"/>
                          </a:solidFill>
                        </a:rPr>
                        <a:t>DEFPE</a:t>
                      </a:r>
                    </a:p>
                  </a:txBody>
                  <a:tcPr>
                    <a:solidFill>
                      <a:srgbClr val="F0FAF4"/>
                    </a:solidFill>
                  </a:tcPr>
                </a:tc>
                <a:tc>
                  <a:txBody>
                    <a:bodyPr/>
                    <a:lstStyle/>
                    <a:p>
                      <a:r>
                        <a:t>Defensive penalty-area touches</a:t>
                      </a:r>
                    </a:p>
                  </a:txBody>
                  <a:tcPr>
                    <a:solidFill>
                      <a:srgbClr val="F0FAF4"/>
                    </a:solidFill>
                  </a:tcPr>
                </a:tc>
                <a:tc>
                  <a:txBody>
                    <a:bodyPr/>
                    <a:lstStyle/>
                    <a:p>
                      <a:pPr>
                        <a:defRPr sz="1100" b="0">
                          <a:solidFill>
                            <a:srgbClr val="1C1C1C"/>
                          </a:solidFill>
                          <a:latin typeface="Calibri"/>
                        </a:defRPr>
                      </a:pPr>
                      <a:r>
                        <a:rPr sz="1000">
                          <a:solidFill>
                            <a:srgbClr val="333333"/>
                          </a:solidFill>
                        </a:rPr>
                        <a:t>Defending</a:t>
                      </a:r>
                    </a:p>
                  </a:txBody>
                  <a:tcPr>
                    <a:solidFill>
                      <a:srgbClr val="F0FAF4"/>
                    </a:solidFill>
                  </a:tcPr>
                </a:tc>
                <a:tc>
                  <a:txBody>
                    <a:bodyPr/>
                    <a:lstStyle/>
                    <a:p>
                      <a:pPr>
                        <a:defRPr sz="1100" b="1">
                          <a:solidFill>
                            <a:srgbClr val="1C1C1C"/>
                          </a:solidFill>
                          <a:latin typeface="Calibri"/>
                        </a:defRPr>
                      </a:pPr>
                      <a:r>
                        <a:rPr sz="1000">
                          <a:solidFill>
                            <a:srgbClr val="333333"/>
                          </a:solidFill>
                        </a:rPr>
                        <a:t>0.906</a:t>
                      </a:r>
                    </a:p>
                  </a:txBody>
                  <a:tcPr>
                    <a:solidFill>
                      <a:srgbClr val="F0FAF4"/>
                    </a:solidFill>
                  </a:tcPr>
                </a:tc>
                <a:tc>
                  <a:txBody>
                    <a:bodyPr/>
                    <a:lstStyle/>
                    <a:p>
                      <a:pPr>
                        <a:defRPr sz="1100" b="0">
                          <a:solidFill>
                            <a:srgbClr val="1C1C1C"/>
                          </a:solidFill>
                          <a:latin typeface="Calibri"/>
                        </a:defRPr>
                      </a:pPr>
                      <a:r>
                        <a:rPr sz="1000" dirty="0">
                          <a:solidFill>
                            <a:srgbClr val="333333"/>
                          </a:solidFill>
                        </a:rPr>
                        <a:t>95</a:t>
                      </a:r>
                    </a:p>
                  </a:txBody>
                  <a:tcPr>
                    <a:solidFill>
                      <a:srgbClr val="F0FAF4"/>
                    </a:solidFill>
                  </a:tcPr>
                </a:tc>
                <a:extLst>
                  <a:ext uri="{0D108BD9-81ED-4DB2-BD59-A6C34878D82A}">
                    <a16:rowId xmlns:a16="http://schemas.microsoft.com/office/drawing/2014/main" val="10001"/>
                  </a:ext>
                </a:extLst>
              </a:tr>
              <a:tr h="226422">
                <a:tc>
                  <a:txBody>
                    <a:bodyPr/>
                    <a:lstStyle/>
                    <a:p>
                      <a:pPr>
                        <a:defRPr sz="1100" b="0">
                          <a:solidFill>
                            <a:srgbClr val="1C1C1C"/>
                          </a:solidFill>
                          <a:latin typeface="Calibri"/>
                        </a:defRPr>
                      </a:pPr>
                      <a:r>
                        <a:rPr sz="1000">
                          <a:solidFill>
                            <a:srgbClr val="333333"/>
                          </a:solidFill>
                        </a:rPr>
                        <a:t>PRGC</a:t>
                      </a:r>
                    </a:p>
                  </a:txBody>
                  <a:tcPr>
                    <a:solidFill>
                      <a:srgbClr val="F0FAF4"/>
                    </a:solidFill>
                  </a:tcPr>
                </a:tc>
                <a:tc>
                  <a:txBody>
                    <a:bodyPr/>
                    <a:lstStyle/>
                    <a:p>
                      <a:r>
                        <a:t>Progressive carries</a:t>
                      </a:r>
                    </a:p>
                  </a:txBody>
                  <a:tcPr>
                    <a:solidFill>
                      <a:srgbClr val="F0FAF4"/>
                    </a:solidFill>
                  </a:tcPr>
                </a:tc>
                <a:tc>
                  <a:txBody>
                    <a:bodyPr/>
                    <a:lstStyle/>
                    <a:p>
                      <a:pPr>
                        <a:defRPr sz="1100" b="0">
                          <a:solidFill>
                            <a:srgbClr val="1C1C1C"/>
                          </a:solidFill>
                          <a:latin typeface="Calibri"/>
                        </a:defRPr>
                      </a:pPr>
                      <a:r>
                        <a:rPr sz="1000">
                          <a:solidFill>
                            <a:srgbClr val="333333"/>
                          </a:solidFill>
                        </a:rPr>
                        <a:t>Passing</a:t>
                      </a:r>
                    </a:p>
                  </a:txBody>
                  <a:tcPr>
                    <a:solidFill>
                      <a:srgbClr val="F0FAF4"/>
                    </a:solidFill>
                  </a:tcPr>
                </a:tc>
                <a:tc>
                  <a:txBody>
                    <a:bodyPr/>
                    <a:lstStyle/>
                    <a:p>
                      <a:pPr>
                        <a:defRPr sz="1100" b="1">
                          <a:solidFill>
                            <a:srgbClr val="1C1C1C"/>
                          </a:solidFill>
                          <a:latin typeface="Calibri"/>
                        </a:defRPr>
                      </a:pPr>
                      <a:r>
                        <a:rPr sz="1000">
                          <a:solidFill>
                            <a:srgbClr val="333333"/>
                          </a:solidFill>
                        </a:rPr>
                        <a:t>0.805</a:t>
                      </a:r>
                    </a:p>
                  </a:txBody>
                  <a:tcPr>
                    <a:solidFill>
                      <a:srgbClr val="F0FAF4"/>
                    </a:solidFill>
                  </a:tcPr>
                </a:tc>
                <a:tc>
                  <a:txBody>
                    <a:bodyPr/>
                    <a:lstStyle/>
                    <a:p>
                      <a:pPr>
                        <a:defRPr sz="1100" b="0">
                          <a:solidFill>
                            <a:srgbClr val="1C1C1C"/>
                          </a:solidFill>
                          <a:latin typeface="Calibri"/>
                        </a:defRPr>
                      </a:pPr>
                      <a:r>
                        <a:rPr sz="1000" dirty="0">
                          <a:solidFill>
                            <a:srgbClr val="333333"/>
                          </a:solidFill>
                        </a:rPr>
                        <a:t>100</a:t>
                      </a:r>
                    </a:p>
                  </a:txBody>
                  <a:tcPr>
                    <a:solidFill>
                      <a:srgbClr val="F0FAF4"/>
                    </a:solidFill>
                  </a:tcPr>
                </a:tc>
                <a:extLst>
                  <a:ext uri="{0D108BD9-81ED-4DB2-BD59-A6C34878D82A}">
                    <a16:rowId xmlns:a16="http://schemas.microsoft.com/office/drawing/2014/main" val="10002"/>
                  </a:ext>
                </a:extLst>
              </a:tr>
              <a:tr h="226422">
                <a:tc>
                  <a:txBody>
                    <a:bodyPr/>
                    <a:lstStyle/>
                    <a:p>
                      <a:pPr>
                        <a:defRPr sz="1100" b="0">
                          <a:solidFill>
                            <a:srgbClr val="1C1C1C"/>
                          </a:solidFill>
                          <a:latin typeface="Calibri"/>
                        </a:defRPr>
                      </a:pPr>
                      <a:r>
                        <a:rPr sz="1000">
                          <a:solidFill>
                            <a:srgbClr val="333333"/>
                          </a:solidFill>
                        </a:rPr>
                        <a:t>XG</a:t>
                      </a:r>
                    </a:p>
                  </a:txBody>
                  <a:tcPr>
                    <a:solidFill>
                      <a:srgbClr val="F0FAF4"/>
                    </a:solidFill>
                  </a:tcPr>
                </a:tc>
                <a:tc>
                  <a:txBody>
                    <a:bodyPr/>
                    <a:lstStyle/>
                    <a:p>
                      <a:r>
                        <a:t>Expected goals (xG)</a:t>
                      </a:r>
                    </a:p>
                  </a:txBody>
                  <a:tcPr>
                    <a:solidFill>
                      <a:srgbClr val="F0FAF4"/>
                    </a:solidFill>
                  </a:tcPr>
                </a:tc>
                <a:tc>
                  <a:txBody>
                    <a:bodyPr/>
                    <a:lstStyle/>
                    <a:p>
                      <a:pPr>
                        <a:defRPr sz="1100" b="0">
                          <a:solidFill>
                            <a:srgbClr val="1C1C1C"/>
                          </a:solidFill>
                          <a:latin typeface="Calibri"/>
                        </a:defRPr>
                      </a:pPr>
                      <a:r>
                        <a:rPr sz="1000">
                          <a:solidFill>
                            <a:srgbClr val="333333"/>
                          </a:solidFill>
                        </a:rPr>
                        <a:t>Attacking</a:t>
                      </a:r>
                    </a:p>
                  </a:txBody>
                  <a:tcPr>
                    <a:solidFill>
                      <a:srgbClr val="F0FAF4"/>
                    </a:solidFill>
                  </a:tcPr>
                </a:tc>
                <a:tc>
                  <a:txBody>
                    <a:bodyPr/>
                    <a:lstStyle/>
                    <a:p>
                      <a:pPr>
                        <a:defRPr sz="1100" b="1">
                          <a:solidFill>
                            <a:srgbClr val="1C1C1C"/>
                          </a:solidFill>
                          <a:latin typeface="Calibri"/>
                        </a:defRPr>
                      </a:pPr>
                      <a:r>
                        <a:rPr sz="1000">
                          <a:solidFill>
                            <a:srgbClr val="333333"/>
                          </a:solidFill>
                        </a:rPr>
                        <a:t>0.797</a:t>
                      </a:r>
                    </a:p>
                  </a:txBody>
                  <a:tcPr>
                    <a:solidFill>
                      <a:srgbClr val="F0FAF4"/>
                    </a:solidFill>
                  </a:tcPr>
                </a:tc>
                <a:tc>
                  <a:txBody>
                    <a:bodyPr/>
                    <a:lstStyle/>
                    <a:p>
                      <a:pPr>
                        <a:defRPr sz="1100" b="0">
                          <a:solidFill>
                            <a:srgbClr val="1C1C1C"/>
                          </a:solidFill>
                          <a:latin typeface="Calibri"/>
                        </a:defRPr>
                      </a:pPr>
                      <a:r>
                        <a:rPr sz="1000">
                          <a:solidFill>
                            <a:srgbClr val="333333"/>
                          </a:solidFill>
                        </a:rPr>
                        <a:t>100</a:t>
                      </a:r>
                    </a:p>
                  </a:txBody>
                  <a:tcPr>
                    <a:solidFill>
                      <a:srgbClr val="F0FAF4"/>
                    </a:solidFill>
                  </a:tcPr>
                </a:tc>
                <a:extLst>
                  <a:ext uri="{0D108BD9-81ED-4DB2-BD59-A6C34878D82A}">
                    <a16:rowId xmlns:a16="http://schemas.microsoft.com/office/drawing/2014/main" val="10003"/>
                  </a:ext>
                </a:extLst>
              </a:tr>
              <a:tr h="226422">
                <a:tc>
                  <a:txBody>
                    <a:bodyPr/>
                    <a:lstStyle/>
                    <a:p>
                      <a:pPr>
                        <a:defRPr sz="1100" b="0">
                          <a:solidFill>
                            <a:srgbClr val="1C1C1C"/>
                          </a:solidFill>
                          <a:latin typeface="Calibri"/>
                        </a:defRPr>
                      </a:pPr>
                      <a:r>
                        <a:rPr sz="1000">
                          <a:solidFill>
                            <a:srgbClr val="333333"/>
                          </a:solidFill>
                        </a:rPr>
                        <a:t>NPXG</a:t>
                      </a:r>
                    </a:p>
                  </a:txBody>
                  <a:tcPr>
                    <a:solidFill>
                      <a:srgbClr val="F0FAF4"/>
                    </a:solidFill>
                  </a:tcPr>
                </a:tc>
                <a:tc>
                  <a:txBody>
                    <a:bodyPr/>
                    <a:lstStyle/>
                    <a:p>
                      <a:r>
                        <a:t>Non-penalty expected goals</a:t>
                      </a:r>
                    </a:p>
                  </a:txBody>
                  <a:tcPr>
                    <a:solidFill>
                      <a:srgbClr val="F0FAF4"/>
                    </a:solidFill>
                  </a:tcPr>
                </a:tc>
                <a:tc>
                  <a:txBody>
                    <a:bodyPr/>
                    <a:lstStyle/>
                    <a:p>
                      <a:pPr>
                        <a:defRPr sz="1100" b="0">
                          <a:solidFill>
                            <a:srgbClr val="1C1C1C"/>
                          </a:solidFill>
                          <a:latin typeface="Calibri"/>
                        </a:defRPr>
                      </a:pPr>
                      <a:r>
                        <a:rPr sz="1000">
                          <a:solidFill>
                            <a:srgbClr val="333333"/>
                          </a:solidFill>
                        </a:rPr>
                        <a:t>Attacking</a:t>
                      </a:r>
                    </a:p>
                  </a:txBody>
                  <a:tcPr>
                    <a:solidFill>
                      <a:srgbClr val="F0FAF4"/>
                    </a:solidFill>
                  </a:tcPr>
                </a:tc>
                <a:tc>
                  <a:txBody>
                    <a:bodyPr/>
                    <a:lstStyle/>
                    <a:p>
                      <a:pPr>
                        <a:defRPr sz="1100" b="1">
                          <a:solidFill>
                            <a:srgbClr val="1C1C1C"/>
                          </a:solidFill>
                          <a:latin typeface="Calibri"/>
                        </a:defRPr>
                      </a:pPr>
                      <a:r>
                        <a:rPr sz="1000">
                          <a:solidFill>
                            <a:srgbClr val="333333"/>
                          </a:solidFill>
                        </a:rPr>
                        <a:t>0.793</a:t>
                      </a:r>
                    </a:p>
                  </a:txBody>
                  <a:tcPr>
                    <a:solidFill>
                      <a:srgbClr val="F0FAF4"/>
                    </a:solidFill>
                  </a:tcPr>
                </a:tc>
                <a:tc>
                  <a:txBody>
                    <a:bodyPr/>
                    <a:lstStyle/>
                    <a:p>
                      <a:pPr>
                        <a:defRPr sz="1100" b="0">
                          <a:solidFill>
                            <a:srgbClr val="1C1C1C"/>
                          </a:solidFill>
                          <a:latin typeface="Calibri"/>
                        </a:defRPr>
                      </a:pPr>
                      <a:r>
                        <a:rPr sz="1000">
                          <a:solidFill>
                            <a:srgbClr val="333333"/>
                          </a:solidFill>
                        </a:rPr>
                        <a:t>100</a:t>
                      </a:r>
                    </a:p>
                  </a:txBody>
                  <a:tcPr>
                    <a:solidFill>
                      <a:srgbClr val="F0FAF4"/>
                    </a:solidFill>
                  </a:tcPr>
                </a:tc>
                <a:extLst>
                  <a:ext uri="{0D108BD9-81ED-4DB2-BD59-A6C34878D82A}">
                    <a16:rowId xmlns:a16="http://schemas.microsoft.com/office/drawing/2014/main" val="10004"/>
                  </a:ext>
                </a:extLst>
              </a:tr>
              <a:tr h="226422">
                <a:tc>
                  <a:txBody>
                    <a:bodyPr/>
                    <a:lstStyle/>
                    <a:p>
                      <a:pPr>
                        <a:defRPr sz="1100" b="0">
                          <a:solidFill>
                            <a:srgbClr val="1C1C1C"/>
                          </a:solidFill>
                          <a:latin typeface="Calibri"/>
                        </a:defRPr>
                      </a:pPr>
                      <a:r>
                        <a:rPr sz="1000">
                          <a:solidFill>
                            <a:srgbClr val="333333"/>
                          </a:solidFill>
                        </a:rPr>
                        <a:t>DEF3R</a:t>
                      </a:r>
                    </a:p>
                  </a:txBody>
                  <a:tcPr>
                    <a:solidFill>
                      <a:srgbClr val="F0FAF4"/>
                    </a:solidFill>
                  </a:tcPr>
                </a:tc>
                <a:tc>
                  <a:txBody>
                    <a:bodyPr/>
                    <a:lstStyle/>
                    <a:p>
                      <a:r>
                        <a:t>Defensive-third touches</a:t>
                      </a:r>
                    </a:p>
                  </a:txBody>
                  <a:tcPr>
                    <a:solidFill>
                      <a:srgbClr val="F0FAF4"/>
                    </a:solidFill>
                  </a:tcPr>
                </a:tc>
                <a:tc>
                  <a:txBody>
                    <a:bodyPr/>
                    <a:lstStyle/>
                    <a:p>
                      <a:pPr>
                        <a:defRPr sz="1100" b="0">
                          <a:solidFill>
                            <a:srgbClr val="1C1C1C"/>
                          </a:solidFill>
                          <a:latin typeface="Calibri"/>
                        </a:defRPr>
                      </a:pPr>
                      <a:r>
                        <a:rPr sz="1000">
                          <a:solidFill>
                            <a:srgbClr val="333333"/>
                          </a:solidFill>
                        </a:rPr>
                        <a:t>Defending</a:t>
                      </a:r>
                    </a:p>
                  </a:txBody>
                  <a:tcPr>
                    <a:solidFill>
                      <a:srgbClr val="F0FAF4"/>
                    </a:solidFill>
                  </a:tcPr>
                </a:tc>
                <a:tc>
                  <a:txBody>
                    <a:bodyPr/>
                    <a:lstStyle/>
                    <a:p>
                      <a:pPr>
                        <a:defRPr sz="1100" b="1">
                          <a:solidFill>
                            <a:srgbClr val="1C1C1C"/>
                          </a:solidFill>
                          <a:latin typeface="Calibri"/>
                        </a:defRPr>
                      </a:pPr>
                      <a:r>
                        <a:rPr sz="1000">
                          <a:solidFill>
                            <a:srgbClr val="333333"/>
                          </a:solidFill>
                        </a:rPr>
                        <a:t>0.789</a:t>
                      </a:r>
                    </a:p>
                  </a:txBody>
                  <a:tcPr>
                    <a:solidFill>
                      <a:srgbClr val="F0FAF4"/>
                    </a:solidFill>
                  </a:tcPr>
                </a:tc>
                <a:tc>
                  <a:txBody>
                    <a:bodyPr/>
                    <a:lstStyle/>
                    <a:p>
                      <a:pPr>
                        <a:defRPr sz="1100" b="0">
                          <a:solidFill>
                            <a:srgbClr val="1C1C1C"/>
                          </a:solidFill>
                          <a:latin typeface="Calibri"/>
                        </a:defRPr>
                      </a:pPr>
                      <a:r>
                        <a:rPr sz="1000">
                          <a:solidFill>
                            <a:srgbClr val="333333"/>
                          </a:solidFill>
                        </a:rPr>
                        <a:t>95</a:t>
                      </a:r>
                    </a:p>
                  </a:txBody>
                  <a:tcPr>
                    <a:solidFill>
                      <a:srgbClr val="F0FAF4"/>
                    </a:solidFill>
                  </a:tcPr>
                </a:tc>
                <a:extLst>
                  <a:ext uri="{0D108BD9-81ED-4DB2-BD59-A6C34878D82A}">
                    <a16:rowId xmlns:a16="http://schemas.microsoft.com/office/drawing/2014/main" val="10005"/>
                  </a:ext>
                </a:extLst>
              </a:tr>
              <a:tr h="226422">
                <a:tc>
                  <a:txBody>
                    <a:bodyPr/>
                    <a:lstStyle/>
                    <a:p>
                      <a:pPr>
                        <a:defRPr sz="1100" b="0">
                          <a:solidFill>
                            <a:srgbClr val="1C1C1C"/>
                          </a:solidFill>
                          <a:latin typeface="Calibri"/>
                        </a:defRPr>
                      </a:pPr>
                      <a:r>
                        <a:rPr sz="1000">
                          <a:solidFill>
                            <a:srgbClr val="333333"/>
                          </a:solidFill>
                        </a:rPr>
                        <a:t>PRGDI</a:t>
                      </a:r>
                    </a:p>
                  </a:txBody>
                  <a:tcPr>
                    <a:solidFill>
                      <a:srgbClr val="F0FAF4"/>
                    </a:solidFill>
                  </a:tcPr>
                </a:tc>
                <a:tc>
                  <a:txBody>
                    <a:bodyPr/>
                    <a:lstStyle/>
                    <a:p>
                      <a:r>
                        <a:t>Progressive carry distance</a:t>
                      </a:r>
                    </a:p>
                  </a:txBody>
                  <a:tcPr>
                    <a:solidFill>
                      <a:srgbClr val="F0FAF4"/>
                    </a:solidFill>
                  </a:tcPr>
                </a:tc>
                <a:tc>
                  <a:txBody>
                    <a:bodyPr/>
                    <a:lstStyle/>
                    <a:p>
                      <a:pPr>
                        <a:defRPr sz="1100" b="0">
                          <a:solidFill>
                            <a:srgbClr val="1C1C1C"/>
                          </a:solidFill>
                          <a:latin typeface="Calibri"/>
                        </a:defRPr>
                      </a:pPr>
                      <a:r>
                        <a:rPr sz="1000">
                          <a:solidFill>
                            <a:srgbClr val="333333"/>
                          </a:solidFill>
                        </a:rPr>
                        <a:t>Passing</a:t>
                      </a:r>
                    </a:p>
                  </a:txBody>
                  <a:tcPr>
                    <a:solidFill>
                      <a:srgbClr val="F0FAF4"/>
                    </a:solidFill>
                  </a:tcPr>
                </a:tc>
                <a:tc>
                  <a:txBody>
                    <a:bodyPr/>
                    <a:lstStyle/>
                    <a:p>
                      <a:pPr>
                        <a:defRPr sz="1100" b="1">
                          <a:solidFill>
                            <a:srgbClr val="1C1C1C"/>
                          </a:solidFill>
                          <a:latin typeface="Calibri"/>
                        </a:defRPr>
                      </a:pPr>
                      <a:r>
                        <a:rPr sz="1000">
                          <a:solidFill>
                            <a:srgbClr val="333333"/>
                          </a:solidFill>
                        </a:rPr>
                        <a:t>0.789</a:t>
                      </a:r>
                    </a:p>
                  </a:txBody>
                  <a:tcPr>
                    <a:solidFill>
                      <a:srgbClr val="F0FAF4"/>
                    </a:solidFill>
                  </a:tcPr>
                </a:tc>
                <a:tc>
                  <a:txBody>
                    <a:bodyPr/>
                    <a:lstStyle/>
                    <a:p>
                      <a:pPr>
                        <a:defRPr sz="1100" b="0">
                          <a:solidFill>
                            <a:srgbClr val="1C1C1C"/>
                          </a:solidFill>
                          <a:latin typeface="Calibri"/>
                        </a:defRPr>
                      </a:pPr>
                      <a:r>
                        <a:rPr sz="1000">
                          <a:solidFill>
                            <a:srgbClr val="333333"/>
                          </a:solidFill>
                        </a:rPr>
                        <a:t>100</a:t>
                      </a:r>
                    </a:p>
                  </a:txBody>
                  <a:tcPr>
                    <a:solidFill>
                      <a:srgbClr val="F0FAF4"/>
                    </a:solidFill>
                  </a:tcPr>
                </a:tc>
                <a:extLst>
                  <a:ext uri="{0D108BD9-81ED-4DB2-BD59-A6C34878D82A}">
                    <a16:rowId xmlns:a16="http://schemas.microsoft.com/office/drawing/2014/main" val="10006"/>
                  </a:ext>
                </a:extLst>
              </a:tr>
              <a:tr h="226422">
                <a:tc>
                  <a:txBody>
                    <a:bodyPr/>
                    <a:lstStyle/>
                    <a:p>
                      <a:pPr>
                        <a:defRPr sz="1100" b="0">
                          <a:solidFill>
                            <a:srgbClr val="1C1C1C"/>
                          </a:solidFill>
                          <a:latin typeface="Calibri"/>
                        </a:defRPr>
                      </a:pPr>
                      <a:r>
                        <a:rPr sz="1000">
                          <a:solidFill>
                            <a:srgbClr val="333333"/>
                          </a:solidFill>
                        </a:rPr>
                        <a:t>SHPER</a:t>
                      </a:r>
                    </a:p>
                  </a:txBody>
                  <a:tcPr>
                    <a:solidFill>
                      <a:srgbClr val="F0FAF4"/>
                    </a:solidFill>
                  </a:tcPr>
                </a:tc>
                <a:tc>
                  <a:txBody>
                    <a:bodyPr/>
                    <a:lstStyle/>
                    <a:p>
                      <a:r>
                        <a:t>Shots per 90</a:t>
                      </a:r>
                    </a:p>
                  </a:txBody>
                  <a:tcPr>
                    <a:solidFill>
                      <a:srgbClr val="F0FAF4"/>
                    </a:solidFill>
                  </a:tcPr>
                </a:tc>
                <a:tc>
                  <a:txBody>
                    <a:bodyPr/>
                    <a:lstStyle/>
                    <a:p>
                      <a:pPr>
                        <a:defRPr sz="1100" b="0">
                          <a:solidFill>
                            <a:srgbClr val="1C1C1C"/>
                          </a:solidFill>
                          <a:latin typeface="Calibri"/>
                        </a:defRPr>
                      </a:pPr>
                      <a:r>
                        <a:rPr sz="1000">
                          <a:solidFill>
                            <a:srgbClr val="333333"/>
                          </a:solidFill>
                        </a:rPr>
                        <a:t>Attacking</a:t>
                      </a:r>
                    </a:p>
                  </a:txBody>
                  <a:tcPr>
                    <a:solidFill>
                      <a:srgbClr val="F0FAF4"/>
                    </a:solidFill>
                  </a:tcPr>
                </a:tc>
                <a:tc>
                  <a:txBody>
                    <a:bodyPr/>
                    <a:lstStyle/>
                    <a:p>
                      <a:pPr>
                        <a:defRPr sz="1100" b="1">
                          <a:solidFill>
                            <a:srgbClr val="1C1C1C"/>
                          </a:solidFill>
                          <a:latin typeface="Calibri"/>
                        </a:defRPr>
                      </a:pPr>
                      <a:r>
                        <a:rPr sz="1000">
                          <a:solidFill>
                            <a:srgbClr val="333333"/>
                          </a:solidFill>
                        </a:rPr>
                        <a:t>0.789</a:t>
                      </a:r>
                    </a:p>
                  </a:txBody>
                  <a:tcPr>
                    <a:solidFill>
                      <a:srgbClr val="F0FAF4"/>
                    </a:solidFill>
                  </a:tcPr>
                </a:tc>
                <a:tc>
                  <a:txBody>
                    <a:bodyPr/>
                    <a:lstStyle/>
                    <a:p>
                      <a:pPr>
                        <a:defRPr sz="1100" b="0">
                          <a:solidFill>
                            <a:srgbClr val="1C1C1C"/>
                          </a:solidFill>
                          <a:latin typeface="Calibri"/>
                        </a:defRPr>
                      </a:pPr>
                      <a:r>
                        <a:rPr sz="1000">
                          <a:solidFill>
                            <a:srgbClr val="333333"/>
                          </a:solidFill>
                        </a:rPr>
                        <a:t>292</a:t>
                      </a:r>
                    </a:p>
                  </a:txBody>
                  <a:tcPr>
                    <a:solidFill>
                      <a:srgbClr val="F0FAF4"/>
                    </a:solidFill>
                  </a:tcPr>
                </a:tc>
                <a:extLst>
                  <a:ext uri="{0D108BD9-81ED-4DB2-BD59-A6C34878D82A}">
                    <a16:rowId xmlns:a16="http://schemas.microsoft.com/office/drawing/2014/main" val="10007"/>
                  </a:ext>
                </a:extLst>
              </a:tr>
              <a:tr h="226422">
                <a:tc>
                  <a:txBody>
                    <a:bodyPr/>
                    <a:lstStyle/>
                    <a:p>
                      <a:pPr>
                        <a:defRPr sz="1100" b="0">
                          <a:solidFill>
                            <a:srgbClr val="1C1C1C"/>
                          </a:solidFill>
                          <a:latin typeface="Calibri"/>
                        </a:defRPr>
                      </a:pPr>
                      <a:r>
                        <a:rPr sz="1000">
                          <a:solidFill>
                            <a:srgbClr val="333333"/>
                          </a:solidFill>
                        </a:rPr>
                        <a:t>SH</a:t>
                      </a:r>
                    </a:p>
                  </a:txBody>
                  <a:tcPr>
                    <a:solidFill>
                      <a:srgbClr val="F0FAF4"/>
                    </a:solidFill>
                  </a:tcPr>
                </a:tc>
                <a:tc>
                  <a:txBody>
                    <a:bodyPr/>
                    <a:lstStyle/>
                    <a:p>
                      <a:r>
                        <a:t>Shot blocks</a:t>
                      </a:r>
                    </a:p>
                  </a:txBody>
                  <a:tcPr>
                    <a:solidFill>
                      <a:srgbClr val="F0FAF4"/>
                    </a:solidFill>
                  </a:tcPr>
                </a:tc>
                <a:tc>
                  <a:txBody>
                    <a:bodyPr/>
                    <a:lstStyle/>
                    <a:p>
                      <a:pPr>
                        <a:defRPr sz="1100" b="0">
                          <a:solidFill>
                            <a:srgbClr val="1C1C1C"/>
                          </a:solidFill>
                          <a:latin typeface="Calibri"/>
                        </a:defRPr>
                      </a:pPr>
                      <a:r>
                        <a:rPr sz="1000">
                          <a:solidFill>
                            <a:srgbClr val="333333"/>
                          </a:solidFill>
                        </a:rPr>
                        <a:t>Attacking</a:t>
                      </a:r>
                    </a:p>
                  </a:txBody>
                  <a:tcPr>
                    <a:solidFill>
                      <a:srgbClr val="F0FAF4"/>
                    </a:solidFill>
                  </a:tcPr>
                </a:tc>
                <a:tc>
                  <a:txBody>
                    <a:bodyPr/>
                    <a:lstStyle/>
                    <a:p>
                      <a:pPr>
                        <a:defRPr sz="1100" b="1">
                          <a:solidFill>
                            <a:srgbClr val="1C1C1C"/>
                          </a:solidFill>
                          <a:latin typeface="Calibri"/>
                        </a:defRPr>
                      </a:pPr>
                      <a:r>
                        <a:rPr sz="1000">
                          <a:solidFill>
                            <a:srgbClr val="333333"/>
                          </a:solidFill>
                        </a:rPr>
                        <a:t>0.788</a:t>
                      </a:r>
                    </a:p>
                  </a:txBody>
                  <a:tcPr>
                    <a:solidFill>
                      <a:srgbClr val="F0FAF4"/>
                    </a:solidFill>
                  </a:tcPr>
                </a:tc>
                <a:tc>
                  <a:txBody>
                    <a:bodyPr/>
                    <a:lstStyle/>
                    <a:p>
                      <a:pPr>
                        <a:defRPr sz="1100" b="0">
                          <a:solidFill>
                            <a:srgbClr val="1C1C1C"/>
                          </a:solidFill>
                          <a:latin typeface="Calibri"/>
                        </a:defRPr>
                      </a:pPr>
                      <a:r>
                        <a:rPr sz="1000">
                          <a:solidFill>
                            <a:srgbClr val="333333"/>
                          </a:solidFill>
                        </a:rPr>
                        <a:t>292</a:t>
                      </a:r>
                    </a:p>
                  </a:txBody>
                  <a:tcPr>
                    <a:solidFill>
                      <a:srgbClr val="F0FAF4"/>
                    </a:solidFill>
                  </a:tcPr>
                </a:tc>
                <a:extLst>
                  <a:ext uri="{0D108BD9-81ED-4DB2-BD59-A6C34878D82A}">
                    <a16:rowId xmlns:a16="http://schemas.microsoft.com/office/drawing/2014/main" val="10008"/>
                  </a:ext>
                </a:extLst>
              </a:tr>
              <a:tr h="226422">
                <a:tc>
                  <a:txBody>
                    <a:bodyPr/>
                    <a:lstStyle/>
                    <a:p>
                      <a:pPr>
                        <a:defRPr sz="1100" b="0">
                          <a:solidFill>
                            <a:srgbClr val="1C1C1C"/>
                          </a:solidFill>
                          <a:latin typeface="Calibri"/>
                        </a:defRPr>
                      </a:pPr>
                      <a:r>
                        <a:rPr sz="1000">
                          <a:solidFill>
                            <a:srgbClr val="333333"/>
                          </a:solidFill>
                        </a:rPr>
                        <a:t>NPXGP</a:t>
                      </a:r>
                    </a:p>
                  </a:txBody>
                  <a:tcPr>
                    <a:solidFill>
                      <a:srgbClr val="F0FAF4"/>
                    </a:solidFill>
                  </a:tcPr>
                </a:tc>
                <a:tc>
                  <a:txBody>
                    <a:bodyPr/>
                    <a:lstStyle/>
                    <a:p>
                      <a:r>
                        <a:t>Non-pen xG + xAG</a:t>
                      </a:r>
                    </a:p>
                  </a:txBody>
                  <a:tcPr>
                    <a:solidFill>
                      <a:srgbClr val="F0FAF4"/>
                    </a:solidFill>
                  </a:tcPr>
                </a:tc>
                <a:tc>
                  <a:txBody>
                    <a:bodyPr/>
                    <a:lstStyle/>
                    <a:p>
                      <a:pPr>
                        <a:defRPr sz="1100" b="0">
                          <a:solidFill>
                            <a:srgbClr val="1C1C1C"/>
                          </a:solidFill>
                          <a:latin typeface="Calibri"/>
                        </a:defRPr>
                      </a:pPr>
                      <a:r>
                        <a:rPr sz="1000">
                          <a:solidFill>
                            <a:srgbClr val="333333"/>
                          </a:solidFill>
                        </a:rPr>
                        <a:t>Passing</a:t>
                      </a:r>
                    </a:p>
                  </a:txBody>
                  <a:tcPr>
                    <a:solidFill>
                      <a:srgbClr val="F0FAF4"/>
                    </a:solidFill>
                  </a:tcPr>
                </a:tc>
                <a:tc>
                  <a:txBody>
                    <a:bodyPr/>
                    <a:lstStyle/>
                    <a:p>
                      <a:pPr>
                        <a:defRPr sz="1100" b="1">
                          <a:solidFill>
                            <a:srgbClr val="1C1C1C"/>
                          </a:solidFill>
                          <a:latin typeface="Calibri"/>
                        </a:defRPr>
                      </a:pPr>
                      <a:r>
                        <a:rPr sz="1000">
                          <a:solidFill>
                            <a:srgbClr val="333333"/>
                          </a:solidFill>
                        </a:rPr>
                        <a:t>0.787</a:t>
                      </a:r>
                    </a:p>
                  </a:txBody>
                  <a:tcPr>
                    <a:solidFill>
                      <a:srgbClr val="F0FAF4"/>
                    </a:solidFill>
                  </a:tcPr>
                </a:tc>
                <a:tc>
                  <a:txBody>
                    <a:bodyPr/>
                    <a:lstStyle/>
                    <a:p>
                      <a:pPr>
                        <a:defRPr sz="1100" b="0">
                          <a:solidFill>
                            <a:srgbClr val="1C1C1C"/>
                          </a:solidFill>
                          <a:latin typeface="Calibri"/>
                        </a:defRPr>
                      </a:pPr>
                      <a:r>
                        <a:rPr sz="1000">
                          <a:solidFill>
                            <a:srgbClr val="333333"/>
                          </a:solidFill>
                        </a:rPr>
                        <a:t>100</a:t>
                      </a:r>
                    </a:p>
                  </a:txBody>
                  <a:tcPr>
                    <a:solidFill>
                      <a:srgbClr val="F0FAF4"/>
                    </a:solidFill>
                  </a:tcPr>
                </a:tc>
                <a:extLst>
                  <a:ext uri="{0D108BD9-81ED-4DB2-BD59-A6C34878D82A}">
                    <a16:rowId xmlns:a16="http://schemas.microsoft.com/office/drawing/2014/main" val="10009"/>
                  </a:ext>
                </a:extLst>
              </a:tr>
              <a:tr h="226422">
                <a:tc>
                  <a:txBody>
                    <a:bodyPr/>
                    <a:lstStyle/>
                    <a:p>
                      <a:pPr>
                        <a:defRPr sz="1100" b="0">
                          <a:solidFill>
                            <a:srgbClr val="1C1C1C"/>
                          </a:solidFill>
                          <a:latin typeface="Calibri"/>
                        </a:defRPr>
                      </a:pPr>
                      <a:r>
                        <a:rPr sz="1000">
                          <a:solidFill>
                            <a:srgbClr val="333333"/>
                          </a:solidFill>
                        </a:rPr>
                        <a:t>XGPLU</a:t>
                      </a:r>
                    </a:p>
                  </a:txBody>
                  <a:tcPr>
                    <a:solidFill>
                      <a:srgbClr val="F0FAF4"/>
                    </a:solidFill>
                  </a:tcPr>
                </a:tc>
                <a:tc>
                  <a:txBody>
                    <a:bodyPr/>
                    <a:lstStyle/>
                    <a:p>
                      <a:r>
                        <a:t>xG + xAG</a:t>
                      </a:r>
                    </a:p>
                  </a:txBody>
                  <a:tcPr>
                    <a:solidFill>
                      <a:srgbClr val="F0FAF4"/>
                    </a:solidFill>
                  </a:tcPr>
                </a:tc>
                <a:tc>
                  <a:txBody>
                    <a:bodyPr/>
                    <a:lstStyle/>
                    <a:p>
                      <a:pPr>
                        <a:defRPr sz="1100" b="0">
                          <a:solidFill>
                            <a:srgbClr val="1C1C1C"/>
                          </a:solidFill>
                          <a:latin typeface="Calibri"/>
                        </a:defRPr>
                      </a:pPr>
                      <a:r>
                        <a:rPr sz="1000">
                          <a:solidFill>
                            <a:srgbClr val="333333"/>
                          </a:solidFill>
                        </a:rPr>
                        <a:t>Passing</a:t>
                      </a:r>
                    </a:p>
                  </a:txBody>
                  <a:tcPr>
                    <a:solidFill>
                      <a:srgbClr val="F0FAF4"/>
                    </a:solidFill>
                  </a:tcPr>
                </a:tc>
                <a:tc>
                  <a:txBody>
                    <a:bodyPr/>
                    <a:lstStyle/>
                    <a:p>
                      <a:pPr>
                        <a:defRPr sz="1100" b="1">
                          <a:solidFill>
                            <a:srgbClr val="1C1C1C"/>
                          </a:solidFill>
                          <a:latin typeface="Calibri"/>
                        </a:defRPr>
                      </a:pPr>
                      <a:r>
                        <a:rPr sz="1000">
                          <a:solidFill>
                            <a:srgbClr val="333333"/>
                          </a:solidFill>
                        </a:rPr>
                        <a:t>0.786</a:t>
                      </a:r>
                    </a:p>
                  </a:txBody>
                  <a:tcPr>
                    <a:solidFill>
                      <a:srgbClr val="F0FAF4"/>
                    </a:solidFill>
                  </a:tcPr>
                </a:tc>
                <a:tc>
                  <a:txBody>
                    <a:bodyPr/>
                    <a:lstStyle/>
                    <a:p>
                      <a:pPr>
                        <a:defRPr sz="1100" b="0">
                          <a:solidFill>
                            <a:srgbClr val="1C1C1C"/>
                          </a:solidFill>
                          <a:latin typeface="Calibri"/>
                        </a:defRPr>
                      </a:pPr>
                      <a:r>
                        <a:rPr sz="1000">
                          <a:solidFill>
                            <a:srgbClr val="333333"/>
                          </a:solidFill>
                        </a:rPr>
                        <a:t>100</a:t>
                      </a:r>
                    </a:p>
                  </a:txBody>
                  <a:tcPr>
                    <a:solidFill>
                      <a:srgbClr val="F0FAF4"/>
                    </a:solidFill>
                  </a:tcPr>
                </a:tc>
                <a:extLst>
                  <a:ext uri="{0D108BD9-81ED-4DB2-BD59-A6C34878D82A}">
                    <a16:rowId xmlns:a16="http://schemas.microsoft.com/office/drawing/2014/main" val="10010"/>
                  </a:ext>
                </a:extLst>
              </a:tr>
              <a:tr h="226422">
                <a:tc>
                  <a:txBody>
                    <a:bodyPr/>
                    <a:lstStyle/>
                    <a:p>
                      <a:pPr>
                        <a:defRPr sz="1100" b="0">
                          <a:solidFill>
                            <a:srgbClr val="1C1C1C"/>
                          </a:solidFill>
                          <a:latin typeface="Calibri"/>
                        </a:defRPr>
                      </a:pPr>
                      <a:r>
                        <a:rPr sz="1000">
                          <a:solidFill>
                            <a:srgbClr val="333333"/>
                          </a:solidFill>
                        </a:rPr>
                        <a:t>ATTLO</a:t>
                      </a:r>
                    </a:p>
                  </a:txBody>
                  <a:tcPr>
                    <a:solidFill>
                      <a:srgbClr val="F0FAF4"/>
                    </a:solidFill>
                  </a:tcPr>
                </a:tc>
                <a:tc>
                  <a:txBody>
                    <a:bodyPr/>
                    <a:lstStyle/>
                    <a:p>
                      <a:r>
                        <a:t>Long pass attempts</a:t>
                      </a:r>
                    </a:p>
                  </a:txBody>
                  <a:tcPr>
                    <a:solidFill>
                      <a:srgbClr val="F0FAF4"/>
                    </a:solidFill>
                  </a:tcPr>
                </a:tc>
                <a:tc>
                  <a:txBody>
                    <a:bodyPr/>
                    <a:lstStyle/>
                    <a:p>
                      <a:pPr>
                        <a:defRPr sz="1100" b="0">
                          <a:solidFill>
                            <a:srgbClr val="1C1C1C"/>
                          </a:solidFill>
                          <a:latin typeface="Calibri"/>
                        </a:defRPr>
                      </a:pPr>
                      <a:r>
                        <a:rPr sz="1000">
                          <a:solidFill>
                            <a:srgbClr val="333333"/>
                          </a:solidFill>
                        </a:rPr>
                        <a:t>Other</a:t>
                      </a:r>
                    </a:p>
                  </a:txBody>
                  <a:tcPr>
                    <a:solidFill>
                      <a:srgbClr val="F0FAF4"/>
                    </a:solidFill>
                  </a:tcPr>
                </a:tc>
                <a:tc>
                  <a:txBody>
                    <a:bodyPr/>
                    <a:lstStyle/>
                    <a:p>
                      <a:pPr>
                        <a:defRPr sz="1100" b="1">
                          <a:solidFill>
                            <a:srgbClr val="1C1C1C"/>
                          </a:solidFill>
                          <a:latin typeface="Calibri"/>
                        </a:defRPr>
                      </a:pPr>
                      <a:r>
                        <a:rPr sz="1000">
                          <a:solidFill>
                            <a:srgbClr val="333333"/>
                          </a:solidFill>
                        </a:rPr>
                        <a:t>0.785</a:t>
                      </a:r>
                    </a:p>
                  </a:txBody>
                  <a:tcPr>
                    <a:solidFill>
                      <a:srgbClr val="F0FAF4"/>
                    </a:solidFill>
                  </a:tcPr>
                </a:tc>
                <a:tc>
                  <a:txBody>
                    <a:bodyPr/>
                    <a:lstStyle/>
                    <a:p>
                      <a:pPr>
                        <a:defRPr sz="1100" b="0">
                          <a:solidFill>
                            <a:srgbClr val="1C1C1C"/>
                          </a:solidFill>
                          <a:latin typeface="Calibri"/>
                        </a:defRPr>
                      </a:pPr>
                      <a:r>
                        <a:rPr sz="1000">
                          <a:solidFill>
                            <a:srgbClr val="333333"/>
                          </a:solidFill>
                        </a:rPr>
                        <a:t>100</a:t>
                      </a:r>
                    </a:p>
                  </a:txBody>
                  <a:tcPr>
                    <a:solidFill>
                      <a:srgbClr val="F0FAF4"/>
                    </a:solidFill>
                  </a:tcPr>
                </a:tc>
                <a:extLst>
                  <a:ext uri="{0D108BD9-81ED-4DB2-BD59-A6C34878D82A}">
                    <a16:rowId xmlns:a16="http://schemas.microsoft.com/office/drawing/2014/main" val="10011"/>
                  </a:ext>
                </a:extLst>
              </a:tr>
              <a:tr h="226422">
                <a:tc>
                  <a:txBody>
                    <a:bodyPr/>
                    <a:lstStyle/>
                    <a:p>
                      <a:pPr>
                        <a:defRPr sz="1100" b="0">
                          <a:solidFill>
                            <a:srgbClr val="1C1C1C"/>
                          </a:solidFill>
                          <a:latin typeface="Calibri"/>
                        </a:defRPr>
                      </a:pPr>
                      <a:r>
                        <a:rPr sz="1000">
                          <a:solidFill>
                            <a:srgbClr val="333333"/>
                          </a:solidFill>
                        </a:rPr>
                        <a:t>SOT</a:t>
                      </a:r>
                    </a:p>
                  </a:txBody>
                  <a:tcPr>
                    <a:solidFill>
                      <a:srgbClr val="F0FAF4"/>
                    </a:solidFill>
                  </a:tcPr>
                </a:tc>
                <a:tc>
                  <a:txBody>
                    <a:bodyPr/>
                    <a:lstStyle/>
                    <a:p>
                      <a:r>
                        <a:t>Shots on target</a:t>
                      </a:r>
                    </a:p>
                  </a:txBody>
                  <a:tcPr>
                    <a:solidFill>
                      <a:srgbClr val="F0FAF4"/>
                    </a:solidFill>
                  </a:tcPr>
                </a:tc>
                <a:tc>
                  <a:txBody>
                    <a:bodyPr/>
                    <a:lstStyle/>
                    <a:p>
                      <a:pPr>
                        <a:defRPr sz="1100" b="0">
                          <a:solidFill>
                            <a:srgbClr val="1C1C1C"/>
                          </a:solidFill>
                          <a:latin typeface="Calibri"/>
                        </a:defRPr>
                      </a:pPr>
                      <a:r>
                        <a:rPr sz="1000">
                          <a:solidFill>
                            <a:srgbClr val="333333"/>
                          </a:solidFill>
                        </a:rPr>
                        <a:t>Attacking</a:t>
                      </a:r>
                    </a:p>
                  </a:txBody>
                  <a:tcPr>
                    <a:solidFill>
                      <a:srgbClr val="F0FAF4"/>
                    </a:solidFill>
                  </a:tcPr>
                </a:tc>
                <a:tc>
                  <a:txBody>
                    <a:bodyPr/>
                    <a:lstStyle/>
                    <a:p>
                      <a:pPr>
                        <a:defRPr sz="1100" b="1">
                          <a:solidFill>
                            <a:srgbClr val="1C1C1C"/>
                          </a:solidFill>
                          <a:latin typeface="Calibri"/>
                        </a:defRPr>
                      </a:pPr>
                      <a:r>
                        <a:rPr sz="1000">
                          <a:solidFill>
                            <a:srgbClr val="333333"/>
                          </a:solidFill>
                        </a:rPr>
                        <a:t>0.775</a:t>
                      </a:r>
                    </a:p>
                  </a:txBody>
                  <a:tcPr>
                    <a:solidFill>
                      <a:srgbClr val="F0FAF4"/>
                    </a:solidFill>
                  </a:tcPr>
                </a:tc>
                <a:tc>
                  <a:txBody>
                    <a:bodyPr/>
                    <a:lstStyle/>
                    <a:p>
                      <a:pPr>
                        <a:defRPr sz="1100" b="0">
                          <a:solidFill>
                            <a:srgbClr val="1C1C1C"/>
                          </a:solidFill>
                          <a:latin typeface="Calibri"/>
                        </a:defRPr>
                      </a:pPr>
                      <a:r>
                        <a:rPr sz="1000">
                          <a:solidFill>
                            <a:srgbClr val="333333"/>
                          </a:solidFill>
                        </a:rPr>
                        <a:t>292</a:t>
                      </a:r>
                    </a:p>
                  </a:txBody>
                  <a:tcPr>
                    <a:solidFill>
                      <a:srgbClr val="F0FAF4"/>
                    </a:solidFill>
                  </a:tcPr>
                </a:tc>
                <a:extLst>
                  <a:ext uri="{0D108BD9-81ED-4DB2-BD59-A6C34878D82A}">
                    <a16:rowId xmlns:a16="http://schemas.microsoft.com/office/drawing/2014/main" val="10012"/>
                  </a:ext>
                </a:extLst>
              </a:tr>
              <a:tr h="226422">
                <a:tc>
                  <a:txBody>
                    <a:bodyPr/>
                    <a:lstStyle/>
                    <a:p>
                      <a:pPr>
                        <a:defRPr sz="1100" b="0">
                          <a:solidFill>
                            <a:srgbClr val="1C1C1C"/>
                          </a:solidFill>
                          <a:latin typeface="Calibri"/>
                        </a:defRPr>
                      </a:pPr>
                      <a:r>
                        <a:rPr sz="1000">
                          <a:solidFill>
                            <a:srgbClr val="333333"/>
                          </a:solidFill>
                        </a:rPr>
                        <a:t>SOTPE</a:t>
                      </a:r>
                    </a:p>
                  </a:txBody>
                  <a:tcPr>
                    <a:solidFill>
                      <a:srgbClr val="F0FAF4"/>
                    </a:solidFill>
                  </a:tcPr>
                </a:tc>
                <a:tc>
                  <a:txBody>
                    <a:bodyPr/>
                    <a:lstStyle/>
                    <a:p>
                      <a:r>
                        <a:t>Shots on target per 90</a:t>
                      </a:r>
                    </a:p>
                  </a:txBody>
                  <a:tcPr>
                    <a:solidFill>
                      <a:srgbClr val="F0FAF4"/>
                    </a:solidFill>
                  </a:tcPr>
                </a:tc>
                <a:tc>
                  <a:txBody>
                    <a:bodyPr/>
                    <a:lstStyle/>
                    <a:p>
                      <a:pPr>
                        <a:defRPr sz="1100" b="0">
                          <a:solidFill>
                            <a:srgbClr val="1C1C1C"/>
                          </a:solidFill>
                          <a:latin typeface="Calibri"/>
                        </a:defRPr>
                      </a:pPr>
                      <a:r>
                        <a:rPr sz="1000">
                          <a:solidFill>
                            <a:srgbClr val="333333"/>
                          </a:solidFill>
                        </a:rPr>
                        <a:t>Attacking</a:t>
                      </a:r>
                    </a:p>
                  </a:txBody>
                  <a:tcPr>
                    <a:solidFill>
                      <a:srgbClr val="F0FAF4"/>
                    </a:solidFill>
                  </a:tcPr>
                </a:tc>
                <a:tc>
                  <a:txBody>
                    <a:bodyPr/>
                    <a:lstStyle/>
                    <a:p>
                      <a:pPr>
                        <a:defRPr sz="1100" b="1">
                          <a:solidFill>
                            <a:srgbClr val="1C1C1C"/>
                          </a:solidFill>
                          <a:latin typeface="Calibri"/>
                        </a:defRPr>
                      </a:pPr>
                      <a:r>
                        <a:rPr sz="1000">
                          <a:solidFill>
                            <a:srgbClr val="333333"/>
                          </a:solidFill>
                        </a:rPr>
                        <a:t>0.774</a:t>
                      </a:r>
                    </a:p>
                  </a:txBody>
                  <a:tcPr>
                    <a:solidFill>
                      <a:srgbClr val="F0FAF4"/>
                    </a:solidFill>
                  </a:tcPr>
                </a:tc>
                <a:tc>
                  <a:txBody>
                    <a:bodyPr/>
                    <a:lstStyle/>
                    <a:p>
                      <a:pPr>
                        <a:defRPr sz="1100" b="0">
                          <a:solidFill>
                            <a:srgbClr val="1C1C1C"/>
                          </a:solidFill>
                          <a:latin typeface="Calibri"/>
                        </a:defRPr>
                      </a:pPr>
                      <a:r>
                        <a:rPr sz="1000">
                          <a:solidFill>
                            <a:srgbClr val="333333"/>
                          </a:solidFill>
                        </a:rPr>
                        <a:t>292</a:t>
                      </a:r>
                    </a:p>
                  </a:txBody>
                  <a:tcPr>
                    <a:solidFill>
                      <a:srgbClr val="F0FAF4"/>
                    </a:solidFill>
                  </a:tcPr>
                </a:tc>
                <a:extLst>
                  <a:ext uri="{0D108BD9-81ED-4DB2-BD59-A6C34878D82A}">
                    <a16:rowId xmlns:a16="http://schemas.microsoft.com/office/drawing/2014/main" val="10013"/>
                  </a:ext>
                </a:extLst>
              </a:tr>
              <a:tr h="226422">
                <a:tc>
                  <a:txBody>
                    <a:bodyPr/>
                    <a:lstStyle/>
                    <a:p>
                      <a:pPr>
                        <a:defRPr sz="1100" b="0">
                          <a:solidFill>
                            <a:srgbClr val="1C1C1C"/>
                          </a:solidFill>
                          <a:latin typeface="Calibri"/>
                        </a:defRPr>
                      </a:pPr>
                      <a:r>
                        <a:rPr sz="1000">
                          <a:solidFill>
                            <a:srgbClr val="333333"/>
                          </a:solidFill>
                        </a:rPr>
                        <a:t>CMPLO</a:t>
                      </a:r>
                    </a:p>
                  </a:txBody>
                  <a:tcPr>
                    <a:solidFill>
                      <a:srgbClr val="F0FAF4"/>
                    </a:solidFill>
                  </a:tcPr>
                </a:tc>
                <a:tc>
                  <a:txBody>
                    <a:bodyPr/>
                    <a:lstStyle/>
                    <a:p>
                      <a:r>
                        <a:t>Long pass completions</a:t>
                      </a:r>
                    </a:p>
                  </a:txBody>
                  <a:tcPr>
                    <a:solidFill>
                      <a:srgbClr val="F0FAF4"/>
                    </a:solidFill>
                  </a:tcPr>
                </a:tc>
                <a:tc>
                  <a:txBody>
                    <a:bodyPr/>
                    <a:lstStyle/>
                    <a:p>
                      <a:pPr>
                        <a:defRPr sz="1100" b="0">
                          <a:solidFill>
                            <a:srgbClr val="1C1C1C"/>
                          </a:solidFill>
                          <a:latin typeface="Calibri"/>
                        </a:defRPr>
                      </a:pPr>
                      <a:r>
                        <a:rPr sz="1000">
                          <a:solidFill>
                            <a:srgbClr val="333333"/>
                          </a:solidFill>
                        </a:rPr>
                        <a:t>Passing</a:t>
                      </a:r>
                    </a:p>
                  </a:txBody>
                  <a:tcPr>
                    <a:solidFill>
                      <a:srgbClr val="F0FAF4"/>
                    </a:solidFill>
                  </a:tcPr>
                </a:tc>
                <a:tc>
                  <a:txBody>
                    <a:bodyPr/>
                    <a:lstStyle/>
                    <a:p>
                      <a:pPr>
                        <a:defRPr sz="1100" b="1">
                          <a:solidFill>
                            <a:srgbClr val="1C1C1C"/>
                          </a:solidFill>
                          <a:latin typeface="Calibri"/>
                        </a:defRPr>
                      </a:pPr>
                      <a:r>
                        <a:rPr sz="1000">
                          <a:solidFill>
                            <a:srgbClr val="333333"/>
                          </a:solidFill>
                        </a:rPr>
                        <a:t>0.767</a:t>
                      </a:r>
                    </a:p>
                  </a:txBody>
                  <a:tcPr>
                    <a:solidFill>
                      <a:srgbClr val="F0FAF4"/>
                    </a:solidFill>
                  </a:tcPr>
                </a:tc>
                <a:tc>
                  <a:txBody>
                    <a:bodyPr/>
                    <a:lstStyle/>
                    <a:p>
                      <a:pPr>
                        <a:defRPr sz="1100" b="0">
                          <a:solidFill>
                            <a:srgbClr val="1C1C1C"/>
                          </a:solidFill>
                          <a:latin typeface="Calibri"/>
                        </a:defRPr>
                      </a:pPr>
                      <a:r>
                        <a:rPr sz="1000">
                          <a:solidFill>
                            <a:srgbClr val="333333"/>
                          </a:solidFill>
                        </a:rPr>
                        <a:t>100</a:t>
                      </a:r>
                    </a:p>
                  </a:txBody>
                  <a:tcPr>
                    <a:solidFill>
                      <a:srgbClr val="F0FAF4"/>
                    </a:solidFill>
                  </a:tcPr>
                </a:tc>
                <a:extLst>
                  <a:ext uri="{0D108BD9-81ED-4DB2-BD59-A6C34878D82A}">
                    <a16:rowId xmlns:a16="http://schemas.microsoft.com/office/drawing/2014/main" val="10014"/>
                  </a:ext>
                </a:extLst>
              </a:tr>
              <a:tr h="226422">
                <a:tc>
                  <a:txBody>
                    <a:bodyPr/>
                    <a:lstStyle/>
                    <a:p>
                      <a:pPr>
                        <a:defRPr sz="1100" b="0">
                          <a:solidFill>
                            <a:srgbClr val="1C1C1C"/>
                          </a:solidFill>
                          <a:latin typeface="Calibri"/>
                        </a:defRPr>
                      </a:pPr>
                      <a:r>
                        <a:rPr sz="1000">
                          <a:solidFill>
                            <a:srgbClr val="333333"/>
                          </a:solidFill>
                        </a:rPr>
                        <a:t>CMPME</a:t>
                      </a:r>
                    </a:p>
                  </a:txBody>
                  <a:tcPr>
                    <a:solidFill>
                      <a:srgbClr val="F0FAF4"/>
                    </a:solidFill>
                  </a:tcPr>
                </a:tc>
                <a:tc>
                  <a:txBody>
                    <a:bodyPr/>
                    <a:lstStyle/>
                    <a:p>
                      <a:r>
                        <a:t>Medium pass completions</a:t>
                      </a:r>
                    </a:p>
                  </a:txBody>
                  <a:tcPr>
                    <a:solidFill>
                      <a:srgbClr val="F0FAF4"/>
                    </a:solidFill>
                  </a:tcPr>
                </a:tc>
                <a:tc>
                  <a:txBody>
                    <a:bodyPr/>
                    <a:lstStyle/>
                    <a:p>
                      <a:pPr>
                        <a:defRPr sz="1100" b="0">
                          <a:solidFill>
                            <a:srgbClr val="1C1C1C"/>
                          </a:solidFill>
                          <a:latin typeface="Calibri"/>
                        </a:defRPr>
                      </a:pPr>
                      <a:r>
                        <a:rPr sz="1000">
                          <a:solidFill>
                            <a:srgbClr val="333333"/>
                          </a:solidFill>
                        </a:rPr>
                        <a:t>Passing</a:t>
                      </a:r>
                    </a:p>
                  </a:txBody>
                  <a:tcPr>
                    <a:solidFill>
                      <a:srgbClr val="F0FAF4"/>
                    </a:solidFill>
                  </a:tcPr>
                </a:tc>
                <a:tc>
                  <a:txBody>
                    <a:bodyPr/>
                    <a:lstStyle/>
                    <a:p>
                      <a:pPr>
                        <a:defRPr sz="1100" b="1">
                          <a:solidFill>
                            <a:srgbClr val="1C1C1C"/>
                          </a:solidFill>
                          <a:latin typeface="Calibri"/>
                        </a:defRPr>
                      </a:pPr>
                      <a:r>
                        <a:rPr sz="1000">
                          <a:solidFill>
                            <a:srgbClr val="333333"/>
                          </a:solidFill>
                        </a:rPr>
                        <a:t>0.730</a:t>
                      </a:r>
                    </a:p>
                  </a:txBody>
                  <a:tcPr>
                    <a:solidFill>
                      <a:srgbClr val="F0FAF4"/>
                    </a:solidFill>
                  </a:tcPr>
                </a:tc>
                <a:tc>
                  <a:txBody>
                    <a:bodyPr/>
                    <a:lstStyle/>
                    <a:p>
                      <a:pPr>
                        <a:defRPr sz="1100" b="0">
                          <a:solidFill>
                            <a:srgbClr val="1C1C1C"/>
                          </a:solidFill>
                          <a:latin typeface="Calibri"/>
                        </a:defRPr>
                      </a:pPr>
                      <a:r>
                        <a:rPr sz="1000">
                          <a:solidFill>
                            <a:srgbClr val="333333"/>
                          </a:solidFill>
                        </a:rPr>
                        <a:t>100</a:t>
                      </a:r>
                    </a:p>
                  </a:txBody>
                  <a:tcPr>
                    <a:solidFill>
                      <a:srgbClr val="F0FAF4"/>
                    </a:solidFill>
                  </a:tcPr>
                </a:tc>
                <a:extLst>
                  <a:ext uri="{0D108BD9-81ED-4DB2-BD59-A6C34878D82A}">
                    <a16:rowId xmlns:a16="http://schemas.microsoft.com/office/drawing/2014/main" val="10015"/>
                  </a:ext>
                </a:extLst>
              </a:tr>
              <a:tr h="226422">
                <a:tc>
                  <a:txBody>
                    <a:bodyPr/>
                    <a:lstStyle/>
                    <a:p>
                      <a:pPr>
                        <a:defRPr sz="1100" b="0">
                          <a:solidFill>
                            <a:srgbClr val="1C1C1C"/>
                          </a:solidFill>
                          <a:latin typeface="Calibri"/>
                        </a:defRPr>
                      </a:pPr>
                      <a:r>
                        <a:rPr sz="1000">
                          <a:solidFill>
                            <a:srgbClr val="333333"/>
                          </a:solidFill>
                        </a:rPr>
                        <a:t>ATTME</a:t>
                      </a:r>
                    </a:p>
                  </a:txBody>
                  <a:tcPr>
                    <a:solidFill>
                      <a:srgbClr val="F0FAF4"/>
                    </a:solidFill>
                  </a:tcPr>
                </a:tc>
                <a:tc>
                  <a:txBody>
                    <a:bodyPr/>
                    <a:lstStyle/>
                    <a:p>
                      <a:r>
                        <a:t>Medium pass attempts</a:t>
                      </a:r>
                    </a:p>
                  </a:txBody>
                  <a:tcPr>
                    <a:solidFill>
                      <a:srgbClr val="F0FAF4"/>
                    </a:solidFill>
                  </a:tcPr>
                </a:tc>
                <a:tc>
                  <a:txBody>
                    <a:bodyPr/>
                    <a:lstStyle/>
                    <a:p>
                      <a:pPr>
                        <a:defRPr sz="1100" b="0">
                          <a:solidFill>
                            <a:srgbClr val="1C1C1C"/>
                          </a:solidFill>
                          <a:latin typeface="Calibri"/>
                        </a:defRPr>
                      </a:pPr>
                      <a:r>
                        <a:rPr sz="1000">
                          <a:solidFill>
                            <a:srgbClr val="333333"/>
                          </a:solidFill>
                        </a:rPr>
                        <a:t>Other</a:t>
                      </a:r>
                    </a:p>
                  </a:txBody>
                  <a:tcPr>
                    <a:solidFill>
                      <a:srgbClr val="F0FAF4"/>
                    </a:solidFill>
                  </a:tcPr>
                </a:tc>
                <a:tc>
                  <a:txBody>
                    <a:bodyPr/>
                    <a:lstStyle/>
                    <a:p>
                      <a:pPr>
                        <a:defRPr sz="1100" b="1">
                          <a:solidFill>
                            <a:srgbClr val="1C1C1C"/>
                          </a:solidFill>
                          <a:latin typeface="Calibri"/>
                        </a:defRPr>
                      </a:pPr>
                      <a:r>
                        <a:rPr sz="1000">
                          <a:solidFill>
                            <a:srgbClr val="333333"/>
                          </a:solidFill>
                        </a:rPr>
                        <a:t>0.724</a:t>
                      </a:r>
                    </a:p>
                  </a:txBody>
                  <a:tcPr>
                    <a:solidFill>
                      <a:srgbClr val="F0FAF4"/>
                    </a:solidFill>
                  </a:tcPr>
                </a:tc>
                <a:tc>
                  <a:txBody>
                    <a:bodyPr/>
                    <a:lstStyle/>
                    <a:p>
                      <a:pPr>
                        <a:defRPr sz="1100" b="0">
                          <a:solidFill>
                            <a:srgbClr val="1C1C1C"/>
                          </a:solidFill>
                          <a:latin typeface="Calibri"/>
                        </a:defRPr>
                      </a:pPr>
                      <a:r>
                        <a:rPr sz="1000">
                          <a:solidFill>
                            <a:srgbClr val="333333"/>
                          </a:solidFill>
                        </a:rPr>
                        <a:t>100</a:t>
                      </a:r>
                    </a:p>
                  </a:txBody>
                  <a:tcPr>
                    <a:solidFill>
                      <a:srgbClr val="F0FAF4"/>
                    </a:solidFill>
                  </a:tcPr>
                </a:tc>
                <a:extLst>
                  <a:ext uri="{0D108BD9-81ED-4DB2-BD59-A6C34878D82A}">
                    <a16:rowId xmlns:a16="http://schemas.microsoft.com/office/drawing/2014/main" val="10016"/>
                  </a:ext>
                </a:extLst>
              </a:tr>
              <a:tr h="226422">
                <a:tc>
                  <a:txBody>
                    <a:bodyPr/>
                    <a:lstStyle/>
                    <a:p>
                      <a:pPr>
                        <a:defRPr sz="1100" b="0">
                          <a:solidFill>
                            <a:srgbClr val="1C1C1C"/>
                          </a:solidFill>
                          <a:latin typeface="Calibri"/>
                        </a:defRPr>
                      </a:pPr>
                      <a:r>
                        <a:rPr sz="1000">
                          <a:solidFill>
                            <a:srgbClr val="333333"/>
                          </a:solidFill>
                        </a:rPr>
                        <a:t>TOTDI</a:t>
                      </a:r>
                    </a:p>
                  </a:txBody>
                  <a:tcPr>
                    <a:solidFill>
                      <a:srgbClr val="F0FAF4"/>
                    </a:solidFill>
                  </a:tcPr>
                </a:tc>
                <a:tc>
                  <a:txBody>
                    <a:bodyPr/>
                    <a:lstStyle/>
                    <a:p>
                      <a:r>
                        <a:t>Total pass distance</a:t>
                      </a:r>
                    </a:p>
                  </a:txBody>
                  <a:tcPr>
                    <a:solidFill>
                      <a:srgbClr val="F0FAF4"/>
                    </a:solidFill>
                  </a:tcPr>
                </a:tc>
                <a:tc>
                  <a:txBody>
                    <a:bodyPr/>
                    <a:lstStyle/>
                    <a:p>
                      <a:pPr>
                        <a:defRPr sz="1100" b="0">
                          <a:solidFill>
                            <a:srgbClr val="1C1C1C"/>
                          </a:solidFill>
                          <a:latin typeface="Calibri"/>
                        </a:defRPr>
                      </a:pPr>
                      <a:r>
                        <a:rPr sz="1000">
                          <a:solidFill>
                            <a:srgbClr val="333333"/>
                          </a:solidFill>
                        </a:rPr>
                        <a:t>Passing</a:t>
                      </a:r>
                    </a:p>
                  </a:txBody>
                  <a:tcPr>
                    <a:solidFill>
                      <a:srgbClr val="F0FAF4"/>
                    </a:solidFill>
                  </a:tcPr>
                </a:tc>
                <a:tc>
                  <a:txBody>
                    <a:bodyPr/>
                    <a:lstStyle/>
                    <a:p>
                      <a:pPr>
                        <a:defRPr sz="1100" b="1">
                          <a:solidFill>
                            <a:srgbClr val="1C1C1C"/>
                          </a:solidFill>
                          <a:latin typeface="Calibri"/>
                        </a:defRPr>
                      </a:pPr>
                      <a:r>
                        <a:rPr sz="1000">
                          <a:solidFill>
                            <a:srgbClr val="333333"/>
                          </a:solidFill>
                        </a:rPr>
                        <a:t>0.720</a:t>
                      </a:r>
                    </a:p>
                  </a:txBody>
                  <a:tcPr>
                    <a:solidFill>
                      <a:srgbClr val="F0FAF4"/>
                    </a:solidFill>
                  </a:tcPr>
                </a:tc>
                <a:tc>
                  <a:txBody>
                    <a:bodyPr/>
                    <a:lstStyle/>
                    <a:p>
                      <a:pPr>
                        <a:defRPr sz="1100" b="0">
                          <a:solidFill>
                            <a:srgbClr val="1C1C1C"/>
                          </a:solidFill>
                          <a:latin typeface="Calibri"/>
                        </a:defRPr>
                      </a:pPr>
                      <a:r>
                        <a:rPr sz="1000">
                          <a:solidFill>
                            <a:srgbClr val="333333"/>
                          </a:solidFill>
                        </a:rPr>
                        <a:t>100</a:t>
                      </a:r>
                    </a:p>
                  </a:txBody>
                  <a:tcPr>
                    <a:solidFill>
                      <a:srgbClr val="F0FAF4"/>
                    </a:solidFill>
                  </a:tcPr>
                </a:tc>
                <a:extLst>
                  <a:ext uri="{0D108BD9-81ED-4DB2-BD59-A6C34878D82A}">
                    <a16:rowId xmlns:a16="http://schemas.microsoft.com/office/drawing/2014/main" val="10017"/>
                  </a:ext>
                </a:extLst>
              </a:tr>
              <a:tr h="226422">
                <a:tc>
                  <a:txBody>
                    <a:bodyPr/>
                    <a:lstStyle/>
                    <a:p>
                      <a:pPr>
                        <a:defRPr sz="1100" b="0">
                          <a:solidFill>
                            <a:srgbClr val="1C1C1C"/>
                          </a:solidFill>
                          <a:latin typeface="Calibri"/>
                        </a:defRPr>
                      </a:pPr>
                      <a:r>
                        <a:rPr sz="1000">
                          <a:solidFill>
                            <a:srgbClr val="333333"/>
                          </a:solidFill>
                        </a:rPr>
                        <a:t>PRGR</a:t>
                      </a:r>
                    </a:p>
                  </a:txBody>
                  <a:tcPr>
                    <a:solidFill>
                      <a:srgbClr val="F0FAF4"/>
                    </a:solidFill>
                  </a:tcPr>
                </a:tc>
                <a:tc>
                  <a:txBody>
                    <a:bodyPr/>
                    <a:lstStyle/>
                    <a:p>
                      <a:r>
                        <a:t>Progressive passes received (count)</a:t>
                      </a:r>
                    </a:p>
                  </a:txBody>
                  <a:tcPr>
                    <a:solidFill>
                      <a:srgbClr val="F0FAF4"/>
                    </a:solidFill>
                  </a:tcPr>
                </a:tc>
                <a:tc>
                  <a:txBody>
                    <a:bodyPr/>
                    <a:lstStyle/>
                    <a:p>
                      <a:pPr>
                        <a:defRPr sz="1100" b="0">
                          <a:solidFill>
                            <a:srgbClr val="1C1C1C"/>
                          </a:solidFill>
                          <a:latin typeface="Calibri"/>
                        </a:defRPr>
                      </a:pPr>
                      <a:r>
                        <a:rPr sz="1000">
                          <a:solidFill>
                            <a:srgbClr val="333333"/>
                          </a:solidFill>
                        </a:rPr>
                        <a:t>Passing</a:t>
                      </a:r>
                    </a:p>
                  </a:txBody>
                  <a:tcPr>
                    <a:solidFill>
                      <a:srgbClr val="F0FAF4"/>
                    </a:solidFill>
                  </a:tcPr>
                </a:tc>
                <a:tc>
                  <a:txBody>
                    <a:bodyPr/>
                    <a:lstStyle/>
                    <a:p>
                      <a:pPr>
                        <a:defRPr sz="1100" b="1">
                          <a:solidFill>
                            <a:srgbClr val="1C1C1C"/>
                          </a:solidFill>
                          <a:latin typeface="Calibri"/>
                        </a:defRPr>
                      </a:pPr>
                      <a:r>
                        <a:rPr sz="1000">
                          <a:solidFill>
                            <a:srgbClr val="333333"/>
                          </a:solidFill>
                        </a:rPr>
                        <a:t>0.703</a:t>
                      </a:r>
                    </a:p>
                  </a:txBody>
                  <a:tcPr>
                    <a:solidFill>
                      <a:srgbClr val="F0FAF4"/>
                    </a:solidFill>
                  </a:tcPr>
                </a:tc>
                <a:tc>
                  <a:txBody>
                    <a:bodyPr/>
                    <a:lstStyle/>
                    <a:p>
                      <a:pPr>
                        <a:defRPr sz="1100" b="0">
                          <a:solidFill>
                            <a:srgbClr val="1C1C1C"/>
                          </a:solidFill>
                          <a:latin typeface="Calibri"/>
                        </a:defRPr>
                      </a:pPr>
                      <a:r>
                        <a:rPr sz="1000">
                          <a:solidFill>
                            <a:srgbClr val="333333"/>
                          </a:solidFill>
                        </a:rPr>
                        <a:t>100</a:t>
                      </a:r>
                    </a:p>
                  </a:txBody>
                  <a:tcPr>
                    <a:solidFill>
                      <a:srgbClr val="F0FAF4"/>
                    </a:solidFill>
                  </a:tcPr>
                </a:tc>
                <a:extLst>
                  <a:ext uri="{0D108BD9-81ED-4DB2-BD59-A6C34878D82A}">
                    <a16:rowId xmlns:a16="http://schemas.microsoft.com/office/drawing/2014/main" val="10018"/>
                  </a:ext>
                </a:extLst>
              </a:tr>
              <a:tr h="226422">
                <a:tc>
                  <a:txBody>
                    <a:bodyPr/>
                    <a:lstStyle/>
                    <a:p>
                      <a:pPr>
                        <a:defRPr sz="1100" b="0">
                          <a:solidFill>
                            <a:srgbClr val="1C1C1C"/>
                          </a:solidFill>
                          <a:latin typeface="Calibri"/>
                        </a:defRPr>
                      </a:pPr>
                      <a:r>
                        <a:rPr sz="1000">
                          <a:solidFill>
                            <a:srgbClr val="333333"/>
                          </a:solidFill>
                        </a:rPr>
                        <a:t>GPLUS</a:t>
                      </a:r>
                    </a:p>
                  </a:txBody>
                  <a:tcPr>
                    <a:solidFill>
                      <a:srgbClr val="F0FAF4"/>
                    </a:solidFill>
                  </a:tcPr>
                </a:tc>
                <a:tc>
                  <a:txBody>
                    <a:bodyPr/>
                    <a:lstStyle/>
                    <a:p>
                      <a:r>
                        <a:t>Goals + assists</a:t>
                      </a:r>
                    </a:p>
                  </a:txBody>
                  <a:tcPr>
                    <a:solidFill>
                      <a:srgbClr val="F0FAF4"/>
                    </a:solidFill>
                  </a:tcPr>
                </a:tc>
                <a:tc>
                  <a:txBody>
                    <a:bodyPr/>
                    <a:lstStyle/>
                    <a:p>
                      <a:pPr>
                        <a:defRPr sz="1100" b="0">
                          <a:solidFill>
                            <a:srgbClr val="1C1C1C"/>
                          </a:solidFill>
                          <a:latin typeface="Calibri"/>
                        </a:defRPr>
                      </a:pPr>
                      <a:r>
                        <a:rPr sz="1000">
                          <a:solidFill>
                            <a:srgbClr val="333333"/>
                          </a:solidFill>
                        </a:rPr>
                        <a:t>Other</a:t>
                      </a:r>
                    </a:p>
                  </a:txBody>
                  <a:tcPr>
                    <a:solidFill>
                      <a:srgbClr val="F0FAF4"/>
                    </a:solidFill>
                  </a:tcPr>
                </a:tc>
                <a:tc>
                  <a:txBody>
                    <a:bodyPr/>
                    <a:lstStyle/>
                    <a:p>
                      <a:pPr>
                        <a:defRPr sz="1100" b="1">
                          <a:solidFill>
                            <a:srgbClr val="1C1C1C"/>
                          </a:solidFill>
                          <a:latin typeface="Calibri"/>
                        </a:defRPr>
                      </a:pPr>
                      <a:r>
                        <a:rPr sz="1000">
                          <a:solidFill>
                            <a:srgbClr val="333333"/>
                          </a:solidFill>
                        </a:rPr>
                        <a:t>0.702</a:t>
                      </a:r>
                    </a:p>
                  </a:txBody>
                  <a:tcPr>
                    <a:solidFill>
                      <a:srgbClr val="F0FAF4"/>
                    </a:solidFill>
                  </a:tcPr>
                </a:tc>
                <a:tc>
                  <a:txBody>
                    <a:bodyPr/>
                    <a:lstStyle/>
                    <a:p>
                      <a:pPr>
                        <a:defRPr sz="1100" b="0">
                          <a:solidFill>
                            <a:srgbClr val="1C1C1C"/>
                          </a:solidFill>
                          <a:latin typeface="Calibri"/>
                        </a:defRPr>
                      </a:pPr>
                      <a:r>
                        <a:rPr sz="1000">
                          <a:solidFill>
                            <a:srgbClr val="333333"/>
                          </a:solidFill>
                        </a:rPr>
                        <a:t>100</a:t>
                      </a:r>
                    </a:p>
                  </a:txBody>
                  <a:tcPr>
                    <a:solidFill>
                      <a:srgbClr val="F0FAF4"/>
                    </a:solidFill>
                  </a:tcPr>
                </a:tc>
                <a:extLst>
                  <a:ext uri="{0D108BD9-81ED-4DB2-BD59-A6C34878D82A}">
                    <a16:rowId xmlns:a16="http://schemas.microsoft.com/office/drawing/2014/main" val="10019"/>
                  </a:ext>
                </a:extLst>
              </a:tr>
              <a:tr h="226440">
                <a:tc>
                  <a:txBody>
                    <a:bodyPr/>
                    <a:lstStyle/>
                    <a:p>
                      <a:pPr>
                        <a:defRPr sz="1100" b="0">
                          <a:solidFill>
                            <a:srgbClr val="1C1C1C"/>
                          </a:solidFill>
                          <a:latin typeface="Calibri"/>
                        </a:defRPr>
                      </a:pPr>
                      <a:r>
                        <a:rPr sz="1000" dirty="0">
                          <a:solidFill>
                            <a:srgbClr val="333333"/>
                          </a:solidFill>
                        </a:rPr>
                        <a:t>FK</a:t>
                      </a:r>
                    </a:p>
                  </a:txBody>
                  <a:tcPr>
                    <a:solidFill>
                      <a:srgbClr val="F0FAF4"/>
                    </a:solidFill>
                  </a:tcPr>
                </a:tc>
                <a:tc>
                  <a:txBody>
                    <a:bodyPr/>
                    <a:lstStyle/>
                    <a:p>
                      <a:r>
                        <a:t>Free kicks</a:t>
                      </a:r>
                    </a:p>
                  </a:txBody>
                  <a:tcPr>
                    <a:solidFill>
                      <a:srgbClr val="F0FAF4"/>
                    </a:solidFill>
                  </a:tcPr>
                </a:tc>
                <a:tc>
                  <a:txBody>
                    <a:bodyPr/>
                    <a:lstStyle/>
                    <a:p>
                      <a:pPr>
                        <a:defRPr sz="1100" b="0">
                          <a:solidFill>
                            <a:srgbClr val="1C1C1C"/>
                          </a:solidFill>
                          <a:latin typeface="Calibri"/>
                        </a:defRPr>
                      </a:pPr>
                      <a:r>
                        <a:rPr sz="1000">
                          <a:solidFill>
                            <a:srgbClr val="333333"/>
                          </a:solidFill>
                        </a:rPr>
                        <a:t>Other</a:t>
                      </a:r>
                    </a:p>
                  </a:txBody>
                  <a:tcPr>
                    <a:solidFill>
                      <a:srgbClr val="F0FAF4"/>
                    </a:solidFill>
                  </a:tcPr>
                </a:tc>
                <a:tc>
                  <a:txBody>
                    <a:bodyPr/>
                    <a:lstStyle/>
                    <a:p>
                      <a:pPr>
                        <a:defRPr sz="1100" b="1">
                          <a:solidFill>
                            <a:srgbClr val="1C1C1C"/>
                          </a:solidFill>
                          <a:latin typeface="Calibri"/>
                        </a:defRPr>
                      </a:pPr>
                      <a:r>
                        <a:rPr sz="1000">
                          <a:solidFill>
                            <a:srgbClr val="333333"/>
                          </a:solidFill>
                        </a:rPr>
                        <a:t>0.697</a:t>
                      </a:r>
                    </a:p>
                  </a:txBody>
                  <a:tcPr>
                    <a:solidFill>
                      <a:srgbClr val="F0FAF4"/>
                    </a:solidFill>
                  </a:tcPr>
                </a:tc>
                <a:tc>
                  <a:txBody>
                    <a:bodyPr/>
                    <a:lstStyle/>
                    <a:p>
                      <a:pPr>
                        <a:defRPr sz="1100" b="0">
                          <a:solidFill>
                            <a:srgbClr val="1C1C1C"/>
                          </a:solidFill>
                          <a:latin typeface="Calibri"/>
                        </a:defRPr>
                      </a:pPr>
                      <a:r>
                        <a:rPr sz="1000" dirty="0">
                          <a:solidFill>
                            <a:srgbClr val="333333"/>
                          </a:solidFill>
                        </a:rPr>
                        <a:t>100</a:t>
                      </a:r>
                    </a:p>
                  </a:txBody>
                  <a:tcPr>
                    <a:solidFill>
                      <a:srgbClr val="F0FAF4"/>
                    </a:solidFill>
                  </a:tcPr>
                </a:tc>
                <a:extLst>
                  <a:ext uri="{0D108BD9-81ED-4DB2-BD59-A6C34878D82A}">
                    <a16:rowId xmlns:a16="http://schemas.microsoft.com/office/drawing/2014/main" val="10020"/>
                  </a:ext>
                </a:extLst>
              </a:tr>
            </a:tbl>
          </a:graphicData>
        </a:graphic>
      </p:graphicFrame>
      <p:sp>
        <p:nvSpPr>
          <p:cNvPr id="7" name="TextBox 6">
            <a:hlinkClick r:id="rId2" action="ppaction://hlinksldjump"/>
          </p:cNvPr>
          <p:cNvSpPr txBox="1"/>
          <p:nvPr/>
        </p:nvSpPr>
        <p:spPr>
          <a:xfrm>
            <a:off x="9875520" y="137160"/>
            <a:ext cx="2011680" cy="320040"/>
          </a:xfrm>
          <a:prstGeom prst="rect">
            <a:avLst/>
          </a:prstGeom>
          <a:noFill/>
        </p:spPr>
        <p:txBody>
          <a:bodyPr wrap="square">
            <a:spAutoFit/>
          </a:bodyPr>
          <a:lstStyle/>
          <a:p>
            <a:r>
              <a:rPr sz="1200" b="1">
                <a:solidFill>
                  <a:srgbClr val="3D5A80"/>
                </a:solidFill>
              </a:rPr>
              <a:t>→ Glossary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201168"/>
            <a:ext cx="10972800" cy="292388"/>
          </a:xfrm>
          <a:prstGeom prst="rect">
            <a:avLst/>
          </a:prstGeom>
          <a:noFill/>
        </p:spPr>
        <p:txBody>
          <a:bodyPr wrap="square">
            <a:spAutoFit/>
          </a:bodyPr>
          <a:lstStyle/>
          <a:p>
            <a:pPr algn="l"/>
            <a:r>
              <a:rPr sz="1300" b="1" dirty="0">
                <a:solidFill>
                  <a:srgbClr val="3D5A80"/>
                </a:solidFill>
                <a:latin typeface="Calibri"/>
              </a:rPr>
              <a:t>STABILITY (STATSBOMB)</a:t>
            </a:r>
          </a:p>
        </p:txBody>
      </p:sp>
      <p:sp>
        <p:nvSpPr>
          <p:cNvPr id="4" name="TextBox 3"/>
          <p:cNvSpPr txBox="1"/>
          <p:nvPr/>
        </p:nvSpPr>
        <p:spPr>
          <a:xfrm>
            <a:off x="411480" y="457200"/>
            <a:ext cx="10972800" cy="347472"/>
          </a:xfrm>
          <a:prstGeom prst="rect">
            <a:avLst/>
          </a:prstGeom>
          <a:noFill/>
        </p:spPr>
        <p:txBody>
          <a:bodyPr wrap="square">
            <a:spAutoFit/>
          </a:bodyPr>
          <a:lstStyle/>
          <a:p>
            <a:pPr algn="l">
              <a:spcAft>
                <a:spcPts val="300"/>
              </a:spcAft>
            </a:pPr>
            <a:r>
              <a:rPr sz="1600" b="0" dirty="0">
                <a:solidFill>
                  <a:srgbClr val="333333"/>
                </a:solidFill>
                <a:latin typeface="Calibri"/>
              </a:rPr>
              <a:t>Prior competition → Bundesliga Year 1 in Bundesliga · pass if r ≥ 0.40</a:t>
            </a:r>
          </a:p>
        </p:txBody>
      </p:sp>
      <p:sp>
        <p:nvSpPr>
          <p:cNvPr id="5" name="TextBox 4"/>
          <p:cNvSpPr txBox="1"/>
          <p:nvPr/>
        </p:nvSpPr>
        <p:spPr>
          <a:xfrm>
            <a:off x="411480" y="868680"/>
            <a:ext cx="10972800" cy="274320"/>
          </a:xfrm>
          <a:prstGeom prst="rect">
            <a:avLst/>
          </a:prstGeom>
          <a:noFill/>
        </p:spPr>
        <p:txBody>
          <a:bodyPr wrap="square">
            <a:spAutoFit/>
          </a:bodyPr>
          <a:lstStyle/>
          <a:p>
            <a:pPr algn="l">
              <a:spcAft>
                <a:spcPts val="300"/>
              </a:spcAft>
            </a:pPr>
            <a:r>
              <a:rPr sz="1100">
                <a:solidFill>
                  <a:srgbClr val="333333"/>
                </a:solidFill>
              </a:rPr>
              <a:t>Open Data · cohort N=96 · 7 of 16 pass (r≥0.40)</a:t>
            </a:r>
          </a:p>
          <a:p>
            <a:r>
              <a:rPr sz="1100">
                <a:solidFill>
                  <a:srgbClr val="333333"/>
                </a:solidFill>
              </a:rPr>
              <a:t/>
            </a:r>
          </a:p>
          <a:p>
            <a:r>
              <a:rPr sz="1100">
                <a:solidFill>
                  <a:srgbClr val="333333"/>
                </a:solidFill>
              </a:rPr>
              <a:t>✓  Progressive passes (~10m+ toward goal)  r=0.74</a:t>
            </a:r>
          </a:p>
          <a:p>
            <a:r>
              <a:rPr sz="1100">
                <a:solidFill>
                  <a:srgbClr val="333333"/>
                </a:solidFill>
              </a:rPr>
              <a:t>✓  Dispossessed (inverted)  r=0.59</a:t>
            </a:r>
          </a:p>
          <a:p>
            <a:r>
              <a:rPr sz="1100">
                <a:solidFill>
                  <a:srgbClr val="333333"/>
                </a:solidFill>
              </a:rPr>
              <a:t>✓  Pressures  r=0.51</a:t>
            </a:r>
          </a:p>
          <a:p>
            <a:r>
              <a:rPr sz="1100">
                <a:solidFill>
                  <a:srgbClr val="333333"/>
                </a:solidFill>
              </a:rPr>
              <a:t>✓  Pass volume  r=0.49</a:t>
            </a:r>
          </a:p>
          <a:p>
            <a:r>
              <a:rPr sz="1100">
                <a:solidFill>
                  <a:srgbClr val="333333"/>
                </a:solidFill>
              </a:rPr>
              <a:t>✓  Clearances  r=0.47</a:t>
            </a:r>
          </a:p>
          <a:p>
            <a:r>
              <a:rPr sz="1100">
                <a:solidFill>
                  <a:srgbClr val="333333"/>
                </a:solidFill>
              </a:rPr>
              <a:t>✓  Successful dribbles  r=0.46</a:t>
            </a:r>
          </a:p>
          <a:p>
            <a:r>
              <a:rPr sz="1100">
                <a:solidFill>
                  <a:srgbClr val="333333"/>
                </a:solidFill>
              </a:rPr>
              <a:t>✓  Passes into final third  r=0.42</a:t>
            </a:r>
          </a:p>
          <a:p>
            <a:r>
              <a:rPr sz="1100">
                <a:solidFill>
                  <a:srgbClr val="333333"/>
                </a:solidFill>
              </a:rPr>
              <a:t>·  Shots  r=0.40 (out)</a:t>
            </a:r>
          </a:p>
          <a:p>
            <a:r>
              <a:rPr sz="1100">
                <a:solidFill>
                  <a:srgbClr val="333333"/>
                </a:solidFill>
              </a:rPr>
              <a:t>·  Progressive carries  r=0.38 (out)</a:t>
            </a:r>
          </a:p>
          <a:p>
            <a:r>
              <a:rPr sz="1100">
                <a:solidFill>
                  <a:srgbClr val="333333"/>
                </a:solidFill>
              </a:rPr>
              <a:t>·  Carries  r=0.38 (out)</a:t>
            </a:r>
          </a:p>
          <a:p>
            <a:r>
              <a:rPr sz="1100">
                <a:solidFill>
                  <a:srgbClr val="333333"/>
                </a:solidFill>
              </a:rPr>
              <a:t>·  Tackles  r=0.34 · Non-pen xG  r=0.30 · Fouls won  r=0.27</a:t>
            </a:r>
          </a:p>
          <a:p>
            <a:r>
              <a:rPr sz="1100">
                <a:solidFill>
                  <a:srgbClr val="333333"/>
                </a:solidFill>
              </a:rPr>
              <a:t>·  Interceptions  r=0.20 · Expected assists  r=0.13 · Aerials won  r=0.12</a:t>
            </a:r>
          </a:p>
        </p:txBody>
      </p:sp>
      <p:graphicFrame>
        <p:nvGraphicFramePr>
          <p:cNvPr id="6" name="Table 5"/>
          <p:cNvGraphicFramePr>
            <a:graphicFrameLocks noGrp="1"/>
          </p:cNvGraphicFramePr>
          <p:nvPr>
            <p:extLst>
              <p:ext uri="{D42A27DB-BD31-4B8C-83A1-F6EECF244321}">
                <p14:modId xmlns:p14="http://schemas.microsoft.com/office/powerpoint/2010/main" val="2041602011"/>
              </p:ext>
            </p:extLst>
          </p:nvPr>
        </p:nvGraphicFramePr>
        <p:xfrm>
          <a:off x="386862" y="1234440"/>
          <a:ext cx="9168618" cy="4663440"/>
        </p:xfrm>
        <a:graphic>
          <a:graphicData uri="http://schemas.openxmlformats.org/drawingml/2006/table">
            <a:tbl>
              <a:tblPr firstRow="1" bandRow="1">
                <a:tableStyleId>{5C22544A-7EE6-4342-B048-85BDC9FD1C3A}</a:tableStyleId>
              </a:tblPr>
              <a:tblGrid>
                <a:gridCol w="1030458">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tblGrid>
              <a:tr h="274320">
                <a:tc>
                  <a:txBody>
                    <a:bodyPr/>
                    <a:lstStyle/>
                    <a:p>
                      <a:r>
                        <a:t>Code</a:t>
                      </a:r>
                    </a:p>
                  </a:txBody>
                  <a:tcPr>
                    <a:solidFill>
                      <a:srgbClr val="1C1C1C"/>
                    </a:solidFill>
                  </a:tcPr>
                </a:tc>
                <a:tc>
                  <a:txBody>
                    <a:bodyPr/>
                    <a:lstStyle/>
                    <a:p>
                      <a:r>
                        <a:t>Metric (full name)</a:t>
                      </a:r>
                    </a:p>
                  </a:txBody>
                  <a:tcPr>
                    <a:solidFill>
                      <a:srgbClr val="1C1C1C"/>
                    </a:solidFill>
                  </a:tcPr>
                </a:tc>
                <a:tc>
                  <a:txBody>
                    <a:bodyPr/>
                    <a:lstStyle/>
                    <a:p>
                      <a:pPr>
                        <a:defRPr sz="1200" b="1">
                          <a:solidFill>
                            <a:srgbClr val="FFFFFF"/>
                          </a:solidFill>
                          <a:latin typeface="Calibri"/>
                        </a:defRPr>
                      </a:pPr>
                      <a:r>
                        <a:rPr sz="1000" b="1">
                          <a:solidFill>
                            <a:srgbClr val="333333"/>
                          </a:solidFill>
                        </a:rPr>
                        <a:t>Category</a:t>
                      </a:r>
                    </a:p>
                  </a:txBody>
                  <a:tcPr>
                    <a:solidFill>
                      <a:srgbClr val="1C1C1C"/>
                    </a:solidFill>
                  </a:tcPr>
                </a:tc>
                <a:tc>
                  <a:txBody>
                    <a:bodyPr/>
                    <a:lstStyle/>
                    <a:p>
                      <a:pPr>
                        <a:defRPr sz="1200" b="1">
                          <a:solidFill>
                            <a:srgbClr val="FFFFFF"/>
                          </a:solidFill>
                          <a:latin typeface="Calibri"/>
                        </a:defRPr>
                      </a:pPr>
                      <a:r>
                        <a:rPr sz="1000" b="1">
                          <a:solidFill>
                            <a:srgbClr val="333333"/>
                          </a:solidFill>
                        </a:rPr>
                        <a:t>r</a:t>
                      </a:r>
                    </a:p>
                  </a:txBody>
                  <a:tcPr>
                    <a:solidFill>
                      <a:srgbClr val="1C1C1C"/>
                    </a:solidFill>
                  </a:tcPr>
                </a:tc>
                <a:tc>
                  <a:txBody>
                    <a:bodyPr/>
                    <a:lstStyle/>
                    <a:p>
                      <a:pPr>
                        <a:defRPr sz="1200" b="1">
                          <a:solidFill>
                            <a:srgbClr val="FFFFFF"/>
                          </a:solidFill>
                          <a:latin typeface="Calibri"/>
                        </a:defRPr>
                      </a:pPr>
                      <a:r>
                        <a:rPr sz="1000" b="1" dirty="0">
                          <a:solidFill>
                            <a:srgbClr val="333333"/>
                          </a:solidFill>
                        </a:rPr>
                        <a:t>Gate</a:t>
                      </a:r>
                    </a:p>
                  </a:txBody>
                  <a:tcPr>
                    <a:solidFill>
                      <a:srgbClr val="1C1C1C"/>
                    </a:solidFill>
                  </a:tcPr>
                </a:tc>
                <a:extLst>
                  <a:ext uri="{0D108BD9-81ED-4DB2-BD59-A6C34878D82A}">
                    <a16:rowId xmlns:a16="http://schemas.microsoft.com/office/drawing/2014/main" val="10000"/>
                  </a:ext>
                </a:extLst>
              </a:tr>
              <a:tr h="274320">
                <a:tc>
                  <a:txBody>
                    <a:bodyPr/>
                    <a:lstStyle/>
                    <a:p>
                      <a:pPr>
                        <a:defRPr sz="1200" b="0">
                          <a:solidFill>
                            <a:srgbClr val="1C1C1C"/>
                          </a:solidFill>
                          <a:latin typeface="Calibri"/>
                        </a:defRPr>
                      </a:pPr>
                      <a:r>
                        <a:rPr sz="1000">
                          <a:solidFill>
                            <a:srgbClr val="333333"/>
                          </a:solidFill>
                        </a:rPr>
                        <a:t>PPC</a:t>
                      </a:r>
                    </a:p>
                  </a:txBody>
                  <a:tcPr>
                    <a:solidFill>
                      <a:srgbClr val="F0FAF4"/>
                    </a:solidFill>
                  </a:tcPr>
                </a:tc>
                <a:tc>
                  <a:txBody>
                    <a:bodyPr/>
                    <a:lstStyle/>
                    <a:p>
                      <a:r>
                        <a:t>Progressive passes</a:t>
                      </a:r>
                    </a:p>
                  </a:txBody>
                  <a:tcPr>
                    <a:solidFill>
                      <a:srgbClr val="F0FAF4"/>
                    </a:solidFill>
                  </a:tcPr>
                </a:tc>
                <a:tc>
                  <a:txBody>
                    <a:bodyPr/>
                    <a:lstStyle/>
                    <a:p>
                      <a:pPr>
                        <a:defRPr sz="1200" b="0">
                          <a:solidFill>
                            <a:srgbClr val="1C1C1C"/>
                          </a:solidFill>
                          <a:latin typeface="Calibri"/>
                        </a:defRPr>
                      </a:pPr>
                      <a:r>
                        <a:rPr sz="1000">
                          <a:solidFill>
                            <a:srgbClr val="333333"/>
                          </a:solidFill>
                        </a:rPr>
                        <a:t>Passing</a:t>
                      </a:r>
                    </a:p>
                  </a:txBody>
                  <a:tcPr>
                    <a:solidFill>
                      <a:srgbClr val="F0FAF4"/>
                    </a:solidFill>
                  </a:tcPr>
                </a:tc>
                <a:tc>
                  <a:txBody>
                    <a:bodyPr/>
                    <a:lstStyle/>
                    <a:p>
                      <a:pPr>
                        <a:defRPr sz="1200" b="1">
                          <a:solidFill>
                            <a:srgbClr val="1C1C1C"/>
                          </a:solidFill>
                          <a:latin typeface="Calibri"/>
                        </a:defRPr>
                      </a:pPr>
                      <a:r>
                        <a:rPr sz="1000">
                          <a:solidFill>
                            <a:srgbClr val="333333"/>
                          </a:solidFill>
                        </a:rPr>
                        <a:t>0.74</a:t>
                      </a:r>
                    </a:p>
                  </a:txBody>
                  <a:tcPr>
                    <a:solidFill>
                      <a:srgbClr val="F0FAF4"/>
                    </a:solidFill>
                  </a:tcPr>
                </a:tc>
                <a:tc>
                  <a:txBody>
                    <a:bodyPr/>
                    <a:lstStyle/>
                    <a:p>
                      <a:pPr>
                        <a:defRPr sz="1200" b="0">
                          <a:solidFill>
                            <a:srgbClr val="1C1C1C"/>
                          </a:solidFill>
                          <a:latin typeface="Calibri"/>
                        </a:defRPr>
                      </a:pPr>
                      <a:r>
                        <a:rPr sz="1000">
                          <a:solidFill>
                            <a:srgbClr val="333333"/>
                          </a:solidFill>
                        </a:rPr>
                        <a:t>PASS</a:t>
                      </a:r>
                    </a:p>
                  </a:txBody>
                  <a:tcPr>
                    <a:solidFill>
                      <a:srgbClr val="F0FAF4"/>
                    </a:solidFill>
                  </a:tcPr>
                </a:tc>
                <a:extLst>
                  <a:ext uri="{0D108BD9-81ED-4DB2-BD59-A6C34878D82A}">
                    <a16:rowId xmlns:a16="http://schemas.microsoft.com/office/drawing/2014/main" val="10001"/>
                  </a:ext>
                </a:extLst>
              </a:tr>
              <a:tr h="274320">
                <a:tc>
                  <a:txBody>
                    <a:bodyPr/>
                    <a:lstStyle/>
                    <a:p>
                      <a:pPr>
                        <a:defRPr sz="1200" b="0">
                          <a:solidFill>
                            <a:srgbClr val="1C1C1C"/>
                          </a:solidFill>
                          <a:latin typeface="Calibri"/>
                        </a:defRPr>
                      </a:pPr>
                      <a:r>
                        <a:rPr sz="1000">
                          <a:solidFill>
                            <a:srgbClr val="333333"/>
                          </a:solidFill>
                        </a:rPr>
                        <a:t>DIS</a:t>
                      </a:r>
                    </a:p>
                  </a:txBody>
                  <a:tcPr>
                    <a:solidFill>
                      <a:srgbClr val="F0FAF4"/>
                    </a:solidFill>
                  </a:tcPr>
                </a:tc>
                <a:tc>
                  <a:txBody>
                    <a:bodyPr/>
                    <a:lstStyle/>
                    <a:p>
                      <a:r>
                        <a:t>Dispossessed (inverted)</a:t>
                      </a:r>
                    </a:p>
                  </a:txBody>
                  <a:tcPr>
                    <a:solidFill>
                      <a:srgbClr val="F0FAF4"/>
                    </a:solidFill>
                  </a:tcPr>
                </a:tc>
                <a:tc>
                  <a:txBody>
                    <a:bodyPr/>
                    <a:lstStyle/>
                    <a:p>
                      <a:pPr>
                        <a:defRPr sz="1200" b="0">
                          <a:solidFill>
                            <a:srgbClr val="1C1C1C"/>
                          </a:solidFill>
                          <a:latin typeface="Calibri"/>
                        </a:defRPr>
                      </a:pPr>
                      <a:r>
                        <a:rPr sz="1000">
                          <a:solidFill>
                            <a:srgbClr val="333333"/>
                          </a:solidFill>
                        </a:rPr>
                        <a:t>Other</a:t>
                      </a:r>
                    </a:p>
                  </a:txBody>
                  <a:tcPr>
                    <a:solidFill>
                      <a:srgbClr val="F0FAF4"/>
                    </a:solidFill>
                  </a:tcPr>
                </a:tc>
                <a:tc>
                  <a:txBody>
                    <a:bodyPr/>
                    <a:lstStyle/>
                    <a:p>
                      <a:pPr>
                        <a:defRPr sz="1200" b="1">
                          <a:solidFill>
                            <a:srgbClr val="1C1C1C"/>
                          </a:solidFill>
                          <a:latin typeface="Calibri"/>
                        </a:defRPr>
                      </a:pPr>
                      <a:r>
                        <a:rPr sz="1000">
                          <a:solidFill>
                            <a:srgbClr val="333333"/>
                          </a:solidFill>
                        </a:rPr>
                        <a:t>0.59</a:t>
                      </a:r>
                    </a:p>
                  </a:txBody>
                  <a:tcPr>
                    <a:solidFill>
                      <a:srgbClr val="F0FAF4"/>
                    </a:solidFill>
                  </a:tcPr>
                </a:tc>
                <a:tc>
                  <a:txBody>
                    <a:bodyPr/>
                    <a:lstStyle/>
                    <a:p>
                      <a:pPr>
                        <a:defRPr sz="1200" b="0">
                          <a:solidFill>
                            <a:srgbClr val="1C1C1C"/>
                          </a:solidFill>
                          <a:latin typeface="Calibri"/>
                        </a:defRPr>
                      </a:pPr>
                      <a:r>
                        <a:rPr sz="1000">
                          <a:solidFill>
                            <a:srgbClr val="333333"/>
                          </a:solidFill>
                        </a:rPr>
                        <a:t>PASS</a:t>
                      </a:r>
                    </a:p>
                  </a:txBody>
                  <a:tcPr>
                    <a:solidFill>
                      <a:srgbClr val="F0FAF4"/>
                    </a:solidFill>
                  </a:tcPr>
                </a:tc>
                <a:extLst>
                  <a:ext uri="{0D108BD9-81ED-4DB2-BD59-A6C34878D82A}">
                    <a16:rowId xmlns:a16="http://schemas.microsoft.com/office/drawing/2014/main" val="10002"/>
                  </a:ext>
                </a:extLst>
              </a:tr>
              <a:tr h="274320">
                <a:tc>
                  <a:txBody>
                    <a:bodyPr/>
                    <a:lstStyle/>
                    <a:p>
                      <a:pPr>
                        <a:defRPr sz="1200" b="0">
                          <a:solidFill>
                            <a:srgbClr val="1C1C1C"/>
                          </a:solidFill>
                          <a:latin typeface="Calibri"/>
                        </a:defRPr>
                      </a:pPr>
                      <a:r>
                        <a:rPr sz="1000">
                          <a:solidFill>
                            <a:srgbClr val="333333"/>
                          </a:solidFill>
                        </a:rPr>
                        <a:t>PRS</a:t>
                      </a:r>
                    </a:p>
                  </a:txBody>
                  <a:tcPr>
                    <a:solidFill>
                      <a:srgbClr val="F0FAF4"/>
                    </a:solidFill>
                  </a:tcPr>
                </a:tc>
                <a:tc>
                  <a:txBody>
                    <a:bodyPr/>
                    <a:lstStyle/>
                    <a:p>
                      <a:r>
                        <a:t>Pressures</a:t>
                      </a:r>
                    </a:p>
                  </a:txBody>
                  <a:tcPr>
                    <a:solidFill>
                      <a:srgbClr val="F0FAF4"/>
                    </a:solidFill>
                  </a:tcPr>
                </a:tc>
                <a:tc>
                  <a:txBody>
                    <a:bodyPr/>
                    <a:lstStyle/>
                    <a:p>
                      <a:pPr>
                        <a:defRPr sz="1200" b="0">
                          <a:solidFill>
                            <a:srgbClr val="1C1C1C"/>
                          </a:solidFill>
                          <a:latin typeface="Calibri"/>
                        </a:defRPr>
                      </a:pPr>
                      <a:r>
                        <a:rPr sz="1000">
                          <a:solidFill>
                            <a:srgbClr val="333333"/>
                          </a:solidFill>
                        </a:rPr>
                        <a:t>Defending</a:t>
                      </a:r>
                    </a:p>
                  </a:txBody>
                  <a:tcPr>
                    <a:solidFill>
                      <a:srgbClr val="F0FAF4"/>
                    </a:solidFill>
                  </a:tcPr>
                </a:tc>
                <a:tc>
                  <a:txBody>
                    <a:bodyPr/>
                    <a:lstStyle/>
                    <a:p>
                      <a:pPr>
                        <a:defRPr sz="1200" b="1">
                          <a:solidFill>
                            <a:srgbClr val="1C1C1C"/>
                          </a:solidFill>
                          <a:latin typeface="Calibri"/>
                        </a:defRPr>
                      </a:pPr>
                      <a:r>
                        <a:rPr sz="1000">
                          <a:solidFill>
                            <a:srgbClr val="333333"/>
                          </a:solidFill>
                        </a:rPr>
                        <a:t>0.51</a:t>
                      </a:r>
                    </a:p>
                  </a:txBody>
                  <a:tcPr>
                    <a:solidFill>
                      <a:srgbClr val="F0FAF4"/>
                    </a:solidFill>
                  </a:tcPr>
                </a:tc>
                <a:tc>
                  <a:txBody>
                    <a:bodyPr/>
                    <a:lstStyle/>
                    <a:p>
                      <a:pPr>
                        <a:defRPr sz="1200" b="0">
                          <a:solidFill>
                            <a:srgbClr val="1C1C1C"/>
                          </a:solidFill>
                          <a:latin typeface="Calibri"/>
                        </a:defRPr>
                      </a:pPr>
                      <a:r>
                        <a:rPr sz="1000">
                          <a:solidFill>
                            <a:srgbClr val="333333"/>
                          </a:solidFill>
                        </a:rPr>
                        <a:t>PASS</a:t>
                      </a:r>
                    </a:p>
                  </a:txBody>
                  <a:tcPr>
                    <a:solidFill>
                      <a:srgbClr val="F0FAF4"/>
                    </a:solidFill>
                  </a:tcPr>
                </a:tc>
                <a:extLst>
                  <a:ext uri="{0D108BD9-81ED-4DB2-BD59-A6C34878D82A}">
                    <a16:rowId xmlns:a16="http://schemas.microsoft.com/office/drawing/2014/main" val="10003"/>
                  </a:ext>
                </a:extLst>
              </a:tr>
              <a:tr h="274320">
                <a:tc>
                  <a:txBody>
                    <a:bodyPr/>
                    <a:lstStyle/>
                    <a:p>
                      <a:pPr>
                        <a:defRPr sz="1200" b="0">
                          <a:solidFill>
                            <a:srgbClr val="1C1C1C"/>
                          </a:solidFill>
                          <a:latin typeface="Calibri"/>
                        </a:defRPr>
                      </a:pPr>
                      <a:r>
                        <a:rPr sz="1000">
                          <a:solidFill>
                            <a:srgbClr val="333333"/>
                          </a:solidFill>
                        </a:rPr>
                        <a:t>PAS</a:t>
                      </a:r>
                    </a:p>
                  </a:txBody>
                  <a:tcPr>
                    <a:solidFill>
                      <a:srgbClr val="F0FAF4"/>
                    </a:solidFill>
                  </a:tcPr>
                </a:tc>
                <a:tc>
                  <a:txBody>
                    <a:bodyPr/>
                    <a:lstStyle/>
                    <a:p>
                      <a:r>
                        <a:t>Pass volume</a:t>
                      </a:r>
                    </a:p>
                  </a:txBody>
                  <a:tcPr>
                    <a:solidFill>
                      <a:srgbClr val="F0FAF4"/>
                    </a:solidFill>
                  </a:tcPr>
                </a:tc>
                <a:tc>
                  <a:txBody>
                    <a:bodyPr/>
                    <a:lstStyle/>
                    <a:p>
                      <a:pPr>
                        <a:defRPr sz="1200" b="0">
                          <a:solidFill>
                            <a:srgbClr val="1C1C1C"/>
                          </a:solidFill>
                          <a:latin typeface="Calibri"/>
                        </a:defRPr>
                      </a:pPr>
                      <a:r>
                        <a:rPr sz="1000">
                          <a:solidFill>
                            <a:srgbClr val="333333"/>
                          </a:solidFill>
                        </a:rPr>
                        <a:t>Passing</a:t>
                      </a:r>
                    </a:p>
                  </a:txBody>
                  <a:tcPr>
                    <a:solidFill>
                      <a:srgbClr val="F0FAF4"/>
                    </a:solidFill>
                  </a:tcPr>
                </a:tc>
                <a:tc>
                  <a:txBody>
                    <a:bodyPr/>
                    <a:lstStyle/>
                    <a:p>
                      <a:pPr>
                        <a:defRPr sz="1200" b="1">
                          <a:solidFill>
                            <a:srgbClr val="1C1C1C"/>
                          </a:solidFill>
                          <a:latin typeface="Calibri"/>
                        </a:defRPr>
                      </a:pPr>
                      <a:r>
                        <a:rPr sz="1000">
                          <a:solidFill>
                            <a:srgbClr val="333333"/>
                          </a:solidFill>
                        </a:rPr>
                        <a:t>0.49</a:t>
                      </a:r>
                    </a:p>
                  </a:txBody>
                  <a:tcPr>
                    <a:solidFill>
                      <a:srgbClr val="F0FAF4"/>
                    </a:solidFill>
                  </a:tcPr>
                </a:tc>
                <a:tc>
                  <a:txBody>
                    <a:bodyPr/>
                    <a:lstStyle/>
                    <a:p>
                      <a:pPr>
                        <a:defRPr sz="1200" b="0">
                          <a:solidFill>
                            <a:srgbClr val="1C1C1C"/>
                          </a:solidFill>
                          <a:latin typeface="Calibri"/>
                        </a:defRPr>
                      </a:pPr>
                      <a:r>
                        <a:rPr sz="1000">
                          <a:solidFill>
                            <a:srgbClr val="333333"/>
                          </a:solidFill>
                        </a:rPr>
                        <a:t>PASS</a:t>
                      </a:r>
                    </a:p>
                  </a:txBody>
                  <a:tcPr>
                    <a:solidFill>
                      <a:srgbClr val="F0FAF4"/>
                    </a:solidFill>
                  </a:tcPr>
                </a:tc>
                <a:extLst>
                  <a:ext uri="{0D108BD9-81ED-4DB2-BD59-A6C34878D82A}">
                    <a16:rowId xmlns:a16="http://schemas.microsoft.com/office/drawing/2014/main" val="10004"/>
                  </a:ext>
                </a:extLst>
              </a:tr>
              <a:tr h="274320">
                <a:tc>
                  <a:txBody>
                    <a:bodyPr/>
                    <a:lstStyle/>
                    <a:p>
                      <a:pPr>
                        <a:defRPr sz="1200" b="0">
                          <a:solidFill>
                            <a:srgbClr val="1C1C1C"/>
                          </a:solidFill>
                          <a:latin typeface="Calibri"/>
                        </a:defRPr>
                      </a:pPr>
                      <a:r>
                        <a:rPr sz="1000">
                          <a:solidFill>
                            <a:srgbClr val="333333"/>
                          </a:solidFill>
                        </a:rPr>
                        <a:t>CLR</a:t>
                      </a:r>
                    </a:p>
                  </a:txBody>
                  <a:tcPr>
                    <a:solidFill>
                      <a:srgbClr val="F0FAF4"/>
                    </a:solidFill>
                  </a:tcPr>
                </a:tc>
                <a:tc>
                  <a:txBody>
                    <a:bodyPr/>
                    <a:lstStyle/>
                    <a:p>
                      <a:r>
                        <a:t>Clearances</a:t>
                      </a:r>
                    </a:p>
                  </a:txBody>
                  <a:tcPr>
                    <a:solidFill>
                      <a:srgbClr val="F0FAF4"/>
                    </a:solidFill>
                  </a:tcPr>
                </a:tc>
                <a:tc>
                  <a:txBody>
                    <a:bodyPr/>
                    <a:lstStyle/>
                    <a:p>
                      <a:pPr>
                        <a:defRPr sz="1200" b="0">
                          <a:solidFill>
                            <a:srgbClr val="1C1C1C"/>
                          </a:solidFill>
                          <a:latin typeface="Calibri"/>
                        </a:defRPr>
                      </a:pPr>
                      <a:r>
                        <a:rPr sz="1000">
                          <a:solidFill>
                            <a:srgbClr val="333333"/>
                          </a:solidFill>
                        </a:rPr>
                        <a:t>Defending</a:t>
                      </a:r>
                    </a:p>
                  </a:txBody>
                  <a:tcPr>
                    <a:solidFill>
                      <a:srgbClr val="F0FAF4"/>
                    </a:solidFill>
                  </a:tcPr>
                </a:tc>
                <a:tc>
                  <a:txBody>
                    <a:bodyPr/>
                    <a:lstStyle/>
                    <a:p>
                      <a:pPr>
                        <a:defRPr sz="1200" b="1">
                          <a:solidFill>
                            <a:srgbClr val="1C1C1C"/>
                          </a:solidFill>
                          <a:latin typeface="Calibri"/>
                        </a:defRPr>
                      </a:pPr>
                      <a:r>
                        <a:rPr sz="1000">
                          <a:solidFill>
                            <a:srgbClr val="333333"/>
                          </a:solidFill>
                        </a:rPr>
                        <a:t>0.47</a:t>
                      </a:r>
                    </a:p>
                  </a:txBody>
                  <a:tcPr>
                    <a:solidFill>
                      <a:srgbClr val="F0FAF4"/>
                    </a:solidFill>
                  </a:tcPr>
                </a:tc>
                <a:tc>
                  <a:txBody>
                    <a:bodyPr/>
                    <a:lstStyle/>
                    <a:p>
                      <a:pPr>
                        <a:defRPr sz="1200" b="0">
                          <a:solidFill>
                            <a:srgbClr val="1C1C1C"/>
                          </a:solidFill>
                          <a:latin typeface="Calibri"/>
                        </a:defRPr>
                      </a:pPr>
                      <a:r>
                        <a:rPr sz="1000">
                          <a:solidFill>
                            <a:srgbClr val="333333"/>
                          </a:solidFill>
                        </a:rPr>
                        <a:t>PASS</a:t>
                      </a:r>
                    </a:p>
                  </a:txBody>
                  <a:tcPr>
                    <a:solidFill>
                      <a:srgbClr val="F0FAF4"/>
                    </a:solidFill>
                  </a:tcPr>
                </a:tc>
                <a:extLst>
                  <a:ext uri="{0D108BD9-81ED-4DB2-BD59-A6C34878D82A}">
                    <a16:rowId xmlns:a16="http://schemas.microsoft.com/office/drawing/2014/main" val="10005"/>
                  </a:ext>
                </a:extLst>
              </a:tr>
              <a:tr h="274320">
                <a:tc>
                  <a:txBody>
                    <a:bodyPr/>
                    <a:lstStyle/>
                    <a:p>
                      <a:pPr>
                        <a:defRPr sz="1200" b="0">
                          <a:solidFill>
                            <a:srgbClr val="1C1C1C"/>
                          </a:solidFill>
                          <a:latin typeface="Calibri"/>
                        </a:defRPr>
                      </a:pPr>
                      <a:r>
                        <a:rPr sz="1000">
                          <a:solidFill>
                            <a:srgbClr val="333333"/>
                          </a:solidFill>
                        </a:rPr>
                        <a:t>DRB</a:t>
                      </a:r>
                    </a:p>
                  </a:txBody>
                  <a:tcPr>
                    <a:solidFill>
                      <a:srgbClr val="F0FAF4"/>
                    </a:solidFill>
                  </a:tcPr>
                </a:tc>
                <a:tc>
                  <a:txBody>
                    <a:bodyPr/>
                    <a:lstStyle/>
                    <a:p>
                      <a:r>
                        <a:t>Successful dribbles</a:t>
                      </a:r>
                    </a:p>
                  </a:txBody>
                  <a:tcPr>
                    <a:solidFill>
                      <a:srgbClr val="F0FAF4"/>
                    </a:solidFill>
                  </a:tcPr>
                </a:tc>
                <a:tc>
                  <a:txBody>
                    <a:bodyPr/>
                    <a:lstStyle/>
                    <a:p>
                      <a:pPr>
                        <a:defRPr sz="1200" b="0">
                          <a:solidFill>
                            <a:srgbClr val="1C1C1C"/>
                          </a:solidFill>
                          <a:latin typeface="Calibri"/>
                        </a:defRPr>
                      </a:pPr>
                      <a:r>
                        <a:rPr sz="1000">
                          <a:solidFill>
                            <a:srgbClr val="333333"/>
                          </a:solidFill>
                        </a:rPr>
                        <a:t>Carrying</a:t>
                      </a:r>
                    </a:p>
                  </a:txBody>
                  <a:tcPr>
                    <a:solidFill>
                      <a:srgbClr val="F0FAF4"/>
                    </a:solidFill>
                  </a:tcPr>
                </a:tc>
                <a:tc>
                  <a:txBody>
                    <a:bodyPr/>
                    <a:lstStyle/>
                    <a:p>
                      <a:pPr>
                        <a:defRPr sz="1200" b="1">
                          <a:solidFill>
                            <a:srgbClr val="1C1C1C"/>
                          </a:solidFill>
                          <a:latin typeface="Calibri"/>
                        </a:defRPr>
                      </a:pPr>
                      <a:r>
                        <a:rPr sz="1000">
                          <a:solidFill>
                            <a:srgbClr val="333333"/>
                          </a:solidFill>
                        </a:rPr>
                        <a:t>0.46</a:t>
                      </a:r>
                    </a:p>
                  </a:txBody>
                  <a:tcPr>
                    <a:solidFill>
                      <a:srgbClr val="F0FAF4"/>
                    </a:solidFill>
                  </a:tcPr>
                </a:tc>
                <a:tc>
                  <a:txBody>
                    <a:bodyPr/>
                    <a:lstStyle/>
                    <a:p>
                      <a:pPr>
                        <a:defRPr sz="1200" b="0">
                          <a:solidFill>
                            <a:srgbClr val="1C1C1C"/>
                          </a:solidFill>
                          <a:latin typeface="Calibri"/>
                        </a:defRPr>
                      </a:pPr>
                      <a:r>
                        <a:rPr sz="1000">
                          <a:solidFill>
                            <a:srgbClr val="333333"/>
                          </a:solidFill>
                        </a:rPr>
                        <a:t>PASS</a:t>
                      </a:r>
                    </a:p>
                  </a:txBody>
                  <a:tcPr>
                    <a:solidFill>
                      <a:srgbClr val="F0FAF4"/>
                    </a:solidFill>
                  </a:tcPr>
                </a:tc>
                <a:extLst>
                  <a:ext uri="{0D108BD9-81ED-4DB2-BD59-A6C34878D82A}">
                    <a16:rowId xmlns:a16="http://schemas.microsoft.com/office/drawing/2014/main" val="10006"/>
                  </a:ext>
                </a:extLst>
              </a:tr>
              <a:tr h="274320">
                <a:tc>
                  <a:txBody>
                    <a:bodyPr/>
                    <a:lstStyle/>
                    <a:p>
                      <a:pPr>
                        <a:defRPr sz="1200" b="0">
                          <a:solidFill>
                            <a:srgbClr val="1C1C1C"/>
                          </a:solidFill>
                          <a:latin typeface="Calibri"/>
                        </a:defRPr>
                      </a:pPr>
                      <a:r>
                        <a:rPr sz="1000">
                          <a:solidFill>
                            <a:srgbClr val="333333"/>
                          </a:solidFill>
                        </a:rPr>
                        <a:t>PATT</a:t>
                      </a:r>
                    </a:p>
                  </a:txBody>
                  <a:tcPr>
                    <a:solidFill>
                      <a:srgbClr val="F0FAF4"/>
                    </a:solidFill>
                  </a:tcPr>
                </a:tc>
                <a:tc>
                  <a:txBody>
                    <a:bodyPr/>
                    <a:lstStyle/>
                    <a:p>
                      <a:r>
                        <a:t>Passes into final third</a:t>
                      </a:r>
                    </a:p>
                  </a:txBody>
                  <a:tcPr>
                    <a:solidFill>
                      <a:srgbClr val="F0FAF4"/>
                    </a:solidFill>
                  </a:tcPr>
                </a:tc>
                <a:tc>
                  <a:txBody>
                    <a:bodyPr/>
                    <a:lstStyle/>
                    <a:p>
                      <a:pPr>
                        <a:defRPr sz="1200" b="0">
                          <a:solidFill>
                            <a:srgbClr val="1C1C1C"/>
                          </a:solidFill>
                          <a:latin typeface="Calibri"/>
                        </a:defRPr>
                      </a:pPr>
                      <a:r>
                        <a:rPr sz="1000">
                          <a:solidFill>
                            <a:srgbClr val="333333"/>
                          </a:solidFill>
                        </a:rPr>
                        <a:t>Passing</a:t>
                      </a:r>
                    </a:p>
                  </a:txBody>
                  <a:tcPr>
                    <a:solidFill>
                      <a:srgbClr val="F0FAF4"/>
                    </a:solidFill>
                  </a:tcPr>
                </a:tc>
                <a:tc>
                  <a:txBody>
                    <a:bodyPr/>
                    <a:lstStyle/>
                    <a:p>
                      <a:pPr>
                        <a:defRPr sz="1200" b="1">
                          <a:solidFill>
                            <a:srgbClr val="1C1C1C"/>
                          </a:solidFill>
                          <a:latin typeface="Calibri"/>
                        </a:defRPr>
                      </a:pPr>
                      <a:r>
                        <a:rPr sz="1000">
                          <a:solidFill>
                            <a:srgbClr val="333333"/>
                          </a:solidFill>
                        </a:rPr>
                        <a:t>0.42</a:t>
                      </a:r>
                    </a:p>
                  </a:txBody>
                  <a:tcPr>
                    <a:solidFill>
                      <a:srgbClr val="F0FAF4"/>
                    </a:solidFill>
                  </a:tcPr>
                </a:tc>
                <a:tc>
                  <a:txBody>
                    <a:bodyPr/>
                    <a:lstStyle/>
                    <a:p>
                      <a:pPr>
                        <a:defRPr sz="1200" b="0">
                          <a:solidFill>
                            <a:srgbClr val="1C1C1C"/>
                          </a:solidFill>
                          <a:latin typeface="Calibri"/>
                        </a:defRPr>
                      </a:pPr>
                      <a:r>
                        <a:rPr sz="1000">
                          <a:solidFill>
                            <a:srgbClr val="333333"/>
                          </a:solidFill>
                        </a:rPr>
                        <a:t>PASS</a:t>
                      </a:r>
                    </a:p>
                  </a:txBody>
                  <a:tcPr>
                    <a:solidFill>
                      <a:srgbClr val="F0FAF4"/>
                    </a:solidFill>
                  </a:tcPr>
                </a:tc>
                <a:extLst>
                  <a:ext uri="{0D108BD9-81ED-4DB2-BD59-A6C34878D82A}">
                    <a16:rowId xmlns:a16="http://schemas.microsoft.com/office/drawing/2014/main" val="10007"/>
                  </a:ext>
                </a:extLst>
              </a:tr>
              <a:tr h="274320">
                <a:tc>
                  <a:txBody>
                    <a:bodyPr/>
                    <a:lstStyle/>
                    <a:p>
                      <a:pPr>
                        <a:defRPr sz="1200" b="0">
                          <a:solidFill>
                            <a:srgbClr val="1C1C1C"/>
                          </a:solidFill>
                          <a:latin typeface="Calibri"/>
                        </a:defRPr>
                      </a:pPr>
                      <a:r>
                        <a:rPr sz="1000">
                          <a:solidFill>
                            <a:srgbClr val="333333"/>
                          </a:solidFill>
                        </a:rPr>
                        <a:t>SH</a:t>
                      </a:r>
                    </a:p>
                  </a:txBody>
                  <a:tcPr>
                    <a:solidFill>
                      <a:srgbClr val="F0FAF4"/>
                    </a:solidFill>
                  </a:tcPr>
                </a:tc>
                <a:tc>
                  <a:txBody>
                    <a:bodyPr/>
                    <a:lstStyle/>
                    <a:p>
                      <a:r>
                        <a:t>Shots</a:t>
                      </a:r>
                    </a:p>
                  </a:txBody>
                  <a:tcPr>
                    <a:solidFill>
                      <a:srgbClr val="F0FAF4"/>
                    </a:solidFill>
                  </a:tcPr>
                </a:tc>
                <a:tc>
                  <a:txBody>
                    <a:bodyPr/>
                    <a:lstStyle/>
                    <a:p>
                      <a:pPr>
                        <a:defRPr sz="1200" b="0">
                          <a:solidFill>
                            <a:srgbClr val="1C1C1C"/>
                          </a:solidFill>
                          <a:latin typeface="Calibri"/>
                        </a:defRPr>
                      </a:pPr>
                      <a:r>
                        <a:rPr sz="1000">
                          <a:solidFill>
                            <a:srgbClr val="333333"/>
                          </a:solidFill>
                        </a:rPr>
                        <a:t>Attacking</a:t>
                      </a:r>
                    </a:p>
                  </a:txBody>
                  <a:tcPr>
                    <a:solidFill>
                      <a:srgbClr val="F0FAF4"/>
                    </a:solidFill>
                  </a:tcPr>
                </a:tc>
                <a:tc>
                  <a:txBody>
                    <a:bodyPr/>
                    <a:lstStyle/>
                    <a:p>
                      <a:pPr>
                        <a:defRPr sz="1200" b="1">
                          <a:solidFill>
                            <a:srgbClr val="1C1C1C"/>
                          </a:solidFill>
                          <a:latin typeface="Calibri"/>
                        </a:defRPr>
                      </a:pPr>
                      <a:r>
                        <a:rPr sz="1000">
                          <a:solidFill>
                            <a:srgbClr val="333333"/>
                          </a:solidFill>
                        </a:rPr>
                        <a:t>0.40</a:t>
                      </a:r>
                    </a:p>
                  </a:txBody>
                  <a:tcPr>
                    <a:solidFill>
                      <a:srgbClr val="F0FAF4"/>
                    </a:solidFill>
                  </a:tcPr>
                </a:tc>
                <a:tc>
                  <a:txBody>
                    <a:bodyPr/>
                    <a:lstStyle/>
                    <a:p>
                      <a:pPr>
                        <a:defRPr sz="1200" b="0">
                          <a:solidFill>
                            <a:srgbClr val="1C1C1C"/>
                          </a:solidFill>
                          <a:latin typeface="Calibri"/>
                        </a:defRPr>
                      </a:pPr>
                      <a:r>
                        <a:rPr sz="1000">
                          <a:solidFill>
                            <a:srgbClr val="333333"/>
                          </a:solidFill>
                        </a:rPr>
                        <a:t>out</a:t>
                      </a:r>
                    </a:p>
                  </a:txBody>
                  <a:tcPr>
                    <a:solidFill>
                      <a:srgbClr val="F0FAF4"/>
                    </a:solidFill>
                  </a:tcPr>
                </a:tc>
                <a:extLst>
                  <a:ext uri="{0D108BD9-81ED-4DB2-BD59-A6C34878D82A}">
                    <a16:rowId xmlns:a16="http://schemas.microsoft.com/office/drawing/2014/main" val="10008"/>
                  </a:ext>
                </a:extLst>
              </a:tr>
              <a:tr h="274320">
                <a:tc>
                  <a:txBody>
                    <a:bodyPr/>
                    <a:lstStyle/>
                    <a:p>
                      <a:pPr>
                        <a:defRPr sz="1200" b="0">
                          <a:solidFill>
                            <a:srgbClr val="1C1C1C"/>
                          </a:solidFill>
                          <a:latin typeface="Calibri"/>
                        </a:defRPr>
                      </a:pPr>
                      <a:r>
                        <a:rPr sz="1000">
                          <a:solidFill>
                            <a:srgbClr val="333333"/>
                          </a:solidFill>
                        </a:rPr>
                        <a:t>CFGP</a:t>
                      </a:r>
                    </a:p>
                  </a:txBody>
                  <a:tcPr>
                    <a:solidFill>
                      <a:srgbClr val="F0FAF4"/>
                    </a:solidFill>
                  </a:tcPr>
                </a:tc>
                <a:tc>
                  <a:txBody>
                    <a:bodyPr/>
                    <a:lstStyle/>
                    <a:p>
                      <a:r>
                        <a:t>Progressive carries</a:t>
                      </a:r>
                    </a:p>
                  </a:txBody>
                  <a:tcPr>
                    <a:solidFill>
                      <a:srgbClr val="F0FAF4"/>
                    </a:solidFill>
                  </a:tcPr>
                </a:tc>
                <a:tc>
                  <a:txBody>
                    <a:bodyPr/>
                    <a:lstStyle/>
                    <a:p>
                      <a:pPr>
                        <a:defRPr sz="1200" b="0">
                          <a:solidFill>
                            <a:srgbClr val="1C1C1C"/>
                          </a:solidFill>
                          <a:latin typeface="Calibri"/>
                        </a:defRPr>
                      </a:pPr>
                      <a:r>
                        <a:rPr sz="1000">
                          <a:solidFill>
                            <a:srgbClr val="333333"/>
                          </a:solidFill>
                        </a:rPr>
                        <a:t>Carrying</a:t>
                      </a:r>
                    </a:p>
                  </a:txBody>
                  <a:tcPr>
                    <a:solidFill>
                      <a:srgbClr val="F0FAF4"/>
                    </a:solidFill>
                  </a:tcPr>
                </a:tc>
                <a:tc>
                  <a:txBody>
                    <a:bodyPr/>
                    <a:lstStyle/>
                    <a:p>
                      <a:pPr>
                        <a:defRPr sz="1200" b="1">
                          <a:solidFill>
                            <a:srgbClr val="1C1C1C"/>
                          </a:solidFill>
                          <a:latin typeface="Calibri"/>
                        </a:defRPr>
                      </a:pPr>
                      <a:r>
                        <a:rPr sz="1000">
                          <a:solidFill>
                            <a:srgbClr val="333333"/>
                          </a:solidFill>
                        </a:rPr>
                        <a:t>0.38</a:t>
                      </a:r>
                    </a:p>
                  </a:txBody>
                  <a:tcPr>
                    <a:solidFill>
                      <a:srgbClr val="F0FAF4"/>
                    </a:solidFill>
                  </a:tcPr>
                </a:tc>
                <a:tc>
                  <a:txBody>
                    <a:bodyPr/>
                    <a:lstStyle/>
                    <a:p>
                      <a:pPr>
                        <a:defRPr sz="1200" b="0">
                          <a:solidFill>
                            <a:srgbClr val="1C1C1C"/>
                          </a:solidFill>
                          <a:latin typeface="Calibri"/>
                        </a:defRPr>
                      </a:pPr>
                      <a:r>
                        <a:rPr sz="1000">
                          <a:solidFill>
                            <a:srgbClr val="333333"/>
                          </a:solidFill>
                        </a:rPr>
                        <a:t>out</a:t>
                      </a:r>
                    </a:p>
                  </a:txBody>
                  <a:tcPr>
                    <a:solidFill>
                      <a:srgbClr val="F0FAF4"/>
                    </a:solidFill>
                  </a:tcPr>
                </a:tc>
                <a:extLst>
                  <a:ext uri="{0D108BD9-81ED-4DB2-BD59-A6C34878D82A}">
                    <a16:rowId xmlns:a16="http://schemas.microsoft.com/office/drawing/2014/main" val="10009"/>
                  </a:ext>
                </a:extLst>
              </a:tr>
              <a:tr h="274320">
                <a:tc>
                  <a:txBody>
                    <a:bodyPr/>
                    <a:lstStyle/>
                    <a:p>
                      <a:pPr>
                        <a:defRPr sz="1200" b="0">
                          <a:solidFill>
                            <a:srgbClr val="1C1C1C"/>
                          </a:solidFill>
                          <a:latin typeface="Calibri"/>
                        </a:defRPr>
                      </a:pPr>
                      <a:r>
                        <a:rPr sz="1000">
                          <a:solidFill>
                            <a:srgbClr val="333333"/>
                          </a:solidFill>
                        </a:rPr>
                        <a:t>CRY</a:t>
                      </a:r>
                    </a:p>
                  </a:txBody>
                  <a:tcPr>
                    <a:solidFill>
                      <a:srgbClr val="F0FAF4"/>
                    </a:solidFill>
                  </a:tcPr>
                </a:tc>
                <a:tc>
                  <a:txBody>
                    <a:bodyPr/>
                    <a:lstStyle/>
                    <a:p>
                      <a:r>
                        <a:t>Carries</a:t>
                      </a:r>
                    </a:p>
                  </a:txBody>
                  <a:tcPr>
                    <a:solidFill>
                      <a:srgbClr val="F0FAF4"/>
                    </a:solidFill>
                  </a:tcPr>
                </a:tc>
                <a:tc>
                  <a:txBody>
                    <a:bodyPr/>
                    <a:lstStyle/>
                    <a:p>
                      <a:pPr>
                        <a:defRPr sz="1200" b="0">
                          <a:solidFill>
                            <a:srgbClr val="1C1C1C"/>
                          </a:solidFill>
                          <a:latin typeface="Calibri"/>
                        </a:defRPr>
                      </a:pPr>
                      <a:r>
                        <a:rPr sz="1000">
                          <a:solidFill>
                            <a:srgbClr val="333333"/>
                          </a:solidFill>
                        </a:rPr>
                        <a:t>Carrying</a:t>
                      </a:r>
                    </a:p>
                  </a:txBody>
                  <a:tcPr>
                    <a:solidFill>
                      <a:srgbClr val="F0FAF4"/>
                    </a:solidFill>
                  </a:tcPr>
                </a:tc>
                <a:tc>
                  <a:txBody>
                    <a:bodyPr/>
                    <a:lstStyle/>
                    <a:p>
                      <a:pPr>
                        <a:defRPr sz="1200" b="1">
                          <a:solidFill>
                            <a:srgbClr val="1C1C1C"/>
                          </a:solidFill>
                          <a:latin typeface="Calibri"/>
                        </a:defRPr>
                      </a:pPr>
                      <a:r>
                        <a:rPr sz="1000">
                          <a:solidFill>
                            <a:srgbClr val="333333"/>
                          </a:solidFill>
                        </a:rPr>
                        <a:t>0.38</a:t>
                      </a:r>
                    </a:p>
                  </a:txBody>
                  <a:tcPr>
                    <a:solidFill>
                      <a:srgbClr val="F0FAF4"/>
                    </a:solidFill>
                  </a:tcPr>
                </a:tc>
                <a:tc>
                  <a:txBody>
                    <a:bodyPr/>
                    <a:lstStyle/>
                    <a:p>
                      <a:pPr>
                        <a:defRPr sz="1200" b="0">
                          <a:solidFill>
                            <a:srgbClr val="1C1C1C"/>
                          </a:solidFill>
                          <a:latin typeface="Calibri"/>
                        </a:defRPr>
                      </a:pPr>
                      <a:r>
                        <a:rPr sz="1000">
                          <a:solidFill>
                            <a:srgbClr val="333333"/>
                          </a:solidFill>
                        </a:rPr>
                        <a:t>out</a:t>
                      </a:r>
                    </a:p>
                  </a:txBody>
                  <a:tcPr>
                    <a:solidFill>
                      <a:srgbClr val="F0FAF4"/>
                    </a:solidFill>
                  </a:tcPr>
                </a:tc>
                <a:extLst>
                  <a:ext uri="{0D108BD9-81ED-4DB2-BD59-A6C34878D82A}">
                    <a16:rowId xmlns:a16="http://schemas.microsoft.com/office/drawing/2014/main" val="10010"/>
                  </a:ext>
                </a:extLst>
              </a:tr>
              <a:tr h="274320">
                <a:tc>
                  <a:txBody>
                    <a:bodyPr/>
                    <a:lstStyle/>
                    <a:p>
                      <a:pPr>
                        <a:defRPr sz="1200" b="0">
                          <a:solidFill>
                            <a:srgbClr val="1C1C1C"/>
                          </a:solidFill>
                          <a:latin typeface="Calibri"/>
                        </a:defRPr>
                      </a:pPr>
                      <a:r>
                        <a:rPr sz="1000">
                          <a:solidFill>
                            <a:srgbClr val="333333"/>
                          </a:solidFill>
                        </a:rPr>
                        <a:t>TAC</a:t>
                      </a:r>
                    </a:p>
                  </a:txBody>
                  <a:tcPr>
                    <a:solidFill>
                      <a:srgbClr val="F0FAF4"/>
                    </a:solidFill>
                  </a:tcPr>
                </a:tc>
                <a:tc>
                  <a:txBody>
                    <a:bodyPr/>
                    <a:lstStyle/>
                    <a:p>
                      <a:r>
                        <a:t>Tackles</a:t>
                      </a:r>
                    </a:p>
                  </a:txBody>
                  <a:tcPr>
                    <a:solidFill>
                      <a:srgbClr val="F0FAF4"/>
                    </a:solidFill>
                  </a:tcPr>
                </a:tc>
                <a:tc>
                  <a:txBody>
                    <a:bodyPr/>
                    <a:lstStyle/>
                    <a:p>
                      <a:pPr>
                        <a:defRPr sz="1200" b="0">
                          <a:solidFill>
                            <a:srgbClr val="1C1C1C"/>
                          </a:solidFill>
                          <a:latin typeface="Calibri"/>
                        </a:defRPr>
                      </a:pPr>
                      <a:r>
                        <a:rPr sz="1000">
                          <a:solidFill>
                            <a:srgbClr val="333333"/>
                          </a:solidFill>
                        </a:rPr>
                        <a:t>Defending</a:t>
                      </a:r>
                    </a:p>
                  </a:txBody>
                  <a:tcPr>
                    <a:solidFill>
                      <a:srgbClr val="F0FAF4"/>
                    </a:solidFill>
                  </a:tcPr>
                </a:tc>
                <a:tc>
                  <a:txBody>
                    <a:bodyPr/>
                    <a:lstStyle/>
                    <a:p>
                      <a:pPr>
                        <a:defRPr sz="1200" b="1">
                          <a:solidFill>
                            <a:srgbClr val="1C1C1C"/>
                          </a:solidFill>
                          <a:latin typeface="Calibri"/>
                        </a:defRPr>
                      </a:pPr>
                      <a:r>
                        <a:rPr sz="1000">
                          <a:solidFill>
                            <a:srgbClr val="333333"/>
                          </a:solidFill>
                        </a:rPr>
                        <a:t>0.34</a:t>
                      </a:r>
                    </a:p>
                  </a:txBody>
                  <a:tcPr>
                    <a:solidFill>
                      <a:srgbClr val="F0FAF4"/>
                    </a:solidFill>
                  </a:tcPr>
                </a:tc>
                <a:tc>
                  <a:txBody>
                    <a:bodyPr/>
                    <a:lstStyle/>
                    <a:p>
                      <a:pPr>
                        <a:defRPr sz="1200" b="0">
                          <a:solidFill>
                            <a:srgbClr val="1C1C1C"/>
                          </a:solidFill>
                          <a:latin typeface="Calibri"/>
                        </a:defRPr>
                      </a:pPr>
                      <a:r>
                        <a:rPr sz="1000">
                          <a:solidFill>
                            <a:srgbClr val="333333"/>
                          </a:solidFill>
                        </a:rPr>
                        <a:t>out</a:t>
                      </a:r>
                    </a:p>
                  </a:txBody>
                  <a:tcPr>
                    <a:solidFill>
                      <a:srgbClr val="F0FAF4"/>
                    </a:solidFill>
                  </a:tcPr>
                </a:tc>
                <a:extLst>
                  <a:ext uri="{0D108BD9-81ED-4DB2-BD59-A6C34878D82A}">
                    <a16:rowId xmlns:a16="http://schemas.microsoft.com/office/drawing/2014/main" val="10011"/>
                  </a:ext>
                </a:extLst>
              </a:tr>
              <a:tr h="274320">
                <a:tc>
                  <a:txBody>
                    <a:bodyPr/>
                    <a:lstStyle/>
                    <a:p>
                      <a:pPr>
                        <a:defRPr sz="1200" b="0">
                          <a:solidFill>
                            <a:srgbClr val="1C1C1C"/>
                          </a:solidFill>
                          <a:latin typeface="Calibri"/>
                        </a:defRPr>
                      </a:pPr>
                      <a:r>
                        <a:rPr sz="1000">
                          <a:solidFill>
                            <a:srgbClr val="333333"/>
                          </a:solidFill>
                        </a:rPr>
                        <a:t>XG</a:t>
                      </a:r>
                    </a:p>
                  </a:txBody>
                  <a:tcPr>
                    <a:solidFill>
                      <a:srgbClr val="FFFFFF"/>
                    </a:solidFill>
                  </a:tcPr>
                </a:tc>
                <a:tc>
                  <a:txBody>
                    <a:bodyPr/>
                    <a:lstStyle/>
                    <a:p>
                      <a:r>
                        <a:t>Non-penalty expected goals</a:t>
                      </a:r>
                    </a:p>
                  </a:txBody>
                  <a:tcPr>
                    <a:solidFill>
                      <a:srgbClr val="FFFFFF"/>
                    </a:solidFill>
                  </a:tcPr>
                </a:tc>
                <a:tc>
                  <a:txBody>
                    <a:bodyPr/>
                    <a:lstStyle/>
                    <a:p>
                      <a:pPr>
                        <a:defRPr sz="1200" b="0">
                          <a:solidFill>
                            <a:srgbClr val="1C1C1C"/>
                          </a:solidFill>
                          <a:latin typeface="Calibri"/>
                        </a:defRPr>
                      </a:pPr>
                      <a:r>
                        <a:rPr sz="1000">
                          <a:solidFill>
                            <a:srgbClr val="333333"/>
                          </a:solidFill>
                        </a:rPr>
                        <a:t>Attacking</a:t>
                      </a:r>
                    </a:p>
                  </a:txBody>
                  <a:tcPr>
                    <a:solidFill>
                      <a:srgbClr val="FFFFFF"/>
                    </a:solidFill>
                  </a:tcPr>
                </a:tc>
                <a:tc>
                  <a:txBody>
                    <a:bodyPr/>
                    <a:lstStyle/>
                    <a:p>
                      <a:pPr>
                        <a:defRPr sz="1200" b="1">
                          <a:solidFill>
                            <a:srgbClr val="1C1C1C"/>
                          </a:solidFill>
                          <a:latin typeface="Calibri"/>
                        </a:defRPr>
                      </a:pPr>
                      <a:r>
                        <a:rPr sz="1000">
                          <a:solidFill>
                            <a:srgbClr val="333333"/>
                          </a:solidFill>
                        </a:rPr>
                        <a:t>0.30</a:t>
                      </a:r>
                    </a:p>
                  </a:txBody>
                  <a:tcPr>
                    <a:solidFill>
                      <a:srgbClr val="FFFFFF"/>
                    </a:solidFill>
                  </a:tcPr>
                </a:tc>
                <a:tc>
                  <a:txBody>
                    <a:bodyPr/>
                    <a:lstStyle/>
                    <a:p>
                      <a:pPr>
                        <a:defRPr sz="1200" b="0">
                          <a:solidFill>
                            <a:srgbClr val="1C1C1C"/>
                          </a:solidFill>
                          <a:latin typeface="Calibri"/>
                        </a:defRPr>
                      </a:pPr>
                      <a:r>
                        <a:rPr sz="1000">
                          <a:solidFill>
                            <a:srgbClr val="333333"/>
                          </a:solidFill>
                        </a:rPr>
                        <a:t>out</a:t>
                      </a:r>
                    </a:p>
                  </a:txBody>
                  <a:tcPr>
                    <a:solidFill>
                      <a:srgbClr val="FFFFFF"/>
                    </a:solidFill>
                  </a:tcPr>
                </a:tc>
                <a:extLst>
                  <a:ext uri="{0D108BD9-81ED-4DB2-BD59-A6C34878D82A}">
                    <a16:rowId xmlns:a16="http://schemas.microsoft.com/office/drawing/2014/main" val="10012"/>
                  </a:ext>
                </a:extLst>
              </a:tr>
              <a:tr h="274320">
                <a:tc>
                  <a:txBody>
                    <a:bodyPr/>
                    <a:lstStyle/>
                    <a:p>
                      <a:pPr>
                        <a:defRPr sz="1200" b="0">
                          <a:solidFill>
                            <a:srgbClr val="1C1C1C"/>
                          </a:solidFill>
                          <a:latin typeface="Calibri"/>
                        </a:defRPr>
                      </a:pPr>
                      <a:r>
                        <a:rPr sz="1000">
                          <a:solidFill>
                            <a:srgbClr val="333333"/>
                          </a:solidFill>
                        </a:rPr>
                        <a:t>FLW</a:t>
                      </a:r>
                    </a:p>
                  </a:txBody>
                  <a:tcPr>
                    <a:solidFill>
                      <a:srgbClr val="F7F8FA"/>
                    </a:solidFill>
                  </a:tcPr>
                </a:tc>
                <a:tc>
                  <a:txBody>
                    <a:bodyPr/>
                    <a:lstStyle/>
                    <a:p>
                      <a:r>
                        <a:t>Fouls won</a:t>
                      </a:r>
                    </a:p>
                  </a:txBody>
                  <a:tcPr>
                    <a:solidFill>
                      <a:srgbClr val="F7F8FA"/>
                    </a:solidFill>
                  </a:tcPr>
                </a:tc>
                <a:tc>
                  <a:txBody>
                    <a:bodyPr/>
                    <a:lstStyle/>
                    <a:p>
                      <a:pPr>
                        <a:defRPr sz="1200" b="0">
                          <a:solidFill>
                            <a:srgbClr val="1C1C1C"/>
                          </a:solidFill>
                          <a:latin typeface="Calibri"/>
                        </a:defRPr>
                      </a:pPr>
                      <a:r>
                        <a:rPr sz="1000">
                          <a:solidFill>
                            <a:srgbClr val="333333"/>
                          </a:solidFill>
                        </a:rPr>
                        <a:t>Other</a:t>
                      </a:r>
                    </a:p>
                  </a:txBody>
                  <a:tcPr>
                    <a:solidFill>
                      <a:srgbClr val="F7F8FA"/>
                    </a:solidFill>
                  </a:tcPr>
                </a:tc>
                <a:tc>
                  <a:txBody>
                    <a:bodyPr/>
                    <a:lstStyle/>
                    <a:p>
                      <a:pPr>
                        <a:defRPr sz="1200" b="1">
                          <a:solidFill>
                            <a:srgbClr val="1C1C1C"/>
                          </a:solidFill>
                          <a:latin typeface="Calibri"/>
                        </a:defRPr>
                      </a:pPr>
                      <a:r>
                        <a:rPr sz="1000">
                          <a:solidFill>
                            <a:srgbClr val="333333"/>
                          </a:solidFill>
                        </a:rPr>
                        <a:t>0.27</a:t>
                      </a:r>
                    </a:p>
                  </a:txBody>
                  <a:tcPr>
                    <a:solidFill>
                      <a:srgbClr val="F7F8FA"/>
                    </a:solidFill>
                  </a:tcPr>
                </a:tc>
                <a:tc>
                  <a:txBody>
                    <a:bodyPr/>
                    <a:lstStyle/>
                    <a:p>
                      <a:pPr>
                        <a:defRPr sz="1200" b="0">
                          <a:solidFill>
                            <a:srgbClr val="1C1C1C"/>
                          </a:solidFill>
                          <a:latin typeface="Calibri"/>
                        </a:defRPr>
                      </a:pPr>
                      <a:r>
                        <a:rPr sz="1000">
                          <a:solidFill>
                            <a:srgbClr val="333333"/>
                          </a:solidFill>
                        </a:rPr>
                        <a:t>out</a:t>
                      </a:r>
                    </a:p>
                  </a:txBody>
                  <a:tcPr>
                    <a:solidFill>
                      <a:srgbClr val="F7F8FA"/>
                    </a:solidFill>
                  </a:tcPr>
                </a:tc>
                <a:extLst>
                  <a:ext uri="{0D108BD9-81ED-4DB2-BD59-A6C34878D82A}">
                    <a16:rowId xmlns:a16="http://schemas.microsoft.com/office/drawing/2014/main" val="10013"/>
                  </a:ext>
                </a:extLst>
              </a:tr>
              <a:tr h="274320">
                <a:tc>
                  <a:txBody>
                    <a:bodyPr/>
                    <a:lstStyle/>
                    <a:p>
                      <a:pPr>
                        <a:defRPr sz="1200" b="0">
                          <a:solidFill>
                            <a:srgbClr val="1C1C1C"/>
                          </a:solidFill>
                          <a:latin typeface="Calibri"/>
                        </a:defRPr>
                      </a:pPr>
                      <a:r>
                        <a:rPr sz="1000">
                          <a:solidFill>
                            <a:srgbClr val="333333"/>
                          </a:solidFill>
                        </a:rPr>
                        <a:t>INT</a:t>
                      </a:r>
                    </a:p>
                  </a:txBody>
                  <a:tcPr>
                    <a:solidFill>
                      <a:srgbClr val="FFFFFF"/>
                    </a:solidFill>
                  </a:tcPr>
                </a:tc>
                <a:tc>
                  <a:txBody>
                    <a:bodyPr/>
                    <a:lstStyle/>
                    <a:p>
                      <a:r>
                        <a:t>Interceptions</a:t>
                      </a:r>
                    </a:p>
                  </a:txBody>
                  <a:tcPr>
                    <a:solidFill>
                      <a:srgbClr val="FFFFFF"/>
                    </a:solidFill>
                  </a:tcPr>
                </a:tc>
                <a:tc>
                  <a:txBody>
                    <a:bodyPr/>
                    <a:lstStyle/>
                    <a:p>
                      <a:pPr>
                        <a:defRPr sz="1200" b="0">
                          <a:solidFill>
                            <a:srgbClr val="1C1C1C"/>
                          </a:solidFill>
                          <a:latin typeface="Calibri"/>
                        </a:defRPr>
                      </a:pPr>
                      <a:r>
                        <a:rPr sz="1000">
                          <a:solidFill>
                            <a:srgbClr val="333333"/>
                          </a:solidFill>
                        </a:rPr>
                        <a:t>Defending</a:t>
                      </a:r>
                    </a:p>
                  </a:txBody>
                  <a:tcPr>
                    <a:solidFill>
                      <a:srgbClr val="FFFFFF"/>
                    </a:solidFill>
                  </a:tcPr>
                </a:tc>
                <a:tc>
                  <a:txBody>
                    <a:bodyPr/>
                    <a:lstStyle/>
                    <a:p>
                      <a:pPr>
                        <a:defRPr sz="1200" b="1">
                          <a:solidFill>
                            <a:srgbClr val="1C1C1C"/>
                          </a:solidFill>
                          <a:latin typeface="Calibri"/>
                        </a:defRPr>
                      </a:pPr>
                      <a:r>
                        <a:rPr sz="1000">
                          <a:solidFill>
                            <a:srgbClr val="333333"/>
                          </a:solidFill>
                        </a:rPr>
                        <a:t>0.20</a:t>
                      </a:r>
                    </a:p>
                  </a:txBody>
                  <a:tcPr>
                    <a:solidFill>
                      <a:srgbClr val="FFFFFF"/>
                    </a:solidFill>
                  </a:tcPr>
                </a:tc>
                <a:tc>
                  <a:txBody>
                    <a:bodyPr/>
                    <a:lstStyle/>
                    <a:p>
                      <a:pPr>
                        <a:defRPr sz="1200" b="0">
                          <a:solidFill>
                            <a:srgbClr val="1C1C1C"/>
                          </a:solidFill>
                          <a:latin typeface="Calibri"/>
                        </a:defRPr>
                      </a:pPr>
                      <a:r>
                        <a:rPr sz="1000">
                          <a:solidFill>
                            <a:srgbClr val="333333"/>
                          </a:solidFill>
                        </a:rPr>
                        <a:t>out</a:t>
                      </a:r>
                    </a:p>
                  </a:txBody>
                  <a:tcPr>
                    <a:solidFill>
                      <a:srgbClr val="FFFFFF"/>
                    </a:solidFill>
                  </a:tcPr>
                </a:tc>
                <a:extLst>
                  <a:ext uri="{0D108BD9-81ED-4DB2-BD59-A6C34878D82A}">
                    <a16:rowId xmlns:a16="http://schemas.microsoft.com/office/drawing/2014/main" val="10014"/>
                  </a:ext>
                </a:extLst>
              </a:tr>
              <a:tr h="274320">
                <a:tc>
                  <a:txBody>
                    <a:bodyPr/>
                    <a:lstStyle/>
                    <a:p>
                      <a:pPr>
                        <a:defRPr sz="1200" b="0">
                          <a:solidFill>
                            <a:srgbClr val="1C1C1C"/>
                          </a:solidFill>
                          <a:latin typeface="Calibri"/>
                        </a:defRPr>
                      </a:pPr>
                      <a:r>
                        <a:rPr sz="1000">
                          <a:solidFill>
                            <a:srgbClr val="333333"/>
                          </a:solidFill>
                        </a:rPr>
                        <a:t>XA</a:t>
                      </a:r>
                    </a:p>
                  </a:txBody>
                  <a:tcPr>
                    <a:solidFill>
                      <a:srgbClr val="F7F8FA"/>
                    </a:solidFill>
                  </a:tcPr>
                </a:tc>
                <a:tc>
                  <a:txBody>
                    <a:bodyPr/>
                    <a:lstStyle/>
                    <a:p>
                      <a:r>
                        <a:t>Expected assists</a:t>
                      </a:r>
                    </a:p>
                  </a:txBody>
                  <a:tcPr>
                    <a:solidFill>
                      <a:srgbClr val="F7F8FA"/>
                    </a:solidFill>
                  </a:tcPr>
                </a:tc>
                <a:tc>
                  <a:txBody>
                    <a:bodyPr/>
                    <a:lstStyle/>
                    <a:p>
                      <a:pPr>
                        <a:defRPr sz="1200" b="0">
                          <a:solidFill>
                            <a:srgbClr val="1C1C1C"/>
                          </a:solidFill>
                          <a:latin typeface="Calibri"/>
                        </a:defRPr>
                      </a:pPr>
                      <a:r>
                        <a:rPr sz="1000">
                          <a:solidFill>
                            <a:srgbClr val="333333"/>
                          </a:solidFill>
                        </a:rPr>
                        <a:t>Attacking</a:t>
                      </a:r>
                    </a:p>
                  </a:txBody>
                  <a:tcPr>
                    <a:solidFill>
                      <a:srgbClr val="F7F8FA"/>
                    </a:solidFill>
                  </a:tcPr>
                </a:tc>
                <a:tc>
                  <a:txBody>
                    <a:bodyPr/>
                    <a:lstStyle/>
                    <a:p>
                      <a:pPr>
                        <a:defRPr sz="1200" b="1">
                          <a:solidFill>
                            <a:srgbClr val="1C1C1C"/>
                          </a:solidFill>
                          <a:latin typeface="Calibri"/>
                        </a:defRPr>
                      </a:pPr>
                      <a:r>
                        <a:rPr sz="1000">
                          <a:solidFill>
                            <a:srgbClr val="333333"/>
                          </a:solidFill>
                        </a:rPr>
                        <a:t>0.13</a:t>
                      </a:r>
                    </a:p>
                  </a:txBody>
                  <a:tcPr>
                    <a:solidFill>
                      <a:srgbClr val="F7F8FA"/>
                    </a:solidFill>
                  </a:tcPr>
                </a:tc>
                <a:tc>
                  <a:txBody>
                    <a:bodyPr/>
                    <a:lstStyle/>
                    <a:p>
                      <a:pPr>
                        <a:defRPr sz="1200" b="0">
                          <a:solidFill>
                            <a:srgbClr val="1C1C1C"/>
                          </a:solidFill>
                          <a:latin typeface="Calibri"/>
                        </a:defRPr>
                      </a:pPr>
                      <a:r>
                        <a:rPr sz="1000">
                          <a:solidFill>
                            <a:srgbClr val="333333"/>
                          </a:solidFill>
                        </a:rPr>
                        <a:t>out</a:t>
                      </a:r>
                    </a:p>
                  </a:txBody>
                  <a:tcPr>
                    <a:solidFill>
                      <a:srgbClr val="F7F8FA"/>
                    </a:solidFill>
                  </a:tcPr>
                </a:tc>
                <a:extLst>
                  <a:ext uri="{0D108BD9-81ED-4DB2-BD59-A6C34878D82A}">
                    <a16:rowId xmlns:a16="http://schemas.microsoft.com/office/drawing/2014/main" val="10015"/>
                  </a:ext>
                </a:extLst>
              </a:tr>
              <a:tr h="274320">
                <a:tc>
                  <a:txBody>
                    <a:bodyPr/>
                    <a:lstStyle/>
                    <a:p>
                      <a:pPr>
                        <a:defRPr sz="1200" b="0">
                          <a:solidFill>
                            <a:srgbClr val="1C1C1C"/>
                          </a:solidFill>
                          <a:latin typeface="Calibri"/>
                        </a:defRPr>
                      </a:pPr>
                      <a:r>
                        <a:rPr sz="1000">
                          <a:solidFill>
                            <a:srgbClr val="333333"/>
                          </a:solidFill>
                        </a:rPr>
                        <a:t>AER</a:t>
                      </a:r>
                    </a:p>
                  </a:txBody>
                  <a:tcPr>
                    <a:solidFill>
                      <a:srgbClr val="FFFFFF"/>
                    </a:solidFill>
                  </a:tcPr>
                </a:tc>
                <a:tc>
                  <a:txBody>
                    <a:bodyPr/>
                    <a:lstStyle/>
                    <a:p>
                      <a:r>
                        <a:t>Aerials won</a:t>
                      </a:r>
                    </a:p>
                  </a:txBody>
                  <a:tcPr>
                    <a:solidFill>
                      <a:srgbClr val="FFFFFF"/>
                    </a:solidFill>
                  </a:tcPr>
                </a:tc>
                <a:tc>
                  <a:txBody>
                    <a:bodyPr/>
                    <a:lstStyle/>
                    <a:p>
                      <a:pPr>
                        <a:defRPr sz="1200" b="0">
                          <a:solidFill>
                            <a:srgbClr val="1C1C1C"/>
                          </a:solidFill>
                          <a:latin typeface="Calibri"/>
                        </a:defRPr>
                      </a:pPr>
                      <a:r>
                        <a:rPr sz="1000">
                          <a:solidFill>
                            <a:srgbClr val="333333"/>
                          </a:solidFill>
                        </a:rPr>
                        <a:t>Defending</a:t>
                      </a:r>
                    </a:p>
                  </a:txBody>
                  <a:tcPr>
                    <a:solidFill>
                      <a:srgbClr val="FFFFFF"/>
                    </a:solidFill>
                  </a:tcPr>
                </a:tc>
                <a:tc>
                  <a:txBody>
                    <a:bodyPr/>
                    <a:lstStyle/>
                    <a:p>
                      <a:pPr>
                        <a:defRPr sz="1200" b="1">
                          <a:solidFill>
                            <a:srgbClr val="1C1C1C"/>
                          </a:solidFill>
                          <a:latin typeface="Calibri"/>
                        </a:defRPr>
                      </a:pPr>
                      <a:r>
                        <a:rPr sz="1000">
                          <a:solidFill>
                            <a:srgbClr val="333333"/>
                          </a:solidFill>
                        </a:rPr>
                        <a:t>0.12</a:t>
                      </a:r>
                    </a:p>
                  </a:txBody>
                  <a:tcPr>
                    <a:solidFill>
                      <a:srgbClr val="FFFFFF"/>
                    </a:solidFill>
                  </a:tcPr>
                </a:tc>
                <a:tc>
                  <a:txBody>
                    <a:bodyPr/>
                    <a:lstStyle/>
                    <a:p>
                      <a:pPr>
                        <a:defRPr sz="1200" b="0">
                          <a:solidFill>
                            <a:srgbClr val="1C1C1C"/>
                          </a:solidFill>
                          <a:latin typeface="Calibri"/>
                        </a:defRPr>
                      </a:pPr>
                      <a:r>
                        <a:rPr sz="1000" dirty="0">
                          <a:solidFill>
                            <a:srgbClr val="333333"/>
                          </a:solidFill>
                        </a:rPr>
                        <a:t>out</a:t>
                      </a:r>
                    </a:p>
                  </a:txBody>
                  <a:tcPr>
                    <a:solidFill>
                      <a:srgbClr val="FFFFFF"/>
                    </a:solidFill>
                  </a:tcPr>
                </a:tc>
                <a:extLst>
                  <a:ext uri="{0D108BD9-81ED-4DB2-BD59-A6C34878D82A}">
                    <a16:rowId xmlns:a16="http://schemas.microsoft.com/office/drawing/2014/main" val="10016"/>
                  </a:ext>
                </a:extLst>
              </a:tr>
            </a:tbl>
          </a:graphicData>
        </a:graphic>
      </p:graphicFrame>
      <p:sp>
        <p:nvSpPr>
          <p:cNvPr id="7" name="TextBox 6"/>
          <p:cNvSpPr txBox="1"/>
          <p:nvPr/>
        </p:nvSpPr>
        <p:spPr>
          <a:xfrm>
            <a:off x="411480" y="6263640"/>
            <a:ext cx="10972800" cy="274320"/>
          </a:xfrm>
          <a:prstGeom prst="rect">
            <a:avLst/>
          </a:prstGeom>
          <a:noFill/>
        </p:spPr>
        <p:txBody>
          <a:bodyPr wrap="square">
            <a:spAutoFit/>
          </a:bodyPr>
          <a:lstStyle/>
          <a:p>
            <a:pPr algn="l">
              <a:spcAft>
                <a:spcPts val="300"/>
              </a:spcAft>
            </a:pPr>
            <a:r>
              <a:rPr sz="1100" b="0">
                <a:solidFill>
                  <a:srgbClr val="333333"/>
                </a:solidFill>
              </a:rPr>
              <a:t>Next: redundancy at Pearson |r|≥0.85 — only near-dupes cut; passes kept with progressive passes.</a:t>
            </a:r>
          </a:p>
          <a:p>
            <a:r>
              <a:rPr sz="1100" b="0">
                <a:solidFill>
                  <a:srgbClr val="333333"/>
                </a:solidFill>
              </a:rPr>
              <a:t>Metric codes: see Glossary slide (PPC, DIS, PRS, …).</a:t>
            </a:r>
          </a:p>
          <a:p>
            <a:r>
              <a:rPr sz="1100" b="0">
                <a:solidFill>
                  <a:srgbClr val="333333"/>
                </a:solidFill>
              </a:rPr>
              <a:t/>
            </a:r>
          </a:p>
          <a:p>
            <a:r>
              <a:rPr sz="1100" b="0">
                <a:solidFill>
                  <a:srgbClr val="333333"/>
                </a:solidFill>
              </a:rPr>
              <a:t>Position changes: we use broad position groups for peer ranks. We do not model "CB became FB" as the main story — role switches can add noise to stability, but this project is about which rate traits travel, not which players changed position.</a:t>
            </a:r>
          </a:p>
        </p:txBody>
      </p:sp>
      <p:sp>
        <p:nvSpPr>
          <p:cNvPr id="8" name="TextBox 7">
            <a:hlinkClick r:id="rId2" action="ppaction://hlinksldjump"/>
          </p:cNvPr>
          <p:cNvSpPr txBox="1"/>
          <p:nvPr/>
        </p:nvSpPr>
        <p:spPr>
          <a:xfrm>
            <a:off x="9875520" y="137160"/>
            <a:ext cx="2011680" cy="320040"/>
          </a:xfrm>
          <a:prstGeom prst="rect">
            <a:avLst/>
          </a:prstGeom>
          <a:noFill/>
        </p:spPr>
        <p:txBody>
          <a:bodyPr wrap="square">
            <a:spAutoFit/>
          </a:bodyPr>
          <a:lstStyle/>
          <a:p>
            <a:r>
              <a:rPr sz="1200" b="1">
                <a:solidFill>
                  <a:srgbClr val="3D5A80"/>
                </a:solidFill>
              </a:rPr>
              <a:t>→ Glossary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 name="TextBox 2"/>
          <p:cNvSpPr txBox="1"/>
          <p:nvPr/>
        </p:nvSpPr>
        <p:spPr>
          <a:xfrm>
            <a:off x="411480" y="201168"/>
            <a:ext cx="10972800" cy="292388"/>
          </a:xfrm>
          <a:prstGeom prst="rect">
            <a:avLst/>
          </a:prstGeom>
          <a:noFill/>
        </p:spPr>
        <p:txBody>
          <a:bodyPr wrap="square">
            <a:spAutoFit/>
          </a:bodyPr>
          <a:lstStyle/>
          <a:p>
            <a:pPr algn="l"/>
            <a:r>
              <a:rPr sz="1300" b="1" dirty="0">
                <a:solidFill>
                  <a:srgbClr val="3D5A80"/>
                </a:solidFill>
                <a:latin typeface="Calibri"/>
              </a:rPr>
              <a:t>REDUNDANCY PICKS</a:t>
            </a:r>
          </a:p>
        </p:txBody>
      </p:sp>
      <p:sp>
        <p:nvSpPr>
          <p:cNvPr id="4" name="TextBox 3"/>
          <p:cNvSpPr txBox="1"/>
          <p:nvPr/>
        </p:nvSpPr>
        <p:spPr>
          <a:xfrm>
            <a:off x="411480" y="457200"/>
            <a:ext cx="10972800" cy="430887"/>
          </a:xfrm>
          <a:prstGeom prst="rect">
            <a:avLst/>
          </a:prstGeom>
          <a:noFill/>
        </p:spPr>
        <p:txBody>
          <a:bodyPr wrap="square">
            <a:spAutoFit/>
          </a:bodyPr>
          <a:lstStyle/>
          <a:p>
            <a:pPr algn="l"/>
            <a:r>
              <a:rPr sz="1800" b="1">
                <a:solidFill>
                  <a:srgbClr val="3D5A80"/>
                </a:solidFill>
              </a:rPr>
              <a:t>Drop near-duplicate metrics</a:t>
            </a:r>
            <a:endParaRPr sz="2200" b="1" dirty="0">
              <a:solidFill>
                <a:srgbClr val="1C1C1C"/>
              </a:solidFill>
              <a:latin typeface="Georgia"/>
            </a:endParaRPr>
          </a:p>
          <a:p>
            <a:r>
              <a:rPr sz="1200">
                <a:solidFill>
                  <a:srgbClr val="555555"/>
                </a:solidFill>
              </a:rPr>
              <a:t>(metrics that move together — same information twice)</a:t>
            </a:r>
          </a:p>
        </p:txBody>
      </p:sp>
      <p:sp>
        <p:nvSpPr>
          <p:cNvPr id="5" name="Rounded Rectangle 4"/>
          <p:cNvSpPr/>
          <p:nvPr/>
        </p:nvSpPr>
        <p:spPr>
          <a:xfrm>
            <a:off x="411480" y="960120"/>
            <a:ext cx="5440680" cy="534924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1803" y="1413801"/>
            <a:ext cx="4937760" cy="320040"/>
          </a:xfrm>
          <a:prstGeom prst="rect">
            <a:avLst/>
          </a:prstGeom>
          <a:noFill/>
        </p:spPr>
        <p:txBody>
          <a:bodyPr wrap="square">
            <a:spAutoFit/>
          </a:bodyPr>
          <a:lstStyle/>
          <a:p>
            <a:pPr algn="l">
              <a:spcAft>
                <a:spcPts val="300"/>
              </a:spcAft>
            </a:pPr>
            <a:r>
              <a:rPr sz="1100">
                <a:solidFill>
                  <a:srgbClr val="333333"/>
                </a:solidFill>
              </a:rPr>
              <a:t>StatsBomb shortlist (7)</a:t>
            </a:r>
          </a:p>
          <a:p>
            <a:r>
              <a:rPr sz="1100">
                <a:solidFill>
                  <a:srgbClr val="333333"/>
                </a:solidFill>
              </a:rPr>
              <a:t>Stability r≥0.40 · redundancy |r|≥0.85 (passes kept)</a:t>
            </a:r>
          </a:p>
          <a:p>
            <a:r>
              <a:rPr sz="1100">
                <a:solidFill>
                  <a:srgbClr val="333333"/>
                </a:solidFill>
              </a:rPr>
              <a:t/>
            </a:r>
          </a:p>
          <a:p>
            <a:r>
              <a:rPr sz="1100">
                <a:solidFill>
                  <a:srgbClr val="333333"/>
                </a:solidFill>
              </a:rPr>
              <a:t>Progressive passes  r=0.74</a:t>
            </a:r>
          </a:p>
          <a:p>
            <a:r>
              <a:rPr sz="1100">
                <a:solidFill>
                  <a:srgbClr val="333333"/>
                </a:solidFill>
              </a:rPr>
              <a:t>Dispossessed (inverted)  r=0.59</a:t>
            </a:r>
          </a:p>
          <a:p>
            <a:r>
              <a:rPr sz="1100">
                <a:solidFill>
                  <a:srgbClr val="333333"/>
                </a:solidFill>
              </a:rPr>
              <a:t>Pressures  r=0.51</a:t>
            </a:r>
          </a:p>
          <a:p>
            <a:r>
              <a:rPr sz="1100">
                <a:solidFill>
                  <a:srgbClr val="333333"/>
                </a:solidFill>
              </a:rPr>
              <a:t>Pass volume  r=0.49</a:t>
            </a:r>
          </a:p>
          <a:p>
            <a:r>
              <a:rPr sz="1100">
                <a:solidFill>
                  <a:srgbClr val="333333"/>
                </a:solidFill>
              </a:rPr>
              <a:t>Clearances  r=0.47</a:t>
            </a:r>
          </a:p>
          <a:p>
            <a:r>
              <a:rPr sz="1100">
                <a:solidFill>
                  <a:srgbClr val="333333"/>
                </a:solidFill>
              </a:rPr>
              <a:t>Successful dribbles  r=0.46</a:t>
            </a:r>
          </a:p>
          <a:p>
            <a:r>
              <a:rPr sz="1100">
                <a:solidFill>
                  <a:srgbClr val="333333"/>
                </a:solidFill>
              </a:rPr>
              <a:t>Passes into final third  r=0.42</a:t>
            </a:r>
          </a:p>
        </p:txBody>
      </p:sp>
      <p:sp>
        <p:nvSpPr>
          <p:cNvPr id="7" name="TextBox 6"/>
          <p:cNvSpPr txBox="1"/>
          <p:nvPr/>
        </p:nvSpPr>
        <p:spPr>
          <a:xfrm>
            <a:off x="651803" y="5279955"/>
            <a:ext cx="4937760" cy="461665"/>
          </a:xfrm>
          <a:prstGeom prst="rect">
            <a:avLst/>
          </a:prstGeom>
          <a:noFill/>
        </p:spPr>
        <p:txBody>
          <a:bodyPr wrap="square">
            <a:spAutoFit/>
          </a:bodyPr>
          <a:lstStyle/>
          <a:p>
            <a:pPr>
              <a:spcAft>
                <a:spcPts val="500"/>
              </a:spcAft>
            </a:pPr>
            <a:r>
              <a:rPr sz="1200" b="0" dirty="0">
                <a:solidFill>
                  <a:srgbClr val="333333"/>
                </a:solidFill>
                <a:latin typeface="Calibri"/>
              </a:rPr>
              <a:t>SB: |r|≥0.85 — no cuts; passes kept with progressive passes</a:t>
            </a:r>
            <a:r>
              <a:rPr lang="en-US" sz="1200" b="0" dirty="0">
                <a:solidFill>
                  <a:srgbClr val="333333"/>
                </a:solidFill>
                <a:latin typeface="Calibri"/>
              </a:rPr>
              <a:t> due to fundamental difference in definition</a:t>
            </a:r>
            <a:r>
              <a:rPr sz="1200" b="0" dirty="0">
                <a:solidFill>
                  <a:srgbClr val="333333"/>
                </a:solidFill>
                <a:latin typeface="Calibri"/>
              </a:rPr>
              <a:t>.</a:t>
            </a:r>
          </a:p>
        </p:txBody>
      </p:sp>
      <p:sp>
        <p:nvSpPr>
          <p:cNvPr id="17" name="Rounded Rectangle 16"/>
          <p:cNvSpPr/>
          <p:nvPr/>
        </p:nvSpPr>
        <p:spPr>
          <a:xfrm>
            <a:off x="6080760" y="960120"/>
            <a:ext cx="5623560" cy="534924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21083" y="1413801"/>
            <a:ext cx="5212080" cy="1405513"/>
          </a:xfrm>
          <a:prstGeom prst="rect">
            <a:avLst/>
          </a:prstGeom>
          <a:noFill/>
        </p:spPr>
        <p:txBody>
          <a:bodyPr wrap="square">
            <a:spAutoFit/>
          </a:bodyPr>
          <a:lstStyle/>
          <a:p>
            <a:pPr algn="l">
              <a:spcAft>
                <a:spcPts val="200"/>
              </a:spcAft>
            </a:pPr>
            <a:r>
              <a:rPr sz="1100">
                <a:solidFill>
                  <a:srgbClr val="333333"/>
                </a:solidFill>
              </a:rPr>
              <a:t>FBref: 43 cleared stability → 32 kept</a:t>
            </a:r>
          </a:p>
          <a:p>
            <a:r>
              <a:rPr sz="1100">
                <a:solidFill>
                  <a:srgbClr val="333333"/>
                </a:solidFill>
              </a:rPr>
              <a:t>105 tested · category gates → 43 · Pearson |r|≥0.95 → drop near-duplicates → 32</a:t>
            </a:r>
          </a:p>
          <a:p>
            <a:r>
              <a:rPr sz="1100">
                <a:solidFill>
                  <a:srgbClr val="333333"/>
                </a:solidFill>
              </a:rPr>
              <a:t>Near-duplicate = two metrics that almost always move together (same information twice).</a:t>
            </a:r>
          </a:p>
          <a:p>
            <a:r>
              <a:rPr sz="1100">
                <a:solidFill>
                  <a:srgbClr val="333333"/>
                </a:solidFill>
              </a:rPr>
              <a:t>Pick order when choosing which to keep: higher stability → larger N → prefer rate/contextual</a:t>
            </a:r>
          </a:p>
          <a:p>
            <a:r>
              <a:rPr sz="1100">
                <a:solidFill>
                  <a:srgbClr val="333333"/>
                </a:solidFill>
              </a:rPr>
              <a:t>Top stability examples: Defensive penalty-area touches (0.91) · Progressive carries (0.81) · Expected goals (0.80)</a:t>
            </a:r>
          </a:p>
        </p:txBody>
      </p:sp>
      <p:sp>
        <p:nvSpPr>
          <p:cNvPr id="20" name="TextBox 19"/>
          <p:cNvSpPr txBox="1"/>
          <p:nvPr/>
        </p:nvSpPr>
        <p:spPr>
          <a:xfrm>
            <a:off x="6318504" y="2304288"/>
            <a:ext cx="5212080" cy="237744"/>
          </a:xfrm>
          <a:prstGeom prst="rect">
            <a:avLst/>
          </a:prstGeom>
          <a:noFill/>
        </p:spPr>
        <p:txBody>
          <a:bodyPr wrap="square">
            <a:spAutoFit/>
          </a:bodyPr>
          <a:lstStyle/>
          <a:p>
            <a:pPr algn="l"/>
            <a:r>
              <a:rPr sz="1300" b="1">
                <a:solidFill>
                  <a:srgbClr val="222222"/>
                </a:solidFill>
              </a:rPr>
              <a:t>Attacking (3)</a:t>
            </a:r>
          </a:p>
        </p:txBody>
      </p:sp>
      <p:sp>
        <p:nvSpPr>
          <p:cNvPr id="22" name="TextBox 21"/>
          <p:cNvSpPr txBox="1"/>
          <p:nvPr/>
        </p:nvSpPr>
        <p:spPr>
          <a:xfrm>
            <a:off x="6318504" y="2926080"/>
            <a:ext cx="5212080" cy="237744"/>
          </a:xfrm>
          <a:prstGeom prst="rect">
            <a:avLst/>
          </a:prstGeom>
          <a:noFill/>
        </p:spPr>
        <p:txBody>
          <a:bodyPr wrap="square">
            <a:spAutoFit/>
          </a:bodyPr>
          <a:lstStyle/>
          <a:p>
            <a:pPr algn="l"/>
            <a:r>
              <a:rPr sz="1300" b="1">
                <a:solidFill>
                  <a:srgbClr val="222222"/>
                </a:solidFill>
              </a:rPr>
              <a:t>Passing (7)</a:t>
            </a:r>
          </a:p>
        </p:txBody>
      </p:sp>
      <p:sp>
        <p:nvSpPr>
          <p:cNvPr id="23" name="TextBox 22"/>
          <p:cNvSpPr txBox="1"/>
          <p:nvPr/>
        </p:nvSpPr>
        <p:spPr>
          <a:xfrm>
            <a:off x="6318504" y="2542032"/>
            <a:ext cx="5394960" cy="365760"/>
          </a:xfrm>
          <a:prstGeom prst="rect">
            <a:avLst/>
          </a:prstGeom>
          <a:noFill/>
        </p:spPr>
        <p:txBody>
          <a:bodyPr wrap="square">
            <a:spAutoFit/>
          </a:bodyPr>
          <a:lstStyle/>
          <a:p>
            <a:pPr algn="l"/>
            <a:r>
              <a:rPr sz="1000">
                <a:solidFill>
                  <a:srgbClr val="333333"/>
                </a:solidFill>
              </a:rPr>
              <a:t>Expected goals (0.80) · Goals (0.66) · Shots on target (0.56)</a:t>
            </a:r>
          </a:p>
        </p:txBody>
      </p:sp>
      <p:sp>
        <p:nvSpPr>
          <p:cNvPr id="24" name="TextBox 23"/>
          <p:cNvSpPr txBox="1"/>
          <p:nvPr/>
        </p:nvSpPr>
        <p:spPr>
          <a:xfrm>
            <a:off x="6318504" y="3611880"/>
            <a:ext cx="5212080" cy="237744"/>
          </a:xfrm>
          <a:prstGeom prst="rect">
            <a:avLst/>
          </a:prstGeom>
          <a:noFill/>
        </p:spPr>
        <p:txBody>
          <a:bodyPr wrap="square">
            <a:spAutoFit/>
          </a:bodyPr>
          <a:lstStyle/>
          <a:p>
            <a:pPr algn="l"/>
            <a:r>
              <a:rPr sz="1300" b="1">
                <a:solidFill>
                  <a:srgbClr val="222222"/>
                </a:solidFill>
              </a:rPr>
              <a:t>Carrying (4)</a:t>
            </a:r>
          </a:p>
        </p:txBody>
      </p:sp>
      <p:sp>
        <p:nvSpPr>
          <p:cNvPr id="25" name="TextBox 24"/>
          <p:cNvSpPr txBox="1"/>
          <p:nvPr/>
        </p:nvSpPr>
        <p:spPr>
          <a:xfrm>
            <a:off x="6318504" y="3163824"/>
            <a:ext cx="5394960" cy="365760"/>
          </a:xfrm>
          <a:prstGeom prst="rect">
            <a:avLst/>
          </a:prstGeom>
          <a:noFill/>
        </p:spPr>
        <p:txBody>
          <a:bodyPr wrap="square">
            <a:spAutoFit/>
          </a:bodyPr>
          <a:lstStyle/>
          <a:p>
            <a:pPr algn="l"/>
            <a:r>
              <a:rPr sz="900">
                <a:solidFill>
                  <a:srgbClr val="333333"/>
                </a:solidFill>
              </a:rPr>
              <a:t>Progressive carries (0.81) · Progressive carry distance (0.79) · Key passes (0.65) · Final-third passes (0.62) · Medium completion % (0.64) · Crosses into box (0.59) · Crosses (0.68)</a:t>
            </a:r>
          </a:p>
        </p:txBody>
      </p:sp>
      <p:sp>
        <p:nvSpPr>
          <p:cNvPr id="26" name="TextBox 25"/>
          <p:cNvSpPr txBox="1"/>
          <p:nvPr/>
        </p:nvSpPr>
        <p:spPr>
          <a:xfrm>
            <a:off x="6318504" y="4297680"/>
            <a:ext cx="5212080" cy="237744"/>
          </a:xfrm>
          <a:prstGeom prst="rect">
            <a:avLst/>
          </a:prstGeom>
          <a:noFill/>
        </p:spPr>
        <p:txBody>
          <a:bodyPr wrap="square">
            <a:spAutoFit/>
          </a:bodyPr>
          <a:lstStyle/>
          <a:p>
            <a:pPr algn="l"/>
            <a:r>
              <a:rPr sz="1300" b="1">
                <a:solidFill>
                  <a:srgbClr val="222222"/>
                </a:solidFill>
              </a:rPr>
              <a:t>Defending (11)</a:t>
            </a:r>
          </a:p>
        </p:txBody>
      </p:sp>
      <p:sp>
        <p:nvSpPr>
          <p:cNvPr id="27" name="TextBox 26"/>
          <p:cNvSpPr txBox="1"/>
          <p:nvPr/>
        </p:nvSpPr>
        <p:spPr>
          <a:xfrm>
            <a:off x="6318504" y="3849624"/>
            <a:ext cx="5394960" cy="365760"/>
          </a:xfrm>
          <a:prstGeom prst="rect">
            <a:avLst/>
          </a:prstGeom>
          <a:noFill/>
        </p:spPr>
        <p:txBody>
          <a:bodyPr wrap="square">
            <a:spAutoFit/>
          </a:bodyPr>
          <a:lstStyle/>
          <a:p>
            <a:pPr algn="l"/>
            <a:r>
              <a:rPr sz="900">
                <a:solidFill>
                  <a:srgbClr val="333333"/>
                </a:solidFill>
              </a:rPr>
              <a:t>Progressive receives (0.60) · Attacking-third touches (0.54) · Successful take-ons (0.65) · Miscontrols (0.37)</a:t>
            </a:r>
          </a:p>
        </p:txBody>
      </p:sp>
      <p:sp>
        <p:nvSpPr>
          <p:cNvPr id="28" name="TextBox 27"/>
          <p:cNvSpPr txBox="1"/>
          <p:nvPr/>
        </p:nvSpPr>
        <p:spPr>
          <a:xfrm>
            <a:off x="6318504" y="5074920"/>
            <a:ext cx="5212080" cy="237744"/>
          </a:xfrm>
          <a:prstGeom prst="rect">
            <a:avLst/>
          </a:prstGeom>
          <a:noFill/>
        </p:spPr>
        <p:txBody>
          <a:bodyPr wrap="square">
            <a:spAutoFit/>
          </a:bodyPr>
          <a:lstStyle/>
          <a:p>
            <a:pPr algn="l"/>
            <a:r>
              <a:rPr sz="1300" b="1">
                <a:solidFill>
                  <a:srgbClr val="222222"/>
                </a:solidFill>
              </a:rPr>
              <a:t>Other (1)</a:t>
            </a:r>
          </a:p>
        </p:txBody>
      </p:sp>
      <p:sp>
        <p:nvSpPr>
          <p:cNvPr id="29" name="TextBox 28"/>
          <p:cNvSpPr txBox="1"/>
          <p:nvPr/>
        </p:nvSpPr>
        <p:spPr>
          <a:xfrm>
            <a:off x="6318504" y="4535424"/>
            <a:ext cx="5394960" cy="502920"/>
          </a:xfrm>
          <a:prstGeom prst="rect">
            <a:avLst/>
          </a:prstGeom>
          <a:noFill/>
        </p:spPr>
        <p:txBody>
          <a:bodyPr wrap="square">
            <a:spAutoFit/>
          </a:bodyPr>
          <a:lstStyle/>
          <a:p>
            <a:pPr algn="l"/>
            <a:r>
              <a:rPr sz="900">
                <a:solidFill>
                  <a:srgbClr val="333333"/>
                </a:solidFill>
              </a:rPr>
              <a:t>Defensive box touches (0.91) · Clearances (0.67) · Tackled take-ons (0.59) · Aerials won (0.42) · Shot blocks (0.79) · Interceptions (0.57) · Aerials lost (0.42) · Aerial win % (0.50) · Defensive-third touches (0.79) · Tackle % (0.31) · Recoveries (0.40)</a:t>
            </a:r>
          </a:p>
        </p:txBody>
      </p:sp>
      <p:sp>
        <p:nvSpPr>
          <p:cNvPr id="30" name="TextBox 29"/>
          <p:cNvSpPr txBox="1"/>
          <p:nvPr/>
        </p:nvSpPr>
        <p:spPr>
          <a:xfrm>
            <a:off x="6318504" y="5312664"/>
            <a:ext cx="5394960" cy="365760"/>
          </a:xfrm>
          <a:prstGeom prst="rect">
            <a:avLst/>
          </a:prstGeom>
          <a:noFill/>
        </p:spPr>
        <p:txBody>
          <a:bodyPr wrap="square">
            <a:spAutoFit/>
          </a:bodyPr>
          <a:lstStyle/>
          <a:p>
            <a:r>
              <a:rPr sz="1000">
                <a:solidFill>
                  <a:srgbClr val="333333"/>
                </a:solidFill>
              </a:rPr>
              <a:t>Fouls drawn (0.53)</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228600"/>
            <a:ext cx="10972800" cy="292388"/>
          </a:xfrm>
          <a:prstGeom prst="rect">
            <a:avLst/>
          </a:prstGeom>
          <a:noFill/>
        </p:spPr>
        <p:txBody>
          <a:bodyPr wrap="square">
            <a:spAutoFit/>
          </a:bodyPr>
          <a:lstStyle/>
          <a:p>
            <a:pPr algn="l"/>
            <a:r>
              <a:rPr sz="2000" b="1">
                <a:solidFill>
                  <a:srgbClr val="222222"/>
                </a:solidFill>
              </a:rPr>
              <a:t>OUTPUT · SCOUT PIZZA CHART (Based on charts used by RBNY)</a:t>
            </a:r>
            <a:endParaRPr sz="1300" b="1" dirty="0">
              <a:solidFill>
                <a:srgbClr val="3D5A80"/>
              </a:solidFill>
              <a:latin typeface="Calibri"/>
            </a:endParaRPr>
          </a:p>
        </p:txBody>
      </p:sp>
      <p:sp>
        <p:nvSpPr>
          <p:cNvPr id="4" name="TextBox 3"/>
          <p:cNvSpPr txBox="1"/>
          <p:nvPr/>
        </p:nvSpPr>
        <p:spPr>
          <a:xfrm>
            <a:off x="411480" y="475488"/>
            <a:ext cx="7315200" cy="365760"/>
          </a:xfrm>
          <a:prstGeom prst="rect">
            <a:avLst/>
          </a:prstGeom>
          <a:noFill/>
        </p:spPr>
        <p:txBody>
          <a:bodyPr wrap="square">
            <a:spAutoFit/>
          </a:bodyPr>
          <a:lstStyle/>
          <a:p>
            <a:pPr algn="l"/>
            <a:r>
              <a:rPr sz="2200" b="1">
                <a:solidFill>
                  <a:srgbClr val="1C1C1C"/>
                </a:solidFill>
                <a:latin typeface="Georgia"/>
              </a:rPr>
              <a:t>Example player profile</a:t>
            </a:r>
          </a:p>
        </p:txBody>
      </p:sp>
      <p:sp>
        <p:nvSpPr>
          <p:cNvPr id="5" name="TextBox 4"/>
          <p:cNvSpPr txBox="1"/>
          <p:nvPr/>
        </p:nvSpPr>
        <p:spPr>
          <a:xfrm>
            <a:off x="411480" y="868680"/>
            <a:ext cx="6400800" cy="365760"/>
          </a:xfrm>
          <a:prstGeom prst="rect">
            <a:avLst/>
          </a:prstGeom>
          <a:noFill/>
        </p:spPr>
        <p:txBody>
          <a:bodyPr wrap="square">
            <a:spAutoFit/>
          </a:bodyPr>
          <a:lstStyle/>
          <a:p>
            <a:pPr algn="l">
              <a:spcAft>
                <a:spcPts val="400"/>
              </a:spcAft>
            </a:pPr>
            <a:r>
              <a:rPr sz="1300" b="0">
                <a:solidFill>
                  <a:srgbClr val="555555"/>
                </a:solidFill>
                <a:latin typeface="Calibri"/>
              </a:rPr>
              <a:t>Built from shortlisted traits. Explorer HTML combines FBref + StatsBomb with category slices.</a:t>
            </a:r>
          </a:p>
        </p:txBody>
      </p:sp>
      <p:pic>
        <p:nvPicPr>
          <p:cNvPr id="6" name="Picture 5" descr="mock_pizza_bundesliga.png"/>
          <p:cNvPicPr>
            <a:picLocks noChangeAspect="1"/>
          </p:cNvPicPr>
          <p:nvPr/>
        </p:nvPicPr>
        <p:blipFill>
          <a:blip r:embed="rId2"/>
          <a:stretch>
            <a:fillRect/>
          </a:stretch>
        </p:blipFill>
        <p:spPr>
          <a:xfrm>
            <a:off x="320040" y="1325880"/>
            <a:ext cx="5639438" cy="5029200"/>
          </a:xfrm>
          <a:prstGeom prst="rect">
            <a:avLst/>
          </a:prstGeom>
        </p:spPr>
      </p:pic>
      <p:sp>
        <p:nvSpPr>
          <p:cNvPr id="7" name="Rounded Rectangle 6"/>
          <p:cNvSpPr/>
          <p:nvPr/>
        </p:nvSpPr>
        <p:spPr>
          <a:xfrm>
            <a:off x="6583680" y="1325880"/>
            <a:ext cx="5120640" cy="493776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12280" y="1508760"/>
            <a:ext cx="4663440" cy="320040"/>
          </a:xfrm>
          <a:prstGeom prst="rect">
            <a:avLst/>
          </a:prstGeom>
          <a:noFill/>
        </p:spPr>
        <p:txBody>
          <a:bodyPr wrap="square">
            <a:spAutoFit/>
          </a:bodyPr>
          <a:lstStyle/>
          <a:p>
            <a:pPr algn="l"/>
            <a:r>
              <a:rPr sz="1200" b="0">
                <a:solidFill>
                  <a:srgbClr val="333333"/>
                </a:solidFill>
              </a:rPr>
              <a:t>How to read</a:t>
            </a:r>
          </a:p>
          <a:p>
            <a:r>
              <a:rPr sz="1200" b="0">
                <a:solidFill>
                  <a:srgbClr val="333333"/>
                </a:solidFill>
              </a:rPr>
              <a:t>Blue = Year 1 in Bundesliga · red dotted = prior · dashed = 50th-percentile Bundesliga peer · grey = 90th-percentile Bundesliga peer.</a:t>
            </a:r>
          </a:p>
          <a:p>
            <a:r>
              <a:rPr sz="1200" b="0">
                <a:solidFill>
                  <a:srgbClr val="333333"/>
                </a:solidFill>
              </a:rPr>
              <a:t>Numbers are percentiles 0–100 vs position peers.</a:t>
            </a:r>
          </a:p>
          <a:p>
            <a:endParaRPr sz="1200" b="0">
              <a:solidFill>
                <a:srgbClr val="333333"/>
              </a:solidFill>
            </a:endParaRPr>
          </a:p>
          <a:p>
            <a:r>
              <a:rPr sz="1200" b="0">
                <a:solidFill>
                  <a:srgbClr val="333333"/>
                </a:solidFill>
              </a:rPr>
              <a:t>Explorer: StatsBomb N=96 · 7 traits · FBref N=329 · 32 traits.</a:t>
            </a:r>
          </a:p>
          <a:p>
            <a:r>
              <a:rPr sz="1200" b="0">
                <a:solidFill>
                  <a:srgbClr val="333333"/>
                </a:solidFill>
              </a:rPr>
              <a:t>Metric abbreviations: see Glossary slide (click codes on stability/success slides where linked).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74320"/>
            <a:ext cx="10972800" cy="274320"/>
          </a:xfrm>
          <a:prstGeom prst="rect">
            <a:avLst/>
          </a:prstGeom>
          <a:noFill/>
        </p:spPr>
        <p:txBody>
          <a:bodyPr wrap="square">
            <a:spAutoFit/>
          </a:bodyPr>
          <a:lstStyle/>
          <a:p>
            <a:r>
              <a:rPr sz="1300" b="1">
                <a:solidFill>
                  <a:srgbClr val="3D5A80"/>
                </a:solidFill>
                <a:latin typeface="Calibri"/>
              </a:rPr>
              <a:t>DEFINITION</a:t>
            </a:r>
          </a:p>
        </p:txBody>
      </p:sp>
      <p:sp>
        <p:nvSpPr>
          <p:cNvPr id="4" name="TextBox 3"/>
          <p:cNvSpPr txBox="1"/>
          <p:nvPr/>
        </p:nvSpPr>
        <p:spPr>
          <a:xfrm>
            <a:off x="502920" y="548640"/>
            <a:ext cx="10972800" cy="411480"/>
          </a:xfrm>
          <a:prstGeom prst="rect">
            <a:avLst/>
          </a:prstGeom>
          <a:noFill/>
        </p:spPr>
        <p:txBody>
          <a:bodyPr wrap="square">
            <a:spAutoFit/>
          </a:bodyPr>
          <a:lstStyle/>
          <a:p>
            <a:r>
              <a:rPr sz="1300" b="0">
                <a:solidFill>
                  <a:srgbClr val="333333"/>
                </a:solidFill>
              </a:rPr>
              <a:t>What “stable-trait score” means</a:t>
            </a:r>
          </a:p>
          <a:p>
            <a:r>
              <a:rPr sz="1300" b="0">
                <a:solidFill>
                  <a:srgbClr val="333333"/>
                </a:solidFill>
              </a:rPr>
              <a:t/>
            </a:r>
          </a:p>
          <a:p>
            <a:r>
              <a:rPr sz="1300" b="0">
                <a:solidFill>
                  <a:srgbClr val="333333"/>
                </a:solidFill>
              </a:rPr>
              <a:t>One number that answers: in Year 1 in Bundesliga, how strong is this player on the portable (shortlisted) traits — vs peers at their position?</a:t>
            </a:r>
          </a:p>
          <a:p>
            <a:r>
              <a:rPr sz="1300" b="0">
                <a:solidFill>
                  <a:srgbClr val="333333"/>
                </a:solidFill>
              </a:rPr>
              <a:t/>
            </a:r>
          </a:p>
          <a:p>
            <a:r>
              <a:rPr sz="1300" b="0">
                <a:solidFill>
                  <a:srgbClr val="333333"/>
                </a:solidFill>
              </a:rPr>
              <a:t>Phase 2 note: this is a secondary success outcome (alongside Year 1 minutes and minutes percentile) — a profile-fit score, not the primary playing-time marker.</a:t>
            </a:r>
          </a:p>
        </p:txBody>
      </p:sp>
      <p:sp>
        <p:nvSpPr>
          <p:cNvPr id="5" name="TextBox 4"/>
          <p:cNvSpPr txBox="1"/>
          <p:nvPr/>
        </p:nvSpPr>
        <p:spPr>
          <a:xfrm>
            <a:off x="502920" y="1051560"/>
            <a:ext cx="10972800" cy="548640"/>
          </a:xfrm>
          <a:prstGeom prst="rect">
            <a:avLst/>
          </a:prstGeom>
          <a:noFill/>
        </p:spPr>
        <p:txBody>
          <a:bodyPr wrap="square">
            <a:spAutoFit/>
          </a:bodyPr>
          <a:lstStyle/>
          <a:p>
            <a:pPr>
              <a:spcAft>
                <a:spcPts val="600"/>
              </a:spcAft>
            </a:pPr>
            <a:r>
              <a:rPr sz="1500">
                <a:solidFill>
                  <a:srgbClr val="1C1C1C"/>
                </a:solidFill>
                <a:latin typeface="Calibri"/>
              </a:rPr>
              <a:t>One number that answers: in Year 1 in Bundesliga, how strong is this player on the portable (shortlisted) traits — vs peers at their position?</a:t>
            </a:r>
          </a:p>
        </p:txBody>
      </p:sp>
      <p:sp>
        <p:nvSpPr>
          <p:cNvPr id="6" name="Rounded Rectangle 5"/>
          <p:cNvSpPr/>
          <p:nvPr/>
        </p:nvSpPr>
        <p:spPr>
          <a:xfrm>
            <a:off x="502920" y="1737360"/>
            <a:ext cx="3657600" cy="411480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02920" y="1737360"/>
            <a:ext cx="73152" cy="4114800"/>
          </a:xfrm>
          <a:prstGeom prst="rect">
            <a:avLst/>
          </a:prstGeom>
          <a:solidFill>
            <a:srgbClr val="3D5A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4088" y="1874519"/>
            <a:ext cx="3291840" cy="320040"/>
          </a:xfrm>
          <a:prstGeom prst="rect">
            <a:avLst/>
          </a:prstGeom>
          <a:noFill/>
        </p:spPr>
        <p:txBody>
          <a:bodyPr wrap="square">
            <a:spAutoFit/>
          </a:bodyPr>
          <a:lstStyle/>
          <a:p>
            <a:r>
              <a:rPr sz="1500" b="1">
                <a:solidFill>
                  <a:srgbClr val="1C1C1C"/>
                </a:solidFill>
                <a:latin typeface="Georgia"/>
              </a:rPr>
              <a:t>1 · Pick the traits</a:t>
            </a:r>
          </a:p>
        </p:txBody>
      </p:sp>
      <p:sp>
        <p:nvSpPr>
          <p:cNvPr id="9" name="TextBox 8"/>
          <p:cNvSpPr txBox="1"/>
          <p:nvPr/>
        </p:nvSpPr>
        <p:spPr>
          <a:xfrm>
            <a:off x="704088" y="2240280"/>
            <a:ext cx="3291840" cy="3474720"/>
          </a:xfrm>
          <a:prstGeom prst="rect">
            <a:avLst/>
          </a:prstGeom>
          <a:noFill/>
        </p:spPr>
        <p:txBody>
          <a:bodyPr wrap="square">
            <a:spAutoFit/>
          </a:bodyPr>
          <a:lstStyle/>
          <a:p>
            <a:pPr>
              <a:spcAft>
                <a:spcPts val="600"/>
              </a:spcAft>
            </a:pPr>
            <a:r>
              <a:rPr sz="1300" b="0">
                <a:solidFill>
                  <a:srgbClr val="333333"/>
                </a:solidFill>
                <a:latin typeface="Calibri"/>
              </a:rPr>
              <a:t>1 · Pick the traits</a:t>
            </a:r>
          </a:p>
          <a:p>
            <a:r>
              <a:rPr sz="1300" b="0">
                <a:solidFill>
                  <a:srgbClr val="333333"/>
                </a:solidFill>
              </a:rPr>
              <a:t>Shortlist only (SB 7 · FBref 32). Dropped metrics stay out.</a:t>
            </a:r>
          </a:p>
        </p:txBody>
      </p:sp>
      <p:sp>
        <p:nvSpPr>
          <p:cNvPr id="10" name="Rounded Rectangle 9"/>
          <p:cNvSpPr/>
          <p:nvPr/>
        </p:nvSpPr>
        <p:spPr>
          <a:xfrm>
            <a:off x="4343400" y="1737360"/>
            <a:ext cx="3657600" cy="411480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43400" y="1737360"/>
            <a:ext cx="73152" cy="4114800"/>
          </a:xfrm>
          <a:prstGeom prst="rect">
            <a:avLst/>
          </a:prstGeom>
          <a:solidFill>
            <a:srgbClr val="2F9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1874519"/>
            <a:ext cx="3291840" cy="320040"/>
          </a:xfrm>
          <a:prstGeom prst="rect">
            <a:avLst/>
          </a:prstGeom>
          <a:noFill/>
        </p:spPr>
        <p:txBody>
          <a:bodyPr wrap="square">
            <a:spAutoFit/>
          </a:bodyPr>
          <a:lstStyle/>
          <a:p>
            <a:r>
              <a:rPr sz="1500" b="1">
                <a:solidFill>
                  <a:srgbClr val="1C1C1C"/>
                </a:solidFill>
                <a:latin typeface="Georgia"/>
              </a:rPr>
              <a:t>2 · Turn each into a percentile</a:t>
            </a:r>
          </a:p>
        </p:txBody>
      </p:sp>
      <p:sp>
        <p:nvSpPr>
          <p:cNvPr id="13" name="TextBox 12"/>
          <p:cNvSpPr txBox="1"/>
          <p:nvPr/>
        </p:nvSpPr>
        <p:spPr>
          <a:xfrm>
            <a:off x="4544568" y="2240280"/>
            <a:ext cx="3291840" cy="3474720"/>
          </a:xfrm>
          <a:prstGeom prst="rect">
            <a:avLst/>
          </a:prstGeom>
          <a:noFill/>
        </p:spPr>
        <p:txBody>
          <a:bodyPr wrap="square">
            <a:spAutoFit/>
          </a:bodyPr>
          <a:lstStyle/>
          <a:p>
            <a:pPr>
              <a:spcAft>
                <a:spcPts val="600"/>
              </a:spcAft>
            </a:pPr>
            <a:r>
              <a:rPr sz="1300">
                <a:solidFill>
                  <a:srgbClr val="555555"/>
                </a:solidFill>
                <a:latin typeface="Calibri"/>
              </a:rPr>
              <a:t>For each shortlist trait, take the player’s Bundesliga Year 1 in Bundesliga per-90 value.</a:t>
            </a:r>
          </a:p>
          <a:p>
            <a:pPr>
              <a:spcAft>
                <a:spcPts val="600"/>
              </a:spcAft>
            </a:pPr>
            <a:r>
              <a:rPr sz="1300">
                <a:solidFill>
                  <a:srgbClr val="555555"/>
                </a:solidFill>
                <a:latin typeface="Calibri"/>
              </a:rPr>
              <a:t>Rank it vs all Bundesliga peers in the same broad position.</a:t>
            </a:r>
          </a:p>
          <a:p>
            <a:pPr>
              <a:spcAft>
                <a:spcPts val="600"/>
              </a:spcAft>
            </a:pPr>
            <a:r>
              <a:rPr sz="1300">
                <a:solidFill>
                  <a:srgbClr val="555555"/>
                </a:solidFill>
                <a:latin typeface="Calibri"/>
              </a:rPr>
              <a:t>0 = worst peer · 50 = average · 100 = best peer.</a:t>
            </a:r>
          </a:p>
        </p:txBody>
      </p:sp>
      <p:sp>
        <p:nvSpPr>
          <p:cNvPr id="14" name="Rounded Rectangle 13"/>
          <p:cNvSpPr/>
          <p:nvPr/>
        </p:nvSpPr>
        <p:spPr>
          <a:xfrm>
            <a:off x="8183879" y="1737360"/>
            <a:ext cx="3474720" cy="411480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183879" y="1737360"/>
            <a:ext cx="73152" cy="4114800"/>
          </a:xfrm>
          <a:prstGeom prst="rect">
            <a:avLst/>
          </a:prstGeom>
          <a:solidFill>
            <a:srgbClr val="BC47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85048" y="1874519"/>
            <a:ext cx="3108960" cy="320040"/>
          </a:xfrm>
          <a:prstGeom prst="rect">
            <a:avLst/>
          </a:prstGeom>
          <a:noFill/>
        </p:spPr>
        <p:txBody>
          <a:bodyPr wrap="square">
            <a:spAutoFit/>
          </a:bodyPr>
          <a:lstStyle/>
          <a:p>
            <a:r>
              <a:rPr sz="1500" b="1">
                <a:solidFill>
                  <a:srgbClr val="1C1C1C"/>
                </a:solidFill>
                <a:latin typeface="Georgia"/>
              </a:rPr>
              <a:t>3 · Average them</a:t>
            </a:r>
          </a:p>
        </p:txBody>
      </p:sp>
      <p:sp>
        <p:nvSpPr>
          <p:cNvPr id="17" name="TextBox 16"/>
          <p:cNvSpPr txBox="1"/>
          <p:nvPr/>
        </p:nvSpPr>
        <p:spPr>
          <a:xfrm>
            <a:off x="8385048" y="2240280"/>
            <a:ext cx="3108960" cy="3474720"/>
          </a:xfrm>
          <a:prstGeom prst="rect">
            <a:avLst/>
          </a:prstGeom>
          <a:noFill/>
        </p:spPr>
        <p:txBody>
          <a:bodyPr wrap="square">
            <a:spAutoFit/>
          </a:bodyPr>
          <a:lstStyle/>
          <a:p>
            <a:pPr>
              <a:spcAft>
                <a:spcPts val="600"/>
              </a:spcAft>
            </a:pPr>
            <a:r>
              <a:rPr sz="1300">
                <a:solidFill>
                  <a:srgbClr val="555555"/>
                </a:solidFill>
                <a:latin typeface="Calibri"/>
              </a:rPr>
              <a:t>Stable-trait score = mean of those Year 1 in Bundesliga percentiles across the shortlist.</a:t>
            </a:r>
          </a:p>
          <a:p>
            <a:pPr>
              <a:spcAft>
                <a:spcPts val="600"/>
              </a:spcAft>
            </a:pPr>
            <a:r>
              <a:rPr sz="1300">
                <a:solidFill>
                  <a:srgbClr val="555555"/>
                </a:solidFill>
                <a:latin typeface="Calibri"/>
              </a:rPr>
              <a:t>Example: if a CB is 70th / 60th / 80th on three traits → score ≈ 70.</a:t>
            </a:r>
          </a:p>
          <a:p>
            <a:pPr>
              <a:spcAft>
                <a:spcPts val="600"/>
              </a:spcAft>
            </a:pPr>
            <a:r>
              <a:rPr sz="1300">
                <a:solidFill>
                  <a:srgbClr val="555555"/>
                </a:solidFill>
                <a:latin typeface="Calibri"/>
              </a:rPr>
              <a:t>Higher = better Year 1 in Bundesliga profile on traits that travel.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74320"/>
            <a:ext cx="10972800" cy="292388"/>
          </a:xfrm>
          <a:prstGeom prst="rect">
            <a:avLst/>
          </a:prstGeom>
          <a:noFill/>
        </p:spPr>
        <p:txBody>
          <a:bodyPr wrap="square">
            <a:spAutoFit/>
          </a:bodyPr>
          <a:lstStyle/>
          <a:p>
            <a:pPr algn="l"/>
            <a:r>
              <a:rPr sz="1300" b="1" dirty="0">
                <a:solidFill>
                  <a:srgbClr val="3D5A80"/>
                </a:solidFill>
                <a:latin typeface="Calibri"/>
              </a:rPr>
              <a:t>HOW TO USE THE EXPLORER</a:t>
            </a:r>
          </a:p>
        </p:txBody>
      </p:sp>
      <p:sp>
        <p:nvSpPr>
          <p:cNvPr id="4" name="TextBox 3"/>
          <p:cNvSpPr txBox="1"/>
          <p:nvPr/>
        </p:nvSpPr>
        <p:spPr>
          <a:xfrm>
            <a:off x="502920" y="548640"/>
            <a:ext cx="10972800" cy="365760"/>
          </a:xfrm>
          <a:prstGeom prst="rect">
            <a:avLst/>
          </a:prstGeom>
          <a:noFill/>
        </p:spPr>
        <p:txBody>
          <a:bodyPr wrap="square">
            <a:spAutoFit/>
          </a:bodyPr>
          <a:lstStyle/>
          <a:p>
            <a:pPr algn="l"/>
            <a:r>
              <a:rPr sz="2600" b="1">
                <a:solidFill>
                  <a:srgbClr val="1C1C1C"/>
                </a:solidFill>
                <a:latin typeface="Georgia"/>
              </a:rPr>
              <a:t>interactive_player_explorer.html</a:t>
            </a:r>
          </a:p>
        </p:txBody>
      </p:sp>
      <p:sp>
        <p:nvSpPr>
          <p:cNvPr id="5" name="Oval 4"/>
          <p:cNvSpPr/>
          <p:nvPr/>
        </p:nvSpPr>
        <p:spPr>
          <a:xfrm>
            <a:off x="640080" y="1280160"/>
            <a:ext cx="502920" cy="502920"/>
          </a:xfrm>
          <a:prstGeom prst="ellipse">
            <a:avLst/>
          </a:prstGeom>
          <a:solidFill>
            <a:srgbClr val="D6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353312"/>
            <a:ext cx="502920" cy="365760"/>
          </a:xfrm>
          <a:prstGeom prst="rect">
            <a:avLst/>
          </a:prstGeom>
          <a:noFill/>
        </p:spPr>
        <p:txBody>
          <a:bodyPr wrap="square">
            <a:spAutoFit/>
          </a:bodyPr>
          <a:lstStyle/>
          <a:p>
            <a:pPr algn="ctr"/>
            <a:r>
              <a:rPr sz="1800" b="1">
                <a:solidFill>
                  <a:srgbClr val="3D5A80"/>
                </a:solidFill>
                <a:latin typeface="Calibri"/>
              </a:rPr>
              <a:t>1</a:t>
            </a:r>
          </a:p>
        </p:txBody>
      </p:sp>
      <p:sp>
        <p:nvSpPr>
          <p:cNvPr id="7" name="Rounded Rectangle 6"/>
          <p:cNvSpPr/>
          <p:nvPr/>
        </p:nvSpPr>
        <p:spPr>
          <a:xfrm>
            <a:off x="1371600" y="1234439"/>
            <a:ext cx="10058400" cy="82296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600200" y="1463039"/>
            <a:ext cx="9601200" cy="338554"/>
          </a:xfrm>
          <a:prstGeom prst="rect">
            <a:avLst/>
          </a:prstGeom>
          <a:noFill/>
        </p:spPr>
        <p:txBody>
          <a:bodyPr wrap="square">
            <a:spAutoFit/>
          </a:bodyPr>
          <a:lstStyle/>
          <a:p>
            <a:pPr algn="l">
              <a:spcAft>
                <a:spcPts val="300"/>
              </a:spcAft>
            </a:pPr>
            <a:r>
              <a:rPr sz="1600" b="0" dirty="0">
                <a:solidFill>
                  <a:srgbClr val="333333"/>
                </a:solidFill>
                <a:latin typeface="Calibri"/>
              </a:rPr>
              <a:t>Open </a:t>
            </a:r>
            <a:r>
              <a:rPr sz="1600" b="0" dirty="0" err="1">
                <a:solidFill>
                  <a:srgbClr val="333333"/>
                </a:solidFill>
                <a:latin typeface="Calibri"/>
              </a:rPr>
              <a:t>interactive_player_explorer.html</a:t>
            </a:r>
            <a:r>
              <a:rPr sz="1600" b="0" dirty="0">
                <a:solidFill>
                  <a:srgbClr val="333333"/>
                </a:solidFill>
                <a:latin typeface="Calibri"/>
              </a:rPr>
              <a:t> in a browser.</a:t>
            </a:r>
          </a:p>
        </p:txBody>
      </p:sp>
      <p:sp>
        <p:nvSpPr>
          <p:cNvPr id="9" name="Oval 8"/>
          <p:cNvSpPr/>
          <p:nvPr/>
        </p:nvSpPr>
        <p:spPr>
          <a:xfrm>
            <a:off x="640080" y="2377439"/>
            <a:ext cx="502920" cy="502920"/>
          </a:xfrm>
          <a:prstGeom prst="ellipse">
            <a:avLst/>
          </a:prstGeom>
          <a:solidFill>
            <a:srgbClr val="D6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0080" y="2450591"/>
            <a:ext cx="502920" cy="365760"/>
          </a:xfrm>
          <a:prstGeom prst="rect">
            <a:avLst/>
          </a:prstGeom>
          <a:noFill/>
        </p:spPr>
        <p:txBody>
          <a:bodyPr wrap="square">
            <a:spAutoFit/>
          </a:bodyPr>
          <a:lstStyle/>
          <a:p>
            <a:pPr algn="ctr"/>
            <a:r>
              <a:rPr sz="1800" b="1">
                <a:solidFill>
                  <a:srgbClr val="3D5A80"/>
                </a:solidFill>
                <a:latin typeface="Calibri"/>
              </a:rPr>
              <a:t>2</a:t>
            </a:r>
          </a:p>
        </p:txBody>
      </p:sp>
      <p:sp>
        <p:nvSpPr>
          <p:cNvPr id="11" name="Rounded Rectangle 10"/>
          <p:cNvSpPr/>
          <p:nvPr/>
        </p:nvSpPr>
        <p:spPr>
          <a:xfrm>
            <a:off x="1371600" y="2331720"/>
            <a:ext cx="10058400" cy="82296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600200" y="2501705"/>
            <a:ext cx="9601200" cy="623248"/>
          </a:xfrm>
          <a:prstGeom prst="rect">
            <a:avLst/>
          </a:prstGeom>
          <a:noFill/>
        </p:spPr>
        <p:txBody>
          <a:bodyPr wrap="square">
            <a:spAutoFit/>
          </a:bodyPr>
          <a:lstStyle/>
          <a:p>
            <a:pPr algn="l">
              <a:spcAft>
                <a:spcPts val="300"/>
              </a:spcAft>
            </a:pPr>
            <a:r>
              <a:rPr sz="1600" b="0" dirty="0">
                <a:solidFill>
                  <a:srgbClr val="333333"/>
                </a:solidFill>
                <a:latin typeface="Calibri"/>
              </a:rPr>
              <a:t>Switch </a:t>
            </a:r>
            <a:r>
              <a:rPr sz="1600" b="0" dirty="0" err="1">
                <a:solidFill>
                  <a:srgbClr val="333333"/>
                </a:solidFill>
                <a:latin typeface="Calibri"/>
              </a:rPr>
              <a:t>StatsBomb</a:t>
            </a:r>
            <a:r>
              <a:rPr sz="1600" b="0" dirty="0">
                <a:solidFill>
                  <a:srgbClr val="333333"/>
                </a:solidFill>
                <a:latin typeface="Calibri"/>
              </a:rPr>
              <a:t> (N=96 · 7 traits) ↔ </a:t>
            </a:r>
            <a:r>
              <a:rPr sz="1600" b="0" dirty="0" err="1">
                <a:solidFill>
                  <a:srgbClr val="333333"/>
                </a:solidFill>
                <a:latin typeface="Calibri"/>
              </a:rPr>
              <a:t>FBref</a:t>
            </a:r>
            <a:r>
              <a:rPr sz="1600" b="0" dirty="0">
                <a:solidFill>
                  <a:srgbClr val="333333"/>
                </a:solidFill>
                <a:latin typeface="Calibri"/>
              </a:rPr>
              <a:t> (N=329 · 32 traits).</a:t>
            </a:r>
          </a:p>
          <a:p>
            <a:pPr>
              <a:spcAft>
                <a:spcPts val="300"/>
              </a:spcAft>
            </a:pPr>
            <a:r>
              <a:rPr sz="1600" b="0" dirty="0">
                <a:solidFill>
                  <a:srgbClr val="333333"/>
                </a:solidFill>
                <a:latin typeface="Calibri"/>
              </a:rPr>
              <a:t>Dropdowns: league → position → player.</a:t>
            </a:r>
          </a:p>
        </p:txBody>
      </p:sp>
      <p:sp>
        <p:nvSpPr>
          <p:cNvPr id="13" name="Oval 12"/>
          <p:cNvSpPr/>
          <p:nvPr/>
        </p:nvSpPr>
        <p:spPr>
          <a:xfrm>
            <a:off x="640080" y="3474720"/>
            <a:ext cx="502920" cy="502920"/>
          </a:xfrm>
          <a:prstGeom prst="ellipse">
            <a:avLst/>
          </a:prstGeom>
          <a:solidFill>
            <a:srgbClr val="D6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3547872"/>
            <a:ext cx="502920" cy="365760"/>
          </a:xfrm>
          <a:prstGeom prst="rect">
            <a:avLst/>
          </a:prstGeom>
          <a:noFill/>
        </p:spPr>
        <p:txBody>
          <a:bodyPr wrap="square">
            <a:spAutoFit/>
          </a:bodyPr>
          <a:lstStyle/>
          <a:p>
            <a:pPr algn="ctr"/>
            <a:r>
              <a:rPr sz="1800" b="1">
                <a:solidFill>
                  <a:srgbClr val="3D5A80"/>
                </a:solidFill>
                <a:latin typeface="Calibri"/>
              </a:rPr>
              <a:t>3</a:t>
            </a:r>
          </a:p>
        </p:txBody>
      </p:sp>
      <p:sp>
        <p:nvSpPr>
          <p:cNvPr id="15" name="Rounded Rectangle 14"/>
          <p:cNvSpPr/>
          <p:nvPr/>
        </p:nvSpPr>
        <p:spPr>
          <a:xfrm>
            <a:off x="1371600" y="3429000"/>
            <a:ext cx="10058400" cy="82296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600200" y="3657600"/>
            <a:ext cx="9601200" cy="457200"/>
          </a:xfrm>
          <a:prstGeom prst="rect">
            <a:avLst/>
          </a:prstGeom>
          <a:noFill/>
        </p:spPr>
        <p:txBody>
          <a:bodyPr wrap="square">
            <a:spAutoFit/>
          </a:bodyPr>
          <a:lstStyle/>
          <a:p>
            <a:pPr algn="l"/>
            <a:r>
              <a:rPr sz="1600" b="0" dirty="0">
                <a:solidFill>
                  <a:srgbClr val="1C1C1C"/>
                </a:solidFill>
                <a:latin typeface="Calibri"/>
              </a:rPr>
              <a:t>Radar slices = style categories (attack/pass/carry/defend). Each slice averages that group’s percentiles.</a:t>
            </a:r>
          </a:p>
        </p:txBody>
      </p:sp>
      <p:sp>
        <p:nvSpPr>
          <p:cNvPr id="17" name="Oval 16"/>
          <p:cNvSpPr/>
          <p:nvPr/>
        </p:nvSpPr>
        <p:spPr>
          <a:xfrm>
            <a:off x="640080" y="4572000"/>
            <a:ext cx="502920" cy="502920"/>
          </a:xfrm>
          <a:prstGeom prst="ellipse">
            <a:avLst/>
          </a:prstGeom>
          <a:solidFill>
            <a:srgbClr val="D6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0080" y="4645152"/>
            <a:ext cx="502920" cy="365760"/>
          </a:xfrm>
          <a:prstGeom prst="rect">
            <a:avLst/>
          </a:prstGeom>
          <a:noFill/>
        </p:spPr>
        <p:txBody>
          <a:bodyPr wrap="square">
            <a:spAutoFit/>
          </a:bodyPr>
          <a:lstStyle/>
          <a:p>
            <a:pPr algn="ctr"/>
            <a:r>
              <a:rPr sz="1800" b="1">
                <a:solidFill>
                  <a:srgbClr val="3D5A80"/>
                </a:solidFill>
                <a:latin typeface="Calibri"/>
              </a:rPr>
              <a:t>4</a:t>
            </a:r>
          </a:p>
        </p:txBody>
      </p:sp>
      <p:sp>
        <p:nvSpPr>
          <p:cNvPr id="19" name="Rounded Rectangle 18"/>
          <p:cNvSpPr/>
          <p:nvPr/>
        </p:nvSpPr>
        <p:spPr>
          <a:xfrm>
            <a:off x="1371600" y="4526280"/>
            <a:ext cx="10058400" cy="82296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600200" y="4754880"/>
            <a:ext cx="9601200" cy="457200"/>
          </a:xfrm>
          <a:prstGeom prst="rect">
            <a:avLst/>
          </a:prstGeom>
          <a:noFill/>
        </p:spPr>
        <p:txBody>
          <a:bodyPr wrap="square">
            <a:spAutoFit/>
          </a:bodyPr>
          <a:lstStyle/>
          <a:p>
            <a:pPr algn="l"/>
            <a:r>
              <a:rPr sz="1600" b="0">
                <a:solidFill>
                  <a:srgbClr val="1C1C1C"/>
                </a:solidFill>
                <a:latin typeface="Calibri"/>
              </a:rPr>
              <a:t>Same explorer combines both sources — pick FBref or StatsBomb in the data-source dropdown.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82880"/>
            <a:ext cx="10972800" cy="256032"/>
          </a:xfrm>
          <a:prstGeom prst="rect">
            <a:avLst/>
          </a:prstGeom>
          <a:noFill/>
        </p:spPr>
        <p:txBody>
          <a:bodyPr wrap="square">
            <a:spAutoFit/>
          </a:bodyPr>
          <a:lstStyle/>
          <a:p>
            <a:r>
              <a:rPr sz="1300" b="1">
                <a:solidFill>
                  <a:srgbClr val="3D5A80"/>
                </a:solidFill>
                <a:latin typeface="Calibri"/>
              </a:rPr>
              <a:t>RESULTS  ·  SUCCESS INDICATORS</a:t>
            </a:r>
          </a:p>
        </p:txBody>
      </p:sp>
      <p:sp>
        <p:nvSpPr>
          <p:cNvPr id="4" name="TextBox 3"/>
          <p:cNvSpPr txBox="1"/>
          <p:nvPr/>
        </p:nvSpPr>
        <p:spPr>
          <a:xfrm>
            <a:off x="411480" y="438912"/>
            <a:ext cx="10972800" cy="347472"/>
          </a:xfrm>
          <a:prstGeom prst="rect">
            <a:avLst/>
          </a:prstGeom>
          <a:noFill/>
        </p:spPr>
        <p:txBody>
          <a:bodyPr wrap="square">
            <a:spAutoFit/>
          </a:bodyPr>
          <a:lstStyle/>
          <a:p>
            <a:r>
              <a:rPr sz="2200" b="1">
                <a:solidFill>
                  <a:srgbClr val="1C1C1C"/>
                </a:solidFill>
                <a:latin typeface="Georgia"/>
              </a:rPr>
              <a:t>Which prior traits &amp; leagues line up with Year 1 in Bundesliga success?</a:t>
            </a:r>
          </a:p>
        </p:txBody>
      </p:sp>
      <p:sp>
        <p:nvSpPr>
          <p:cNvPr id="5" name="Rounded Rectangle 4"/>
          <p:cNvSpPr/>
          <p:nvPr/>
        </p:nvSpPr>
        <p:spPr>
          <a:xfrm>
            <a:off x="411480" y="914400"/>
            <a:ext cx="11338560" cy="1170432"/>
          </a:xfrm>
          <a:prstGeom prst="roundRect">
            <a:avLst/>
          </a:prstGeom>
          <a:solidFill>
            <a:srgbClr val="EEF3F8"/>
          </a:solidFill>
          <a:ln>
            <a:solidFill>
              <a:srgbClr val="3D5A8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051560"/>
            <a:ext cx="10881360" cy="748923"/>
          </a:xfrm>
          <a:prstGeom prst="rect">
            <a:avLst/>
          </a:prstGeom>
          <a:noFill/>
        </p:spPr>
        <p:txBody>
          <a:bodyPr wrap="square">
            <a:spAutoFit/>
          </a:bodyPr>
          <a:lstStyle/>
          <a:p>
            <a:pPr>
              <a:spcAft>
                <a:spcPts val="400"/>
              </a:spcAft>
            </a:pPr>
            <a:r>
              <a:rPr sz="1100">
                <a:solidFill>
                  <a:srgbClr val="333333"/>
                </a:solidFill>
              </a:rPr>
              <a:t>Phase 2: after shortlisting, test what lines up with Bundesliga success.</a:t>
            </a:r>
          </a:p>
          <a:p>
            <a:r>
              <a:rPr sz="1100">
                <a:solidFill>
                  <a:srgbClr val="333333"/>
                </a:solidFill>
              </a:rPr>
              <a:t/>
            </a:r>
          </a:p>
          <a:p>
            <a:r>
              <a:rPr sz="1100">
                <a:solidFill>
                  <a:srgbClr val="333333"/>
                </a:solidFill>
              </a:rPr>
              <a:t>Success = Year 1 in Bundesliga minutes (more minutes = more playing time).</a:t>
            </a:r>
          </a:p>
          <a:p>
            <a:r>
              <a:rPr sz="1100">
                <a:solidFill>
                  <a:srgbClr val="333333"/>
                </a:solidFill>
              </a:rPr>
              <a:t>Also reported: Year 1 minutes percentile · stable-trait score (secondary).</a:t>
            </a:r>
          </a:p>
          <a:p>
            <a:r>
              <a:rPr sz="1100">
                <a:solidFill>
                  <a:srgbClr val="333333"/>
                </a:solidFill>
              </a:rPr>
              <a:t/>
            </a:r>
          </a:p>
          <a:p>
            <a:r>
              <a:rPr sz="1100">
                <a:solidFill>
                  <a:srgbClr val="333333"/>
                </a:solidFill>
              </a:rPr>
              <a:t>Spearman ρ: sort players from high to low on a prior trait, sort them from high to low on Year 1 minutes, and measure how often those two orderings agree. A positive link means players who ranked higher on that trait before the move also tended to play more in their first Bundesliga season.</a:t>
            </a:r>
          </a:p>
          <a:p>
            <a:r>
              <a:rPr sz="1100">
                <a:solidFill>
                  <a:srgbClr val="333333"/>
                </a:solidFill>
              </a:rPr>
              <a:t/>
            </a:r>
          </a:p>
          <a:p>
            <a:r>
              <a:rPr sz="1100">
                <a:solidFill>
                  <a:srgbClr val="333333"/>
                </a:solidFill>
              </a:rPr>
              <a:t>Playing time still depends on the roster, injuries, and coaching choices — we use minutes as an observable open-data stand-in for “the club gave this player a real role,” not as proof that the player deserved those minutes.</a:t>
            </a:r>
          </a:p>
          <a:p>
            <a:r>
              <a:rPr sz="1100">
                <a:solidFill>
                  <a:srgbClr val="333333"/>
                </a:solidFill>
              </a:rPr>
              <a:t/>
            </a:r>
          </a:p>
          <a:p>
            <a:r>
              <a:rPr sz="1100">
                <a:solidFill>
                  <a:srgbClr val="333333"/>
                </a:solidFill>
              </a:rPr>
              <a:t>Then: feeder-league averages + exploratory OLS.</a:t>
            </a:r>
          </a:p>
        </p:txBody>
      </p:sp>
      <p:sp>
        <p:nvSpPr>
          <p:cNvPr id="7" name="Rounded Rectangle 6"/>
          <p:cNvSpPr/>
          <p:nvPr/>
        </p:nvSpPr>
        <p:spPr>
          <a:xfrm>
            <a:off x="411480" y="2148840"/>
            <a:ext cx="3566160" cy="201168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11480" y="2148840"/>
            <a:ext cx="64008" cy="2011680"/>
          </a:xfrm>
          <a:prstGeom prst="rect">
            <a:avLst/>
          </a:prstGeom>
          <a:solidFill>
            <a:srgbClr val="3D5A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2258568"/>
            <a:ext cx="3291840" cy="274320"/>
          </a:xfrm>
          <a:prstGeom prst="rect">
            <a:avLst/>
          </a:prstGeom>
          <a:noFill/>
        </p:spPr>
        <p:txBody>
          <a:bodyPr wrap="square">
            <a:spAutoFit/>
          </a:bodyPr>
          <a:lstStyle/>
          <a:p>
            <a:r>
              <a:rPr sz="1400" b="1" dirty="0" err="1">
                <a:solidFill>
                  <a:srgbClr val="1C1C1C"/>
                </a:solidFill>
                <a:latin typeface="Georgia"/>
              </a:rPr>
              <a:t>StatsBomb</a:t>
            </a:r>
            <a:endParaRPr sz="1400" b="1" dirty="0">
              <a:solidFill>
                <a:srgbClr val="1C1C1C"/>
              </a:solidFill>
              <a:latin typeface="Georgia"/>
            </a:endParaRPr>
          </a:p>
        </p:txBody>
      </p:sp>
      <p:sp>
        <p:nvSpPr>
          <p:cNvPr id="10" name="TextBox 9"/>
          <p:cNvSpPr txBox="1"/>
          <p:nvPr/>
        </p:nvSpPr>
        <p:spPr>
          <a:xfrm>
            <a:off x="594360" y="2587752"/>
            <a:ext cx="3246120" cy="1508760"/>
          </a:xfrm>
          <a:prstGeom prst="rect">
            <a:avLst/>
          </a:prstGeom>
          <a:noFill/>
        </p:spPr>
        <p:txBody>
          <a:bodyPr wrap="square">
            <a:spAutoFit/>
          </a:bodyPr>
          <a:lstStyle/>
          <a:p>
            <a:pPr>
              <a:spcAft>
                <a:spcPts val="400"/>
              </a:spcAft>
            </a:pPr>
            <a:r>
              <a:rPr sz="1200">
                <a:solidFill>
                  <a:srgbClr val="555555"/>
                </a:solidFill>
                <a:latin typeface="Calibri"/>
              </a:rPr>
              <a:t>N=96 open-data cohort</a:t>
            </a:r>
          </a:p>
          <a:p>
            <a:pPr>
              <a:spcAft>
                <a:spcPts val="400"/>
              </a:spcAft>
            </a:pPr>
            <a:r>
              <a:rPr sz="1200">
                <a:solidFill>
                  <a:srgbClr val="555555"/>
                </a:solidFill>
                <a:latin typeface="Calibri"/>
              </a:rPr>
              <a:t>Primary priors often intl comps</a:t>
            </a:r>
          </a:p>
          <a:p>
            <a:pPr>
              <a:spcAft>
                <a:spcPts val="400"/>
              </a:spcAft>
            </a:pPr>
            <a:r>
              <a:rPr sz="1200">
                <a:solidFill>
                  <a:srgbClr val="555555"/>
                </a:solidFill>
                <a:latin typeface="Calibri"/>
              </a:rPr>
              <a:t>Weaker league signal · use for traits</a:t>
            </a:r>
          </a:p>
        </p:txBody>
      </p:sp>
      <p:sp>
        <p:nvSpPr>
          <p:cNvPr id="11" name="Rounded Rectangle 10"/>
          <p:cNvSpPr/>
          <p:nvPr/>
        </p:nvSpPr>
        <p:spPr>
          <a:xfrm>
            <a:off x="4160520" y="2148840"/>
            <a:ext cx="3566160" cy="201168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160520" y="2148840"/>
            <a:ext cx="64008" cy="2011680"/>
          </a:xfrm>
          <a:prstGeom prst="rect">
            <a:avLst/>
          </a:prstGeom>
          <a:solidFill>
            <a:srgbClr val="1B7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343400" y="2258568"/>
            <a:ext cx="3291840" cy="746358"/>
          </a:xfrm>
          <a:prstGeom prst="rect">
            <a:avLst/>
          </a:prstGeom>
          <a:noFill/>
        </p:spPr>
        <p:txBody>
          <a:bodyPr wrap="square">
            <a:spAutoFit/>
          </a:bodyPr>
          <a:lstStyle/>
          <a:p>
            <a:pPr>
              <a:spcAft>
                <a:spcPts val="300"/>
              </a:spcAft>
            </a:pPr>
            <a:r>
              <a:rPr sz="1400" b="1" dirty="0" err="1">
                <a:solidFill>
                  <a:srgbClr val="333333"/>
                </a:solidFill>
                <a:latin typeface="Georgia" panose="02040502050405020303" pitchFamily="18" charset="0"/>
              </a:rPr>
              <a:t>FBref</a:t>
            </a:r>
            <a:endParaRPr sz="1400" b="1" dirty="0">
              <a:solidFill>
                <a:srgbClr val="3D5A80"/>
              </a:solidFill>
              <a:latin typeface="Georgia" panose="02040502050405020303" pitchFamily="18" charset="0"/>
            </a:endParaRPr>
          </a:p>
          <a:p>
            <a:r>
              <a:rPr sz="1300" b="0" dirty="0">
                <a:solidFill>
                  <a:srgbClr val="333333"/>
                </a:solidFill>
              </a:rPr>
              <a:t>N=329 · 19 leagues</a:t>
            </a:r>
          </a:p>
          <a:p>
            <a:r>
              <a:rPr sz="1300" b="0" dirty="0">
                <a:solidFill>
                  <a:srgbClr val="333333"/>
                </a:solidFill>
              </a:rPr>
              <a:t>Success = Year 1 in Bundesliga minutes</a:t>
            </a:r>
          </a:p>
        </p:txBody>
      </p:sp>
      <p:sp>
        <p:nvSpPr>
          <p:cNvPr id="15" name="Rounded Rectangle 14"/>
          <p:cNvSpPr/>
          <p:nvPr/>
        </p:nvSpPr>
        <p:spPr>
          <a:xfrm>
            <a:off x="7909560" y="2148840"/>
            <a:ext cx="3840480" cy="201168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7909560" y="2148840"/>
            <a:ext cx="64008" cy="2011680"/>
          </a:xfrm>
          <a:prstGeom prst="rect">
            <a:avLst/>
          </a:prstGeom>
          <a:solidFill>
            <a:srgbClr val="3D5A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092440" y="2258568"/>
            <a:ext cx="3566160" cy="307777"/>
          </a:xfrm>
          <a:prstGeom prst="rect">
            <a:avLst/>
          </a:prstGeom>
          <a:noFill/>
        </p:spPr>
        <p:txBody>
          <a:bodyPr wrap="square">
            <a:spAutoFit/>
          </a:bodyPr>
          <a:lstStyle/>
          <a:p>
            <a:r>
              <a:rPr lang="en-US" sz="1400" b="1" dirty="0">
                <a:solidFill>
                  <a:srgbClr val="1C1C1C"/>
                </a:solidFill>
                <a:latin typeface="Georgia"/>
              </a:rPr>
              <a:t>Weak </a:t>
            </a:r>
            <a:r>
              <a:rPr lang="en-US" sz="1400" b="1" dirty="0" err="1">
                <a:solidFill>
                  <a:srgbClr val="1C1C1C"/>
                </a:solidFill>
                <a:latin typeface="Georgia"/>
              </a:rPr>
              <a:t>Signalling</a:t>
            </a:r>
            <a:endParaRPr sz="1400" b="1" dirty="0">
              <a:solidFill>
                <a:srgbClr val="1C1C1C"/>
              </a:solidFill>
              <a:latin typeface="Georgia"/>
            </a:endParaRPr>
          </a:p>
        </p:txBody>
      </p:sp>
      <p:sp>
        <p:nvSpPr>
          <p:cNvPr id="18" name="TextBox 17"/>
          <p:cNvSpPr txBox="1"/>
          <p:nvPr/>
        </p:nvSpPr>
        <p:spPr>
          <a:xfrm>
            <a:off x="8092440" y="2587752"/>
            <a:ext cx="3520440" cy="933589"/>
          </a:xfrm>
          <a:prstGeom prst="rect">
            <a:avLst/>
          </a:prstGeom>
          <a:noFill/>
        </p:spPr>
        <p:txBody>
          <a:bodyPr wrap="square">
            <a:spAutoFit/>
          </a:bodyPr>
          <a:lstStyle/>
          <a:p>
            <a:pPr>
              <a:spcAft>
                <a:spcPts val="400"/>
              </a:spcAft>
            </a:pPr>
            <a:r>
              <a:rPr sz="1200" dirty="0">
                <a:solidFill>
                  <a:srgbClr val="555555"/>
                </a:solidFill>
                <a:latin typeface="Calibri"/>
              </a:rPr>
              <a:t>Supports scouting weights</a:t>
            </a:r>
          </a:p>
          <a:p>
            <a:pPr>
              <a:spcAft>
                <a:spcPts val="400"/>
              </a:spcAft>
            </a:pPr>
            <a:r>
              <a:rPr sz="1200" dirty="0">
                <a:solidFill>
                  <a:srgbClr val="555555"/>
                </a:solidFill>
                <a:latin typeface="Calibri"/>
              </a:rPr>
              <a:t>Does not predict every transfer</a:t>
            </a:r>
          </a:p>
          <a:p>
            <a:pPr>
              <a:spcAft>
                <a:spcPts val="400"/>
              </a:spcAft>
            </a:pPr>
            <a:r>
              <a:rPr lang="en-US" sz="1200" dirty="0"/>
              <a:t>Full interactive tables: </a:t>
            </a:r>
            <a:r>
              <a:rPr lang="en-US" sz="1200" dirty="0" err="1"/>
              <a:t>interactive_player_explorer.html</a:t>
            </a:r>
            <a:r>
              <a:rPr lang="en-US" sz="1200" dirty="0"/>
              <a:t> · </a:t>
            </a:r>
            <a:r>
              <a:rPr lang="en-US" sz="1200" dirty="0" err="1"/>
              <a:t>README.md</a:t>
            </a:r>
            <a:endParaRPr sz="1200" dirty="0">
              <a:solidFill>
                <a:srgbClr val="555555"/>
              </a:solidFill>
              <a:latin typeface="Calibri"/>
            </a:endParaRPr>
          </a:p>
        </p:txBody>
      </p:sp>
      <p:sp>
        <p:nvSpPr>
          <p:cNvPr id="19" name="TextBox 18"/>
          <p:cNvSpPr txBox="1"/>
          <p:nvPr/>
        </p:nvSpPr>
        <p:spPr>
          <a:xfrm>
            <a:off x="411480" y="4434840"/>
            <a:ext cx="10972800" cy="743793"/>
          </a:xfrm>
          <a:prstGeom prst="rect">
            <a:avLst/>
          </a:prstGeom>
          <a:noFill/>
        </p:spPr>
        <p:txBody>
          <a:bodyPr wrap="square">
            <a:spAutoFit/>
          </a:bodyPr>
          <a:lstStyle/>
          <a:p>
            <a:pPr>
              <a:spcAft>
                <a:spcPts val="400"/>
              </a:spcAft>
            </a:pPr>
            <a:r>
              <a:rPr sz="1300" dirty="0">
                <a:solidFill>
                  <a:srgbClr val="555555"/>
                </a:solidFill>
                <a:latin typeface="Calibri"/>
              </a:rPr>
              <a:t>Interpretation: positive ρ = arriving with a higher prior percentile on that trait tends to coincide with more Year 1 in Bundesliga minutes / higher trait score.</a:t>
            </a:r>
          </a:p>
          <a:p>
            <a:pPr>
              <a:spcAft>
                <a:spcPts val="400"/>
              </a:spcAft>
            </a:pPr>
            <a:r>
              <a:rPr sz="1300" dirty="0">
                <a:solidFill>
                  <a:srgbClr val="555555"/>
                </a:solidFill>
                <a:latin typeface="Calibri"/>
              </a:rPr>
              <a:t>Negative </a:t>
            </a:r>
            <a:r>
              <a:rPr sz="1300" dirty="0" err="1">
                <a:solidFill>
                  <a:srgbClr val="555555"/>
                </a:solidFill>
                <a:latin typeface="Calibri"/>
              </a:rPr>
              <a:t>ρ</a:t>
            </a:r>
            <a:r>
              <a:rPr sz="1300" dirty="0">
                <a:solidFill>
                  <a:srgbClr val="555555"/>
                </a:solidFill>
                <a:latin typeface="Calibri"/>
              </a:rPr>
              <a:t> on inverted metrics (e.g. dispossessed) can still be informative — read label + sign together</a:t>
            </a:r>
            <a:r>
              <a:rPr lang="en-US" sz="1300" dirty="0">
                <a:solidFill>
                  <a:srgbClr val="555555"/>
                </a:solidFill>
                <a:latin typeface="Calibri"/>
              </a:rPr>
              <a:t> since lower dispossessed score means better player performance</a:t>
            </a:r>
            <a:endParaRPr sz="1300" dirty="0">
              <a:solidFill>
                <a:srgbClr val="555555"/>
              </a:solidFill>
              <a:latin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0972800" cy="594360"/>
          </a:xfrm>
          <a:prstGeom prst="rect">
            <a:avLst/>
          </a:prstGeom>
          <a:noFill/>
        </p:spPr>
        <p:txBody>
          <a:bodyPr wrap="square">
            <a:spAutoFit/>
          </a:bodyPr>
          <a:lstStyle/>
          <a:p>
            <a:r>
              <a:rPr sz="2800" b="1">
                <a:solidFill>
                  <a:srgbClr val="3D5A80"/>
                </a:solidFill>
                <a:latin typeface="Georgia"/>
              </a:rPr>
              <a:t>SUCCESS DEFINITION  ·  YEAR-1 MINUTES</a:t>
            </a:r>
          </a:p>
        </p:txBody>
      </p:sp>
      <p:sp>
        <p:nvSpPr>
          <p:cNvPr id="4" name="TextBox 3"/>
          <p:cNvSpPr txBox="1"/>
          <p:nvPr/>
        </p:nvSpPr>
        <p:spPr>
          <a:xfrm>
            <a:off x="548640" y="960120"/>
            <a:ext cx="10972800" cy="411480"/>
          </a:xfrm>
          <a:prstGeom prst="rect">
            <a:avLst/>
          </a:prstGeom>
          <a:noFill/>
        </p:spPr>
        <p:txBody>
          <a:bodyPr wrap="square">
            <a:spAutoFit/>
          </a:bodyPr>
          <a:lstStyle/>
          <a:p>
            <a:r>
              <a:rPr sz="1500" b="0">
                <a:solidFill>
                  <a:srgbClr val="555555"/>
                </a:solidFill>
                <a:latin typeface="Georgia"/>
              </a:rPr>
              <a:t>How we operationalize “Bundesliga success” in Phase 2 with open data.</a:t>
            </a:r>
          </a:p>
        </p:txBody>
      </p:sp>
      <p:sp>
        <p:nvSpPr>
          <p:cNvPr id="5" name="TextBox 4"/>
          <p:cNvSpPr txBox="1"/>
          <p:nvPr/>
        </p:nvSpPr>
        <p:spPr>
          <a:xfrm>
            <a:off x="685800" y="1417320"/>
            <a:ext cx="5394960" cy="4389120"/>
          </a:xfrm>
          <a:prstGeom prst="rect">
            <a:avLst/>
          </a:prstGeom>
          <a:noFill/>
        </p:spPr>
        <p:txBody>
          <a:bodyPr wrap="square">
            <a:spAutoFit/>
          </a:bodyPr>
          <a:lstStyle/>
          <a:p>
            <a:pPr>
              <a:spcAft>
                <a:spcPts val="600"/>
              </a:spcAft>
            </a:pPr>
            <a:r>
              <a:rPr sz="1200">
                <a:solidFill>
                  <a:srgbClr val="333333"/>
                </a:solidFill>
              </a:rPr>
              <a:t>Primary success marker: minutes played in the player’s first Bundesliga season (“Year 1 in Bundesliga minutes”).</a:t>
            </a:r>
          </a:p>
          <a:p>
            <a:r>
              <a:rPr sz="1200">
                <a:solidFill>
                  <a:srgbClr val="333333"/>
                </a:solidFill>
              </a:rPr>
              <a:t/>
            </a:r>
          </a:p>
          <a:p>
            <a:r>
              <a:rPr sz="1200">
                <a:solidFill>
                  <a:srgbClr val="333333"/>
                </a:solidFill>
              </a:rPr>
              <a:t>Success means the club gave the inbound player playing time — not goals scored and not market value.</a:t>
            </a:r>
          </a:p>
          <a:p>
            <a:r>
              <a:rPr sz="1200">
                <a:solidFill>
                  <a:srgbClr val="333333"/>
                </a:solidFill>
              </a:rPr>
              <a:t/>
            </a:r>
          </a:p>
          <a:p>
            <a:r>
              <a:rPr sz="1200">
                <a:solidFill>
                  <a:srgbClr val="333333"/>
                </a:solidFill>
              </a:rPr>
              <a:t>Also reported (secondary):</a:t>
            </a:r>
          </a:p>
          <a:p>
            <a:r>
              <a:rPr sz="1200">
                <a:solidFill>
                  <a:srgbClr val="333333"/>
                </a:solidFill>
              </a:rPr>
              <a:t>• Year 1 minutes percentile — where that player’s minutes rank among peers in the study</a:t>
            </a:r>
          </a:p>
          <a:p>
            <a:r>
              <a:rPr sz="1200">
                <a:solidFill>
                  <a:srgbClr val="333333"/>
                </a:solidFill>
              </a:rPr>
              <a:t>• Stable-trait score — how strong the Year 1 profile looks on the portable traits</a:t>
            </a:r>
          </a:p>
          <a:p>
            <a:r>
              <a:rPr sz="1200">
                <a:solidFill>
                  <a:srgbClr val="333333"/>
                </a:solidFill>
              </a:rPr>
              <a:t/>
            </a:r>
          </a:p>
          <a:p>
            <a:r>
              <a:rPr sz="1200">
                <a:solidFill>
                  <a:srgbClr val="333333"/>
                </a:solidFill>
              </a:rPr>
              <a:t>Trait and league tests ask: which prior signals line up with more Year 1 minutes?</a:t>
            </a:r>
          </a:p>
          <a:p>
            <a:r>
              <a:rPr sz="1200">
                <a:solidFill>
                  <a:srgbClr val="333333"/>
                </a:solidFill>
              </a:rPr>
              <a:t/>
            </a:r>
          </a:p>
          <a:p>
            <a:r>
              <a:rPr sz="1200">
                <a:solidFill>
                  <a:srgbClr val="333333"/>
                </a:solidFill>
              </a:rPr>
              <a:t>Regression Δ Year 1 minutes = estimated extra first-season minutes versus a reference league (Serie A), holding other controls fixed.</a:t>
            </a:r>
          </a:p>
        </p:txBody>
      </p:sp>
      <p:sp>
        <p:nvSpPr>
          <p:cNvPr id="6" name="Rounded Rectangle 5"/>
          <p:cNvSpPr/>
          <p:nvPr/>
        </p:nvSpPr>
        <p:spPr>
          <a:xfrm>
            <a:off x="7104183" y="1417320"/>
            <a:ext cx="4193345" cy="3222674"/>
          </a:xfrm>
          <a:prstGeom prst="roundRect">
            <a:avLst/>
          </a:prstGeom>
          <a:solidFill>
            <a:srgbClr val="EEF3F8"/>
          </a:solidFill>
          <a:ln>
            <a:solidFill>
              <a:srgbClr val="D0D4D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dirty="0">
                <a:solidFill>
                  <a:srgbClr val="3D5A80"/>
                </a:solidFill>
                <a:latin typeface="Georgia"/>
              </a:rPr>
              <a:t>Why minutes?</a:t>
            </a:r>
          </a:p>
          <a:p>
            <a:endParaRPr sz="1600" b="1" dirty="0">
              <a:solidFill>
                <a:srgbClr val="3D5A80"/>
              </a:solidFill>
              <a:latin typeface="Georgia"/>
            </a:endParaRPr>
          </a:p>
          <a:p>
            <a:r>
              <a:rPr sz="1300" dirty="0">
                <a:solidFill>
                  <a:srgbClr val="1C1C1C"/>
                </a:solidFill>
                <a:latin typeface="Arial"/>
              </a:rPr>
              <a:t>Observable in </a:t>
            </a:r>
            <a:r>
              <a:rPr sz="1300" dirty="0" err="1">
                <a:solidFill>
                  <a:srgbClr val="1C1C1C"/>
                </a:solidFill>
                <a:latin typeface="Arial"/>
              </a:rPr>
              <a:t>FBref</a:t>
            </a:r>
            <a:r>
              <a:rPr sz="1300" dirty="0">
                <a:solidFill>
                  <a:srgbClr val="1C1C1C"/>
                </a:solidFill>
                <a:latin typeface="Arial"/>
              </a:rPr>
              <a:t> / </a:t>
            </a:r>
            <a:r>
              <a:rPr sz="1300" dirty="0" err="1">
                <a:solidFill>
                  <a:srgbClr val="1C1C1C"/>
                </a:solidFill>
                <a:latin typeface="Arial"/>
              </a:rPr>
              <a:t>StatsBomb</a:t>
            </a:r>
            <a:r>
              <a:rPr sz="1300" dirty="0">
                <a:solidFill>
                  <a:srgbClr val="1C1C1C"/>
                </a:solidFill>
                <a:latin typeface="Arial"/>
              </a:rPr>
              <a:t> cohorts</a:t>
            </a:r>
          </a:p>
          <a:p>
            <a:endParaRPr sz="1300" dirty="0">
              <a:solidFill>
                <a:srgbClr val="1C1C1C"/>
              </a:solidFill>
              <a:latin typeface="Arial"/>
            </a:endParaRPr>
          </a:p>
          <a:p>
            <a:r>
              <a:rPr sz="1300" dirty="0">
                <a:solidFill>
                  <a:srgbClr val="1C1C1C"/>
                </a:solidFill>
                <a:latin typeface="Arial"/>
              </a:rPr>
              <a:t>Directly measures opportunity &amp; role</a:t>
            </a:r>
          </a:p>
          <a:p>
            <a:endParaRPr sz="1300" dirty="0">
              <a:solidFill>
                <a:srgbClr val="1C1C1C"/>
              </a:solidFill>
              <a:latin typeface="Arial"/>
            </a:endParaRPr>
          </a:p>
          <a:p>
            <a:r>
              <a:rPr sz="1300" dirty="0">
                <a:solidFill>
                  <a:srgbClr val="1C1C1C"/>
                </a:solidFill>
                <a:latin typeface="Arial"/>
              </a:rPr>
              <a:t>Not the same as goals, </a:t>
            </a:r>
            <a:r>
              <a:rPr sz="1300" dirty="0" err="1">
                <a:solidFill>
                  <a:srgbClr val="1C1C1C"/>
                </a:solidFill>
                <a:latin typeface="Arial"/>
              </a:rPr>
              <a:t>xG</a:t>
            </a:r>
            <a:r>
              <a:rPr sz="1300" dirty="0">
                <a:solidFill>
                  <a:srgbClr val="1C1C1C"/>
                </a:solidFill>
                <a:latin typeface="Arial"/>
              </a:rPr>
              <a:t>, or team points</a:t>
            </a:r>
          </a:p>
          <a:p>
            <a:endParaRPr sz="1300" dirty="0">
              <a:solidFill>
                <a:srgbClr val="1C1C1C"/>
              </a:solidFill>
              <a:latin typeface="Arial"/>
            </a:endParaRPr>
          </a:p>
          <a:p>
            <a:r>
              <a:rPr lang="en-US" sz="1300" dirty="0">
                <a:solidFill>
                  <a:srgbClr val="1C1C1C"/>
                </a:solidFill>
                <a:latin typeface="Arial"/>
              </a:rPr>
              <a:t>S</a:t>
            </a:r>
            <a:r>
              <a:rPr sz="1300" dirty="0">
                <a:solidFill>
                  <a:srgbClr val="1C1C1C"/>
                </a:solidFill>
                <a:latin typeface="Arial"/>
              </a:rPr>
              <a:t>cope: associative scouting weights, not a forecast model</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82880"/>
            <a:ext cx="10972800" cy="256032"/>
          </a:xfrm>
          <a:prstGeom prst="rect">
            <a:avLst/>
          </a:prstGeom>
          <a:noFill/>
        </p:spPr>
        <p:txBody>
          <a:bodyPr wrap="square">
            <a:spAutoFit/>
          </a:bodyPr>
          <a:lstStyle/>
          <a:p>
            <a:r>
              <a:rPr sz="2000" b="1">
                <a:solidFill>
                  <a:srgbClr val="3D5A80"/>
                </a:solidFill>
                <a:latin typeface="Calibri"/>
              </a:rPr>
              <a:t>RESULTS  ·  TRAITS → BUNDESLIGA SUCCESS</a:t>
            </a:r>
          </a:p>
        </p:txBody>
      </p:sp>
      <p:sp>
        <p:nvSpPr>
          <p:cNvPr id="4" name="TextBox 3"/>
          <p:cNvSpPr txBox="1"/>
          <p:nvPr/>
        </p:nvSpPr>
        <p:spPr>
          <a:xfrm>
            <a:off x="411480" y="438912"/>
            <a:ext cx="10972800" cy="2677656"/>
          </a:xfrm>
          <a:prstGeom prst="rect">
            <a:avLst/>
          </a:prstGeom>
          <a:noFill/>
        </p:spPr>
        <p:txBody>
          <a:bodyPr wrap="square">
            <a:spAutoFit/>
          </a:bodyPr>
          <a:lstStyle/>
          <a:p>
            <a:pPr>
              <a:spcAft>
                <a:spcPts val="300"/>
              </a:spcAft>
            </a:pPr>
            <a:r>
              <a:rPr sz="1100">
                <a:solidFill>
                  <a:srgbClr val="333333"/>
                </a:solidFill>
              </a:rPr>
              <a:t>StatsBomb (N=96)</a:t>
            </a:r>
          </a:p>
          <a:p>
            <a:r>
              <a:rPr sz="1100">
                <a:solidFill>
                  <a:srgbClr val="333333"/>
                </a:solidFill>
              </a:rPr>
              <a:t>prior percentile → Year 1 in Bundesliga minutes</a:t>
            </a:r>
          </a:p>
          <a:p>
            <a:r>
              <a:rPr sz="1100">
                <a:solidFill>
                  <a:srgbClr val="333333"/>
                </a:solidFill>
              </a:rPr>
              <a:t/>
            </a:r>
          </a:p>
          <a:p>
            <a:r>
              <a:rPr sz="1100">
                <a:solidFill>
                  <a:srgbClr val="333333"/>
                </a:solidFill>
              </a:rPr>
              <a:t>Pressures  ρ=-0.28  p=0.006</a:t>
            </a:r>
          </a:p>
          <a:p>
            <a:r>
              <a:rPr sz="1100">
                <a:solidFill>
                  <a:srgbClr val="333333"/>
                </a:solidFill>
              </a:rPr>
              <a:t>Successful dribbles  ρ=-0.17  p=0.090</a:t>
            </a:r>
          </a:p>
          <a:p>
            <a:r>
              <a:rPr sz="1100">
                <a:solidFill>
                  <a:srgbClr val="333333"/>
                </a:solidFill>
              </a:rPr>
              <a:t>Progressive passes  ρ=+0.16  p=0.112</a:t>
            </a:r>
          </a:p>
          <a:p>
            <a:r>
              <a:rPr sz="1100">
                <a:solidFill>
                  <a:srgbClr val="333333"/>
                </a:solidFill>
              </a:rPr>
              <a:t>Dispossessed (inverted)  ρ=+0.14  p=0.185</a:t>
            </a:r>
          </a:p>
          <a:p>
            <a:r>
              <a:rPr sz="1100">
                <a:solidFill>
                  <a:srgbClr val="333333"/>
                </a:solidFill>
              </a:rPr>
              <a:t>Passes into final third  ρ=-0.11  p=0.280</a:t>
            </a:r>
          </a:p>
          <a:p>
            <a:r>
              <a:rPr sz="1100">
                <a:solidFill>
                  <a:srgbClr val="333333"/>
                </a:solidFill>
              </a:rPr>
              <a:t>Clearances  ρ=-0.07  p=0.473</a:t>
            </a:r>
          </a:p>
          <a:p>
            <a:r>
              <a:rPr sz="1100">
                <a:solidFill>
                  <a:srgbClr val="333333"/>
                </a:solidFill>
              </a:rPr>
              <a:t>Pass volume  ρ=+0.00  p=0.980</a:t>
            </a:r>
          </a:p>
        </p:txBody>
      </p:sp>
      <p:graphicFrame>
        <p:nvGraphicFramePr>
          <p:cNvPr id="6" name="Table 5"/>
          <p:cNvGraphicFramePr>
            <a:graphicFrameLocks noGrp="1"/>
          </p:cNvGraphicFramePr>
          <p:nvPr>
            <p:extLst>
              <p:ext uri="{D42A27DB-BD31-4B8C-83A1-F6EECF244321}">
                <p14:modId xmlns:p14="http://schemas.microsoft.com/office/powerpoint/2010/main" val="1912777490"/>
              </p:ext>
            </p:extLst>
          </p:nvPr>
        </p:nvGraphicFramePr>
        <p:xfrm>
          <a:off x="411479" y="1097279"/>
          <a:ext cx="4652888" cy="2954217"/>
        </p:xfrm>
        <a:graphic>
          <a:graphicData uri="http://schemas.openxmlformats.org/drawingml/2006/table">
            <a:tbl>
              <a:tblPr firstRow="1" bandRow="1">
                <a:tableStyleId>{5C22544A-7EE6-4342-B048-85BDC9FD1C3A}</a:tableStyleId>
              </a:tblPr>
              <a:tblGrid>
                <a:gridCol w="3236792">
                  <a:extLst>
                    <a:ext uri="{9D8B030D-6E8A-4147-A177-3AD203B41FA5}">
                      <a16:colId xmlns:a16="http://schemas.microsoft.com/office/drawing/2014/main" val="20000"/>
                    </a:ext>
                  </a:extLst>
                </a:gridCol>
                <a:gridCol w="708048">
                  <a:extLst>
                    <a:ext uri="{9D8B030D-6E8A-4147-A177-3AD203B41FA5}">
                      <a16:colId xmlns:a16="http://schemas.microsoft.com/office/drawing/2014/main" val="20001"/>
                    </a:ext>
                  </a:extLst>
                </a:gridCol>
                <a:gridCol w="708048">
                  <a:extLst>
                    <a:ext uri="{9D8B030D-6E8A-4147-A177-3AD203B41FA5}">
                      <a16:colId xmlns:a16="http://schemas.microsoft.com/office/drawing/2014/main" val="20002"/>
                    </a:ext>
                  </a:extLst>
                </a:gridCol>
              </a:tblGrid>
              <a:tr h="422031">
                <a:tc>
                  <a:txBody>
                    <a:bodyPr/>
                    <a:lstStyle/>
                    <a:p>
                      <a:pPr>
                        <a:defRPr sz="1000" b="1">
                          <a:solidFill>
                            <a:srgbClr val="FFFFFF"/>
                          </a:solidFill>
                          <a:latin typeface="Calibri"/>
                        </a:defRPr>
                      </a:pPr>
                      <a:r>
                        <a:rPr sz="1000" b="1">
                          <a:solidFill>
                            <a:schemeClr val="bg1"/>
                          </a:solidFill>
                        </a:rPr>
                        <a:t>Trait</a:t>
                      </a:r>
                    </a:p>
                  </a:txBody>
                  <a:tcPr>
                    <a:solidFill>
                      <a:srgbClr val="1C1C1C"/>
                    </a:solidFill>
                  </a:tcPr>
                </a:tc>
                <a:tc>
                  <a:txBody>
                    <a:bodyPr/>
                    <a:lstStyle/>
                    <a:p>
                      <a:pPr>
                        <a:defRPr sz="1000" b="1">
                          <a:solidFill>
                            <a:srgbClr val="FFFFFF"/>
                          </a:solidFill>
                          <a:latin typeface="Calibri"/>
                        </a:defRPr>
                      </a:pPr>
                      <a:r>
                        <a:rPr sz="1000" b="1">
                          <a:solidFill>
                            <a:schemeClr val="bg1"/>
                          </a:solidFill>
                        </a:rPr>
                        <a:t>ρ</a:t>
                      </a:r>
                    </a:p>
                  </a:txBody>
                  <a:tcPr>
                    <a:solidFill>
                      <a:srgbClr val="1C1C1C"/>
                    </a:solidFill>
                  </a:tcPr>
                </a:tc>
                <a:tc>
                  <a:txBody>
                    <a:bodyPr/>
                    <a:lstStyle/>
                    <a:p>
                      <a:pPr>
                        <a:defRPr sz="1000" b="1">
                          <a:solidFill>
                            <a:srgbClr val="FFFFFF"/>
                          </a:solidFill>
                          <a:latin typeface="Calibri"/>
                        </a:defRPr>
                      </a:pPr>
                      <a:r>
                        <a:rPr sz="1000" b="1" dirty="0">
                          <a:solidFill>
                            <a:schemeClr val="bg1"/>
                          </a:solidFill>
                        </a:rPr>
                        <a:t>p</a:t>
                      </a:r>
                    </a:p>
                  </a:txBody>
                  <a:tcPr>
                    <a:solidFill>
                      <a:srgbClr val="1C1C1C"/>
                    </a:solidFill>
                  </a:tcPr>
                </a:tc>
                <a:extLst>
                  <a:ext uri="{0D108BD9-81ED-4DB2-BD59-A6C34878D82A}">
                    <a16:rowId xmlns:a16="http://schemas.microsoft.com/office/drawing/2014/main" val="10000"/>
                  </a:ext>
                </a:extLst>
              </a:tr>
              <a:tr h="422031">
                <a:tc>
                  <a:txBody>
                    <a:bodyPr/>
                    <a:lstStyle/>
                    <a:p>
                      <a:r>
                        <a:t>Pressures</a:t>
                      </a:r>
                    </a:p>
                  </a:txBody>
                  <a:tcPr>
                    <a:solidFill>
                      <a:srgbClr val="F0FAF4"/>
                    </a:solidFill>
                  </a:tcPr>
                </a:tc>
                <a:tc>
                  <a:txBody>
                    <a:bodyPr/>
                    <a:lstStyle/>
                    <a:p>
                      <a:pPr>
                        <a:defRPr sz="1000" b="0">
                          <a:solidFill>
                            <a:srgbClr val="1C1C1C"/>
                          </a:solidFill>
                          <a:latin typeface="Calibri"/>
                        </a:defRPr>
                      </a:pPr>
                      <a:r>
                        <a:rPr sz="1000">
                          <a:solidFill>
                            <a:srgbClr val="333333"/>
                          </a:solidFill>
                        </a:rPr>
                        <a:t>-0.28</a:t>
                      </a:r>
                    </a:p>
                  </a:txBody>
                  <a:tcPr>
                    <a:solidFill>
                      <a:srgbClr val="F0FAF4"/>
                    </a:solidFill>
                  </a:tcPr>
                </a:tc>
                <a:tc>
                  <a:txBody>
                    <a:bodyPr/>
                    <a:lstStyle/>
                    <a:p>
                      <a:pPr>
                        <a:defRPr sz="1000" b="0">
                          <a:solidFill>
                            <a:srgbClr val="1C1C1C"/>
                          </a:solidFill>
                          <a:latin typeface="Calibri"/>
                        </a:defRPr>
                      </a:pPr>
                      <a:r>
                        <a:rPr sz="1000">
                          <a:solidFill>
                            <a:srgbClr val="333333"/>
                          </a:solidFill>
                        </a:rPr>
                        <a:t>0.006</a:t>
                      </a:r>
                    </a:p>
                  </a:txBody>
                  <a:tcPr>
                    <a:solidFill>
                      <a:srgbClr val="F0FAF4"/>
                    </a:solidFill>
                  </a:tcPr>
                </a:tc>
                <a:extLst>
                  <a:ext uri="{0D108BD9-81ED-4DB2-BD59-A6C34878D82A}">
                    <a16:rowId xmlns:a16="http://schemas.microsoft.com/office/drawing/2014/main" val="10001"/>
                  </a:ext>
                </a:extLst>
              </a:tr>
              <a:tr h="422031">
                <a:tc>
                  <a:txBody>
                    <a:bodyPr/>
                    <a:lstStyle/>
                    <a:p>
                      <a:r>
                        <a:t>Successful dribbles</a:t>
                      </a:r>
                    </a:p>
                  </a:txBody>
                  <a:tcPr>
                    <a:solidFill>
                      <a:srgbClr val="FFFFFF"/>
                    </a:solidFill>
                  </a:tcPr>
                </a:tc>
                <a:tc>
                  <a:txBody>
                    <a:bodyPr/>
                    <a:lstStyle/>
                    <a:p>
                      <a:pPr>
                        <a:defRPr sz="1000" b="0">
                          <a:solidFill>
                            <a:srgbClr val="1C1C1C"/>
                          </a:solidFill>
                          <a:latin typeface="Calibri"/>
                        </a:defRPr>
                      </a:pPr>
                      <a:r>
                        <a:rPr sz="1000">
                          <a:solidFill>
                            <a:srgbClr val="333333"/>
                          </a:solidFill>
                        </a:rPr>
                        <a:t>-0.17</a:t>
                      </a:r>
                    </a:p>
                  </a:txBody>
                  <a:tcPr>
                    <a:solidFill>
                      <a:srgbClr val="FFFFFF"/>
                    </a:solidFill>
                  </a:tcPr>
                </a:tc>
                <a:tc>
                  <a:txBody>
                    <a:bodyPr/>
                    <a:lstStyle/>
                    <a:p>
                      <a:pPr>
                        <a:defRPr sz="1000" b="0">
                          <a:solidFill>
                            <a:srgbClr val="1C1C1C"/>
                          </a:solidFill>
                          <a:latin typeface="Calibri"/>
                        </a:defRPr>
                      </a:pPr>
                      <a:r>
                        <a:rPr sz="1000">
                          <a:solidFill>
                            <a:srgbClr val="333333"/>
                          </a:solidFill>
                        </a:rPr>
                        <a:t>0.090</a:t>
                      </a:r>
                    </a:p>
                  </a:txBody>
                  <a:tcPr>
                    <a:solidFill>
                      <a:srgbClr val="FFFFFF"/>
                    </a:solidFill>
                  </a:tcPr>
                </a:tc>
                <a:extLst>
                  <a:ext uri="{0D108BD9-81ED-4DB2-BD59-A6C34878D82A}">
                    <a16:rowId xmlns:a16="http://schemas.microsoft.com/office/drawing/2014/main" val="10002"/>
                  </a:ext>
                </a:extLst>
              </a:tr>
              <a:tr h="422031">
                <a:tc>
                  <a:txBody>
                    <a:bodyPr/>
                    <a:lstStyle/>
                    <a:p>
                      <a:r>
                        <a:t>Progressive passes</a:t>
                      </a:r>
                    </a:p>
                  </a:txBody>
                  <a:tcPr>
                    <a:solidFill>
                      <a:srgbClr val="F0FAF4"/>
                    </a:solidFill>
                  </a:tcPr>
                </a:tc>
                <a:tc>
                  <a:txBody>
                    <a:bodyPr/>
                    <a:lstStyle/>
                    <a:p>
                      <a:pPr>
                        <a:defRPr sz="1000" b="0">
                          <a:solidFill>
                            <a:srgbClr val="1C1C1C"/>
                          </a:solidFill>
                          <a:latin typeface="Calibri"/>
                        </a:defRPr>
                      </a:pPr>
                      <a:r>
                        <a:rPr sz="1000">
                          <a:solidFill>
                            <a:srgbClr val="333333"/>
                          </a:solidFill>
                        </a:rPr>
                        <a:t>+0.16</a:t>
                      </a:r>
                    </a:p>
                  </a:txBody>
                  <a:tcPr>
                    <a:solidFill>
                      <a:srgbClr val="F0FAF4"/>
                    </a:solidFill>
                  </a:tcPr>
                </a:tc>
                <a:tc>
                  <a:txBody>
                    <a:bodyPr/>
                    <a:lstStyle/>
                    <a:p>
                      <a:pPr>
                        <a:defRPr sz="1000" b="0">
                          <a:solidFill>
                            <a:srgbClr val="1C1C1C"/>
                          </a:solidFill>
                          <a:latin typeface="Calibri"/>
                        </a:defRPr>
                      </a:pPr>
                      <a:r>
                        <a:rPr sz="1000">
                          <a:solidFill>
                            <a:srgbClr val="333333"/>
                          </a:solidFill>
                        </a:rPr>
                        <a:t>0.112</a:t>
                      </a:r>
                    </a:p>
                  </a:txBody>
                  <a:tcPr>
                    <a:solidFill>
                      <a:srgbClr val="F0FAF4"/>
                    </a:solidFill>
                  </a:tcPr>
                </a:tc>
                <a:extLst>
                  <a:ext uri="{0D108BD9-81ED-4DB2-BD59-A6C34878D82A}">
                    <a16:rowId xmlns:a16="http://schemas.microsoft.com/office/drawing/2014/main" val="10003"/>
                  </a:ext>
                </a:extLst>
              </a:tr>
              <a:tr h="422031">
                <a:tc>
                  <a:txBody>
                    <a:bodyPr/>
                    <a:lstStyle/>
                    <a:p>
                      <a:r>
                        <a:t>Dispossessed (inverted)</a:t>
                      </a:r>
                    </a:p>
                  </a:txBody>
                  <a:tcPr>
                    <a:solidFill>
                      <a:srgbClr val="FFFFFF"/>
                    </a:solidFill>
                  </a:tcPr>
                </a:tc>
                <a:tc>
                  <a:txBody>
                    <a:bodyPr/>
                    <a:lstStyle/>
                    <a:p>
                      <a:pPr>
                        <a:defRPr sz="1000" b="0">
                          <a:solidFill>
                            <a:srgbClr val="1C1C1C"/>
                          </a:solidFill>
                          <a:latin typeface="Calibri"/>
                        </a:defRPr>
                      </a:pPr>
                      <a:r>
                        <a:rPr sz="1000" dirty="0">
                          <a:solidFill>
                            <a:srgbClr val="333333"/>
                          </a:solidFill>
                        </a:rPr>
                        <a:t>+0.14</a:t>
                      </a:r>
                    </a:p>
                  </a:txBody>
                  <a:tcPr>
                    <a:solidFill>
                      <a:srgbClr val="FFFFFF"/>
                    </a:solidFill>
                  </a:tcPr>
                </a:tc>
                <a:tc>
                  <a:txBody>
                    <a:bodyPr/>
                    <a:lstStyle/>
                    <a:p>
                      <a:pPr>
                        <a:defRPr sz="1000" b="0">
                          <a:solidFill>
                            <a:srgbClr val="1C1C1C"/>
                          </a:solidFill>
                          <a:latin typeface="Calibri"/>
                        </a:defRPr>
                      </a:pPr>
                      <a:r>
                        <a:rPr sz="1000">
                          <a:solidFill>
                            <a:srgbClr val="333333"/>
                          </a:solidFill>
                        </a:rPr>
                        <a:t>0.185</a:t>
                      </a:r>
                    </a:p>
                  </a:txBody>
                  <a:tcPr>
                    <a:solidFill>
                      <a:srgbClr val="FFFFFF"/>
                    </a:solidFill>
                  </a:tcPr>
                </a:tc>
                <a:extLst>
                  <a:ext uri="{0D108BD9-81ED-4DB2-BD59-A6C34878D82A}">
                    <a16:rowId xmlns:a16="http://schemas.microsoft.com/office/drawing/2014/main" val="10004"/>
                  </a:ext>
                </a:extLst>
              </a:tr>
              <a:tr h="422031">
                <a:tc>
                  <a:txBody>
                    <a:bodyPr/>
                    <a:lstStyle/>
                    <a:p>
                      <a:r>
                        <a:t>Passes into final third</a:t>
                      </a:r>
                    </a:p>
                  </a:txBody>
                  <a:tcPr>
                    <a:solidFill>
                      <a:srgbClr val="F0FAF4"/>
                    </a:solidFill>
                  </a:tcPr>
                </a:tc>
                <a:tc>
                  <a:txBody>
                    <a:bodyPr/>
                    <a:lstStyle/>
                    <a:p>
                      <a:pPr>
                        <a:defRPr sz="1000" b="0">
                          <a:solidFill>
                            <a:srgbClr val="1C1C1C"/>
                          </a:solidFill>
                          <a:latin typeface="Calibri"/>
                        </a:defRPr>
                      </a:pPr>
                      <a:r>
                        <a:rPr sz="1000">
                          <a:solidFill>
                            <a:srgbClr val="333333"/>
                          </a:solidFill>
                        </a:rPr>
                        <a:t>-0.11</a:t>
                      </a:r>
                    </a:p>
                  </a:txBody>
                  <a:tcPr>
                    <a:solidFill>
                      <a:srgbClr val="F0FAF4"/>
                    </a:solidFill>
                  </a:tcPr>
                </a:tc>
                <a:tc>
                  <a:txBody>
                    <a:bodyPr/>
                    <a:lstStyle/>
                    <a:p>
                      <a:pPr>
                        <a:defRPr sz="1000" b="0">
                          <a:solidFill>
                            <a:srgbClr val="1C1C1C"/>
                          </a:solidFill>
                          <a:latin typeface="Calibri"/>
                        </a:defRPr>
                      </a:pPr>
                      <a:r>
                        <a:rPr sz="1000">
                          <a:solidFill>
                            <a:srgbClr val="333333"/>
                          </a:solidFill>
                        </a:rPr>
                        <a:t>0.280</a:t>
                      </a:r>
                    </a:p>
                  </a:txBody>
                  <a:tcPr>
                    <a:solidFill>
                      <a:srgbClr val="F0FAF4"/>
                    </a:solidFill>
                  </a:tcPr>
                </a:tc>
                <a:extLst>
                  <a:ext uri="{0D108BD9-81ED-4DB2-BD59-A6C34878D82A}">
                    <a16:rowId xmlns:a16="http://schemas.microsoft.com/office/drawing/2014/main" val="10005"/>
                  </a:ext>
                </a:extLst>
              </a:tr>
              <a:tr h="422031">
                <a:tc>
                  <a:txBody>
                    <a:bodyPr/>
                    <a:lstStyle/>
                    <a:p>
                      <a:r>
                        <a:t>Clearances</a:t>
                      </a:r>
                    </a:p>
                  </a:txBody>
                  <a:tcPr>
                    <a:solidFill>
                      <a:srgbClr val="FFFFFF"/>
                    </a:solidFill>
                  </a:tcPr>
                </a:tc>
                <a:tc>
                  <a:txBody>
                    <a:bodyPr/>
                    <a:lstStyle/>
                    <a:p>
                      <a:pPr>
                        <a:defRPr sz="1000" b="0">
                          <a:solidFill>
                            <a:srgbClr val="1C1C1C"/>
                          </a:solidFill>
                          <a:latin typeface="Calibri"/>
                        </a:defRPr>
                      </a:pPr>
                      <a:r>
                        <a:rPr sz="1000">
                          <a:solidFill>
                            <a:srgbClr val="333333"/>
                          </a:solidFill>
                        </a:rPr>
                        <a:t>-0.07</a:t>
                      </a:r>
                    </a:p>
                  </a:txBody>
                  <a:tcPr>
                    <a:solidFill>
                      <a:srgbClr val="FFFFFF"/>
                    </a:solidFill>
                  </a:tcPr>
                </a:tc>
                <a:tc>
                  <a:txBody>
                    <a:bodyPr/>
                    <a:lstStyle/>
                    <a:p>
                      <a:pPr>
                        <a:defRPr sz="1000" b="0">
                          <a:solidFill>
                            <a:srgbClr val="1C1C1C"/>
                          </a:solidFill>
                          <a:latin typeface="Calibri"/>
                        </a:defRPr>
                      </a:pPr>
                      <a:r>
                        <a:rPr sz="1000" dirty="0">
                          <a:solidFill>
                            <a:srgbClr val="333333"/>
                          </a:solidFill>
                        </a:rPr>
                        <a:t>0.473</a:t>
                      </a:r>
                    </a:p>
                  </a:txBody>
                  <a:tcPr>
                    <a:solidFill>
                      <a:srgbClr val="FFFFFF"/>
                    </a:solidFill>
                  </a:tcPr>
                </a:tc>
                <a:extLst>
                  <a:ext uri="{0D108BD9-81ED-4DB2-BD59-A6C34878D82A}">
                    <a16:rowId xmlns:a16="http://schemas.microsoft.com/office/drawing/2014/main" val="10006"/>
                  </a:ext>
                </a:extLst>
              </a:tr>
            </a:tbl>
          </a:graphicData>
        </a:graphic>
      </p:graphicFrame>
      <p:sp>
        <p:nvSpPr>
          <p:cNvPr id="7" name="TextBox 6"/>
          <p:cNvSpPr txBox="1"/>
          <p:nvPr/>
        </p:nvSpPr>
        <p:spPr>
          <a:xfrm>
            <a:off x="6126480" y="804672"/>
            <a:ext cx="5486400" cy="274320"/>
          </a:xfrm>
          <a:prstGeom prst="rect">
            <a:avLst/>
          </a:prstGeom>
          <a:noFill/>
        </p:spPr>
        <p:txBody>
          <a:bodyPr wrap="square">
            <a:spAutoFit/>
          </a:bodyPr>
          <a:lstStyle/>
          <a:p>
            <a:pPr>
              <a:spcAft>
                <a:spcPts val="300"/>
              </a:spcAft>
            </a:pPr>
            <a:r>
              <a:rPr sz="1100">
                <a:solidFill>
                  <a:srgbClr val="333333"/>
                </a:solidFill>
              </a:rPr>
              <a:t>FBref (N=329)</a:t>
            </a:r>
          </a:p>
          <a:p>
            <a:r>
              <a:rPr sz="1100">
                <a:solidFill>
                  <a:srgbClr val="333333"/>
                </a:solidFill>
              </a:rPr>
              <a:t>prior percentile → Year 1 in Bundesliga minutes</a:t>
            </a:r>
          </a:p>
          <a:p>
            <a:r>
              <a:rPr sz="1100">
                <a:solidFill>
                  <a:srgbClr val="333333"/>
                </a:solidFill>
              </a:rPr>
              <a:t/>
            </a:r>
          </a:p>
          <a:p>
            <a:r>
              <a:rPr sz="1100">
                <a:solidFill>
                  <a:srgbClr val="333333"/>
                </a:solidFill>
              </a:rPr>
              <a:t>Final-third passes  ρ=+0.30  p=0.005 *</a:t>
            </a:r>
          </a:p>
          <a:p>
            <a:r>
              <a:rPr sz="1100">
                <a:solidFill>
                  <a:srgbClr val="333333"/>
                </a:solidFill>
              </a:rPr>
              <a:t>Shot blocks  ρ=+0.27  p=0.011 *</a:t>
            </a:r>
          </a:p>
          <a:p>
            <a:r>
              <a:rPr sz="1100">
                <a:solidFill>
                  <a:srgbClr val="333333"/>
                </a:solidFill>
              </a:rPr>
              <a:t>Progressive carry distance  ρ=+0.24  p=0.025 *</a:t>
            </a:r>
          </a:p>
          <a:p>
            <a:r>
              <a:rPr sz="1100">
                <a:solidFill>
                  <a:srgbClr val="333333"/>
                </a:solidFill>
              </a:rPr>
              <a:t>Tackled take-ons  ρ=+0.23  p=0.030 *</a:t>
            </a:r>
          </a:p>
          <a:p>
            <a:r>
              <a:rPr sz="1100">
                <a:solidFill>
                  <a:srgbClr val="333333"/>
                </a:solidFill>
              </a:rPr>
              <a:t>Long pass attempts  ρ=+0.22  p=0.036 *</a:t>
            </a:r>
          </a:p>
          <a:p>
            <a:r>
              <a:rPr sz="1100">
                <a:solidFill>
                  <a:srgbClr val="333333"/>
                </a:solidFill>
              </a:rPr>
              <a:t>Defensive-third touches  ρ=+0.22  p=0.039 *</a:t>
            </a:r>
          </a:p>
          <a:p>
            <a:r>
              <a:rPr sz="1100">
                <a:solidFill>
                  <a:srgbClr val="333333"/>
                </a:solidFill>
              </a:rPr>
              <a:t/>
            </a:r>
          </a:p>
          <a:p>
            <a:r>
              <a:rPr sz="1100">
                <a:solidFill>
                  <a:srgbClr val="333333"/>
                </a:solidFill>
              </a:rPr>
              <a:t>* p&lt;0.05  ·  Final-third passes, shot blocks, progressive carry distance lead.</a:t>
            </a:r>
          </a:p>
        </p:txBody>
      </p:sp>
      <p:graphicFrame>
        <p:nvGraphicFramePr>
          <p:cNvPr id="8" name="Table 7"/>
          <p:cNvGraphicFramePr>
            <a:graphicFrameLocks noGrp="1"/>
          </p:cNvGraphicFramePr>
          <p:nvPr>
            <p:extLst>
              <p:ext uri="{D42A27DB-BD31-4B8C-83A1-F6EECF244321}">
                <p14:modId xmlns:p14="http://schemas.microsoft.com/office/powerpoint/2010/main" val="4283249453"/>
              </p:ext>
            </p:extLst>
          </p:nvPr>
        </p:nvGraphicFramePr>
        <p:xfrm>
          <a:off x="6126479" y="1097279"/>
          <a:ext cx="4349439" cy="3798279"/>
        </p:xfrm>
        <a:graphic>
          <a:graphicData uri="http://schemas.openxmlformats.org/drawingml/2006/table">
            <a:tbl>
              <a:tblPr firstRow="1" bandRow="1">
                <a:tableStyleId>{5C22544A-7EE6-4342-B048-85BDC9FD1C3A}</a:tableStyleId>
              </a:tblPr>
              <a:tblGrid>
                <a:gridCol w="3034493">
                  <a:extLst>
                    <a:ext uri="{9D8B030D-6E8A-4147-A177-3AD203B41FA5}">
                      <a16:colId xmlns:a16="http://schemas.microsoft.com/office/drawing/2014/main" val="20000"/>
                    </a:ext>
                  </a:extLst>
                </a:gridCol>
                <a:gridCol w="657473">
                  <a:extLst>
                    <a:ext uri="{9D8B030D-6E8A-4147-A177-3AD203B41FA5}">
                      <a16:colId xmlns:a16="http://schemas.microsoft.com/office/drawing/2014/main" val="20001"/>
                    </a:ext>
                  </a:extLst>
                </a:gridCol>
                <a:gridCol w="657473">
                  <a:extLst>
                    <a:ext uri="{9D8B030D-6E8A-4147-A177-3AD203B41FA5}">
                      <a16:colId xmlns:a16="http://schemas.microsoft.com/office/drawing/2014/main" val="20002"/>
                    </a:ext>
                  </a:extLst>
                </a:gridCol>
              </a:tblGrid>
              <a:tr h="422031">
                <a:tc>
                  <a:txBody>
                    <a:bodyPr/>
                    <a:lstStyle/>
                    <a:p>
                      <a:pPr>
                        <a:defRPr sz="1000" b="1">
                          <a:solidFill>
                            <a:srgbClr val="FFFFFF"/>
                          </a:solidFill>
                          <a:latin typeface="Calibri"/>
                        </a:defRPr>
                      </a:pPr>
                      <a:r>
                        <a:rPr sz="1000" b="1">
                          <a:solidFill>
                            <a:schemeClr val="bg1"/>
                          </a:solidFill>
                        </a:rPr>
                        <a:t>Trait</a:t>
                      </a:r>
                    </a:p>
                  </a:txBody>
                  <a:tcPr>
                    <a:solidFill>
                      <a:srgbClr val="1C1C1C"/>
                    </a:solidFill>
                  </a:tcPr>
                </a:tc>
                <a:tc>
                  <a:txBody>
                    <a:bodyPr/>
                    <a:lstStyle/>
                    <a:p>
                      <a:pPr>
                        <a:defRPr sz="1000" b="1">
                          <a:solidFill>
                            <a:srgbClr val="FFFFFF"/>
                          </a:solidFill>
                          <a:latin typeface="Calibri"/>
                        </a:defRPr>
                      </a:pPr>
                      <a:r>
                        <a:rPr sz="1000" b="1">
                          <a:solidFill>
                            <a:schemeClr val="bg1"/>
                          </a:solidFill>
                        </a:rPr>
                        <a:t>ρ</a:t>
                      </a:r>
                    </a:p>
                  </a:txBody>
                  <a:tcPr>
                    <a:solidFill>
                      <a:srgbClr val="1C1C1C"/>
                    </a:solidFill>
                  </a:tcPr>
                </a:tc>
                <a:tc>
                  <a:txBody>
                    <a:bodyPr/>
                    <a:lstStyle/>
                    <a:p>
                      <a:pPr>
                        <a:defRPr sz="1000" b="1">
                          <a:solidFill>
                            <a:srgbClr val="FFFFFF"/>
                          </a:solidFill>
                          <a:latin typeface="Calibri"/>
                        </a:defRPr>
                      </a:pPr>
                      <a:r>
                        <a:rPr sz="1000" b="1" dirty="0">
                          <a:solidFill>
                            <a:schemeClr val="bg1"/>
                          </a:solidFill>
                        </a:rPr>
                        <a:t>p</a:t>
                      </a:r>
                    </a:p>
                  </a:txBody>
                  <a:tcPr>
                    <a:solidFill>
                      <a:srgbClr val="1C1C1C"/>
                    </a:solidFill>
                  </a:tcPr>
                </a:tc>
                <a:extLst>
                  <a:ext uri="{0D108BD9-81ED-4DB2-BD59-A6C34878D82A}">
                    <a16:rowId xmlns:a16="http://schemas.microsoft.com/office/drawing/2014/main" val="10000"/>
                  </a:ext>
                </a:extLst>
              </a:tr>
              <a:tr h="422031">
                <a:tc>
                  <a:txBody>
                    <a:bodyPr/>
                    <a:lstStyle/>
                    <a:p>
                      <a:r>
                        <a:t>Final-third passes*</a:t>
                      </a:r>
                    </a:p>
                  </a:txBody>
                  <a:tcPr>
                    <a:solidFill>
                      <a:srgbClr val="F0FAF4"/>
                    </a:solidFill>
                  </a:tcPr>
                </a:tc>
                <a:tc>
                  <a:txBody>
                    <a:bodyPr/>
                    <a:lstStyle/>
                    <a:p>
                      <a:pPr>
                        <a:defRPr sz="1000" b="0">
                          <a:solidFill>
                            <a:srgbClr val="1C1C1C"/>
                          </a:solidFill>
                          <a:latin typeface="Calibri"/>
                        </a:defRPr>
                      </a:pPr>
                      <a:r>
                        <a:rPr sz="1000">
                          <a:solidFill>
                            <a:srgbClr val="333333"/>
                          </a:solidFill>
                        </a:rPr>
                        <a:t>+0.30</a:t>
                      </a:r>
                    </a:p>
                  </a:txBody>
                  <a:tcPr>
                    <a:solidFill>
                      <a:srgbClr val="F0FAF4"/>
                    </a:solidFill>
                  </a:tcPr>
                </a:tc>
                <a:tc>
                  <a:txBody>
                    <a:bodyPr/>
                    <a:lstStyle/>
                    <a:p>
                      <a:pPr>
                        <a:defRPr sz="1000" b="0">
                          <a:solidFill>
                            <a:srgbClr val="1C1C1C"/>
                          </a:solidFill>
                          <a:latin typeface="Calibri"/>
                        </a:defRPr>
                      </a:pPr>
                      <a:r>
                        <a:rPr sz="1000">
                          <a:solidFill>
                            <a:srgbClr val="333333"/>
                          </a:solidFill>
                        </a:rPr>
                        <a:t>0.005</a:t>
                      </a:r>
                    </a:p>
                  </a:txBody>
                  <a:tcPr>
                    <a:solidFill>
                      <a:srgbClr val="F0FAF4"/>
                    </a:solidFill>
                  </a:tcPr>
                </a:tc>
                <a:extLst>
                  <a:ext uri="{0D108BD9-81ED-4DB2-BD59-A6C34878D82A}">
                    <a16:rowId xmlns:a16="http://schemas.microsoft.com/office/drawing/2014/main" val="10001"/>
                  </a:ext>
                </a:extLst>
              </a:tr>
              <a:tr h="422031">
                <a:tc>
                  <a:txBody>
                    <a:bodyPr/>
                    <a:lstStyle/>
                    <a:p>
                      <a:r>
                        <a:t>Shot blocks*</a:t>
                      </a:r>
                    </a:p>
                  </a:txBody>
                  <a:tcPr>
                    <a:solidFill>
                      <a:srgbClr val="FFFFFF"/>
                    </a:solidFill>
                  </a:tcPr>
                </a:tc>
                <a:tc>
                  <a:txBody>
                    <a:bodyPr/>
                    <a:lstStyle/>
                    <a:p>
                      <a:pPr>
                        <a:defRPr sz="1000" b="0">
                          <a:solidFill>
                            <a:srgbClr val="1C1C1C"/>
                          </a:solidFill>
                          <a:latin typeface="Calibri"/>
                        </a:defRPr>
                      </a:pPr>
                      <a:r>
                        <a:rPr sz="1000">
                          <a:solidFill>
                            <a:srgbClr val="333333"/>
                          </a:solidFill>
                        </a:rPr>
                        <a:t>+0.27</a:t>
                      </a:r>
                    </a:p>
                  </a:txBody>
                  <a:tcPr>
                    <a:solidFill>
                      <a:srgbClr val="FFFFFF"/>
                    </a:solidFill>
                  </a:tcPr>
                </a:tc>
                <a:tc>
                  <a:txBody>
                    <a:bodyPr/>
                    <a:lstStyle/>
                    <a:p>
                      <a:pPr>
                        <a:defRPr sz="1000" b="0">
                          <a:solidFill>
                            <a:srgbClr val="1C1C1C"/>
                          </a:solidFill>
                          <a:latin typeface="Calibri"/>
                        </a:defRPr>
                      </a:pPr>
                      <a:r>
                        <a:rPr sz="1000">
                          <a:solidFill>
                            <a:srgbClr val="333333"/>
                          </a:solidFill>
                        </a:rPr>
                        <a:t>0.011</a:t>
                      </a:r>
                    </a:p>
                  </a:txBody>
                  <a:tcPr>
                    <a:solidFill>
                      <a:srgbClr val="FFFFFF"/>
                    </a:solidFill>
                  </a:tcPr>
                </a:tc>
                <a:extLst>
                  <a:ext uri="{0D108BD9-81ED-4DB2-BD59-A6C34878D82A}">
                    <a16:rowId xmlns:a16="http://schemas.microsoft.com/office/drawing/2014/main" val="10002"/>
                  </a:ext>
                </a:extLst>
              </a:tr>
              <a:tr h="422031">
                <a:tc>
                  <a:txBody>
                    <a:bodyPr/>
                    <a:lstStyle/>
                    <a:p>
                      <a:r>
                        <a:t>Progressive carry distance*</a:t>
                      </a:r>
                    </a:p>
                  </a:txBody>
                  <a:tcPr>
                    <a:solidFill>
                      <a:srgbClr val="F0FAF4"/>
                    </a:solidFill>
                  </a:tcPr>
                </a:tc>
                <a:tc>
                  <a:txBody>
                    <a:bodyPr/>
                    <a:lstStyle/>
                    <a:p>
                      <a:pPr>
                        <a:defRPr sz="1000" b="0">
                          <a:solidFill>
                            <a:srgbClr val="1C1C1C"/>
                          </a:solidFill>
                          <a:latin typeface="Calibri"/>
                        </a:defRPr>
                      </a:pPr>
                      <a:r>
                        <a:rPr sz="1000">
                          <a:solidFill>
                            <a:srgbClr val="333333"/>
                          </a:solidFill>
                        </a:rPr>
                        <a:t>+0.24</a:t>
                      </a:r>
                    </a:p>
                  </a:txBody>
                  <a:tcPr>
                    <a:solidFill>
                      <a:srgbClr val="F0FAF4"/>
                    </a:solidFill>
                  </a:tcPr>
                </a:tc>
                <a:tc>
                  <a:txBody>
                    <a:bodyPr/>
                    <a:lstStyle/>
                    <a:p>
                      <a:pPr>
                        <a:defRPr sz="1000" b="0">
                          <a:solidFill>
                            <a:srgbClr val="1C1C1C"/>
                          </a:solidFill>
                          <a:latin typeface="Calibri"/>
                        </a:defRPr>
                      </a:pPr>
                      <a:r>
                        <a:rPr sz="1000">
                          <a:solidFill>
                            <a:srgbClr val="333333"/>
                          </a:solidFill>
                        </a:rPr>
                        <a:t>0.025</a:t>
                      </a:r>
                    </a:p>
                  </a:txBody>
                  <a:tcPr>
                    <a:solidFill>
                      <a:srgbClr val="F0FAF4"/>
                    </a:solidFill>
                  </a:tcPr>
                </a:tc>
                <a:extLst>
                  <a:ext uri="{0D108BD9-81ED-4DB2-BD59-A6C34878D82A}">
                    <a16:rowId xmlns:a16="http://schemas.microsoft.com/office/drawing/2014/main" val="10003"/>
                  </a:ext>
                </a:extLst>
              </a:tr>
              <a:tr h="422031">
                <a:tc>
                  <a:txBody>
                    <a:bodyPr/>
                    <a:lstStyle/>
                    <a:p>
                      <a:r>
                        <a:t>Tackled take-ons*</a:t>
                      </a:r>
                    </a:p>
                  </a:txBody>
                  <a:tcPr>
                    <a:solidFill>
                      <a:srgbClr val="FFFFFF"/>
                    </a:solidFill>
                  </a:tcPr>
                </a:tc>
                <a:tc>
                  <a:txBody>
                    <a:bodyPr/>
                    <a:lstStyle/>
                    <a:p>
                      <a:pPr>
                        <a:defRPr sz="1000" b="0">
                          <a:solidFill>
                            <a:srgbClr val="1C1C1C"/>
                          </a:solidFill>
                          <a:latin typeface="Calibri"/>
                        </a:defRPr>
                      </a:pPr>
                      <a:r>
                        <a:rPr sz="1000">
                          <a:solidFill>
                            <a:srgbClr val="333333"/>
                          </a:solidFill>
                        </a:rPr>
                        <a:t>+0.23</a:t>
                      </a:r>
                    </a:p>
                  </a:txBody>
                  <a:tcPr>
                    <a:solidFill>
                      <a:srgbClr val="FFFFFF"/>
                    </a:solidFill>
                  </a:tcPr>
                </a:tc>
                <a:tc>
                  <a:txBody>
                    <a:bodyPr/>
                    <a:lstStyle/>
                    <a:p>
                      <a:pPr>
                        <a:defRPr sz="1000" b="0">
                          <a:solidFill>
                            <a:srgbClr val="1C1C1C"/>
                          </a:solidFill>
                          <a:latin typeface="Calibri"/>
                        </a:defRPr>
                      </a:pPr>
                      <a:r>
                        <a:rPr sz="1000">
                          <a:solidFill>
                            <a:srgbClr val="333333"/>
                          </a:solidFill>
                        </a:rPr>
                        <a:t>0.030</a:t>
                      </a:r>
                    </a:p>
                  </a:txBody>
                  <a:tcPr>
                    <a:solidFill>
                      <a:srgbClr val="FFFFFF"/>
                    </a:solidFill>
                  </a:tcPr>
                </a:tc>
                <a:extLst>
                  <a:ext uri="{0D108BD9-81ED-4DB2-BD59-A6C34878D82A}">
                    <a16:rowId xmlns:a16="http://schemas.microsoft.com/office/drawing/2014/main" val="10004"/>
                  </a:ext>
                </a:extLst>
              </a:tr>
              <a:tr h="422031">
                <a:tc>
                  <a:txBody>
                    <a:bodyPr/>
                    <a:lstStyle/>
                    <a:p>
                      <a:r>
                        <a:t>Long pass attempts*</a:t>
                      </a:r>
                    </a:p>
                  </a:txBody>
                  <a:tcPr>
                    <a:solidFill>
                      <a:srgbClr val="F0FAF4"/>
                    </a:solidFill>
                  </a:tcPr>
                </a:tc>
                <a:tc>
                  <a:txBody>
                    <a:bodyPr/>
                    <a:lstStyle/>
                    <a:p>
                      <a:pPr>
                        <a:defRPr sz="1000" b="0">
                          <a:solidFill>
                            <a:srgbClr val="1C1C1C"/>
                          </a:solidFill>
                          <a:latin typeface="Calibri"/>
                        </a:defRPr>
                      </a:pPr>
                      <a:r>
                        <a:rPr sz="1000">
                          <a:solidFill>
                            <a:srgbClr val="333333"/>
                          </a:solidFill>
                        </a:rPr>
                        <a:t>+0.22</a:t>
                      </a:r>
                    </a:p>
                  </a:txBody>
                  <a:tcPr>
                    <a:solidFill>
                      <a:srgbClr val="F0FAF4"/>
                    </a:solidFill>
                  </a:tcPr>
                </a:tc>
                <a:tc>
                  <a:txBody>
                    <a:bodyPr/>
                    <a:lstStyle/>
                    <a:p>
                      <a:pPr>
                        <a:defRPr sz="1000" b="0">
                          <a:solidFill>
                            <a:srgbClr val="1C1C1C"/>
                          </a:solidFill>
                          <a:latin typeface="Calibri"/>
                        </a:defRPr>
                      </a:pPr>
                      <a:r>
                        <a:rPr sz="1000">
                          <a:solidFill>
                            <a:srgbClr val="333333"/>
                          </a:solidFill>
                        </a:rPr>
                        <a:t>0.036</a:t>
                      </a:r>
                    </a:p>
                  </a:txBody>
                  <a:tcPr>
                    <a:solidFill>
                      <a:srgbClr val="F0FAF4"/>
                    </a:solidFill>
                  </a:tcPr>
                </a:tc>
                <a:extLst>
                  <a:ext uri="{0D108BD9-81ED-4DB2-BD59-A6C34878D82A}">
                    <a16:rowId xmlns:a16="http://schemas.microsoft.com/office/drawing/2014/main" val="10005"/>
                  </a:ext>
                </a:extLst>
              </a:tr>
              <a:tr h="422031">
                <a:tc>
                  <a:txBody>
                    <a:bodyPr/>
                    <a:lstStyle/>
                    <a:p>
                      <a:r>
                        <a:t>Defensive-third touches*</a:t>
                      </a:r>
                    </a:p>
                  </a:txBody>
                  <a:tcPr>
                    <a:solidFill>
                      <a:srgbClr val="FFFFFF"/>
                    </a:solidFill>
                  </a:tcPr>
                </a:tc>
                <a:tc>
                  <a:txBody>
                    <a:bodyPr/>
                    <a:lstStyle/>
                    <a:p>
                      <a:pPr>
                        <a:defRPr sz="1000" b="0">
                          <a:solidFill>
                            <a:srgbClr val="1C1C1C"/>
                          </a:solidFill>
                          <a:latin typeface="Calibri"/>
                        </a:defRPr>
                      </a:pPr>
                      <a:r>
                        <a:rPr sz="1000">
                          <a:solidFill>
                            <a:srgbClr val="333333"/>
                          </a:solidFill>
                        </a:rPr>
                        <a:t>+0.22</a:t>
                      </a:r>
                    </a:p>
                  </a:txBody>
                  <a:tcPr>
                    <a:solidFill>
                      <a:srgbClr val="FFFFFF"/>
                    </a:solidFill>
                  </a:tcPr>
                </a:tc>
                <a:tc>
                  <a:txBody>
                    <a:bodyPr/>
                    <a:lstStyle/>
                    <a:p>
                      <a:pPr>
                        <a:defRPr sz="1000" b="0">
                          <a:solidFill>
                            <a:srgbClr val="1C1C1C"/>
                          </a:solidFill>
                          <a:latin typeface="Calibri"/>
                        </a:defRPr>
                      </a:pPr>
                      <a:r>
                        <a:rPr sz="1000">
                          <a:solidFill>
                            <a:srgbClr val="333333"/>
                          </a:solidFill>
                        </a:rPr>
                        <a:t>0.039</a:t>
                      </a:r>
                    </a:p>
                  </a:txBody>
                  <a:tcPr>
                    <a:solidFill>
                      <a:srgbClr val="FFFFFF"/>
                    </a:solidFill>
                  </a:tcPr>
                </a:tc>
                <a:extLst>
                  <a:ext uri="{0D108BD9-81ED-4DB2-BD59-A6C34878D82A}">
                    <a16:rowId xmlns:a16="http://schemas.microsoft.com/office/drawing/2014/main" val="10006"/>
                  </a:ext>
                </a:extLst>
              </a:tr>
              <a:tr h="422031">
                <a:tc>
                  <a:txBody>
                    <a:bodyPr/>
                    <a:lstStyle/>
                    <a:p>
                      <a:r>
                        <a:t>Miscontrols (carries)</a:t>
                      </a:r>
                    </a:p>
                  </a:txBody>
                  <a:tcPr>
                    <a:solidFill>
                      <a:srgbClr val="F0FAF4"/>
                    </a:solidFill>
                  </a:tcPr>
                </a:tc>
                <a:tc>
                  <a:txBody>
                    <a:bodyPr/>
                    <a:lstStyle/>
                    <a:p>
                      <a:pPr>
                        <a:defRPr sz="1000" b="0">
                          <a:solidFill>
                            <a:srgbClr val="1C1C1C"/>
                          </a:solidFill>
                          <a:latin typeface="Calibri"/>
                        </a:defRPr>
                      </a:pPr>
                      <a:r>
                        <a:t>0.16</a:t>
                      </a:r>
                    </a:p>
                  </a:txBody>
                  <a:tcPr>
                    <a:solidFill>
                      <a:srgbClr val="F0FAF4"/>
                    </a:solidFill>
                  </a:tcPr>
                </a:tc>
                <a:tc>
                  <a:txBody>
                    <a:bodyPr/>
                    <a:lstStyle/>
                    <a:p>
                      <a:pPr>
                        <a:defRPr sz="1000" b="0">
                          <a:solidFill>
                            <a:srgbClr val="1C1C1C"/>
                          </a:solidFill>
                          <a:latin typeface="Calibri"/>
                        </a:defRPr>
                      </a:pPr>
                      <a:r>
                        <a:t>0.078</a:t>
                      </a:r>
                    </a:p>
                  </a:txBody>
                  <a:tcPr>
                    <a:solidFill>
                      <a:srgbClr val="F0FAF4"/>
                    </a:solidFill>
                  </a:tcPr>
                </a:tc>
                <a:extLst>
                  <a:ext uri="{0D108BD9-81ED-4DB2-BD59-A6C34878D82A}">
                    <a16:rowId xmlns:a16="http://schemas.microsoft.com/office/drawing/2014/main" val="10007"/>
                  </a:ext>
                </a:extLst>
              </a:tr>
              <a:tr h="422031">
                <a:tc>
                  <a:txBody>
                    <a:bodyPr/>
                    <a:lstStyle/>
                    <a:p>
                      <a:r>
                        <a:t>Clearances</a:t>
                      </a:r>
                    </a:p>
                  </a:txBody>
                  <a:tcPr>
                    <a:solidFill>
                      <a:srgbClr val="FFFFFF"/>
                    </a:solidFill>
                  </a:tcPr>
                </a:tc>
                <a:tc>
                  <a:txBody>
                    <a:bodyPr/>
                    <a:lstStyle/>
                    <a:p>
                      <a:pPr>
                        <a:defRPr sz="1000" b="0">
                          <a:solidFill>
                            <a:srgbClr val="1C1C1C"/>
                          </a:solidFill>
                          <a:latin typeface="Calibri"/>
                        </a:defRPr>
                      </a:pPr>
                      <a:r>
                        <a:t>0.13</a:t>
                      </a:r>
                    </a:p>
                  </a:txBody>
                  <a:tcPr>
                    <a:solidFill>
                      <a:srgbClr val="FFFFFF"/>
                    </a:solidFill>
                  </a:tcPr>
                </a:tc>
                <a:tc>
                  <a:txBody>
                    <a:bodyPr/>
                    <a:lstStyle/>
                    <a:p>
                      <a:pPr>
                        <a:defRPr sz="1000" b="0">
                          <a:solidFill>
                            <a:srgbClr val="1C1C1C"/>
                          </a:solidFill>
                          <a:latin typeface="Calibri"/>
                        </a:defRPr>
                      </a:pPr>
                      <a:r>
                        <a:rPr dirty="0"/>
                        <a:t>0.162</a:t>
                      </a:r>
                    </a:p>
                  </a:txBody>
                  <a:tcPr>
                    <a:solidFill>
                      <a:srgbClr val="FFFFFF"/>
                    </a:solidFill>
                  </a:tcPr>
                </a:tc>
                <a:extLst>
                  <a:ext uri="{0D108BD9-81ED-4DB2-BD59-A6C34878D82A}">
                    <a16:rowId xmlns:a16="http://schemas.microsoft.com/office/drawing/2014/main" val="10008"/>
                  </a:ext>
                </a:extLst>
              </a:tr>
            </a:tbl>
          </a:graphicData>
        </a:graphic>
      </p:graphicFrame>
      <p:sp>
        <p:nvSpPr>
          <p:cNvPr id="9" name="TextBox 8">
            <a:hlinkClick r:id="rId2" action="ppaction://hlinksldjump"/>
          </p:cNvPr>
          <p:cNvSpPr txBox="1"/>
          <p:nvPr/>
        </p:nvSpPr>
        <p:spPr>
          <a:xfrm>
            <a:off x="9875520" y="137160"/>
            <a:ext cx="2011680" cy="320040"/>
          </a:xfrm>
          <a:prstGeom prst="rect">
            <a:avLst/>
          </a:prstGeom>
          <a:noFill/>
        </p:spPr>
        <p:txBody>
          <a:bodyPr wrap="square">
            <a:spAutoFit/>
          </a:bodyPr>
          <a:lstStyle/>
          <a:p>
            <a:r>
              <a:rPr sz="1200" b="1">
                <a:solidFill>
                  <a:srgbClr val="3D5A80"/>
                </a:solidFill>
              </a:rPr>
              <a:t>→ Glossary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82880"/>
            <a:ext cx="10972800" cy="256032"/>
          </a:xfrm>
          <a:prstGeom prst="rect">
            <a:avLst/>
          </a:prstGeom>
          <a:noFill/>
        </p:spPr>
        <p:txBody>
          <a:bodyPr wrap="square">
            <a:spAutoFit/>
          </a:bodyPr>
          <a:lstStyle/>
          <a:p>
            <a:r>
              <a:rPr sz="2000" b="1">
                <a:solidFill>
                  <a:srgbClr val="3D5A80"/>
                </a:solidFill>
                <a:latin typeface="Calibri"/>
              </a:rPr>
              <a:t>RESULTS  ·  FEEDER LEAGUES → BUNDESLIGA SUCCESS</a:t>
            </a:r>
          </a:p>
        </p:txBody>
      </p:sp>
      <p:sp>
        <p:nvSpPr>
          <p:cNvPr id="4" name="TextBox 3"/>
          <p:cNvSpPr txBox="1"/>
          <p:nvPr/>
        </p:nvSpPr>
        <p:spPr>
          <a:xfrm>
            <a:off x="411480" y="438912"/>
            <a:ext cx="10972800" cy="320040"/>
          </a:xfrm>
          <a:prstGeom prst="rect">
            <a:avLst/>
          </a:prstGeom>
          <a:noFill/>
        </p:spPr>
        <p:txBody>
          <a:bodyPr wrap="square">
            <a:spAutoFit/>
          </a:bodyPr>
          <a:lstStyle/>
          <a:p>
            <a:r>
              <a:rPr sz="2000" b="1">
                <a:solidFill>
                  <a:srgbClr val="1C1C1C"/>
                </a:solidFill>
                <a:latin typeface="Georgia"/>
              </a:rPr>
              <a:t>Which source leagues produce the strongest Year 1 in Bundesliga outcomes?</a:t>
            </a:r>
          </a:p>
        </p:txBody>
      </p:sp>
      <p:graphicFrame>
        <p:nvGraphicFramePr>
          <p:cNvPr id="6" name="Table 5"/>
          <p:cNvGraphicFramePr>
            <a:graphicFrameLocks noGrp="1"/>
          </p:cNvGraphicFramePr>
          <p:nvPr>
            <p:extLst>
              <p:ext uri="{D42A27DB-BD31-4B8C-83A1-F6EECF244321}">
                <p14:modId xmlns:p14="http://schemas.microsoft.com/office/powerpoint/2010/main" val="3524262344"/>
              </p:ext>
            </p:extLst>
          </p:nvPr>
        </p:nvGraphicFramePr>
        <p:xfrm>
          <a:off x="411480" y="1179576"/>
          <a:ext cx="5669280" cy="2444496"/>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tblGrid>
              <a:tr h="218244">
                <a:tc>
                  <a:txBody>
                    <a:bodyPr/>
                    <a:lstStyle/>
                    <a:p>
                      <a:pPr>
                        <a:defRPr sz="1200" b="1">
                          <a:solidFill>
                            <a:srgbClr val="FFFFFF"/>
                          </a:solidFill>
                          <a:latin typeface="Calibri"/>
                        </a:defRPr>
                      </a:pPr>
                      <a:r>
                        <a:rPr sz="1000" b="1">
                          <a:solidFill>
                            <a:schemeClr val="bg1"/>
                          </a:solidFill>
                        </a:rPr>
                        <a:t>League</a:t>
                      </a:r>
                    </a:p>
                  </a:txBody>
                  <a:tcPr>
                    <a:solidFill>
                      <a:srgbClr val="1C1C1C"/>
                    </a:solidFill>
                  </a:tcPr>
                </a:tc>
                <a:tc>
                  <a:txBody>
                    <a:bodyPr/>
                    <a:lstStyle/>
                    <a:p>
                      <a:pPr>
                        <a:defRPr sz="1200" b="1">
                          <a:solidFill>
                            <a:srgbClr val="FFFFFF"/>
                          </a:solidFill>
                          <a:latin typeface="Calibri"/>
                        </a:defRPr>
                      </a:pPr>
                      <a:r>
                        <a:rPr sz="1000" b="1">
                          <a:solidFill>
                            <a:schemeClr val="bg1"/>
                          </a:solidFill>
                        </a:rPr>
                        <a:t>N</a:t>
                      </a:r>
                    </a:p>
                  </a:txBody>
                  <a:tcPr>
                    <a:solidFill>
                      <a:srgbClr val="1C1C1C"/>
                    </a:solidFill>
                  </a:tcPr>
                </a:tc>
                <a:tc>
                  <a:txBody>
                    <a:bodyPr/>
                    <a:lstStyle/>
                    <a:p>
                      <a:pPr>
                        <a:defRPr sz="1200" b="1">
                          <a:solidFill>
                            <a:srgbClr val="FFFFFF"/>
                          </a:solidFill>
                          <a:latin typeface="Calibri"/>
                        </a:defRPr>
                      </a:pPr>
                      <a:r>
                        <a:rPr sz="1000" b="1">
                          <a:solidFill>
                            <a:schemeClr val="bg1"/>
                          </a:solidFill>
                        </a:rPr>
                        <a:t>Mean Year 1 in Bundesliga min</a:t>
                      </a:r>
                    </a:p>
                  </a:txBody>
                  <a:tcPr>
                    <a:solidFill>
                      <a:srgbClr val="1C1C1C"/>
                    </a:solidFill>
                  </a:tcPr>
                </a:tc>
                <a:tc>
                  <a:txBody>
                    <a:bodyPr/>
                    <a:lstStyle/>
                    <a:p>
                      <a:pPr>
                        <a:defRPr sz="1200" b="1">
                          <a:solidFill>
                            <a:srgbClr val="FFFFFF"/>
                          </a:solidFill>
                          <a:latin typeface="Calibri"/>
                        </a:defRPr>
                      </a:pPr>
                      <a:r>
                        <a:rPr sz="1000" b="1">
                          <a:solidFill>
                            <a:schemeClr val="bg1"/>
                          </a:solidFill>
                        </a:rPr>
                        <a:t>Median Year 1 in Bundesliga min</a:t>
                      </a:r>
                    </a:p>
                  </a:txBody>
                  <a:tcPr>
                    <a:solidFill>
                      <a:srgbClr val="1C1C1C"/>
                    </a:solidFill>
                  </a:tcPr>
                </a:tc>
                <a:tc>
                  <a:txBody>
                    <a:bodyPr/>
                    <a:lstStyle/>
                    <a:p>
                      <a:pPr>
                        <a:defRPr sz="1200" b="1">
                          <a:solidFill>
                            <a:srgbClr val="FFFFFF"/>
                          </a:solidFill>
                          <a:latin typeface="Calibri"/>
                        </a:defRPr>
                      </a:pPr>
                      <a:r>
                        <a:rPr sz="1000" b="1" dirty="0">
                          <a:solidFill>
                            <a:schemeClr val="bg1"/>
                          </a:solidFill>
                        </a:rPr>
                        <a:t>Trait score</a:t>
                      </a:r>
                    </a:p>
                  </a:txBody>
                  <a:tcPr>
                    <a:solidFill>
                      <a:srgbClr val="1C1C1C"/>
                    </a:solidFill>
                  </a:tcPr>
                </a:tc>
                <a:extLst>
                  <a:ext uri="{0D108BD9-81ED-4DB2-BD59-A6C34878D82A}">
                    <a16:rowId xmlns:a16="http://schemas.microsoft.com/office/drawing/2014/main" val="10000"/>
                  </a:ext>
                </a:extLst>
              </a:tr>
              <a:tr h="256032">
                <a:tc>
                  <a:txBody>
                    <a:bodyPr/>
                    <a:lstStyle/>
                    <a:p>
                      <a:pPr>
                        <a:defRPr sz="1200" b="0">
                          <a:solidFill>
                            <a:srgbClr val="1C1C1C"/>
                          </a:solidFill>
                          <a:latin typeface="Calibri"/>
                        </a:defRPr>
                      </a:pPr>
                      <a:r>
                        <a:rPr sz="1000" b="0" dirty="0">
                          <a:solidFill>
                            <a:srgbClr val="333333"/>
                          </a:solidFill>
                        </a:rPr>
                        <a:t>DEN Superliga</a:t>
                      </a:r>
                    </a:p>
                  </a:txBody>
                  <a:tcPr>
                    <a:solidFill>
                      <a:srgbClr val="F0FAF4"/>
                    </a:solidFill>
                  </a:tcPr>
                </a:tc>
                <a:tc>
                  <a:txBody>
                    <a:bodyPr/>
                    <a:lstStyle/>
                    <a:p>
                      <a:pPr>
                        <a:defRPr sz="1200" b="0">
                          <a:solidFill>
                            <a:srgbClr val="1C1C1C"/>
                          </a:solidFill>
                          <a:latin typeface="Calibri"/>
                        </a:defRPr>
                      </a:pPr>
                      <a:r>
                        <a:rPr sz="1000" b="0">
                          <a:solidFill>
                            <a:srgbClr val="333333"/>
                          </a:solidFill>
                        </a:rPr>
                        <a:t>9</a:t>
                      </a:r>
                    </a:p>
                  </a:txBody>
                  <a:tcPr>
                    <a:solidFill>
                      <a:srgbClr val="F0FAF4"/>
                    </a:solidFill>
                  </a:tcPr>
                </a:tc>
                <a:tc>
                  <a:txBody>
                    <a:bodyPr/>
                    <a:lstStyle/>
                    <a:p>
                      <a:pPr>
                        <a:defRPr sz="1200" b="0">
                          <a:solidFill>
                            <a:srgbClr val="1C1C1C"/>
                          </a:solidFill>
                          <a:latin typeface="Calibri"/>
                        </a:defRPr>
                      </a:pPr>
                      <a:r>
                        <a:rPr sz="1000" b="0">
                          <a:solidFill>
                            <a:srgbClr val="333333"/>
                          </a:solidFill>
                        </a:rPr>
                        <a:t>1864</a:t>
                      </a:r>
                    </a:p>
                  </a:txBody>
                  <a:tcPr>
                    <a:solidFill>
                      <a:srgbClr val="F0FAF4"/>
                    </a:solidFill>
                  </a:tcPr>
                </a:tc>
                <a:tc>
                  <a:txBody>
                    <a:bodyPr/>
                    <a:lstStyle/>
                    <a:p>
                      <a:pPr>
                        <a:defRPr sz="1200" b="0">
                          <a:solidFill>
                            <a:srgbClr val="1C1C1C"/>
                          </a:solidFill>
                          <a:latin typeface="Calibri"/>
                        </a:defRPr>
                      </a:pPr>
                      <a:r>
                        <a:rPr sz="1000" b="0">
                          <a:solidFill>
                            <a:srgbClr val="333333"/>
                          </a:solidFill>
                        </a:rPr>
                        <a:t>1855</a:t>
                      </a:r>
                    </a:p>
                  </a:txBody>
                  <a:tcPr>
                    <a:solidFill>
                      <a:srgbClr val="F0FAF4"/>
                    </a:solidFill>
                  </a:tcPr>
                </a:tc>
                <a:tc>
                  <a:txBody>
                    <a:bodyPr/>
                    <a:lstStyle/>
                    <a:p>
                      <a:pPr>
                        <a:defRPr sz="1200" b="0">
                          <a:solidFill>
                            <a:srgbClr val="1C1C1C"/>
                          </a:solidFill>
                          <a:latin typeface="Calibri"/>
                        </a:defRPr>
                      </a:pPr>
                      <a:r>
                        <a:rPr sz="1000" b="0">
                          <a:solidFill>
                            <a:srgbClr val="333333"/>
                          </a:solidFill>
                        </a:rPr>
                        <a:t>48.0</a:t>
                      </a:r>
                    </a:p>
                  </a:txBody>
                  <a:tcPr>
                    <a:solidFill>
                      <a:srgbClr val="F0FAF4"/>
                    </a:solidFill>
                  </a:tcPr>
                </a:tc>
                <a:extLst>
                  <a:ext uri="{0D108BD9-81ED-4DB2-BD59-A6C34878D82A}">
                    <a16:rowId xmlns:a16="http://schemas.microsoft.com/office/drawing/2014/main" val="10001"/>
                  </a:ext>
                </a:extLst>
              </a:tr>
              <a:tr h="256032">
                <a:tc>
                  <a:txBody>
                    <a:bodyPr/>
                    <a:lstStyle/>
                    <a:p>
                      <a:pPr>
                        <a:defRPr sz="1200" b="0">
                          <a:solidFill>
                            <a:srgbClr val="1C1C1C"/>
                          </a:solidFill>
                          <a:latin typeface="Calibri"/>
                        </a:defRPr>
                      </a:pPr>
                      <a:r>
                        <a:rPr sz="1000" b="0" dirty="0">
                          <a:solidFill>
                            <a:srgbClr val="333333"/>
                          </a:solidFill>
                        </a:rPr>
                        <a:t>Premier League</a:t>
                      </a:r>
                    </a:p>
                  </a:txBody>
                  <a:tcPr>
                    <a:solidFill>
                      <a:srgbClr val="FFFFFF"/>
                    </a:solidFill>
                  </a:tcPr>
                </a:tc>
                <a:tc>
                  <a:txBody>
                    <a:bodyPr/>
                    <a:lstStyle/>
                    <a:p>
                      <a:pPr>
                        <a:defRPr sz="1200" b="0">
                          <a:solidFill>
                            <a:srgbClr val="1C1C1C"/>
                          </a:solidFill>
                          <a:latin typeface="Calibri"/>
                        </a:defRPr>
                      </a:pPr>
                      <a:r>
                        <a:rPr sz="1000" b="0">
                          <a:solidFill>
                            <a:srgbClr val="333333"/>
                          </a:solidFill>
                        </a:rPr>
                        <a:t>24</a:t>
                      </a:r>
                    </a:p>
                  </a:txBody>
                  <a:tcPr>
                    <a:solidFill>
                      <a:srgbClr val="FFFFFF"/>
                    </a:solidFill>
                  </a:tcPr>
                </a:tc>
                <a:tc>
                  <a:txBody>
                    <a:bodyPr/>
                    <a:lstStyle/>
                    <a:p>
                      <a:pPr>
                        <a:defRPr sz="1200" b="0">
                          <a:solidFill>
                            <a:srgbClr val="1C1C1C"/>
                          </a:solidFill>
                          <a:latin typeface="Calibri"/>
                        </a:defRPr>
                      </a:pPr>
                      <a:r>
                        <a:rPr sz="1000" b="0">
                          <a:solidFill>
                            <a:srgbClr val="333333"/>
                          </a:solidFill>
                        </a:rPr>
                        <a:t>1424</a:t>
                      </a:r>
                    </a:p>
                  </a:txBody>
                  <a:tcPr>
                    <a:solidFill>
                      <a:srgbClr val="FFFFFF"/>
                    </a:solidFill>
                  </a:tcPr>
                </a:tc>
                <a:tc>
                  <a:txBody>
                    <a:bodyPr/>
                    <a:lstStyle/>
                    <a:p>
                      <a:pPr>
                        <a:defRPr sz="1200" b="0">
                          <a:solidFill>
                            <a:srgbClr val="1C1C1C"/>
                          </a:solidFill>
                          <a:latin typeface="Calibri"/>
                        </a:defRPr>
                      </a:pPr>
                      <a:r>
                        <a:rPr sz="1000" b="0">
                          <a:solidFill>
                            <a:srgbClr val="333333"/>
                          </a:solidFill>
                        </a:rPr>
                        <a:t>1391</a:t>
                      </a:r>
                    </a:p>
                  </a:txBody>
                  <a:tcPr>
                    <a:solidFill>
                      <a:srgbClr val="FFFFFF"/>
                    </a:solidFill>
                  </a:tcPr>
                </a:tc>
                <a:tc>
                  <a:txBody>
                    <a:bodyPr/>
                    <a:lstStyle/>
                    <a:p>
                      <a:pPr>
                        <a:defRPr sz="1200" b="0">
                          <a:solidFill>
                            <a:srgbClr val="1C1C1C"/>
                          </a:solidFill>
                          <a:latin typeface="Calibri"/>
                        </a:defRPr>
                      </a:pPr>
                      <a:r>
                        <a:rPr sz="1000" b="0">
                          <a:solidFill>
                            <a:srgbClr val="333333"/>
                          </a:solidFill>
                        </a:rPr>
                        <a:t>60.1</a:t>
                      </a:r>
                    </a:p>
                  </a:txBody>
                  <a:tcPr>
                    <a:solidFill>
                      <a:srgbClr val="FFFFFF"/>
                    </a:solidFill>
                  </a:tcPr>
                </a:tc>
                <a:extLst>
                  <a:ext uri="{0D108BD9-81ED-4DB2-BD59-A6C34878D82A}">
                    <a16:rowId xmlns:a16="http://schemas.microsoft.com/office/drawing/2014/main" val="10002"/>
                  </a:ext>
                </a:extLst>
              </a:tr>
              <a:tr h="256032">
                <a:tc>
                  <a:txBody>
                    <a:bodyPr/>
                    <a:lstStyle/>
                    <a:p>
                      <a:pPr>
                        <a:defRPr sz="1200" b="0">
                          <a:solidFill>
                            <a:srgbClr val="1C1C1C"/>
                          </a:solidFill>
                          <a:latin typeface="Calibri"/>
                        </a:defRPr>
                      </a:pPr>
                      <a:r>
                        <a:rPr sz="1000" b="0">
                          <a:solidFill>
                            <a:srgbClr val="333333"/>
                          </a:solidFill>
                        </a:rPr>
                        <a:t>Eredivisie</a:t>
                      </a:r>
                    </a:p>
                  </a:txBody>
                  <a:tcPr>
                    <a:solidFill>
                      <a:srgbClr val="F0FAF4"/>
                    </a:solidFill>
                  </a:tcPr>
                </a:tc>
                <a:tc>
                  <a:txBody>
                    <a:bodyPr/>
                    <a:lstStyle/>
                    <a:p>
                      <a:pPr>
                        <a:defRPr sz="1200" b="0">
                          <a:solidFill>
                            <a:srgbClr val="1C1C1C"/>
                          </a:solidFill>
                          <a:latin typeface="Calibri"/>
                        </a:defRPr>
                      </a:pPr>
                      <a:r>
                        <a:rPr sz="1000" b="0">
                          <a:solidFill>
                            <a:srgbClr val="333333"/>
                          </a:solidFill>
                        </a:rPr>
                        <a:t>20</a:t>
                      </a:r>
                    </a:p>
                  </a:txBody>
                  <a:tcPr>
                    <a:solidFill>
                      <a:srgbClr val="F0FAF4"/>
                    </a:solidFill>
                  </a:tcPr>
                </a:tc>
                <a:tc>
                  <a:txBody>
                    <a:bodyPr/>
                    <a:lstStyle/>
                    <a:p>
                      <a:pPr>
                        <a:defRPr sz="1200" b="0">
                          <a:solidFill>
                            <a:srgbClr val="1C1C1C"/>
                          </a:solidFill>
                          <a:latin typeface="Calibri"/>
                        </a:defRPr>
                      </a:pPr>
                      <a:r>
                        <a:rPr sz="1000" b="0">
                          <a:solidFill>
                            <a:srgbClr val="333333"/>
                          </a:solidFill>
                        </a:rPr>
                        <a:t>1401</a:t>
                      </a:r>
                    </a:p>
                  </a:txBody>
                  <a:tcPr>
                    <a:solidFill>
                      <a:srgbClr val="F0FAF4"/>
                    </a:solidFill>
                  </a:tcPr>
                </a:tc>
                <a:tc>
                  <a:txBody>
                    <a:bodyPr/>
                    <a:lstStyle/>
                    <a:p>
                      <a:pPr>
                        <a:defRPr sz="1200" b="0">
                          <a:solidFill>
                            <a:srgbClr val="1C1C1C"/>
                          </a:solidFill>
                          <a:latin typeface="Calibri"/>
                        </a:defRPr>
                      </a:pPr>
                      <a:r>
                        <a:rPr sz="1000" b="0">
                          <a:solidFill>
                            <a:srgbClr val="333333"/>
                          </a:solidFill>
                        </a:rPr>
                        <a:t>1154</a:t>
                      </a:r>
                    </a:p>
                  </a:txBody>
                  <a:tcPr>
                    <a:solidFill>
                      <a:srgbClr val="F0FAF4"/>
                    </a:solidFill>
                  </a:tcPr>
                </a:tc>
                <a:tc>
                  <a:txBody>
                    <a:bodyPr/>
                    <a:lstStyle/>
                    <a:p>
                      <a:pPr>
                        <a:defRPr sz="1200" b="0">
                          <a:solidFill>
                            <a:srgbClr val="1C1C1C"/>
                          </a:solidFill>
                          <a:latin typeface="Calibri"/>
                        </a:defRPr>
                      </a:pPr>
                      <a:r>
                        <a:rPr sz="1000" b="0">
                          <a:solidFill>
                            <a:srgbClr val="333333"/>
                          </a:solidFill>
                        </a:rPr>
                        <a:t>53.4</a:t>
                      </a:r>
                    </a:p>
                  </a:txBody>
                  <a:tcPr>
                    <a:solidFill>
                      <a:srgbClr val="F0FAF4"/>
                    </a:solidFill>
                  </a:tcPr>
                </a:tc>
                <a:extLst>
                  <a:ext uri="{0D108BD9-81ED-4DB2-BD59-A6C34878D82A}">
                    <a16:rowId xmlns:a16="http://schemas.microsoft.com/office/drawing/2014/main" val="10003"/>
                  </a:ext>
                </a:extLst>
              </a:tr>
              <a:tr h="256032">
                <a:tc>
                  <a:txBody>
                    <a:bodyPr/>
                    <a:lstStyle/>
                    <a:p>
                      <a:pPr>
                        <a:defRPr sz="1200" b="0">
                          <a:solidFill>
                            <a:srgbClr val="1C1C1C"/>
                          </a:solidFill>
                          <a:latin typeface="Calibri"/>
                        </a:defRPr>
                      </a:pPr>
                      <a:r>
                        <a:rPr sz="1000" b="0" dirty="0">
                          <a:solidFill>
                            <a:srgbClr val="333333"/>
                          </a:solidFill>
                        </a:rPr>
                        <a:t>Ligue 1</a:t>
                      </a:r>
                    </a:p>
                  </a:txBody>
                  <a:tcPr>
                    <a:solidFill>
                      <a:srgbClr val="FFFFFF"/>
                    </a:solidFill>
                  </a:tcPr>
                </a:tc>
                <a:tc>
                  <a:txBody>
                    <a:bodyPr/>
                    <a:lstStyle/>
                    <a:p>
                      <a:pPr>
                        <a:defRPr sz="1200" b="0">
                          <a:solidFill>
                            <a:srgbClr val="1C1C1C"/>
                          </a:solidFill>
                          <a:latin typeface="Calibri"/>
                        </a:defRPr>
                      </a:pPr>
                      <a:r>
                        <a:rPr sz="1000" b="0">
                          <a:solidFill>
                            <a:srgbClr val="333333"/>
                          </a:solidFill>
                        </a:rPr>
                        <a:t>40</a:t>
                      </a:r>
                    </a:p>
                  </a:txBody>
                  <a:tcPr>
                    <a:solidFill>
                      <a:srgbClr val="FFFFFF"/>
                    </a:solidFill>
                  </a:tcPr>
                </a:tc>
                <a:tc>
                  <a:txBody>
                    <a:bodyPr/>
                    <a:lstStyle/>
                    <a:p>
                      <a:pPr>
                        <a:defRPr sz="1200" b="0">
                          <a:solidFill>
                            <a:srgbClr val="1C1C1C"/>
                          </a:solidFill>
                          <a:latin typeface="Calibri"/>
                        </a:defRPr>
                      </a:pPr>
                      <a:r>
                        <a:rPr sz="1000" b="0">
                          <a:solidFill>
                            <a:srgbClr val="333333"/>
                          </a:solidFill>
                        </a:rPr>
                        <a:t>1401</a:t>
                      </a:r>
                    </a:p>
                  </a:txBody>
                  <a:tcPr>
                    <a:solidFill>
                      <a:srgbClr val="FFFFFF"/>
                    </a:solidFill>
                  </a:tcPr>
                </a:tc>
                <a:tc>
                  <a:txBody>
                    <a:bodyPr/>
                    <a:lstStyle/>
                    <a:p>
                      <a:pPr>
                        <a:defRPr sz="1200" b="0">
                          <a:solidFill>
                            <a:srgbClr val="1C1C1C"/>
                          </a:solidFill>
                          <a:latin typeface="Calibri"/>
                        </a:defRPr>
                      </a:pPr>
                      <a:r>
                        <a:rPr sz="1000" b="0">
                          <a:solidFill>
                            <a:srgbClr val="333333"/>
                          </a:solidFill>
                        </a:rPr>
                        <a:t>1251</a:t>
                      </a:r>
                    </a:p>
                  </a:txBody>
                  <a:tcPr>
                    <a:solidFill>
                      <a:srgbClr val="FFFFFF"/>
                    </a:solidFill>
                  </a:tcPr>
                </a:tc>
                <a:tc>
                  <a:txBody>
                    <a:bodyPr/>
                    <a:lstStyle/>
                    <a:p>
                      <a:pPr>
                        <a:defRPr sz="1200" b="0">
                          <a:solidFill>
                            <a:srgbClr val="1C1C1C"/>
                          </a:solidFill>
                          <a:latin typeface="Calibri"/>
                        </a:defRPr>
                      </a:pPr>
                      <a:r>
                        <a:rPr sz="1000" b="0" dirty="0">
                          <a:solidFill>
                            <a:srgbClr val="333333"/>
                          </a:solidFill>
                        </a:rPr>
                        <a:t>53.5</a:t>
                      </a:r>
                    </a:p>
                  </a:txBody>
                  <a:tcPr>
                    <a:solidFill>
                      <a:srgbClr val="FFFFFF"/>
                    </a:solidFill>
                  </a:tcPr>
                </a:tc>
                <a:extLst>
                  <a:ext uri="{0D108BD9-81ED-4DB2-BD59-A6C34878D82A}">
                    <a16:rowId xmlns:a16="http://schemas.microsoft.com/office/drawing/2014/main" val="10004"/>
                  </a:ext>
                </a:extLst>
              </a:tr>
              <a:tr h="256032">
                <a:tc>
                  <a:txBody>
                    <a:bodyPr/>
                    <a:lstStyle/>
                    <a:p>
                      <a:pPr>
                        <a:defRPr sz="1200" b="0">
                          <a:solidFill>
                            <a:srgbClr val="1C1C1C"/>
                          </a:solidFill>
                          <a:latin typeface="Calibri"/>
                        </a:defRPr>
                      </a:pPr>
                      <a:r>
                        <a:rPr sz="1000" b="0" dirty="0">
                          <a:solidFill>
                            <a:srgbClr val="333333"/>
                          </a:solidFill>
                        </a:rPr>
                        <a:t>Serie A</a:t>
                      </a:r>
                    </a:p>
                  </a:txBody>
                  <a:tcPr>
                    <a:solidFill>
                      <a:srgbClr val="FFFFFF"/>
                    </a:solidFill>
                  </a:tcPr>
                </a:tc>
                <a:tc>
                  <a:txBody>
                    <a:bodyPr/>
                    <a:lstStyle/>
                    <a:p>
                      <a:pPr>
                        <a:defRPr sz="1200" b="0">
                          <a:solidFill>
                            <a:srgbClr val="1C1C1C"/>
                          </a:solidFill>
                          <a:latin typeface="Calibri"/>
                        </a:defRPr>
                      </a:pPr>
                      <a:r>
                        <a:rPr sz="1000" b="0">
                          <a:solidFill>
                            <a:srgbClr val="333333"/>
                          </a:solidFill>
                        </a:rPr>
                        <a:t>21</a:t>
                      </a:r>
                    </a:p>
                  </a:txBody>
                  <a:tcPr>
                    <a:solidFill>
                      <a:srgbClr val="FFFFFF"/>
                    </a:solidFill>
                  </a:tcPr>
                </a:tc>
                <a:tc>
                  <a:txBody>
                    <a:bodyPr/>
                    <a:lstStyle/>
                    <a:p>
                      <a:pPr>
                        <a:defRPr sz="1200" b="0">
                          <a:solidFill>
                            <a:srgbClr val="1C1C1C"/>
                          </a:solidFill>
                          <a:latin typeface="Calibri"/>
                        </a:defRPr>
                      </a:pPr>
                      <a:r>
                        <a:rPr sz="1000" b="0">
                          <a:solidFill>
                            <a:srgbClr val="333333"/>
                          </a:solidFill>
                        </a:rPr>
                        <a:t>1366</a:t>
                      </a:r>
                    </a:p>
                  </a:txBody>
                  <a:tcPr>
                    <a:solidFill>
                      <a:srgbClr val="FFFFFF"/>
                    </a:solidFill>
                  </a:tcPr>
                </a:tc>
                <a:tc>
                  <a:txBody>
                    <a:bodyPr/>
                    <a:lstStyle/>
                    <a:p>
                      <a:pPr>
                        <a:defRPr sz="1200" b="0">
                          <a:solidFill>
                            <a:srgbClr val="1C1C1C"/>
                          </a:solidFill>
                          <a:latin typeface="Calibri"/>
                        </a:defRPr>
                      </a:pPr>
                      <a:r>
                        <a:rPr sz="1000" b="0">
                          <a:solidFill>
                            <a:srgbClr val="333333"/>
                          </a:solidFill>
                        </a:rPr>
                        <a:t>1040</a:t>
                      </a:r>
                    </a:p>
                  </a:txBody>
                  <a:tcPr>
                    <a:solidFill>
                      <a:srgbClr val="FFFFFF"/>
                    </a:solidFill>
                  </a:tcPr>
                </a:tc>
                <a:tc>
                  <a:txBody>
                    <a:bodyPr/>
                    <a:lstStyle/>
                    <a:p>
                      <a:pPr>
                        <a:defRPr sz="1200" b="0">
                          <a:solidFill>
                            <a:srgbClr val="1C1C1C"/>
                          </a:solidFill>
                          <a:latin typeface="Calibri"/>
                        </a:defRPr>
                      </a:pPr>
                      <a:r>
                        <a:rPr sz="1000" b="0" dirty="0">
                          <a:solidFill>
                            <a:srgbClr val="333333"/>
                          </a:solidFill>
                        </a:rPr>
                        <a:t>56.7</a:t>
                      </a:r>
                    </a:p>
                  </a:txBody>
                  <a:tcPr>
                    <a:solidFill>
                      <a:srgbClr val="FFFFFF"/>
                    </a:solidFill>
                  </a:tcPr>
                </a:tc>
                <a:extLst>
                  <a:ext uri="{0D108BD9-81ED-4DB2-BD59-A6C34878D82A}">
                    <a16:rowId xmlns:a16="http://schemas.microsoft.com/office/drawing/2014/main" val="1952154708"/>
                  </a:ext>
                </a:extLst>
              </a:tr>
              <a:tr h="256032">
                <a:tc>
                  <a:txBody>
                    <a:bodyPr/>
                    <a:lstStyle/>
                    <a:p>
                      <a:pPr>
                        <a:defRPr sz="1200" b="0">
                          <a:solidFill>
                            <a:srgbClr val="1C1C1C"/>
                          </a:solidFill>
                          <a:latin typeface="Calibri"/>
                        </a:defRPr>
                      </a:pPr>
                      <a:r>
                        <a:rPr sz="1000" b="0" dirty="0">
                          <a:solidFill>
                            <a:srgbClr val="333333"/>
                          </a:solidFill>
                        </a:rPr>
                        <a:t>2. Bundesliga</a:t>
                      </a:r>
                    </a:p>
                  </a:txBody>
                  <a:tcPr>
                    <a:solidFill>
                      <a:srgbClr val="FFFFFF"/>
                    </a:solidFill>
                  </a:tcPr>
                </a:tc>
                <a:tc>
                  <a:txBody>
                    <a:bodyPr/>
                    <a:lstStyle/>
                    <a:p>
                      <a:pPr>
                        <a:defRPr sz="1200" b="0">
                          <a:solidFill>
                            <a:srgbClr val="1C1C1C"/>
                          </a:solidFill>
                          <a:latin typeface="Calibri"/>
                        </a:defRPr>
                      </a:pPr>
                      <a:r>
                        <a:rPr sz="1000" b="0">
                          <a:solidFill>
                            <a:srgbClr val="333333"/>
                          </a:solidFill>
                        </a:rPr>
                        <a:t>84</a:t>
                      </a:r>
                    </a:p>
                  </a:txBody>
                  <a:tcPr>
                    <a:solidFill>
                      <a:srgbClr val="FFFFFF"/>
                    </a:solidFill>
                  </a:tcPr>
                </a:tc>
                <a:tc>
                  <a:txBody>
                    <a:bodyPr/>
                    <a:lstStyle/>
                    <a:p>
                      <a:pPr>
                        <a:defRPr sz="1200" b="0">
                          <a:solidFill>
                            <a:srgbClr val="1C1C1C"/>
                          </a:solidFill>
                          <a:latin typeface="Calibri"/>
                        </a:defRPr>
                      </a:pPr>
                      <a:r>
                        <a:rPr sz="1000" b="0">
                          <a:solidFill>
                            <a:srgbClr val="333333"/>
                          </a:solidFill>
                        </a:rPr>
                        <a:t>1361</a:t>
                      </a:r>
                    </a:p>
                  </a:txBody>
                  <a:tcPr>
                    <a:solidFill>
                      <a:srgbClr val="FFFFFF"/>
                    </a:solidFill>
                  </a:tcPr>
                </a:tc>
                <a:tc>
                  <a:txBody>
                    <a:bodyPr/>
                    <a:lstStyle/>
                    <a:p>
                      <a:pPr>
                        <a:defRPr sz="1200" b="0">
                          <a:solidFill>
                            <a:srgbClr val="1C1C1C"/>
                          </a:solidFill>
                          <a:latin typeface="Calibri"/>
                        </a:defRPr>
                      </a:pPr>
                      <a:r>
                        <a:rPr sz="1000" b="0">
                          <a:solidFill>
                            <a:srgbClr val="333333"/>
                          </a:solidFill>
                        </a:rPr>
                        <a:t>1111</a:t>
                      </a:r>
                    </a:p>
                  </a:txBody>
                  <a:tcPr>
                    <a:solidFill>
                      <a:srgbClr val="FFFFFF"/>
                    </a:solidFill>
                  </a:tcPr>
                </a:tc>
                <a:tc>
                  <a:txBody>
                    <a:bodyPr/>
                    <a:lstStyle/>
                    <a:p>
                      <a:pPr>
                        <a:defRPr sz="1200" b="0">
                          <a:solidFill>
                            <a:srgbClr val="1C1C1C"/>
                          </a:solidFill>
                          <a:latin typeface="Calibri"/>
                        </a:defRPr>
                      </a:pPr>
                      <a:r>
                        <a:rPr sz="1000" b="0" dirty="0">
                          <a:solidFill>
                            <a:srgbClr val="333333"/>
                          </a:solidFill>
                        </a:rPr>
                        <a:t>49.6</a:t>
                      </a:r>
                    </a:p>
                  </a:txBody>
                  <a:tcPr>
                    <a:solidFill>
                      <a:srgbClr val="FFFFFF"/>
                    </a:solidFill>
                  </a:tcPr>
                </a:tc>
                <a:extLst>
                  <a:ext uri="{0D108BD9-81ED-4DB2-BD59-A6C34878D82A}">
                    <a16:rowId xmlns:a16="http://schemas.microsoft.com/office/drawing/2014/main" val="256267834"/>
                  </a:ext>
                </a:extLst>
              </a:tr>
              <a:tr h="256032">
                <a:tc>
                  <a:txBody>
                    <a:bodyPr/>
                    <a:lstStyle/>
                    <a:p>
                      <a:pPr>
                        <a:defRPr sz="1200" b="0">
                          <a:solidFill>
                            <a:srgbClr val="1C1C1C"/>
                          </a:solidFill>
                          <a:latin typeface="Calibri"/>
                        </a:defRPr>
                      </a:pPr>
                      <a:r>
                        <a:rPr sz="1000" b="0" dirty="0">
                          <a:solidFill>
                            <a:srgbClr val="333333"/>
                          </a:solidFill>
                        </a:rPr>
                        <a:t>Belgian Pro League</a:t>
                      </a:r>
                    </a:p>
                  </a:txBody>
                  <a:tcPr>
                    <a:solidFill>
                      <a:srgbClr val="FFFFFF"/>
                    </a:solidFill>
                  </a:tcPr>
                </a:tc>
                <a:tc>
                  <a:txBody>
                    <a:bodyPr/>
                    <a:lstStyle/>
                    <a:p>
                      <a:pPr>
                        <a:defRPr sz="1200" b="0">
                          <a:solidFill>
                            <a:srgbClr val="1C1C1C"/>
                          </a:solidFill>
                          <a:latin typeface="Calibri"/>
                        </a:defRPr>
                      </a:pPr>
                      <a:r>
                        <a:rPr sz="1000" b="0">
                          <a:solidFill>
                            <a:srgbClr val="333333"/>
                          </a:solidFill>
                        </a:rPr>
                        <a:t>16</a:t>
                      </a:r>
                    </a:p>
                  </a:txBody>
                  <a:tcPr>
                    <a:solidFill>
                      <a:srgbClr val="FFFFFF"/>
                    </a:solidFill>
                  </a:tcPr>
                </a:tc>
                <a:tc>
                  <a:txBody>
                    <a:bodyPr/>
                    <a:lstStyle/>
                    <a:p>
                      <a:pPr>
                        <a:defRPr sz="1200" b="0">
                          <a:solidFill>
                            <a:srgbClr val="1C1C1C"/>
                          </a:solidFill>
                          <a:latin typeface="Calibri"/>
                        </a:defRPr>
                      </a:pPr>
                      <a:r>
                        <a:rPr sz="1000" b="0">
                          <a:solidFill>
                            <a:srgbClr val="333333"/>
                          </a:solidFill>
                        </a:rPr>
                        <a:t>1325</a:t>
                      </a:r>
                    </a:p>
                  </a:txBody>
                  <a:tcPr>
                    <a:solidFill>
                      <a:srgbClr val="FFFFFF"/>
                    </a:solidFill>
                  </a:tcPr>
                </a:tc>
                <a:tc>
                  <a:txBody>
                    <a:bodyPr/>
                    <a:lstStyle/>
                    <a:p>
                      <a:pPr>
                        <a:defRPr sz="1200" b="0">
                          <a:solidFill>
                            <a:srgbClr val="1C1C1C"/>
                          </a:solidFill>
                          <a:latin typeface="Calibri"/>
                        </a:defRPr>
                      </a:pPr>
                      <a:r>
                        <a:rPr sz="1000" b="0">
                          <a:solidFill>
                            <a:srgbClr val="333333"/>
                          </a:solidFill>
                        </a:rPr>
                        <a:t>1342</a:t>
                      </a:r>
                    </a:p>
                  </a:txBody>
                  <a:tcPr>
                    <a:solidFill>
                      <a:srgbClr val="FFFFFF"/>
                    </a:solidFill>
                  </a:tcPr>
                </a:tc>
                <a:tc>
                  <a:txBody>
                    <a:bodyPr/>
                    <a:lstStyle/>
                    <a:p>
                      <a:pPr>
                        <a:defRPr sz="1200" b="0">
                          <a:solidFill>
                            <a:srgbClr val="1C1C1C"/>
                          </a:solidFill>
                          <a:latin typeface="Calibri"/>
                        </a:defRPr>
                      </a:pPr>
                      <a:r>
                        <a:rPr sz="1000" b="0" dirty="0">
                          <a:solidFill>
                            <a:srgbClr val="333333"/>
                          </a:solidFill>
                        </a:rPr>
                        <a:t>53.1</a:t>
                      </a:r>
                    </a:p>
                  </a:txBody>
                  <a:tcPr>
                    <a:solidFill>
                      <a:srgbClr val="FFFFFF"/>
                    </a:solidFill>
                  </a:tcPr>
                </a:tc>
                <a:extLst>
                  <a:ext uri="{0D108BD9-81ED-4DB2-BD59-A6C34878D82A}">
                    <a16:rowId xmlns:a16="http://schemas.microsoft.com/office/drawing/2014/main" val="1344981553"/>
                  </a:ext>
                </a:extLst>
              </a:tr>
              <a:tr h="256032">
                <a:tc>
                  <a:txBody>
                    <a:bodyPr/>
                    <a:lstStyle/>
                    <a:p>
                      <a:pPr>
                        <a:defRPr sz="1200" b="0">
                          <a:solidFill>
                            <a:srgbClr val="1C1C1C"/>
                          </a:solidFill>
                          <a:latin typeface="Calibri"/>
                        </a:defRPr>
                      </a:pPr>
                      <a:r>
                        <a:rPr sz="1000" b="0" dirty="0">
                          <a:solidFill>
                            <a:srgbClr val="333333"/>
                          </a:solidFill>
                        </a:rPr>
                        <a:t>Austrian Bundesliga</a:t>
                      </a:r>
                    </a:p>
                  </a:txBody>
                  <a:tcPr>
                    <a:solidFill>
                      <a:srgbClr val="FFFFFF"/>
                    </a:solidFill>
                  </a:tcPr>
                </a:tc>
                <a:tc>
                  <a:txBody>
                    <a:bodyPr/>
                    <a:lstStyle/>
                    <a:p>
                      <a:pPr>
                        <a:defRPr sz="1200" b="0">
                          <a:solidFill>
                            <a:srgbClr val="1C1C1C"/>
                          </a:solidFill>
                          <a:latin typeface="Calibri"/>
                        </a:defRPr>
                      </a:pPr>
                      <a:r>
                        <a:rPr sz="1000" b="0">
                          <a:solidFill>
                            <a:srgbClr val="333333"/>
                          </a:solidFill>
                        </a:rPr>
                        <a:t>10</a:t>
                      </a:r>
                    </a:p>
                  </a:txBody>
                  <a:tcPr>
                    <a:solidFill>
                      <a:srgbClr val="FFFFFF"/>
                    </a:solidFill>
                  </a:tcPr>
                </a:tc>
                <a:tc>
                  <a:txBody>
                    <a:bodyPr/>
                    <a:lstStyle/>
                    <a:p>
                      <a:pPr>
                        <a:defRPr sz="1200" b="0">
                          <a:solidFill>
                            <a:srgbClr val="1C1C1C"/>
                          </a:solidFill>
                          <a:latin typeface="Calibri"/>
                        </a:defRPr>
                      </a:pPr>
                      <a:r>
                        <a:rPr sz="1000" b="0">
                          <a:solidFill>
                            <a:srgbClr val="333333"/>
                          </a:solidFill>
                        </a:rPr>
                        <a:t>1152</a:t>
                      </a:r>
                    </a:p>
                  </a:txBody>
                  <a:tcPr>
                    <a:solidFill>
                      <a:srgbClr val="FFFFFF"/>
                    </a:solidFill>
                  </a:tcPr>
                </a:tc>
                <a:tc>
                  <a:txBody>
                    <a:bodyPr/>
                    <a:lstStyle/>
                    <a:p>
                      <a:pPr>
                        <a:defRPr sz="1200" b="0">
                          <a:solidFill>
                            <a:srgbClr val="1C1C1C"/>
                          </a:solidFill>
                          <a:latin typeface="Calibri"/>
                        </a:defRPr>
                      </a:pPr>
                      <a:r>
                        <a:rPr sz="1000" b="0">
                          <a:solidFill>
                            <a:srgbClr val="333333"/>
                          </a:solidFill>
                        </a:rPr>
                        <a:t>1284</a:t>
                      </a:r>
                    </a:p>
                  </a:txBody>
                  <a:tcPr>
                    <a:solidFill>
                      <a:srgbClr val="FFFFFF"/>
                    </a:solidFill>
                  </a:tcPr>
                </a:tc>
                <a:tc>
                  <a:txBody>
                    <a:bodyPr/>
                    <a:lstStyle/>
                    <a:p>
                      <a:pPr>
                        <a:defRPr sz="1200" b="0">
                          <a:solidFill>
                            <a:srgbClr val="1C1C1C"/>
                          </a:solidFill>
                          <a:latin typeface="Calibri"/>
                        </a:defRPr>
                      </a:pPr>
                      <a:r>
                        <a:rPr sz="1000" b="0" dirty="0">
                          <a:solidFill>
                            <a:srgbClr val="333333"/>
                          </a:solidFill>
                        </a:rPr>
                        <a:t>49.6</a:t>
                      </a:r>
                    </a:p>
                  </a:txBody>
                  <a:tcPr>
                    <a:solidFill>
                      <a:srgbClr val="FFFFFF"/>
                    </a:solidFill>
                  </a:tcPr>
                </a:tc>
                <a:extLst>
                  <a:ext uri="{0D108BD9-81ED-4DB2-BD59-A6C34878D82A}">
                    <a16:rowId xmlns:a16="http://schemas.microsoft.com/office/drawing/2014/main" val="886173303"/>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064765181"/>
              </p:ext>
            </p:extLst>
          </p:nvPr>
        </p:nvGraphicFramePr>
        <p:xfrm>
          <a:off x="411480" y="3738486"/>
          <a:ext cx="4846320" cy="167640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256032">
                <a:tc>
                  <a:txBody>
                    <a:bodyPr/>
                    <a:lstStyle/>
                    <a:p>
                      <a:pPr>
                        <a:defRPr sz="1100" b="1">
                          <a:solidFill>
                            <a:srgbClr val="FFFFFF"/>
                          </a:solidFill>
                          <a:latin typeface="Calibri"/>
                        </a:defRPr>
                      </a:pPr>
                      <a:r>
                        <a:rPr sz="1000" b="1" dirty="0">
                          <a:solidFill>
                            <a:schemeClr val="bg1"/>
                          </a:solidFill>
                        </a:rPr>
                        <a:t>League</a:t>
                      </a:r>
                    </a:p>
                  </a:txBody>
                  <a:tcPr>
                    <a:solidFill>
                      <a:srgbClr val="1C1C1C"/>
                    </a:solidFill>
                  </a:tcPr>
                </a:tc>
                <a:tc>
                  <a:txBody>
                    <a:bodyPr/>
                    <a:lstStyle/>
                    <a:p>
                      <a:pPr>
                        <a:defRPr sz="1100" b="1">
                          <a:solidFill>
                            <a:srgbClr val="FFFFFF"/>
                          </a:solidFill>
                          <a:latin typeface="Calibri"/>
                        </a:defRPr>
                      </a:pPr>
                      <a:r>
                        <a:rPr sz="1000" b="1">
                          <a:solidFill>
                            <a:schemeClr val="bg1"/>
                          </a:solidFill>
                        </a:rPr>
                        <a:t>N</a:t>
                      </a:r>
                    </a:p>
                  </a:txBody>
                  <a:tcPr>
                    <a:solidFill>
                      <a:srgbClr val="1C1C1C"/>
                    </a:solidFill>
                  </a:tcPr>
                </a:tc>
                <a:tc>
                  <a:txBody>
                    <a:bodyPr/>
                    <a:lstStyle/>
                    <a:p>
                      <a:pPr>
                        <a:defRPr sz="1100" b="1">
                          <a:solidFill>
                            <a:srgbClr val="FFFFFF"/>
                          </a:solidFill>
                          <a:latin typeface="Calibri"/>
                        </a:defRPr>
                      </a:pPr>
                      <a:r>
                        <a:rPr sz="1000" b="1">
                          <a:solidFill>
                            <a:schemeClr val="bg1"/>
                          </a:solidFill>
                        </a:rPr>
                        <a:t>Mean Year 1 in Bundesliga min</a:t>
                      </a:r>
                    </a:p>
                  </a:txBody>
                  <a:tcPr>
                    <a:solidFill>
                      <a:srgbClr val="1C1C1C"/>
                    </a:solidFill>
                  </a:tcPr>
                </a:tc>
                <a:tc>
                  <a:txBody>
                    <a:bodyPr/>
                    <a:lstStyle/>
                    <a:p>
                      <a:pPr>
                        <a:defRPr sz="1100" b="1">
                          <a:solidFill>
                            <a:srgbClr val="FFFFFF"/>
                          </a:solidFill>
                          <a:latin typeface="Calibri"/>
                        </a:defRPr>
                      </a:pPr>
                      <a:r>
                        <a:rPr sz="1000" b="1" dirty="0">
                          <a:solidFill>
                            <a:schemeClr val="bg1"/>
                          </a:solidFill>
                        </a:rPr>
                        <a:t>Trait score</a:t>
                      </a:r>
                    </a:p>
                  </a:txBody>
                  <a:tcPr>
                    <a:solidFill>
                      <a:srgbClr val="1C1C1C"/>
                    </a:solidFill>
                  </a:tcPr>
                </a:tc>
                <a:extLst>
                  <a:ext uri="{0D108BD9-81ED-4DB2-BD59-A6C34878D82A}">
                    <a16:rowId xmlns:a16="http://schemas.microsoft.com/office/drawing/2014/main" val="10000"/>
                  </a:ext>
                </a:extLst>
              </a:tr>
              <a:tr h="256032">
                <a:tc>
                  <a:txBody>
                    <a:bodyPr/>
                    <a:lstStyle/>
                    <a:p>
                      <a:pPr>
                        <a:defRPr sz="1100" b="0">
                          <a:solidFill>
                            <a:srgbClr val="1C1C1C"/>
                          </a:solidFill>
                          <a:latin typeface="Calibri"/>
                        </a:defRPr>
                      </a:pPr>
                      <a:r>
                        <a:rPr sz="1000">
                          <a:solidFill>
                            <a:srgbClr val="333333"/>
                          </a:solidFill>
                        </a:rPr>
                        <a:t>FIFA World Cup</a:t>
                      </a:r>
                    </a:p>
                  </a:txBody>
                  <a:tcPr>
                    <a:solidFill>
                      <a:srgbClr val="F0FAF4"/>
                    </a:solidFill>
                  </a:tcPr>
                </a:tc>
                <a:tc>
                  <a:txBody>
                    <a:bodyPr/>
                    <a:lstStyle/>
                    <a:p>
                      <a:pPr>
                        <a:defRPr sz="1100" b="0">
                          <a:solidFill>
                            <a:srgbClr val="1C1C1C"/>
                          </a:solidFill>
                          <a:latin typeface="Calibri"/>
                        </a:defRPr>
                      </a:pPr>
                      <a:r>
                        <a:rPr sz="1000">
                          <a:solidFill>
                            <a:srgbClr val="333333"/>
                          </a:solidFill>
                        </a:rPr>
                        <a:t>27</a:t>
                      </a:r>
                    </a:p>
                  </a:txBody>
                  <a:tcPr>
                    <a:solidFill>
                      <a:srgbClr val="F0FAF4"/>
                    </a:solidFill>
                  </a:tcPr>
                </a:tc>
                <a:tc>
                  <a:txBody>
                    <a:bodyPr/>
                    <a:lstStyle/>
                    <a:p>
                      <a:pPr>
                        <a:defRPr sz="1100" b="0">
                          <a:solidFill>
                            <a:srgbClr val="1C1C1C"/>
                          </a:solidFill>
                          <a:latin typeface="Calibri"/>
                        </a:defRPr>
                      </a:pPr>
                      <a:r>
                        <a:rPr sz="1000">
                          <a:solidFill>
                            <a:srgbClr val="333333"/>
                          </a:solidFill>
                        </a:rPr>
                        <a:t>288</a:t>
                      </a:r>
                    </a:p>
                  </a:txBody>
                  <a:tcPr>
                    <a:solidFill>
                      <a:srgbClr val="F0FAF4"/>
                    </a:solidFill>
                  </a:tcPr>
                </a:tc>
                <a:tc>
                  <a:txBody>
                    <a:bodyPr/>
                    <a:lstStyle/>
                    <a:p>
                      <a:pPr>
                        <a:defRPr sz="1100" b="0">
                          <a:solidFill>
                            <a:srgbClr val="1C1C1C"/>
                          </a:solidFill>
                          <a:latin typeface="Calibri"/>
                        </a:defRPr>
                      </a:pPr>
                      <a:r>
                        <a:rPr sz="1000">
                          <a:solidFill>
                            <a:srgbClr val="333333"/>
                          </a:solidFill>
                        </a:rPr>
                        <a:t>57.3</a:t>
                      </a:r>
                    </a:p>
                  </a:txBody>
                  <a:tcPr>
                    <a:solidFill>
                      <a:srgbClr val="F0FAF4"/>
                    </a:solidFill>
                  </a:tcPr>
                </a:tc>
                <a:extLst>
                  <a:ext uri="{0D108BD9-81ED-4DB2-BD59-A6C34878D82A}">
                    <a16:rowId xmlns:a16="http://schemas.microsoft.com/office/drawing/2014/main" val="10001"/>
                  </a:ext>
                </a:extLst>
              </a:tr>
              <a:tr h="256032">
                <a:tc>
                  <a:txBody>
                    <a:bodyPr/>
                    <a:lstStyle/>
                    <a:p>
                      <a:pPr>
                        <a:defRPr sz="1100" b="0">
                          <a:solidFill>
                            <a:srgbClr val="1C1C1C"/>
                          </a:solidFill>
                          <a:latin typeface="Calibri"/>
                        </a:defRPr>
                      </a:pPr>
                      <a:r>
                        <a:rPr sz="1000">
                          <a:solidFill>
                            <a:srgbClr val="333333"/>
                          </a:solidFill>
                        </a:rPr>
                        <a:t>Champions League</a:t>
                      </a:r>
                    </a:p>
                  </a:txBody>
                  <a:tcPr>
                    <a:solidFill>
                      <a:srgbClr val="FFFFFF"/>
                    </a:solidFill>
                  </a:tcPr>
                </a:tc>
                <a:tc>
                  <a:txBody>
                    <a:bodyPr/>
                    <a:lstStyle/>
                    <a:p>
                      <a:pPr>
                        <a:defRPr sz="1100" b="0">
                          <a:solidFill>
                            <a:srgbClr val="1C1C1C"/>
                          </a:solidFill>
                          <a:latin typeface="Calibri"/>
                        </a:defRPr>
                      </a:pPr>
                      <a:r>
                        <a:rPr sz="1000">
                          <a:solidFill>
                            <a:srgbClr val="333333"/>
                          </a:solidFill>
                        </a:rPr>
                        <a:t>17</a:t>
                      </a:r>
                    </a:p>
                  </a:txBody>
                  <a:tcPr>
                    <a:solidFill>
                      <a:srgbClr val="FFFFFF"/>
                    </a:solidFill>
                  </a:tcPr>
                </a:tc>
                <a:tc>
                  <a:txBody>
                    <a:bodyPr/>
                    <a:lstStyle/>
                    <a:p>
                      <a:pPr>
                        <a:defRPr sz="1100" b="0">
                          <a:solidFill>
                            <a:srgbClr val="1C1C1C"/>
                          </a:solidFill>
                          <a:latin typeface="Calibri"/>
                        </a:defRPr>
                      </a:pPr>
                      <a:r>
                        <a:rPr sz="1000">
                          <a:solidFill>
                            <a:srgbClr val="333333"/>
                          </a:solidFill>
                        </a:rPr>
                        <a:t>257</a:t>
                      </a:r>
                    </a:p>
                  </a:txBody>
                  <a:tcPr>
                    <a:solidFill>
                      <a:srgbClr val="FFFFFF"/>
                    </a:solidFill>
                  </a:tcPr>
                </a:tc>
                <a:tc>
                  <a:txBody>
                    <a:bodyPr/>
                    <a:lstStyle/>
                    <a:p>
                      <a:pPr>
                        <a:defRPr sz="1100" b="0">
                          <a:solidFill>
                            <a:srgbClr val="1C1C1C"/>
                          </a:solidFill>
                          <a:latin typeface="Calibri"/>
                        </a:defRPr>
                      </a:pPr>
                      <a:r>
                        <a:rPr sz="1000">
                          <a:solidFill>
                            <a:srgbClr val="333333"/>
                          </a:solidFill>
                        </a:rPr>
                        <a:t>57.8</a:t>
                      </a:r>
                    </a:p>
                  </a:txBody>
                  <a:tcPr>
                    <a:solidFill>
                      <a:srgbClr val="FFFFFF"/>
                    </a:solidFill>
                  </a:tcPr>
                </a:tc>
                <a:extLst>
                  <a:ext uri="{0D108BD9-81ED-4DB2-BD59-A6C34878D82A}">
                    <a16:rowId xmlns:a16="http://schemas.microsoft.com/office/drawing/2014/main" val="10002"/>
                  </a:ext>
                </a:extLst>
              </a:tr>
              <a:tr h="256032">
                <a:tc>
                  <a:txBody>
                    <a:bodyPr/>
                    <a:lstStyle/>
                    <a:p>
                      <a:pPr>
                        <a:defRPr sz="1100" b="0">
                          <a:solidFill>
                            <a:srgbClr val="1C1C1C"/>
                          </a:solidFill>
                          <a:latin typeface="Calibri"/>
                        </a:defRPr>
                      </a:pPr>
                      <a:r>
                        <a:rPr sz="1000">
                          <a:solidFill>
                            <a:srgbClr val="333333"/>
                          </a:solidFill>
                        </a:rPr>
                        <a:t>UEFA Euro</a:t>
                      </a:r>
                    </a:p>
                  </a:txBody>
                  <a:tcPr>
                    <a:solidFill>
                      <a:srgbClr val="F0FAF4"/>
                    </a:solidFill>
                  </a:tcPr>
                </a:tc>
                <a:tc>
                  <a:txBody>
                    <a:bodyPr/>
                    <a:lstStyle/>
                    <a:p>
                      <a:pPr>
                        <a:defRPr sz="1100" b="0">
                          <a:solidFill>
                            <a:srgbClr val="1C1C1C"/>
                          </a:solidFill>
                          <a:latin typeface="Calibri"/>
                        </a:defRPr>
                      </a:pPr>
                      <a:r>
                        <a:rPr sz="1000">
                          <a:solidFill>
                            <a:srgbClr val="333333"/>
                          </a:solidFill>
                        </a:rPr>
                        <a:t>17</a:t>
                      </a:r>
                    </a:p>
                  </a:txBody>
                  <a:tcPr>
                    <a:solidFill>
                      <a:srgbClr val="F0FAF4"/>
                    </a:solidFill>
                  </a:tcPr>
                </a:tc>
                <a:tc>
                  <a:txBody>
                    <a:bodyPr/>
                    <a:lstStyle/>
                    <a:p>
                      <a:pPr>
                        <a:defRPr sz="1100" b="0">
                          <a:solidFill>
                            <a:srgbClr val="1C1C1C"/>
                          </a:solidFill>
                          <a:latin typeface="Calibri"/>
                        </a:defRPr>
                      </a:pPr>
                      <a:r>
                        <a:rPr sz="1000">
                          <a:solidFill>
                            <a:srgbClr val="333333"/>
                          </a:solidFill>
                        </a:rPr>
                        <a:t>193</a:t>
                      </a:r>
                    </a:p>
                  </a:txBody>
                  <a:tcPr>
                    <a:solidFill>
                      <a:srgbClr val="F0FAF4"/>
                    </a:solidFill>
                  </a:tcPr>
                </a:tc>
                <a:tc>
                  <a:txBody>
                    <a:bodyPr/>
                    <a:lstStyle/>
                    <a:p>
                      <a:pPr>
                        <a:defRPr sz="1100" b="0">
                          <a:solidFill>
                            <a:srgbClr val="1C1C1C"/>
                          </a:solidFill>
                          <a:latin typeface="Calibri"/>
                        </a:defRPr>
                      </a:pPr>
                      <a:r>
                        <a:rPr sz="1000">
                          <a:solidFill>
                            <a:srgbClr val="333333"/>
                          </a:solidFill>
                        </a:rPr>
                        <a:t>45.9</a:t>
                      </a:r>
                    </a:p>
                  </a:txBody>
                  <a:tcPr>
                    <a:solidFill>
                      <a:srgbClr val="F0FAF4"/>
                    </a:solidFill>
                  </a:tcPr>
                </a:tc>
                <a:extLst>
                  <a:ext uri="{0D108BD9-81ED-4DB2-BD59-A6C34878D82A}">
                    <a16:rowId xmlns:a16="http://schemas.microsoft.com/office/drawing/2014/main" val="10003"/>
                  </a:ext>
                </a:extLst>
              </a:tr>
              <a:tr h="256032">
                <a:tc>
                  <a:txBody>
                    <a:bodyPr/>
                    <a:lstStyle/>
                    <a:p>
                      <a:pPr>
                        <a:defRPr sz="1100" b="0">
                          <a:solidFill>
                            <a:srgbClr val="1C1C1C"/>
                          </a:solidFill>
                          <a:latin typeface="Calibri"/>
                        </a:defRPr>
                      </a:pPr>
                      <a:r>
                        <a:rPr sz="1000">
                          <a:solidFill>
                            <a:srgbClr val="333333"/>
                          </a:solidFill>
                        </a:rPr>
                        <a:t>Premier League</a:t>
                      </a:r>
                    </a:p>
                  </a:txBody>
                  <a:tcPr>
                    <a:solidFill>
                      <a:srgbClr val="FFFFFF"/>
                    </a:solidFill>
                  </a:tcPr>
                </a:tc>
                <a:tc>
                  <a:txBody>
                    <a:bodyPr/>
                    <a:lstStyle/>
                    <a:p>
                      <a:pPr>
                        <a:defRPr sz="1100" b="0">
                          <a:solidFill>
                            <a:srgbClr val="1C1C1C"/>
                          </a:solidFill>
                          <a:latin typeface="Calibri"/>
                        </a:defRPr>
                      </a:pPr>
                      <a:r>
                        <a:rPr sz="1000">
                          <a:solidFill>
                            <a:srgbClr val="333333"/>
                          </a:solidFill>
                        </a:rPr>
                        <a:t>3</a:t>
                      </a:r>
                    </a:p>
                  </a:txBody>
                  <a:tcPr>
                    <a:solidFill>
                      <a:srgbClr val="FFFFFF"/>
                    </a:solidFill>
                  </a:tcPr>
                </a:tc>
                <a:tc>
                  <a:txBody>
                    <a:bodyPr/>
                    <a:lstStyle/>
                    <a:p>
                      <a:pPr>
                        <a:defRPr sz="1100" b="0">
                          <a:solidFill>
                            <a:srgbClr val="1C1C1C"/>
                          </a:solidFill>
                          <a:latin typeface="Calibri"/>
                        </a:defRPr>
                      </a:pPr>
                      <a:r>
                        <a:rPr sz="1000">
                          <a:solidFill>
                            <a:srgbClr val="333333"/>
                          </a:solidFill>
                        </a:rPr>
                        <a:t>146</a:t>
                      </a:r>
                    </a:p>
                  </a:txBody>
                  <a:tcPr>
                    <a:solidFill>
                      <a:srgbClr val="FFFFFF"/>
                    </a:solidFill>
                  </a:tcPr>
                </a:tc>
                <a:tc>
                  <a:txBody>
                    <a:bodyPr/>
                    <a:lstStyle/>
                    <a:p>
                      <a:pPr>
                        <a:defRPr sz="1100" b="0">
                          <a:solidFill>
                            <a:srgbClr val="1C1C1C"/>
                          </a:solidFill>
                          <a:latin typeface="Calibri"/>
                        </a:defRPr>
                      </a:pPr>
                      <a:r>
                        <a:rPr sz="1000">
                          <a:solidFill>
                            <a:srgbClr val="333333"/>
                          </a:solidFill>
                        </a:rPr>
                        <a:t>53.7</a:t>
                      </a:r>
                    </a:p>
                  </a:txBody>
                  <a:tcPr>
                    <a:solidFill>
                      <a:srgbClr val="FFFFFF"/>
                    </a:solidFill>
                  </a:tcPr>
                </a:tc>
                <a:extLst>
                  <a:ext uri="{0D108BD9-81ED-4DB2-BD59-A6C34878D82A}">
                    <a16:rowId xmlns:a16="http://schemas.microsoft.com/office/drawing/2014/main" val="10004"/>
                  </a:ext>
                </a:extLst>
              </a:tr>
              <a:tr h="256032">
                <a:tc>
                  <a:txBody>
                    <a:bodyPr/>
                    <a:lstStyle/>
                    <a:p>
                      <a:pPr>
                        <a:defRPr sz="1100" b="0">
                          <a:solidFill>
                            <a:srgbClr val="1C1C1C"/>
                          </a:solidFill>
                          <a:latin typeface="Calibri"/>
                        </a:defRPr>
                      </a:pPr>
                      <a:r>
                        <a:rPr sz="1000">
                          <a:solidFill>
                            <a:srgbClr val="333333"/>
                          </a:solidFill>
                        </a:rPr>
                        <a:t>La Liga</a:t>
                      </a:r>
                    </a:p>
                  </a:txBody>
                  <a:tcPr>
                    <a:solidFill>
                      <a:srgbClr val="F0FAF4"/>
                    </a:solidFill>
                  </a:tcPr>
                </a:tc>
                <a:tc>
                  <a:txBody>
                    <a:bodyPr/>
                    <a:lstStyle/>
                    <a:p>
                      <a:pPr>
                        <a:defRPr sz="1100" b="0">
                          <a:solidFill>
                            <a:srgbClr val="1C1C1C"/>
                          </a:solidFill>
                          <a:latin typeface="Calibri"/>
                        </a:defRPr>
                      </a:pPr>
                      <a:r>
                        <a:rPr sz="1000">
                          <a:solidFill>
                            <a:srgbClr val="333333"/>
                          </a:solidFill>
                        </a:rPr>
                        <a:t>13</a:t>
                      </a:r>
                    </a:p>
                  </a:txBody>
                  <a:tcPr>
                    <a:solidFill>
                      <a:srgbClr val="F0FAF4"/>
                    </a:solidFill>
                  </a:tcPr>
                </a:tc>
                <a:tc>
                  <a:txBody>
                    <a:bodyPr/>
                    <a:lstStyle/>
                    <a:p>
                      <a:pPr>
                        <a:defRPr sz="1100" b="0">
                          <a:solidFill>
                            <a:srgbClr val="1C1C1C"/>
                          </a:solidFill>
                          <a:latin typeface="Calibri"/>
                        </a:defRPr>
                      </a:pPr>
                      <a:r>
                        <a:rPr sz="1000">
                          <a:solidFill>
                            <a:srgbClr val="333333"/>
                          </a:solidFill>
                        </a:rPr>
                        <a:t>133</a:t>
                      </a:r>
                    </a:p>
                  </a:txBody>
                  <a:tcPr>
                    <a:solidFill>
                      <a:srgbClr val="F0FAF4"/>
                    </a:solidFill>
                  </a:tcPr>
                </a:tc>
                <a:tc>
                  <a:txBody>
                    <a:bodyPr/>
                    <a:lstStyle/>
                    <a:p>
                      <a:pPr>
                        <a:defRPr sz="1100" b="0">
                          <a:solidFill>
                            <a:srgbClr val="1C1C1C"/>
                          </a:solidFill>
                          <a:latin typeface="Calibri"/>
                        </a:defRPr>
                      </a:pPr>
                      <a:r>
                        <a:rPr sz="1000" dirty="0">
                          <a:solidFill>
                            <a:srgbClr val="333333"/>
                          </a:solidFill>
                        </a:rPr>
                        <a:t>55.2</a:t>
                      </a:r>
                    </a:p>
                  </a:txBody>
                  <a:tcPr>
                    <a:solidFill>
                      <a:srgbClr val="F0FAF4"/>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411480" y="5521566"/>
            <a:ext cx="11155680" cy="743793"/>
          </a:xfrm>
          <a:prstGeom prst="rect">
            <a:avLst/>
          </a:prstGeom>
          <a:noFill/>
        </p:spPr>
        <p:txBody>
          <a:bodyPr wrap="square">
            <a:spAutoFit/>
          </a:bodyPr>
          <a:lstStyle/>
          <a:p>
            <a:pPr>
              <a:spcAft>
                <a:spcPts val="400"/>
              </a:spcAft>
            </a:pPr>
            <a:r>
              <a:rPr sz="1100">
                <a:solidFill>
                  <a:srgbClr val="333333"/>
                </a:solidFill>
              </a:rPr>
              <a:t>FBref N=329 (only leagues with ≥8 players shown). StatsBomb N=96 — international priors are directional only.</a:t>
            </a:r>
          </a:p>
          <a:p>
            <a:r>
              <a:rPr sz="1100">
                <a:solidFill>
                  <a:srgbClr val="333333"/>
                </a:solidFill>
              </a:rPr>
              <a:t/>
            </a:r>
          </a:p>
          <a:p>
            <a:r>
              <a:rPr sz="1100">
                <a:solidFill>
                  <a:srgbClr val="333333"/>
                </a:solidFill>
              </a:rPr>
              <a:t>How to read these averages: each row is players who already moved from that competition into the Bundesliga. Clubs chose whom to sign, so this is not a random sample of everyone in that league. Higher average Year 1 minutes describe the arrivals we observe — they do not prove that “coming from league X causes more minutes.”</a:t>
            </a:r>
          </a:p>
          <a:p>
            <a:r>
              <a:rPr sz="1100">
                <a:solidFill>
                  <a:srgbClr val="333333"/>
                </a:solidFill>
              </a:rPr>
              <a:t/>
            </a:r>
          </a:p>
          <a:p>
            <a:r>
              <a:rPr sz="1100">
                <a:solidFill>
                  <a:srgbClr val="333333"/>
                </a:solidFill>
              </a:rPr>
              <a:t>Tables also in the explorer Success tab · README.md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0972800" cy="400110"/>
          </a:xfrm>
          <a:prstGeom prst="rect">
            <a:avLst/>
          </a:prstGeom>
          <a:noFill/>
        </p:spPr>
        <p:txBody>
          <a:bodyPr wrap="square">
            <a:spAutoFit/>
          </a:bodyPr>
          <a:lstStyle/>
          <a:p>
            <a:pPr algn="l"/>
            <a:r>
              <a:rPr sz="2000" b="1" dirty="0">
                <a:solidFill>
                  <a:srgbClr val="3D5A80"/>
                </a:solidFill>
                <a:latin typeface="Georgia"/>
              </a:rPr>
              <a:t>PHASE 2 · FEEDER REGRESSION (EXPLORATORY)</a:t>
            </a:r>
          </a:p>
        </p:txBody>
      </p:sp>
      <p:sp>
        <p:nvSpPr>
          <p:cNvPr id="4" name="TextBox 3"/>
          <p:cNvSpPr txBox="1"/>
          <p:nvPr/>
        </p:nvSpPr>
        <p:spPr>
          <a:xfrm>
            <a:off x="548640" y="960120"/>
            <a:ext cx="10972800" cy="369332"/>
          </a:xfrm>
          <a:prstGeom prst="rect">
            <a:avLst/>
          </a:prstGeom>
          <a:noFill/>
        </p:spPr>
        <p:txBody>
          <a:bodyPr wrap="square">
            <a:spAutoFit/>
          </a:bodyPr>
          <a:lstStyle/>
          <a:p>
            <a:pPr algn="l"/>
            <a:r>
              <a:rPr sz="1300" b="0">
                <a:solidFill>
                  <a:srgbClr val="333333"/>
                </a:solidFill>
              </a:rPr>
              <a:t>Descriptive “best feeder league” averages are not enough — ordinary least squares (OLS) regression asks whether league gaps remain after controls.</a:t>
            </a:r>
          </a:p>
        </p:txBody>
      </p:sp>
      <p:sp>
        <p:nvSpPr>
          <p:cNvPr id="5" name="TextBox 4"/>
          <p:cNvSpPr txBox="1"/>
          <p:nvPr/>
        </p:nvSpPr>
        <p:spPr>
          <a:xfrm>
            <a:off x="685800" y="1417320"/>
            <a:ext cx="5303520" cy="3970318"/>
          </a:xfrm>
          <a:prstGeom prst="rect">
            <a:avLst/>
          </a:prstGeom>
          <a:noFill/>
          <a:ln w="19050">
            <a:solidFill>
              <a:srgbClr val="002060"/>
            </a:solidFill>
          </a:ln>
        </p:spPr>
        <p:txBody>
          <a:bodyPr wrap="square">
            <a:spAutoFit/>
          </a:bodyPr>
          <a:lstStyle/>
          <a:p>
            <a:br>
              <a:rPr lang="en-US" dirty="0"/>
            </a:br>
            <a:r>
              <a:rPr sz="1200" b="0">
                <a:solidFill>
                  <a:srgbClr val="333333"/>
                </a:solidFill>
              </a:rPr>
              <a:t>Model 1 — league only (with basic controls)</a:t>
            </a:r>
          </a:p>
          <a:p>
            <a:r>
              <a:rPr sz="1200" b="0">
                <a:solidFill>
                  <a:srgbClr val="333333"/>
                </a:solidFill>
              </a:rPr>
              <a:t>Year 1 minutes = prior league (PL / La Liga / Ligue 1 vs Serie A baseline)</a:t>
            </a:r>
          </a:p>
          <a:p>
            <a:r>
              <a:rPr sz="1200" b="0">
                <a:solidFill>
                  <a:srgbClr val="333333"/>
                </a:solidFill>
              </a:rPr>
              <a:t>                 + prior minutes + position</a:t>
            </a:r>
          </a:p>
          <a:p>
            <a:r>
              <a:rPr sz="1200" b="0">
                <a:solidFill>
                  <a:srgbClr val="333333"/>
                </a:solidFill>
              </a:rPr>
              <a:t>Question: after that, does league still matter?</a:t>
            </a:r>
          </a:p>
          <a:p>
            <a:r>
              <a:rPr sz="1200" b="0">
                <a:solidFill>
                  <a:srgbClr val="333333"/>
                </a:solidFill>
              </a:rPr>
              <a:t/>
            </a:r>
          </a:p>
          <a:p>
            <a:r>
              <a:rPr sz="1200" b="0">
                <a:solidFill>
                  <a:srgbClr val="333333"/>
                </a:solidFill>
              </a:rPr>
              <a:t>Model 2 — league + traits</a:t>
            </a:r>
          </a:p>
          <a:p>
            <a:r>
              <a:rPr sz="1200" b="0">
                <a:solidFill>
                  <a:srgbClr val="333333"/>
                </a:solidFill>
              </a:rPr>
              <a:t>Year 1 minutes = Model 1 + prior trait percentiles</a:t>
            </a:r>
          </a:p>
          <a:p>
            <a:r>
              <a:rPr sz="1200" b="0">
                <a:solidFill>
                  <a:srgbClr val="333333"/>
                </a:solidFill>
              </a:rPr>
              <a:t>                 (e.g. Final Third, Def Pen Touches, …)</a:t>
            </a:r>
          </a:p>
          <a:p>
            <a:r>
              <a:rPr sz="1200" b="0">
                <a:solidFill>
                  <a:srgbClr val="333333"/>
                </a:solidFill>
              </a:rPr>
              <a:t>Question: once you know the prior profile, do league gaps shrink?</a:t>
            </a:r>
          </a:p>
          <a:p>
            <a:r>
              <a:rPr sz="1200" b="0">
                <a:solidFill>
                  <a:srgbClr val="333333"/>
                </a:solidFill>
              </a:rPr>
              <a:t/>
            </a:r>
          </a:p>
          <a:p>
            <a:r>
              <a:rPr sz="1200" b="0">
                <a:solidFill>
                  <a:srgbClr val="333333"/>
                </a:solidFill>
              </a:rPr>
              <a:t>Model 3 — holdout check</a:t>
            </a:r>
          </a:p>
          <a:p>
            <a:r>
              <a:rPr sz="1200" b="0">
                <a:solidFill>
                  <a:srgbClr val="333333"/>
                </a:solidFill>
              </a:rPr>
              <a:t>Fit Model 2 on 80% of players; correlate predicted vs actual Year 1 minutes on the other 20%.</a:t>
            </a:r>
          </a:p>
          <a:p>
            <a:r>
              <a:rPr sz="1200" b="0">
                <a:solidFill>
                  <a:srgbClr val="333333"/>
                </a:solidFill>
              </a:rPr>
              <a:t>Question: is the fit just memorizing this sample?</a:t>
            </a:r>
          </a:p>
          <a:p>
            <a:r>
              <a:rPr sz="1200" b="0">
                <a:solidFill>
                  <a:srgbClr val="333333"/>
                </a:solidFill>
              </a:rPr>
              <a:t/>
            </a:r>
          </a:p>
          <a:p>
            <a:r>
              <a:rPr sz="1200" b="0">
                <a:solidFill>
                  <a:srgbClr val="333333"/>
                </a:solidFill>
              </a:rPr>
              <a:t>Serie A = baseline (lowest average Year 1 minutes among Big-5 feeders in this subset).</a:t>
            </a:r>
          </a:p>
          <a:p>
            <a:r>
              <a:rPr sz="1200" b="0">
                <a:solidFill>
                  <a:srgbClr val="333333"/>
                </a:solidFill>
              </a:rPr>
              <a:t>Big-5 FBref subset N=117. Associative / exploratory — not a validated forecast.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0972800" cy="548640"/>
          </a:xfrm>
          <a:prstGeom prst="rect">
            <a:avLst/>
          </a:prstGeom>
          <a:noFill/>
        </p:spPr>
        <p:txBody>
          <a:bodyPr wrap="square">
            <a:spAutoFit/>
          </a:bodyPr>
          <a:lstStyle/>
          <a:p>
            <a:pPr algn="l"/>
            <a:r>
              <a:rPr sz="2600" b="1" dirty="0">
                <a:solidFill>
                  <a:srgbClr val="3D5A80"/>
                </a:solidFill>
                <a:latin typeface="Georgia"/>
              </a:rPr>
              <a:t>RESULTS  ·  REGRESSION — WHY LIGUE 1 LOOKS BEST</a:t>
            </a:r>
          </a:p>
        </p:txBody>
      </p:sp>
      <p:sp>
        <p:nvSpPr>
          <p:cNvPr id="4" name="TextBox 3"/>
          <p:cNvSpPr txBox="1"/>
          <p:nvPr/>
        </p:nvSpPr>
        <p:spPr>
          <a:xfrm>
            <a:off x="548640" y="914400"/>
            <a:ext cx="8046720" cy="646331"/>
          </a:xfrm>
          <a:prstGeom prst="rect">
            <a:avLst/>
          </a:prstGeom>
          <a:noFill/>
        </p:spPr>
        <p:txBody>
          <a:bodyPr wrap="square">
            <a:spAutoFit/>
          </a:bodyPr>
          <a:lstStyle/>
          <a:p>
            <a:r>
              <a:rPr sz="1200" b="0">
                <a:solidFill>
                  <a:srgbClr val="333333"/>
                </a:solidFill>
              </a:rPr>
              <a:t>Model 1 R²=0.086 → Model 2 R²=0.215 when traits added · Model 3 holdout correlation r=0.35 (exploratory)</a:t>
            </a:r>
            <a:endParaRPr lang="en-US" sz="1200" b="0" dirty="0">
              <a:solidFill>
                <a:srgbClr val="333333"/>
              </a:solidFill>
            </a:endParaRPr>
          </a:p>
          <a:p>
            <a:r>
              <a:rPr sz="1200" b="0">
                <a:solidFill>
                  <a:srgbClr val="333333"/>
                </a:solidFill>
              </a:rPr>
              <a:t>Left table = Model 1 league gaps · Right table = Model 2 trait effects · Model 3 = holdout check only (no third chart)</a:t>
            </a:r>
          </a:p>
        </p:txBody>
      </p:sp>
      <p:graphicFrame>
        <p:nvGraphicFramePr>
          <p:cNvPr id="5" name="Table 4"/>
          <p:cNvGraphicFramePr>
            <a:graphicFrameLocks noGrp="1"/>
          </p:cNvGraphicFramePr>
          <p:nvPr>
            <p:extLst>
              <p:ext uri="{D42A27DB-BD31-4B8C-83A1-F6EECF244321}">
                <p14:modId xmlns:p14="http://schemas.microsoft.com/office/powerpoint/2010/main" val="2603676595"/>
              </p:ext>
            </p:extLst>
          </p:nvPr>
        </p:nvGraphicFramePr>
        <p:xfrm>
          <a:off x="548640" y="1786128"/>
          <a:ext cx="3657600" cy="1472184"/>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tblGrid>
              <a:tr h="0">
                <a:tc>
                  <a:txBody>
                    <a:bodyPr/>
                    <a:lstStyle/>
                    <a:p>
                      <a:pPr algn="ctr"/>
                      <a:r>
                        <a:rPr sz="1100" b="1">
                          <a:solidFill>
                            <a:srgbClr val="1C1C1C"/>
                          </a:solidFill>
                          <a:latin typeface="Arial"/>
                        </a:rPr>
                        <a:t>League vs Serie A</a:t>
                      </a:r>
                    </a:p>
                  </a:txBody>
                  <a:tcPr>
                    <a:solidFill>
                      <a:srgbClr val="EEF3F8"/>
                    </a:solidFill>
                  </a:tcPr>
                </a:tc>
                <a:tc>
                  <a:txBody>
                    <a:bodyPr/>
                    <a:lstStyle/>
                    <a:p>
                      <a:pPr algn="ctr"/>
                      <a:r>
                        <a:rPr sz="1100" b="1">
                          <a:solidFill>
                            <a:srgbClr val="1C1C1C"/>
                          </a:solidFill>
                          <a:latin typeface="Arial"/>
                        </a:rPr>
                        <a:t>Δ Year 1 in Bundesliga min</a:t>
                      </a:r>
                    </a:p>
                  </a:txBody>
                  <a:tcPr>
                    <a:solidFill>
                      <a:srgbClr val="EEF3F8"/>
                    </a:solidFill>
                  </a:tcPr>
                </a:tc>
                <a:tc>
                  <a:txBody>
                    <a:bodyPr/>
                    <a:lstStyle/>
                    <a:p>
                      <a:pPr algn="ctr"/>
                      <a:r>
                        <a:rPr sz="1100" b="1">
                          <a:solidFill>
                            <a:srgbClr val="1C1C1C"/>
                          </a:solidFill>
                          <a:latin typeface="Arial"/>
                        </a:rPr>
                        <a:t>p</a:t>
                      </a:r>
                    </a:p>
                  </a:txBody>
                  <a:tcPr>
                    <a:solidFill>
                      <a:srgbClr val="EEF3F8"/>
                    </a:solidFill>
                  </a:tcPr>
                </a:tc>
                <a:extLst>
                  <a:ext uri="{0D108BD9-81ED-4DB2-BD59-A6C34878D82A}">
                    <a16:rowId xmlns:a16="http://schemas.microsoft.com/office/drawing/2014/main" val="10000"/>
                  </a:ext>
                </a:extLst>
              </a:tr>
              <a:tr h="292608">
                <a:tc>
                  <a:txBody>
                    <a:bodyPr/>
                    <a:lstStyle/>
                    <a:p>
                      <a:pPr algn="ctr"/>
                      <a:r>
                        <a:rPr sz="1100" b="0">
                          <a:solidFill>
                            <a:srgbClr val="1C1C1C"/>
                          </a:solidFill>
                          <a:latin typeface="Arial"/>
                        </a:rPr>
                        <a:t>La Liga</a:t>
                      </a:r>
                    </a:p>
                  </a:txBody>
                  <a:tcPr/>
                </a:tc>
                <a:tc>
                  <a:txBody>
                    <a:bodyPr/>
                    <a:lstStyle/>
                    <a:p>
                      <a:pPr algn="ctr"/>
                      <a:r>
                        <a:rPr sz="1100" b="0">
                          <a:solidFill>
                            <a:srgbClr val="1C1C1C"/>
                          </a:solidFill>
                          <a:latin typeface="Arial"/>
                        </a:rPr>
                        <a:t>+48</a:t>
                      </a:r>
                    </a:p>
                  </a:txBody>
                  <a:tcPr/>
                </a:tc>
                <a:tc>
                  <a:txBody>
                    <a:bodyPr/>
                    <a:lstStyle/>
                    <a:p>
                      <a:pPr algn="ctr"/>
                      <a:r>
                        <a:rPr sz="1100" b="0">
                          <a:solidFill>
                            <a:srgbClr val="1C1C1C"/>
                          </a:solidFill>
                          <a:latin typeface="Arial"/>
                        </a:rPr>
                        <a:t>0.856</a:t>
                      </a:r>
                    </a:p>
                  </a:txBody>
                  <a:tcPr/>
                </a:tc>
                <a:extLst>
                  <a:ext uri="{0D108BD9-81ED-4DB2-BD59-A6C34878D82A}">
                    <a16:rowId xmlns:a16="http://schemas.microsoft.com/office/drawing/2014/main" val="10001"/>
                  </a:ext>
                </a:extLst>
              </a:tr>
              <a:tr h="292608">
                <a:tc>
                  <a:txBody>
                    <a:bodyPr/>
                    <a:lstStyle/>
                    <a:p>
                      <a:pPr algn="ctr"/>
                      <a:r>
                        <a:rPr sz="1100" b="0">
                          <a:solidFill>
                            <a:srgbClr val="1C1C1C"/>
                          </a:solidFill>
                          <a:latin typeface="Arial"/>
                        </a:rPr>
                        <a:t>Ligue 1</a:t>
                      </a:r>
                    </a:p>
                  </a:txBody>
                  <a:tcPr/>
                </a:tc>
                <a:tc>
                  <a:txBody>
                    <a:bodyPr/>
                    <a:lstStyle/>
                    <a:p>
                      <a:pPr algn="ctr"/>
                      <a:r>
                        <a:rPr sz="1100" b="0">
                          <a:solidFill>
                            <a:srgbClr val="1C1C1C"/>
                          </a:solidFill>
                          <a:latin typeface="Arial"/>
                        </a:rPr>
                        <a:t>+163</a:t>
                      </a:r>
                    </a:p>
                  </a:txBody>
                  <a:tcPr/>
                </a:tc>
                <a:tc>
                  <a:txBody>
                    <a:bodyPr/>
                    <a:lstStyle/>
                    <a:p>
                      <a:pPr algn="ctr"/>
                      <a:r>
                        <a:rPr sz="1100" b="0">
                          <a:solidFill>
                            <a:srgbClr val="1C1C1C"/>
                          </a:solidFill>
                          <a:latin typeface="Arial"/>
                        </a:rPr>
                        <a:t>0.375</a:t>
                      </a:r>
                    </a:p>
                  </a:txBody>
                  <a:tcPr/>
                </a:tc>
                <a:extLst>
                  <a:ext uri="{0D108BD9-81ED-4DB2-BD59-A6C34878D82A}">
                    <a16:rowId xmlns:a16="http://schemas.microsoft.com/office/drawing/2014/main" val="10002"/>
                  </a:ext>
                </a:extLst>
              </a:tr>
              <a:tr h="292608">
                <a:tc>
                  <a:txBody>
                    <a:bodyPr/>
                    <a:lstStyle/>
                    <a:p>
                      <a:pPr algn="ctr"/>
                      <a:r>
                        <a:rPr sz="1100" b="0">
                          <a:solidFill>
                            <a:srgbClr val="1C1C1C"/>
                          </a:solidFill>
                          <a:latin typeface="Arial"/>
                        </a:rPr>
                        <a:t>Premier League</a:t>
                      </a:r>
                    </a:p>
                  </a:txBody>
                  <a:tcPr/>
                </a:tc>
                <a:tc>
                  <a:txBody>
                    <a:bodyPr/>
                    <a:lstStyle/>
                    <a:p>
                      <a:pPr algn="ctr"/>
                      <a:r>
                        <a:rPr sz="1100" b="0">
                          <a:solidFill>
                            <a:srgbClr val="1C1C1C"/>
                          </a:solidFill>
                          <a:latin typeface="Arial"/>
                        </a:rPr>
                        <a:t>+88</a:t>
                      </a:r>
                    </a:p>
                  </a:txBody>
                  <a:tcPr/>
                </a:tc>
                <a:tc>
                  <a:txBody>
                    <a:bodyPr/>
                    <a:lstStyle/>
                    <a:p>
                      <a:pPr algn="ctr"/>
                      <a:r>
                        <a:rPr sz="1100" b="0" dirty="0">
                          <a:solidFill>
                            <a:srgbClr val="1C1C1C"/>
                          </a:solidFill>
                          <a:latin typeface="Arial"/>
                        </a:rPr>
                        <a:t>0.661</a:t>
                      </a:r>
                    </a:p>
                  </a:txBody>
                  <a:tcPr/>
                </a:tc>
                <a:extLst>
                  <a:ext uri="{0D108BD9-81ED-4DB2-BD59-A6C34878D82A}">
                    <a16:rowId xmlns:a16="http://schemas.microsoft.com/office/drawing/2014/main" val="10003"/>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2913298479"/>
              </p:ext>
            </p:extLst>
          </p:nvPr>
        </p:nvGraphicFramePr>
        <p:xfrm>
          <a:off x="4663440" y="1786128"/>
          <a:ext cx="3657600" cy="205740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tblGrid>
              <a:tr h="0">
                <a:tc>
                  <a:txBody>
                    <a:bodyPr/>
                    <a:lstStyle/>
                    <a:p>
                      <a:pPr algn="ctr"/>
                      <a:r>
                        <a:rPr sz="1100" b="1">
                          <a:solidFill>
                            <a:srgbClr val="1C1C1C"/>
                          </a:solidFill>
                          <a:latin typeface="Arial"/>
                        </a:rPr>
                        <a:t>Prior trait pct</a:t>
                      </a:r>
                    </a:p>
                  </a:txBody>
                  <a:tcPr>
                    <a:solidFill>
                      <a:srgbClr val="EEF3F8"/>
                    </a:solidFill>
                  </a:tcPr>
                </a:tc>
                <a:tc>
                  <a:txBody>
                    <a:bodyPr/>
                    <a:lstStyle/>
                    <a:p>
                      <a:pPr algn="ctr"/>
                      <a:r>
                        <a:rPr sz="1100" b="1">
                          <a:solidFill>
                            <a:srgbClr val="1C1C1C"/>
                          </a:solidFill>
                          <a:latin typeface="Arial"/>
                        </a:rPr>
                        <a:t>Δ Year 1 in Bundesliga min</a:t>
                      </a:r>
                    </a:p>
                  </a:txBody>
                  <a:tcPr>
                    <a:solidFill>
                      <a:srgbClr val="EEF3F8"/>
                    </a:solidFill>
                  </a:tcPr>
                </a:tc>
                <a:tc>
                  <a:txBody>
                    <a:bodyPr/>
                    <a:lstStyle/>
                    <a:p>
                      <a:pPr algn="ctr"/>
                      <a:r>
                        <a:rPr sz="1100" b="1">
                          <a:solidFill>
                            <a:srgbClr val="1C1C1C"/>
                          </a:solidFill>
                          <a:latin typeface="Arial"/>
                        </a:rPr>
                        <a:t>p</a:t>
                      </a:r>
                    </a:p>
                  </a:txBody>
                  <a:tcPr>
                    <a:solidFill>
                      <a:srgbClr val="EEF3F8"/>
                    </a:solidFill>
                  </a:tcPr>
                </a:tc>
                <a:extLst>
                  <a:ext uri="{0D108BD9-81ED-4DB2-BD59-A6C34878D82A}">
                    <a16:rowId xmlns:a16="http://schemas.microsoft.com/office/drawing/2014/main" val="10000"/>
                  </a:ext>
                </a:extLst>
              </a:tr>
              <a:tr h="292608">
                <a:tc>
                  <a:txBody>
                    <a:bodyPr/>
                    <a:lstStyle/>
                    <a:p>
                      <a:r>
                        <a:t>Aerials lost (fewer = better)*</a:t>
                      </a:r>
                    </a:p>
                  </a:txBody>
                  <a:tcPr/>
                </a:tc>
                <a:tc>
                  <a:txBody>
                    <a:bodyPr/>
                    <a:lstStyle/>
                    <a:p>
                      <a:pPr algn="ctr"/>
                      <a:r>
                        <a:rPr sz="1100" b="0">
                          <a:solidFill>
                            <a:srgbClr val="1C1C1C"/>
                          </a:solidFill>
                          <a:latin typeface="Arial"/>
                        </a:rPr>
                        <a:t>+9</a:t>
                      </a:r>
                    </a:p>
                  </a:txBody>
                  <a:tcPr/>
                </a:tc>
                <a:tc>
                  <a:txBody>
                    <a:bodyPr/>
                    <a:lstStyle/>
                    <a:p>
                      <a:pPr algn="ctr"/>
                      <a:r>
                        <a:rPr sz="1100" b="0">
                          <a:solidFill>
                            <a:srgbClr val="1C1C1C"/>
                          </a:solidFill>
                          <a:latin typeface="Arial"/>
                        </a:rPr>
                        <a:t>0.002</a:t>
                      </a:r>
                    </a:p>
                  </a:txBody>
                  <a:tcPr/>
                </a:tc>
                <a:extLst>
                  <a:ext uri="{0D108BD9-81ED-4DB2-BD59-A6C34878D82A}">
                    <a16:rowId xmlns:a16="http://schemas.microsoft.com/office/drawing/2014/main" val="10001"/>
                  </a:ext>
                </a:extLst>
              </a:tr>
              <a:tr h="292608">
                <a:tc>
                  <a:txBody>
                    <a:bodyPr/>
                    <a:lstStyle/>
                    <a:p>
                      <a:r>
                        <a:t>Final-third passes</a:t>
                      </a:r>
                    </a:p>
                  </a:txBody>
                  <a:tcPr/>
                </a:tc>
                <a:tc>
                  <a:txBody>
                    <a:bodyPr/>
                    <a:lstStyle/>
                    <a:p>
                      <a:pPr algn="ctr"/>
                      <a:r>
                        <a:rPr sz="1100" b="0">
                          <a:solidFill>
                            <a:srgbClr val="1C1C1C"/>
                          </a:solidFill>
                          <a:latin typeface="Arial"/>
                        </a:rPr>
                        <a:t>+5</a:t>
                      </a:r>
                    </a:p>
                  </a:txBody>
                  <a:tcPr/>
                </a:tc>
                <a:tc>
                  <a:txBody>
                    <a:bodyPr/>
                    <a:lstStyle/>
                    <a:p>
                      <a:pPr algn="ctr"/>
                      <a:r>
                        <a:rPr sz="1100" b="0">
                          <a:solidFill>
                            <a:srgbClr val="1C1C1C"/>
                          </a:solidFill>
                          <a:latin typeface="Arial"/>
                        </a:rPr>
                        <a:t>0.158</a:t>
                      </a:r>
                    </a:p>
                  </a:txBody>
                  <a:tcPr/>
                </a:tc>
                <a:extLst>
                  <a:ext uri="{0D108BD9-81ED-4DB2-BD59-A6C34878D82A}">
                    <a16:rowId xmlns:a16="http://schemas.microsoft.com/office/drawing/2014/main" val="10002"/>
                  </a:ext>
                </a:extLst>
              </a:tr>
              <a:tr h="292608">
                <a:tc>
                  <a:txBody>
                    <a:bodyPr/>
                    <a:lstStyle/>
                    <a:p>
                      <a:r>
                        <a:t>Defensive penalty-area touches</a:t>
                      </a:r>
                    </a:p>
                  </a:txBody>
                  <a:tcPr/>
                </a:tc>
                <a:tc>
                  <a:txBody>
                    <a:bodyPr/>
                    <a:lstStyle/>
                    <a:p>
                      <a:pPr algn="ctr"/>
                      <a:r>
                        <a:rPr sz="1100" b="0">
                          <a:solidFill>
                            <a:srgbClr val="1C1C1C"/>
                          </a:solidFill>
                          <a:latin typeface="Arial"/>
                        </a:rPr>
                        <a:t>+5</a:t>
                      </a:r>
                    </a:p>
                  </a:txBody>
                  <a:tcPr/>
                </a:tc>
                <a:tc>
                  <a:txBody>
                    <a:bodyPr/>
                    <a:lstStyle/>
                    <a:p>
                      <a:pPr algn="ctr"/>
                      <a:r>
                        <a:rPr sz="1100" b="0">
                          <a:solidFill>
                            <a:srgbClr val="1C1C1C"/>
                          </a:solidFill>
                          <a:latin typeface="Arial"/>
                        </a:rPr>
                        <a:t>0.189</a:t>
                      </a:r>
                    </a:p>
                  </a:txBody>
                  <a:tcPr/>
                </a:tc>
                <a:extLst>
                  <a:ext uri="{0D108BD9-81ED-4DB2-BD59-A6C34878D82A}">
                    <a16:rowId xmlns:a16="http://schemas.microsoft.com/office/drawing/2014/main" val="10003"/>
                  </a:ext>
                </a:extLst>
              </a:tr>
              <a:tr h="292608">
                <a:tc>
                  <a:txBody>
                    <a:bodyPr/>
                    <a:lstStyle/>
                    <a:p>
                      <a:r>
                        <a:t>Progressive carry distance</a:t>
                      </a:r>
                    </a:p>
                  </a:txBody>
                  <a:tcPr/>
                </a:tc>
                <a:tc>
                  <a:txBody>
                    <a:bodyPr/>
                    <a:lstStyle/>
                    <a:p>
                      <a:pPr algn="ctr"/>
                      <a:r>
                        <a:rPr sz="1100" b="0">
                          <a:solidFill>
                            <a:srgbClr val="1C1C1C"/>
                          </a:solidFill>
                          <a:latin typeface="Arial"/>
                        </a:rPr>
                        <a:t>-4</a:t>
                      </a:r>
                    </a:p>
                  </a:txBody>
                  <a:tcPr/>
                </a:tc>
                <a:tc>
                  <a:txBody>
                    <a:bodyPr/>
                    <a:lstStyle/>
                    <a:p>
                      <a:pPr algn="ctr"/>
                      <a:r>
                        <a:rPr sz="1100" b="0">
                          <a:solidFill>
                            <a:srgbClr val="1C1C1C"/>
                          </a:solidFill>
                          <a:latin typeface="Arial"/>
                        </a:rPr>
                        <a:t>0.249</a:t>
                      </a:r>
                    </a:p>
                  </a:txBody>
                  <a:tcPr/>
                </a:tc>
                <a:extLst>
                  <a:ext uri="{0D108BD9-81ED-4DB2-BD59-A6C34878D82A}">
                    <a16:rowId xmlns:a16="http://schemas.microsoft.com/office/drawing/2014/main" val="10004"/>
                  </a:ext>
                </a:extLst>
              </a:tr>
              <a:tr h="292608">
                <a:tc>
                  <a:txBody>
                    <a:bodyPr/>
                    <a:lstStyle/>
                    <a:p>
                      <a:r>
                        <a:t>Expected goals (xG)</a:t>
                      </a:r>
                    </a:p>
                  </a:txBody>
                  <a:tcPr/>
                </a:tc>
                <a:tc>
                  <a:txBody>
                    <a:bodyPr/>
                    <a:lstStyle/>
                    <a:p>
                      <a:pPr algn="ctr"/>
                      <a:r>
                        <a:rPr sz="1100" b="0" dirty="0">
                          <a:solidFill>
                            <a:srgbClr val="1C1C1C"/>
                          </a:solidFill>
                          <a:latin typeface="Arial"/>
                        </a:rPr>
                        <a:t>+2</a:t>
                      </a:r>
                    </a:p>
                  </a:txBody>
                  <a:tcPr/>
                </a:tc>
                <a:tc>
                  <a:txBody>
                    <a:bodyPr/>
                    <a:lstStyle/>
                    <a:p>
                      <a:pPr algn="ctr"/>
                      <a:r>
                        <a:rPr sz="1100" b="0" dirty="0">
                          <a:solidFill>
                            <a:srgbClr val="1C1C1C"/>
                          </a:solidFill>
                          <a:latin typeface="Arial"/>
                        </a:rPr>
                        <a:t>0.430</a:t>
                      </a:r>
                    </a:p>
                  </a:txBody>
                  <a:tcPr/>
                </a:tc>
                <a:extLst>
                  <a:ext uri="{0D108BD9-81ED-4DB2-BD59-A6C34878D82A}">
                    <a16:rowId xmlns:a16="http://schemas.microsoft.com/office/drawing/2014/main" val="10005"/>
                  </a:ext>
                </a:extLst>
              </a:tr>
            </a:tbl>
          </a:graphicData>
        </a:graphic>
      </p:graphicFrame>
      <p:sp>
        <p:nvSpPr>
          <p:cNvPr id="7" name="TextBox 6"/>
          <p:cNvSpPr txBox="1"/>
          <p:nvPr/>
        </p:nvSpPr>
        <p:spPr>
          <a:xfrm>
            <a:off x="8595360" y="1325880"/>
            <a:ext cx="3108960" cy="2108269"/>
          </a:xfrm>
          <a:prstGeom prst="rect">
            <a:avLst/>
          </a:prstGeom>
          <a:noFill/>
        </p:spPr>
        <p:txBody>
          <a:bodyPr wrap="square">
            <a:spAutoFit/>
          </a:bodyPr>
          <a:lstStyle/>
          <a:p>
            <a:pPr>
              <a:spcAft>
                <a:spcPts val="600"/>
              </a:spcAft>
            </a:pPr>
            <a:r>
              <a:rPr sz="1100">
                <a:solidFill>
                  <a:srgbClr val="333333"/>
                </a:solidFill>
              </a:rPr>
              <a:t>Does the Ligue 1 result make sense?</a:t>
            </a:r>
          </a:p>
          <a:p>
            <a:r>
              <a:rPr sz="1100">
                <a:solidFill>
                  <a:srgbClr val="333333"/>
                </a:solidFill>
              </a:rPr>
              <a:t/>
            </a:r>
          </a:p>
          <a:p>
            <a:r>
              <a:rPr sz="1100">
                <a:solidFill>
                  <a:srgbClr val="333333"/>
                </a:solidFill>
              </a:rPr>
              <a:t>The table shows Ligue 1 arrivals with about +163 Year 1 minutes versus Serie A. That gap looks large, but p≈0.38 with N=117 — under usual standards it is not distinguishable from chance. In plain terms: we do not have clear evidence that Ligue 1 labels alone buy more first-season playing time once prior minutes and position are held fixed.</a:t>
            </a:r>
          </a:p>
          <a:p>
            <a:r>
              <a:rPr sz="1100">
                <a:solidFill>
                  <a:srgbClr val="333333"/>
                </a:solidFill>
              </a:rPr>
              <a:t/>
            </a:r>
          </a:p>
          <a:p>
            <a:r>
              <a:rPr sz="1100">
                <a:solidFill>
                  <a:srgbClr val="333333"/>
                </a:solidFill>
              </a:rPr>
              <a:t>What does look clearer: adding prior trait percentiles raises R² from about 0.09 to 0.22, so the player’s prior profile explains Year 1 minutes better than the league name. The holdout check (correlation ≈0.35) is only moderate — useful as exploration, not a strong forecast.</a:t>
            </a:r>
          </a:p>
          <a:p>
            <a:r>
              <a:rPr sz="1100">
                <a:solidFill>
                  <a:srgbClr val="333333"/>
                </a:solidFill>
              </a:rPr>
              <a:t/>
            </a:r>
          </a:p>
          <a:p>
            <a:r>
              <a:rPr sz="1100">
                <a:solidFill>
                  <a:srgbClr val="333333"/>
                </a:solidFill>
              </a:rPr>
              <a:t>Takeaway: prioritize portable traits and Year 1 minutes; treat feeder-league labels as a weak leftover signal.</a:t>
            </a:r>
          </a:p>
          <a:p>
            <a:r>
              <a:rPr sz="1100">
                <a:solidFill>
                  <a:srgbClr val="333333"/>
                </a:solidFill>
              </a:rPr>
              <a:t/>
            </a:r>
          </a:p>
          <a:p>
            <a:r>
              <a:rPr sz="1100">
                <a:solidFill>
                  <a:srgbClr val="333333"/>
                </a:solidFill>
              </a:rPr>
              <a:t>Serie A = baseline (lowest mean Year 1 minutes among Big-5 feeders in this subset).</a:t>
            </a:r>
          </a:p>
        </p:txBody>
      </p:sp>
      <p:sp>
        <p:nvSpPr>
          <p:cNvPr id="8" name="TextBox 7"/>
          <p:cNvSpPr txBox="1"/>
          <p:nvPr/>
        </p:nvSpPr>
        <p:spPr>
          <a:xfrm>
            <a:off x="548640" y="5349240"/>
            <a:ext cx="10972800" cy="261610"/>
          </a:xfrm>
          <a:prstGeom prst="rect">
            <a:avLst/>
          </a:prstGeom>
          <a:noFill/>
        </p:spPr>
        <p:txBody>
          <a:bodyPr wrap="square">
            <a:spAutoFit/>
          </a:bodyPr>
          <a:lstStyle/>
          <a:p>
            <a:pPr algn="l"/>
            <a:r>
              <a:rPr sz="1200" b="0" dirty="0">
                <a:solidFill>
                  <a:srgbClr val="555555"/>
                </a:solidFill>
                <a:latin typeface="Georgia"/>
              </a:rPr>
              <a:t>* p&lt;0.05. Full tables: README.md (Exploratory feeder regression).</a:t>
            </a:r>
            <a:endParaRPr sz="1100" b="0" dirty="0">
              <a:solidFill>
                <a:srgbClr val="555555"/>
              </a:solidFill>
              <a:latin typeface="Georgi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BFDC249-A5FD-8DEF-D331-6AC779D7AD09}"/>
              </a:ext>
            </a:extLst>
          </p:cNvPr>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60120"/>
            <a:ext cx="11064240" cy="5200000"/>
          </a:xfrm>
          <a:prstGeom prst="rect">
            <a:avLst/>
          </a:prstGeom>
          <a:noFill/>
        </p:spPr>
        <p:txBody>
          <a:bodyPr wrap="square">
            <a:spAutoFit/>
          </a:bodyPr>
          <a:lstStyle/>
          <a:p>
            <a:pPr>
              <a:spcAft>
                <a:spcPts val="300"/>
              </a:spcAft>
            </a:pPr>
            <a:r>
              <a:rPr sz="1400" b="0">
                <a:solidFill>
                  <a:srgbClr val="333333"/>
                </a:solidFill>
              </a:rPr>
              <a:t>• StatsBomb N=96 with messy open-data priors (World Cup / Euro / Champions League mix rather than clean league seasons — larger sample, less consistent prior context)</a:t>
            </a:r>
            <a:endParaRPr sz="2600" b="1" dirty="0">
              <a:solidFill>
                <a:srgbClr val="3D5A80"/>
              </a:solidFill>
              <a:latin typeface="Georgia" panose="02040502050405020303" pitchFamily="18" charset="0"/>
            </a:endParaRPr>
          </a:p>
          <a:p>
            <a:r>
              <a:rPr sz="1400" b="0">
                <a:solidFill>
                  <a:srgbClr val="333333"/>
                </a:solidFill>
              </a:rPr>
              <a:t>• FBref N=329 helps, but many advanced metrics only have ~90–100 complete pairs</a:t>
            </a:r>
          </a:p>
          <a:p>
            <a:r>
              <a:rPr sz="1400" b="0">
                <a:solidFill>
                  <a:srgbClr val="333333"/>
                </a:solidFill>
              </a:rPr>
              <a:t>• Multiple traits tested — treat Phase 2 as associative, not a forecast</a:t>
            </a:r>
          </a:p>
          <a:p>
            <a:endParaRPr sz="1400" b="0">
              <a:solidFill>
                <a:srgbClr val="333333"/>
              </a:solidFill>
            </a:endParaRPr>
          </a:p>
          <a:p>
            <a:r>
              <a:rPr sz="1400" b="1">
                <a:solidFill>
                  <a:srgbClr val="333333"/>
                </a:solidFill>
              </a:rPr>
              <a:t>What hardened the sample</a:t>
            </a:r>
          </a:p>
          <a:p>
            <a:endParaRPr sz="1400" b="1">
              <a:solidFill>
                <a:srgbClr val="333333"/>
              </a:solidFill>
            </a:endParaRPr>
          </a:p>
          <a:p>
            <a:r>
              <a:rPr sz="1400" b="0">
                <a:solidFill>
                  <a:srgbClr val="333333"/>
                </a:solidFill>
              </a:rPr>
              <a:t>• 19 leagues · first BL seasons 2021–2025 · prior / Year 1 in Bundesliga ≥300′ → N=329</a:t>
            </a:r>
          </a:p>
          <a:p>
            <a:r>
              <a:rPr sz="1400" b="0">
                <a:solidFill>
                  <a:srgbClr val="333333"/>
                </a:solidFill>
              </a:rPr>
              <a:t>• Category stability gates + light redundancy (|r|≥0.95) → 32 traits</a:t>
            </a:r>
          </a:p>
          <a:p>
            <a:r>
              <a:rPr sz="1400" b="0">
                <a:solidFill>
                  <a:srgbClr val="333333"/>
                </a:solidFill>
              </a:rPr>
              <a:t>• StatsBomb kept as event deep dive (r≥0.40 · 7 traits), not league ranking</a:t>
            </a:r>
          </a:p>
        </p:txBody>
      </p:sp>
      <p:sp>
        <p:nvSpPr>
          <p:cNvPr id="4" name="TextBox 3"/>
          <p:cNvSpPr txBox="1"/>
          <p:nvPr/>
        </p:nvSpPr>
        <p:spPr>
          <a:xfrm>
            <a:off x="548640" y="411480"/>
            <a:ext cx="10972800" cy="548640"/>
          </a:xfrm>
          <a:prstGeom prst="rect">
            <a:avLst/>
          </a:prstGeom>
          <a:noFill/>
        </p:spPr>
        <p:txBody>
          <a:bodyPr wrap="none">
            <a:spAutoFit/>
          </a:bodyPr>
          <a:lstStyle/>
          <a:p>
            <a:r>
              <a:rPr sz="2600" b="1">
                <a:solidFill>
                  <a:srgbClr val="3D5A80"/>
                </a:solidFill>
                <a:latin typeface="Georgia"/>
              </a:rPr>
              <a:t>WHY P-VALUES STAY MODEST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40DF8E9-F5CF-8327-48D0-70D97E7B353A}"/>
              </a:ext>
            </a:extLst>
          </p:cNvPr>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7932" y="960120"/>
            <a:ext cx="10972800" cy="4000000"/>
          </a:xfrm>
          <a:prstGeom prst="rect">
            <a:avLst/>
          </a:prstGeom>
          <a:noFill/>
        </p:spPr>
        <p:txBody>
          <a:bodyPr wrap="square">
            <a:spAutoFit/>
          </a:bodyPr>
          <a:lstStyle/>
          <a:p>
            <a:pPr>
              <a:spcAft>
                <a:spcPts val="300"/>
              </a:spcAft>
            </a:pPr>
            <a:r>
              <a:rPr sz="1400" b="0">
                <a:solidFill>
                  <a:srgbClr val="333333"/>
                </a:solidFill>
              </a:rPr>
              <a:t>• Portable shortlists: FBref 105 metrics tested → 43 met stability floor → 32 met redundancy floor · StatsBomb 16 metrics tested → 7 met stability floor (all 7 kept after redundancy)</a:t>
            </a:r>
            <a:endParaRPr lang="en-US" sz="2400" b="1" dirty="0">
              <a:solidFill>
                <a:srgbClr val="3D5A80"/>
              </a:solidFill>
              <a:latin typeface="Calibri"/>
            </a:endParaRPr>
          </a:p>
          <a:p>
            <a:endParaRPr lang="en-US" sz="2400" b="1" dirty="0">
              <a:solidFill>
                <a:srgbClr val="3D5A80"/>
              </a:solidFill>
              <a:latin typeface="Calibri"/>
            </a:endParaRPr>
          </a:p>
          <a:p>
            <a:r>
              <a:rPr sz="1400" b="0">
                <a:solidFill>
                  <a:srgbClr val="333333"/>
                </a:solidFill>
              </a:rPr>
              <a:t>• FBref traits most linked to Year 1 in Bundesliga minutes (p&lt;0.05): final-third passing, shot blocks, progressive distance, box defending</a:t>
            </a:r>
          </a:p>
          <a:p>
            <a:endParaRPr sz="1400" b="0">
              <a:solidFill>
                <a:srgbClr val="333333"/>
              </a:solidFill>
            </a:endParaRPr>
          </a:p>
          <a:p>
            <a:r>
              <a:rPr sz="1400" b="0">
                <a:solidFill>
                  <a:srgbClr val="333333"/>
                </a:solidFill>
              </a:rPr>
              <a:t>• Feeder-league gaps are modest; exploratory OLS (N=117) — traits matter more than league label</a:t>
            </a:r>
          </a:p>
          <a:p>
            <a:endParaRPr sz="1400" b="0">
              <a:solidFill>
                <a:srgbClr val="333333"/>
              </a:solidFill>
            </a:endParaRPr>
          </a:p>
          <a:p>
            <a:r>
              <a:rPr sz="1400" b="0">
                <a:solidFill>
                  <a:srgbClr val="333333"/>
                </a:solidFill>
              </a:rPr>
              <a:t>• Scout metrics that travel league-to-league. Year 1 in Bundesliga minutes = open-data success proxy</a:t>
            </a:r>
          </a:p>
          <a:p>
            <a:endParaRPr sz="1400" b="0">
              <a:solidFill>
                <a:srgbClr val="333333"/>
              </a:solidFill>
            </a:endParaRPr>
          </a:p>
          <a:p>
            <a:r>
              <a:rPr sz="1400" b="0">
                <a:solidFill>
                  <a:srgbClr val="333333"/>
                </a:solidFill>
              </a:rPr>
              <a:t>• Future work: Δ Transfermarkt market value (next slide) as the club-grade outcome</a:t>
            </a:r>
          </a:p>
        </p:txBody>
      </p:sp>
      <p:sp>
        <p:nvSpPr>
          <p:cNvPr id="4" name="TextBox 3"/>
          <p:cNvSpPr txBox="1"/>
          <p:nvPr/>
        </p:nvSpPr>
        <p:spPr>
          <a:xfrm>
            <a:off x="548640" y="411480"/>
            <a:ext cx="10972800" cy="548640"/>
          </a:xfrm>
          <a:prstGeom prst="rect">
            <a:avLst/>
          </a:prstGeom>
          <a:noFill/>
        </p:spPr>
        <p:txBody>
          <a:bodyPr wrap="square">
            <a:spAutoFit/>
          </a:bodyPr>
          <a:lstStyle/>
          <a:p>
            <a:r>
              <a:rPr sz="2600" b="1">
                <a:solidFill>
                  <a:srgbClr val="3D5A80"/>
                </a:solidFill>
                <a:latin typeface="Georgia"/>
              </a:rPr>
              <a:t>TAKEAWAYS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0972800" cy="594360"/>
          </a:xfrm>
          <a:prstGeom prst="rect">
            <a:avLst/>
          </a:prstGeom>
          <a:noFill/>
        </p:spPr>
        <p:txBody>
          <a:bodyPr wrap="square">
            <a:spAutoFit/>
          </a:bodyPr>
          <a:lstStyle/>
          <a:p>
            <a:r>
              <a:rPr sz="2800" b="1" dirty="0">
                <a:solidFill>
                  <a:srgbClr val="3D5A80"/>
                </a:solidFill>
                <a:latin typeface="Georgia"/>
              </a:rPr>
              <a:t>IF WE HAD THE DATA  ·  TRANSFERMARKT VALUE</a:t>
            </a:r>
          </a:p>
        </p:txBody>
      </p:sp>
      <p:sp>
        <p:nvSpPr>
          <p:cNvPr id="4" name="TextBox 3"/>
          <p:cNvSpPr txBox="1"/>
          <p:nvPr/>
        </p:nvSpPr>
        <p:spPr>
          <a:xfrm>
            <a:off x="548640" y="960120"/>
            <a:ext cx="10972800" cy="411480"/>
          </a:xfrm>
          <a:prstGeom prst="rect">
            <a:avLst/>
          </a:prstGeom>
          <a:noFill/>
        </p:spPr>
        <p:txBody>
          <a:bodyPr wrap="square">
            <a:spAutoFit/>
          </a:bodyPr>
          <a:lstStyle/>
          <a:p>
            <a:r>
              <a:rPr sz="1500" b="0">
                <a:solidFill>
                  <a:srgbClr val="555555"/>
                </a:solidFill>
                <a:latin typeface="Georgia"/>
              </a:rPr>
              <a:t>What we would use instead of (or alongside) Year 1 in Bundesliga minutes.</a:t>
            </a:r>
          </a:p>
        </p:txBody>
      </p:sp>
      <p:sp>
        <p:nvSpPr>
          <p:cNvPr id="5" name="TextBox 4"/>
          <p:cNvSpPr txBox="1"/>
          <p:nvPr/>
        </p:nvSpPr>
        <p:spPr>
          <a:xfrm>
            <a:off x="685800" y="1417320"/>
            <a:ext cx="10652760" cy="1477328"/>
          </a:xfrm>
          <a:prstGeom prst="rect">
            <a:avLst/>
          </a:prstGeom>
          <a:noFill/>
          <a:ln w="19050">
            <a:solidFill>
              <a:srgbClr val="002060"/>
            </a:solidFill>
          </a:ln>
        </p:spPr>
        <p:txBody>
          <a:bodyPr wrap="square">
            <a:spAutoFit/>
          </a:bodyPr>
          <a:lstStyle/>
          <a:p>
            <a:pPr>
              <a:spcAft>
                <a:spcPts val="600"/>
              </a:spcAft>
            </a:pPr>
            <a:r>
              <a:rPr sz="1300" b="0">
                <a:solidFill>
                  <a:srgbClr val="333333"/>
                </a:solidFill>
              </a:rPr>
              <a:t>Top indicator in a full club model: change in market value (Δ Transfermarkt market value)</a:t>
            </a:r>
          </a:p>
          <a:p>
            <a:r>
              <a:rPr sz="1300" b="0">
                <a:solidFill>
                  <a:srgbClr val="333333"/>
                </a:solidFill>
              </a:rPr>
              <a:t>Captures performance + hype + contract context in one outcome scouts care about</a:t>
            </a:r>
          </a:p>
          <a:p>
            <a:r>
              <a:rPr sz="1300" b="0">
                <a:solidFill>
                  <a:srgbClr val="333333"/>
                </a:solidFill>
              </a:rPr>
              <a:t>NYRB project Axis-3 testing of player value used market value rather than Year 1 in Bundesliga minutes; this project uses open data only — Transfermarkt disallows scraping</a:t>
            </a:r>
          </a:p>
          <a:p>
            <a:r>
              <a:rPr sz="1300" b="0">
                <a:solidFill>
                  <a:srgbClr val="333333"/>
                </a:solidFill>
              </a:rPr>
              <a:t>So we proxy success with Year 1 in Bundesliga minutes until a licensed market-value feed is available</a:t>
            </a:r>
          </a:p>
          <a:p>
            <a:r>
              <a:rPr sz="1300" b="0">
                <a:solidFill>
                  <a:srgbClr val="333333"/>
                </a:solidFill>
              </a:rPr>
              <a:t>Natural extension: prior traits → Δ market value with holdout regression / ML</a:t>
            </a:r>
          </a:p>
        </p:txBody>
      </p:sp>
    </p:spTree>
    <p:extLst>
      <p:ext uri="{BB962C8B-B14F-4D97-AF65-F5344CB8AC3E}">
        <p14:creationId xmlns:p14="http://schemas.microsoft.com/office/powerpoint/2010/main" val="79758239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155680" cy="457200"/>
          </a:xfrm>
          <a:prstGeom prst="rect">
            <a:avLst/>
          </a:prstGeom>
          <a:noFill/>
        </p:spPr>
        <p:txBody>
          <a:bodyPr wrap="square">
            <a:spAutoFit/>
          </a:bodyPr>
          <a:lstStyle/>
          <a:p>
            <a:r>
              <a:rPr sz="2200" b="1">
                <a:solidFill>
                  <a:srgbClr val="3D5A80"/>
                </a:solidFill>
              </a:rPr>
              <a:t>GLOSSARY · METRIC ABBREVIATIONS</a:t>
            </a:r>
          </a:p>
        </p:txBody>
      </p:sp>
      <p:sp>
        <p:nvSpPr>
          <p:cNvPr id="3" name="TextBox 2"/>
          <p:cNvSpPr txBox="1"/>
          <p:nvPr/>
        </p:nvSpPr>
        <p:spPr>
          <a:xfrm>
            <a:off x="457200" y="822960"/>
            <a:ext cx="5486400" cy="5669280"/>
          </a:xfrm>
          <a:prstGeom prst="rect">
            <a:avLst/>
          </a:prstGeom>
          <a:noFill/>
        </p:spPr>
        <p:txBody>
          <a:bodyPr wrap="square">
            <a:spAutoFit/>
          </a:bodyPr>
          <a:lstStyle/>
          <a:p>
            <a:r>
              <a:rPr sz="1100" b="0">
                <a:solidFill>
                  <a:srgbClr val="333333"/>
                </a:solidFill>
              </a:rPr>
              <a:t>FBref (examples)</a:t>
            </a:r>
          </a:p>
          <a:p>
            <a:r>
              <a:rPr sz="1100" b="0">
                <a:solidFill>
                  <a:srgbClr val="333333"/>
                </a:solidFill>
              </a:rPr>
              <a:t>DEFPE — Defensive penalty-area touches /90</a:t>
            </a:r>
          </a:p>
          <a:p>
            <a:r>
              <a:rPr sz="1100" b="0">
                <a:solidFill>
                  <a:srgbClr val="333333"/>
                </a:solidFill>
              </a:rPr>
              <a:t>DEF3R — Defensive-third touches /90</a:t>
            </a:r>
          </a:p>
          <a:p>
            <a:r>
              <a:rPr sz="1100" b="0">
                <a:solidFill>
                  <a:srgbClr val="333333"/>
                </a:solidFill>
              </a:rPr>
              <a:t>PRGC — Progressive carries /90</a:t>
            </a:r>
          </a:p>
          <a:p>
            <a:r>
              <a:rPr sz="1100" b="0">
                <a:solidFill>
                  <a:srgbClr val="333333"/>
                </a:solidFill>
              </a:rPr>
              <a:t>PRGDI — Progressive carry distance /90</a:t>
            </a:r>
          </a:p>
          <a:p>
            <a:r>
              <a:rPr sz="1100" b="0">
                <a:solidFill>
                  <a:srgbClr val="333333"/>
                </a:solidFill>
              </a:rPr>
              <a:t>PRGRR — Progressive receives /90</a:t>
            </a:r>
          </a:p>
          <a:p>
            <a:r>
              <a:rPr sz="1100" b="0">
                <a:solidFill>
                  <a:srgbClr val="333333"/>
                </a:solidFill>
              </a:rPr>
              <a:t>XG — Expected goals /90</a:t>
            </a:r>
          </a:p>
          <a:p>
            <a:r>
              <a:rPr sz="1100" b="0">
                <a:solidFill>
                  <a:srgbClr val="333333"/>
                </a:solidFill>
              </a:rPr>
              <a:t>GLS — Goals /90</a:t>
            </a:r>
          </a:p>
          <a:p>
            <a:r>
              <a:rPr sz="1100" b="0">
                <a:solidFill>
                  <a:srgbClr val="333333"/>
                </a:solidFill>
              </a:rPr>
              <a:t>SOTPE / ATTSH — Shots on target /90</a:t>
            </a:r>
          </a:p>
          <a:p>
            <a:r>
              <a:rPr sz="1100" b="0">
                <a:solidFill>
                  <a:srgbClr val="333333"/>
                </a:solidFill>
              </a:rPr>
              <a:t>FINAL — Passes into final third /90</a:t>
            </a:r>
          </a:p>
          <a:p>
            <a:r>
              <a:rPr sz="1100" b="0">
                <a:solidFill>
                  <a:srgbClr val="333333"/>
                </a:solidFill>
              </a:rPr>
              <a:t>KP — Key passes /90</a:t>
            </a:r>
          </a:p>
          <a:p>
            <a:r>
              <a:rPr sz="1100" b="0">
                <a:solidFill>
                  <a:srgbClr val="333333"/>
                </a:solidFill>
              </a:rPr>
              <a:t>SH — Shot blocks /90</a:t>
            </a:r>
          </a:p>
          <a:p>
            <a:r>
              <a:rPr sz="1100" b="0">
                <a:solidFill>
                  <a:srgbClr val="333333"/>
                </a:solidFill>
              </a:rPr>
              <a:t>TKLD — Tackled (take-ons) /90</a:t>
            </a:r>
          </a:p>
          <a:p>
            <a:r>
              <a:rPr sz="1100" b="0">
                <a:solidFill>
                  <a:srgbClr val="333333"/>
                </a:solidFill>
              </a:rPr>
              <a:t>CLR — Clearances /90</a:t>
            </a:r>
          </a:p>
          <a:p>
            <a:r>
              <a:rPr sz="1100" b="0">
                <a:solidFill>
                  <a:srgbClr val="333333"/>
                </a:solidFill>
              </a:rPr>
              <a:t>INT — Interceptions /90</a:t>
            </a:r>
          </a:p>
          <a:p>
            <a:r>
              <a:rPr sz="1100" b="0">
                <a:solidFill>
                  <a:srgbClr val="333333"/>
                </a:solidFill>
              </a:rPr>
              <a:t>ATTLO — Long pass attempts /90</a:t>
            </a:r>
          </a:p>
          <a:p>
            <a:r>
              <a:rPr sz="1100" b="0">
                <a:solidFill>
                  <a:srgbClr val="333333"/>
                </a:solidFill>
              </a:rPr>
              <a:t>FLD — Fouls drawn /90</a:t>
            </a:r>
          </a:p>
        </p:txBody>
      </p:sp>
      <p:sp>
        <p:nvSpPr>
          <p:cNvPr id="4" name="TextBox 3"/>
          <p:cNvSpPr txBox="1"/>
          <p:nvPr/>
        </p:nvSpPr>
        <p:spPr>
          <a:xfrm>
            <a:off x="6126480" y="822960"/>
            <a:ext cx="5486400" cy="5669280"/>
          </a:xfrm>
          <a:prstGeom prst="rect">
            <a:avLst/>
          </a:prstGeom>
          <a:noFill/>
        </p:spPr>
        <p:txBody>
          <a:bodyPr wrap="square">
            <a:spAutoFit/>
          </a:bodyPr>
          <a:lstStyle/>
          <a:p>
            <a:r>
              <a:rPr sz="1100" b="0">
                <a:solidFill>
                  <a:srgbClr val="333333"/>
                </a:solidFill>
              </a:rPr>
              <a:t>StatsBomb</a:t>
            </a:r>
          </a:p>
          <a:p>
            <a:r>
              <a:rPr sz="1100" b="0">
                <a:solidFill>
                  <a:srgbClr val="333333"/>
                </a:solidFill>
              </a:rPr>
              <a:t>PPC — Progressive passes (~10m+ toward goal) /90</a:t>
            </a:r>
          </a:p>
          <a:p>
            <a:r>
              <a:rPr sz="1100" b="0">
                <a:solidFill>
                  <a:srgbClr val="333333"/>
                </a:solidFill>
              </a:rPr>
              <a:t>DIS — Dispossessed /90 (often inverted: fewer = better)</a:t>
            </a:r>
          </a:p>
          <a:p>
            <a:r>
              <a:rPr sz="1100" b="0">
                <a:solidFill>
                  <a:srgbClr val="333333"/>
                </a:solidFill>
              </a:rPr>
              <a:t>PRS — Pressures /90</a:t>
            </a:r>
          </a:p>
          <a:p>
            <a:r>
              <a:rPr sz="1100" b="0">
                <a:solidFill>
                  <a:srgbClr val="333333"/>
                </a:solidFill>
              </a:rPr>
              <a:t>PAS — Pass volume /90</a:t>
            </a:r>
          </a:p>
          <a:p>
            <a:r>
              <a:rPr sz="1100" b="0">
                <a:solidFill>
                  <a:srgbClr val="333333"/>
                </a:solidFill>
              </a:rPr>
              <a:t>CLR — Clearances /90</a:t>
            </a:r>
          </a:p>
          <a:p>
            <a:r>
              <a:rPr sz="1100" b="0">
                <a:solidFill>
                  <a:srgbClr val="333333"/>
                </a:solidFill>
              </a:rPr>
              <a:t>DRB — Successful dribbles /90</a:t>
            </a:r>
          </a:p>
          <a:p>
            <a:r>
              <a:rPr sz="1100" b="0">
                <a:solidFill>
                  <a:srgbClr val="333333"/>
                </a:solidFill>
              </a:rPr>
              <a:t>PATT — Passes into final third /90</a:t>
            </a:r>
          </a:p>
          <a:p>
            <a:r>
              <a:rPr sz="1100" b="0">
                <a:solidFill>
                  <a:srgbClr val="333333"/>
                </a:solidFill>
              </a:rPr>
              <a:t>SH — Shots /90</a:t>
            </a:r>
          </a:p>
          <a:p>
            <a:r>
              <a:rPr sz="1100" b="0">
                <a:solidFill>
                  <a:srgbClr val="333333"/>
                </a:solidFill>
              </a:rPr>
              <a:t>XG — Non-penalty expected goals /90</a:t>
            </a:r>
          </a:p>
          <a:p>
            <a:endParaRPr sz="1100" b="0">
              <a:solidFill>
                <a:srgbClr val="333333"/>
              </a:solidFill>
            </a:endParaRPr>
          </a:p>
          <a:p>
            <a:r>
              <a:rPr sz="1100" b="0">
                <a:solidFill>
                  <a:srgbClr val="333333"/>
                </a:solidFill>
              </a:rPr>
              <a:t>Other terms</a:t>
            </a:r>
          </a:p>
          <a:p>
            <a:r>
              <a:rPr sz="1100" b="0">
                <a:solidFill>
                  <a:srgbClr val="333333"/>
                </a:solidFill>
              </a:rPr>
              <a:t>Pearson r — linear correlation (stability)</a:t>
            </a:r>
          </a:p>
          <a:p>
            <a:r>
              <a:rPr sz="1100" b="0">
                <a:solidFill>
                  <a:srgbClr val="333333"/>
                </a:solidFill>
              </a:rPr>
              <a:t>Spearman ρ — rank correlation (success vs minutes)</a:t>
            </a:r>
          </a:p>
          <a:p>
            <a:r>
              <a:rPr sz="1100" b="0">
                <a:solidFill>
                  <a:srgbClr val="333333"/>
                </a:solidFill>
              </a:rPr>
              <a:t>Year 1 in Bundesliga — first Bundesliga season</a:t>
            </a:r>
          </a:p>
          <a:p>
            <a:r>
              <a:rPr sz="1100" b="0">
                <a:solidFill>
                  <a:srgbClr val="333333"/>
                </a:solidFill>
              </a:rPr>
              <a:t>Feeder league — prior league before Bundesliga arrival</a:t>
            </a:r>
          </a:p>
          <a:p>
            <a:r>
              <a:rPr sz="1100" b="0">
                <a:solidFill>
                  <a:srgbClr val="333333"/>
                </a:solidFill>
              </a:rPr>
              <a:t>n≥8 — only show leagues with ≥8 players in the cell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0972800" cy="1744067"/>
          </a:xfrm>
          <a:prstGeom prst="rect">
            <a:avLst/>
          </a:prstGeom>
          <a:noFill/>
        </p:spPr>
        <p:txBody>
          <a:bodyPr wrap="square">
            <a:spAutoFit/>
          </a:bodyPr>
          <a:lstStyle/>
          <a:p>
            <a:pPr>
              <a:spcAft>
                <a:spcPts val="400"/>
              </a:spcAft>
            </a:pPr>
            <a:r>
              <a:rPr sz="2600" b="1" dirty="0">
                <a:solidFill>
                  <a:srgbClr val="333333"/>
                </a:solidFill>
                <a:latin typeface="Georgia" panose="02040502050405020303" pitchFamily="18" charset="0"/>
              </a:rPr>
              <a:t>Deliverables</a:t>
            </a:r>
          </a:p>
          <a:p>
            <a:endParaRPr sz="1300" b="0" dirty="0">
              <a:solidFill>
                <a:srgbClr val="333333"/>
              </a:solidFill>
            </a:endParaRPr>
          </a:p>
          <a:p>
            <a:r>
              <a:rPr sz="1300" b="0" dirty="0">
                <a:solidFill>
                  <a:srgbClr val="333333"/>
                </a:solidFill>
              </a:rPr>
              <a:t>1 · Cohort (with minute floors) · 2 · Stability · 3 · Redundancy · 4 · Explorer + success</a:t>
            </a:r>
          </a:p>
          <a:p>
            <a:endParaRPr sz="1300" b="0" dirty="0">
              <a:solidFill>
                <a:srgbClr val="333333"/>
              </a:solidFill>
            </a:endParaRPr>
          </a:p>
          <a:p>
            <a:r>
              <a:rPr sz="1300" b="0" dirty="0">
                <a:solidFill>
                  <a:srgbClr val="333333"/>
                </a:solidFill>
              </a:rPr>
              <a:t>Repo: deck · </a:t>
            </a:r>
            <a:r>
              <a:rPr sz="1300" b="0" dirty="0" err="1">
                <a:solidFill>
                  <a:srgbClr val="333333"/>
                </a:solidFill>
              </a:rPr>
              <a:t>README.md</a:t>
            </a:r>
            <a:r>
              <a:rPr sz="1300" b="0" dirty="0">
                <a:solidFill>
                  <a:srgbClr val="333333"/>
                </a:solidFill>
              </a:rPr>
              <a:t> · </a:t>
            </a:r>
            <a:r>
              <a:rPr sz="1300" b="0" dirty="0" err="1">
                <a:solidFill>
                  <a:srgbClr val="333333"/>
                </a:solidFill>
              </a:rPr>
              <a:t>interactive_player_explorer.html</a:t>
            </a:r>
            <a:r>
              <a:rPr sz="1300" b="0" dirty="0">
                <a:solidFill>
                  <a:srgbClr val="333333"/>
                </a:solidFill>
              </a:rPr>
              <a:t> · </a:t>
            </a:r>
            <a:r>
              <a:rPr sz="1300" b="0" dirty="0" err="1">
                <a:solidFill>
                  <a:srgbClr val="333333"/>
                </a:solidFill>
              </a:rPr>
              <a:t>stability_redundancy_inspector.html</a:t>
            </a:r>
            <a:r>
              <a:rPr sz="1300" b="0" dirty="0">
                <a:solidFill>
                  <a:srgbClr val="333333"/>
                </a:solidFill>
              </a:rPr>
              <a:t> · </a:t>
            </a:r>
            <a:r>
              <a:rPr sz="1300" b="0" dirty="0" err="1">
                <a:solidFill>
                  <a:srgbClr val="333333"/>
                </a:solidFill>
              </a:rPr>
              <a:t>projectproposal</a:t>
            </a:r>
            <a:endParaRPr sz="1300" b="0" dirty="0">
              <a:solidFill>
                <a:srgbClr val="333333"/>
              </a:solidFill>
            </a:endParaRPr>
          </a:p>
          <a:p>
            <a:endParaRPr sz="1300" b="0" dirty="0">
              <a:solidFill>
                <a:srgbClr val="333333"/>
              </a:solidFill>
            </a:endParaRPr>
          </a:p>
          <a:p>
            <a:r>
              <a:rPr sz="1300" b="0" dirty="0">
                <a:solidFill>
                  <a:srgbClr val="333333"/>
                </a:solidFill>
              </a:rPr>
              <a:t>Stability floors: </a:t>
            </a:r>
            <a:r>
              <a:rPr sz="1300" b="0" dirty="0" err="1">
                <a:solidFill>
                  <a:srgbClr val="333333"/>
                </a:solidFill>
              </a:rPr>
              <a:t>FBref</a:t>
            </a:r>
            <a:r>
              <a:rPr sz="1300" b="0" dirty="0">
                <a:solidFill>
                  <a:srgbClr val="333333"/>
                </a:solidFill>
              </a:rPr>
              <a:t> Attacking/Passing/Other Pearson r ≥ 0.60 · Defending/Carrying Pearson r ≥ 0.50 · </a:t>
            </a:r>
            <a:r>
              <a:rPr sz="1300" b="0" dirty="0" err="1">
                <a:solidFill>
                  <a:srgbClr val="333333"/>
                </a:solidFill>
              </a:rPr>
              <a:t>StatsBomb</a:t>
            </a:r>
            <a:r>
              <a:rPr sz="1300" b="0" dirty="0">
                <a:solidFill>
                  <a:srgbClr val="333333"/>
                </a:solidFill>
              </a:rPr>
              <a:t> Pearson r ≥ 0.40 · final shortlists 32 /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3024</TotalTime>
  <Words>3932</Words>
  <Application>Microsoft Macintosh PowerPoint</Application>
  <PresentationFormat>Widescreen</PresentationFormat>
  <Paragraphs>681</Paragraphs>
  <Slides>23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Colby Morris</cp:lastModifiedBy>
  <cp:revision>17</cp:revision>
  <dcterms:created xsi:type="dcterms:W3CDTF">2013-01-27T09:14:16Z</dcterms:created>
  <dcterms:modified xsi:type="dcterms:W3CDTF">2026-07-23T00:03:12Z</dcterms:modified>
  <cp:category/>
</cp:coreProperties>
</file>