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58" r:id="rId5"/>
    <p:sldId id="268" r:id="rId6"/>
    <p:sldId id="281" r:id="rId7"/>
    <p:sldId id="282" r:id="rId8"/>
    <p:sldId id="259" r:id="rId9"/>
    <p:sldId id="260" r:id="rId10"/>
    <p:sldId id="261" r:id="rId11"/>
    <p:sldId id="263" r:id="rId12"/>
    <p:sldId id="267" r:id="rId13"/>
    <p:sldId id="264" r:id="rId14"/>
    <p:sldId id="269" r:id="rId15"/>
    <p:sldId id="276" r:id="rId16"/>
    <p:sldId id="277" r:id="rId17"/>
    <p:sldId id="270" r:id="rId18"/>
    <p:sldId id="271" r:id="rId19"/>
    <p:sldId id="274" r:id="rId20"/>
    <p:sldId id="275" r:id="rId21"/>
    <p:sldId id="280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7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CAL BERKELEY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FBref (scale) + StatsBomb (event deep dive).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10789920" cy="91440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10378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Pipeline: Stability → Redundancy → Explorer → Success (Y1 minutes)</a:t>
            </a:r>
          </a:p>
          <a:p>
            <a:r>
              <a:rPr sz="1400" b="0">
                <a:solidFill>
                  <a:srgbClr val="333333"/>
                </a:solidFill>
              </a:rPr>
              <a:t>FBref N=329 · 19 leagues · ≥300′ · 105→43→32</a:t>
            </a:r>
          </a:p>
          <a:p>
            <a:r>
              <a:rPr sz="1400" b="0">
                <a:solidFill>
                  <a:srgbClr val="333333"/>
                </a:solidFill>
              </a:rPr>
              <a:t>StatsBomb N=96 · ≥45′/≥30′ · r≥0.40 → 7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Not Transfermarkt value — portable traits for scouting.</a:t>
            </a:r>
          </a:p>
          <a:p>
            <a:r>
              <a:rPr sz="1300" b="0">
                <a:solidFill>
                  <a:srgbClr val="555555"/>
                </a:solidFill>
              </a:rPr>
              <a:t>Minutes gates kept: FBref ≥300′ both sides · SB ≥45′ prior / ≥30′ Y1.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Question → scrape → stability → thresholds → redundancy → explorer → significance.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1. BL — and which priors line up with Y1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Scrape two sources</a:t>
            </a:r>
          </a:p>
          <a:p>
            <a:r>
              <a:rPr sz="1200" b="0">
                <a:solidFill>
                  <a:srgbClr val="333333"/>
                </a:solidFill>
              </a:rPr>
              <a:t>FBref: 19 leagues, first BL ≥2021, ≥300′. StatsBomb: 17 comps; BL 2015/16 + 2023/24; ≥45′/≥30′.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Stability</a:t>
            </a:r>
          </a:p>
          <a:p>
            <a:r>
              <a:rPr sz="1200" b="0">
                <a:solidFill>
                  <a:srgbClr val="333333"/>
                </a:solidFill>
              </a:rPr>
              <a:t>Correlate prior → BL Y1 per-90.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Choose thresholds</a:t>
            </a:r>
          </a:p>
          <a:p>
            <a:r>
              <a:rPr sz="1200" b="0">
                <a:solidFill>
                  <a:srgbClr val="333333"/>
                </a:solidFill>
              </a:rPr>
              <a:t>FBref category gates → 43/105. StatsBomb r≥0.40 → 7/16.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near-dupes. Force-keep SoT/90, Gls/90, Tkld Take, Att Total, passes. 43→32 · SB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Significance tests</a:t>
            </a:r>
          </a:p>
          <a:p>
            <a:r>
              <a:rPr sz="1200" b="0">
                <a:solidFill>
                  <a:srgbClr val="333333"/>
                </a:solidFill>
              </a:rPr>
              <a:t>Spearman: prior trait %ile vs Y1 minutes; feeder summaries; exploratory OLS.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1 · DESIGN (COLLEGE-KID 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What we are actually doing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When a player moves into 1. BL, which stats stay consistent — and which are league context?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Stability → Redundancy → Pizza/explorer → Success.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FBref = scale</a:t>
            </a:r>
          </a:p>
          <a:p>
            <a:r>
              <a:rPr sz="1300" b="0">
                <a:solidFill>
                  <a:srgbClr val="333333"/>
                </a:solidFill>
              </a:rPr>
              <a:t>19 leagues · BL ≥2021 · ≥300′</a:t>
            </a:r>
          </a:p>
          <a:p>
            <a:r>
              <a:rPr sz="1300" b="0">
                <a:solidFill>
                  <a:srgbClr val="333333"/>
                </a:solidFill>
              </a:rPr>
              <a:t>N=329 · 105→43→32</a:t>
            </a:r>
          </a:p>
          <a:p>
            <a:r>
              <a:rPr sz="1300" b="0">
                <a:solidFill>
                  <a:srgbClr val="333333"/>
                </a:solidFill>
              </a:rPr>
              <a:t>Att/Pass/Other ≥0.60 · Def/Carry ≥0.50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StatsBomb = depth</a:t>
            </a:r>
          </a:p>
          <a:p>
            <a:r>
              <a:rPr sz="1300" b="0">
                <a:solidFill>
                  <a:srgbClr val="333333"/>
                </a:solidFill>
              </a:rPr>
              <a:t>N=96 · ≥45′ / ≥30′</a:t>
            </a:r>
          </a:p>
          <a:p>
            <a:r>
              <a:rPr sz="1300" b="0">
                <a:solidFill>
                  <a:srgbClr val="333333"/>
                </a:solidFill>
              </a:rPr>
              <a:t>r≥0.40 → 7 · |r|≥0.85 keep all 7</a:t>
            </a:r>
          </a:p>
          <a:p>
            <a:r>
              <a:rPr sz="1300" b="0">
                <a:solidFill>
                  <a:srgbClr val="333333"/>
                </a:solidFill>
              </a:rPr>
              <a:t>Priors: 17 comps · BL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Same order as NYRB metric framework. Destination = 1. BL. Portable traits, not MV.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5661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5A80"/>
                </a:solidFill>
                <a:latin typeface="Georgia"/>
              </a:rPr>
              <a:t>① Stability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① Stability</a:t>
            </a:r>
          </a:p>
          <a:p>
            <a:r>
              <a:rPr sz="1300" b="0">
                <a:solidFill>
                  <a:srgbClr val="333333"/>
                </a:solidFill>
              </a:rPr>
              <a:t>Prior vs BL Y1. High r = ranking travels.</a:t>
            </a:r>
          </a:p>
          <a:p>
            <a:r>
              <a:rPr sz="1300" b="0">
                <a:solidFill>
                  <a:srgbClr val="333333"/>
                </a:solidFill>
              </a:rPr>
              <a:t>FBref category gates · SB r≥0.40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555555"/>
                </a:solidFill>
                <a:latin typeface="Georgia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661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2F9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② Redundancy</a:t>
            </a:r>
          </a:p>
          <a:p>
            <a:r>
              <a:rPr sz="1300" b="0">
                <a:solidFill>
                  <a:srgbClr val="333333"/>
                </a:solidFill>
              </a:rPr>
              <a:t>Near-dupes: FBref |r|≥0.95 · SB |r|≥0.85.</a:t>
            </a:r>
          </a:p>
          <a:p>
            <a:r>
              <a:rPr sz="1300" b="0">
                <a:solidFill>
                  <a:srgbClr val="333333"/>
                </a:solidFill>
              </a:rPr>
              <a:t>Keep for style coverage, not only the single best.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331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② Redundancy</a:t>
            </a:r>
          </a:p>
          <a:p>
            <a:r>
              <a:rPr sz="1300" b="0">
                <a:solidFill>
                  <a:srgbClr val="333333"/>
                </a:solidFill>
              </a:rPr>
              <a:t>Near-dupes: FBref |r|≥0.95 · SB |r|≥0.85.</a:t>
            </a:r>
          </a:p>
          <a:p>
            <a:r>
              <a:rPr sz="1300" b="0">
                <a:solidFill>
                  <a:srgbClr val="333333"/>
                </a:solidFill>
              </a:rPr>
              <a:t>Keep for style coverage, not only the single best.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555555"/>
                </a:solidFill>
                <a:latin typeface="Georgia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554480"/>
            <a:ext cx="35661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BC4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③ Pizza / explorer</a:t>
            </a:r>
          </a:p>
          <a:p>
            <a:r>
              <a:rPr sz="1300" b="0">
                <a:solidFill>
                  <a:srgbClr val="333333"/>
                </a:solidFill>
              </a:rPr>
              <a:t>Shortlist only. Fill = Y1 %ile vs peers.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31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③ Pizza / explorer</a:t>
            </a:r>
          </a:p>
          <a:p>
            <a:r>
              <a:rPr sz="1300" b="0">
                <a:solidFill>
                  <a:srgbClr val="333333"/>
                </a:solidFill>
              </a:rPr>
              <a:t>Shortlist only. Fill = Y1 %ile vs peers.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120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Steps</a:t>
            </a:r>
          </a:p>
          <a:p>
            <a:r>
              <a:rPr sz="1200" b="0">
                <a:solidFill>
                  <a:srgbClr val="333333"/>
                </a:solidFill>
              </a:rPr>
              <a:t>1 · Cohort — first BL in window; prior ≠ BL; minute floors</a:t>
            </a:r>
          </a:p>
          <a:p>
            <a:r>
              <a:rPr sz="1200" b="0">
                <a:solidFill>
                  <a:srgbClr val="333333"/>
                </a:solidFill>
              </a:rPr>
              <a:t>2 · Stability — FBref category gates · SB r≥0.40</a:t>
            </a:r>
          </a:p>
          <a:p>
            <a:r>
              <a:rPr sz="1200" b="0">
                <a:solidFill>
                  <a:srgbClr val="333333"/>
                </a:solidFill>
              </a:rPr>
              <a:t>3 · Redundancy — 32 / 7 shortlists</a:t>
            </a:r>
          </a:p>
          <a:p>
            <a:r>
              <a:rPr sz="1200" b="0">
                <a:solidFill>
                  <a:srgbClr val="333333"/>
                </a:solidFill>
              </a:rPr>
              <a:t>4 · Profiles + success tests + exploratory 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87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Pearson r = stability · Spearman ρ = success (rank-based; robust when Y1 minutes are skewed) · redundancy · percentiles.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</a:rPr>
              <a:t>What we DID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BL Y1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SB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Y1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</a:rPr>
              <a:t>What we did NOT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OLS/holdout (slides 19–20) 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73152" cy="1828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81728"/>
            <a:ext cx="10927080" cy="1595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</a:rPr>
              <a:t>Honest claim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Which traits to weight for inbound → BL scouting — evidence for judgment, not end-to-end prediction.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Phase 2 we ran: Spearman trait/league → Y1 minutes, plus exploratory OLS + holdout (slides 19–20).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Scale layer — inbound → 1. Bundesliga from season tables + feeder expansion.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>
              <a:solidFill>
                <a:srgbClr val="333333"/>
              </a:solidFill>
              <a:latin typeface="Calibri"/>
            </a:endParaRPr>
          </a:p>
          <a:p>
            <a:r>
              <a:rPr sz="1300" b="0">
                <a:solidFill>
                  <a:srgbClr val="333333"/>
                </a:solidFill>
              </a:rPr>
              <a:t>Big 5 + feeder season tables + player-page fills</a:t>
            </a:r>
          </a:p>
          <a:p>
            <a:r>
              <a:rPr sz="1300" b="0">
                <a:solidFill>
                  <a:srgbClr val="333333"/>
                </a:solidFill>
              </a:rPr>
              <a:t>Analysis window: first BL end-years 2021–2025</a:t>
            </a:r>
          </a:p>
          <a:p>
            <a:r>
              <a:rPr sz="1300" b="0">
                <a:solidFill>
                  <a:srgbClr val="333333"/>
                </a:solidFill>
              </a:rPr>
              <a:t>Minutes: prior ≥300′ · Y1 ≥300′ → N=329 pairs · 19 leagues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No league-relative scaling — it did not help rate→Y1 stability.</a:t>
            </a:r>
          </a:p>
          <a:p>
            <a:r>
              <a:rPr sz="1300" b="0">
                <a:solidFill>
                  <a:srgbClr val="333333"/>
                </a:solidFill>
              </a:rPr>
              <a:t>Absolute per-90 rates kept.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Event-level check on the same inbound logic — not a second destination study.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>
              <a:solidFill>
                <a:srgbClr val="333333"/>
              </a:solidFill>
              <a:latin typeface="Calibri"/>
            </a:endParaRPr>
          </a:p>
          <a:p>
            <a:r>
              <a:rPr sz="1300" b="0">
                <a:solidFill>
                  <a:srgbClr val="333333"/>
                </a:solidFill>
              </a:rPr>
              <a:t>All male open comps as priors</a:t>
            </a:r>
          </a:p>
          <a:p>
            <a:r>
              <a:rPr sz="1300" b="0">
                <a:solidFill>
                  <a:srgbClr val="333333"/>
                </a:solidFill>
              </a:rPr>
              <a:t>BL open dumps: 2015/16 + 2023/24 only</a:t>
            </a:r>
          </a:p>
          <a:p>
            <a:r>
              <a:rPr sz="1300" b="0">
                <a:solidFill>
                  <a:srgbClr val="333333"/>
                </a:solidFill>
              </a:rPr>
              <a:t>N=96 · prior ≥45′ · Y1 ≥30′</a:t>
            </a:r>
          </a:p>
          <a:p>
            <a:r>
              <a:rPr sz="1300" b="0">
                <a:solidFill>
                  <a:srgbClr val="333333"/>
                </a:solidFill>
              </a:rPr>
              <a:t>r≥0.40 → 7 ·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vs FBref</a:t>
            </a:r>
          </a:p>
          <a:p>
            <a:r>
              <a:rPr sz="13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300" b="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No relative scaling: failed on FBref; SB priors are mixed</a:t>
            </a:r>
          </a:p>
          <a:p>
            <a:r>
              <a:rPr sz="1300" b="0">
                <a:solidFill>
                  <a:srgbClr val="333333"/>
                </a:solidFill>
              </a:rPr>
              <a:t>(WC / Euro / CL / leagues), so even less appropriate.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2 · 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Prior competition → Bundesliga Y1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D5A80"/>
                </a:solidFill>
                <a:latin typeface="Calibri"/>
              </a:rPr>
              <a:t>Open Data · cohort N=96 · 7 of 16 pass (r≥0.40)</a:t>
            </a:r>
          </a:p>
          <a:p>
            <a:pPr>
              <a:spcAft>
                <a:spcPts val="300"/>
              </a:spcAft>
            </a:pPr>
            <a:endParaRPr sz="1400" b="1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PPC  Progressive passes (~10m+ toward goal)  r=0.74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DIS  Dispossessed (inverted)  r=0.59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PRS  Pressures  r=0.51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PAS  Pass volume  r=0.49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CLR  Clearances  r=0.47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DRB  Successful dribbles  r=0.46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✓  PATT  Passes into final third  r=0.42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SH  Shots  r=0.40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CFGP  Progressive carries  r=0.38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CRY  Carries  r=0.38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TAC  Tackles  r=0.34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XG  Non-pen xG  r=0.30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FLW  Fouls won  r=0.27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INT  Interceptions  r=0.20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XA  Expected assists  r=0.13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9144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CFGP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Progressive carries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0.316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0.289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Next: redundancy at |r|≥0.85 — only near-dupes cut; passes kept with progressive passes.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3 · 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3D5A80"/>
                </a:solidFill>
                <a:latin typeface="Calibri"/>
              </a:rPr>
              <a:t>Prior league → first Bundesliga Y1 (end-year ≥2021)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Paired N=329 · 19 leagues · minutes ≥300′ both sides</a:t>
            </a:r>
          </a:p>
          <a:p>
            <a:pPr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1" dirty="0">
                <a:solidFill>
                  <a:srgbClr val="333333"/>
                </a:solidFill>
                <a:latin typeface="Calibri"/>
              </a:rPr>
              <a:t>Category gates (not one global cut):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Attacking / Passing / Other  ·  r ≥ 0.60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Defending / Carrying  ·  r ≥ 0.50</a:t>
            </a:r>
          </a:p>
          <a:p>
            <a:pPr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43 metrics pass gates → redundancy next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No league-relative scaling — absolute per-90 rates travel better.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832104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0.920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0.865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0.773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 Receiving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0.756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4 · 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What we kept after resolving duplicates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63434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02737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TAC  ·  Tackles  ·  r=0.53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56543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CLR  ·  Clearances  ·  r=0.49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" y="4012223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XG  ·  Non-pen </a:t>
            </a:r>
            <a:r>
              <a:rPr sz="1300" b="0" dirty="0" err="1">
                <a:solidFill>
                  <a:srgbClr val="1C1C1C"/>
                </a:solidFill>
                <a:latin typeface="Calibri"/>
              </a:rPr>
              <a:t>xG</a:t>
            </a:r>
            <a:r>
              <a:rPr sz="1300" b="0" dirty="0">
                <a:solidFill>
                  <a:srgbClr val="1C1C1C"/>
                </a:solidFill>
                <a:latin typeface="Calibri"/>
              </a:rPr>
              <a:t>  ·  r=0.48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837" y="431596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DRB  ·  Successful dribbles  ·  r=0.44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" y="4577157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1C1C1C"/>
                </a:solidFill>
                <a:latin typeface="Calibri"/>
              </a:rPr>
              <a:t>PATT  ·  Passes into final third  ·  r=0.43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1097280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FBref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: 43 gated → 32 kept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105 tested · category gates → 43 · |r|≥0.95 → 32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Pick order: stability → N → rate/contextual</a:t>
            </a:r>
          </a:p>
          <a:p>
            <a:pPr>
              <a:spcAft>
                <a:spcPts val="2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Force-kept: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SoT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/90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Gls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/90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Tkld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Take · </a:t>
            </a:r>
            <a:r>
              <a:rPr sz="1200" b="0" dirty="0" err="1">
                <a:solidFill>
                  <a:srgbClr val="555555"/>
                </a:solidFill>
                <a:latin typeface="Calibri"/>
              </a:rPr>
              <a:t>Att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Total</a:t>
            </a:r>
          </a:p>
          <a:p>
            <a:pPr>
              <a:spcAft>
                <a:spcPts val="2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Top: Def Pen Touches (0.91) ·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PrgC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(0.81) ·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xG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888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4949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3D5A80"/>
                </a:solidFill>
                <a:latin typeface="Calibri"/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7326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PRGC (0.89)  ·  PRGDI (0.87)  ·  KP (0.76)  ·  FINAL (0.70)  ·  CMPPE (0.69)  ·  CRSPA (0.66)  ·  CRS (0.64)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17156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093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PRGRR (0.77)  ·  ATT3R (0.73)  ·  SUCC (0.71)  ·  MIS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82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8596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DEFPE (0.92)  ·  CLR (0.72)  ·  TKLD (0.71)  ·  WON (0.71)  ·  SH (0.69)  ·  INT (0.65)  ·  LOST (0.64)  ·  WONPE (0.57)  ·  DEF3R (0.54)  ·  TKLPE (0.51)  ·  RECOV (0.50)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2487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626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FLD (0.59)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OUTPUT  ·  SCOUT PIZZA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How to read</a:t>
            </a:r>
          </a:p>
          <a:p>
            <a:r>
              <a:rPr sz="1300" b="0">
                <a:solidFill>
                  <a:srgbClr val="333333"/>
                </a:solidFill>
              </a:rPr>
              <a:t>Blue = BL Y1 · red dotted = prior · dashed = avg (50) · grey = top (90).</a:t>
            </a:r>
          </a:p>
          <a:p>
            <a:r>
              <a:rPr sz="1300" b="0">
                <a:solidFill>
                  <a:srgbClr val="333333"/>
                </a:solidFill>
              </a:rPr>
              <a:t>Percentiles 0–100 vs position peers.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Explorer: StatsBomb N=96 · 7 traits · FBref N=329 · 32 traits.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96596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How to read</a:t>
            </a:r>
          </a:p>
          <a:p>
            <a:r>
              <a:rPr sz="1300" b="0">
                <a:solidFill>
                  <a:srgbClr val="333333"/>
                </a:solidFill>
              </a:rPr>
              <a:t>Blue = BL Y1 · red dotted = prior · dashed = avg (50) · grey = top (90).</a:t>
            </a:r>
          </a:p>
          <a:p>
            <a:r>
              <a:rPr sz="1300" b="0">
                <a:solidFill>
                  <a:srgbClr val="333333"/>
                </a:solidFill>
              </a:rPr>
              <a:t>Percentiles 0–100 vs position peers.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Explorer: StatsBomb N=96 · 7 traits · FBref N=329 · 32 traits.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5 · 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Open interactive_player_explorer.html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Switch StatsBomb (N=96 · 7 traits) ↔ FBref (N=329 · 32 traits).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BL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Y1 minutes · Y1 min %ile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StatsBomb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600" b="1" dirty="0">
              <a:solidFill>
                <a:srgbClr val="3D5A80"/>
              </a:solidFill>
              <a:latin typeface="Calibri"/>
            </a:endParaRPr>
          </a:p>
          <a:p>
            <a:r>
              <a:rPr sz="1300" b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>
                <a:solidFill>
                  <a:srgbClr val="333333"/>
                </a:solidFill>
              </a:rPr>
              <a:t>Success = Y1 BL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Honest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Repo: results/SUCCESS_INDICATORS.md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BL Y1 minutes / higher trait score.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Negative ρ on inverted metrics (e.g. dispossessed) can still be informative — read label + sign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(Y1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Y1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Y1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Y1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417320"/>
            <a:ext cx="5212080" cy="4114800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>
              <a:solidFill>
                <a:srgbClr val="3D5A80"/>
              </a:solidFill>
              <a:latin typeface="Georgia"/>
            </a:endParaRPr>
          </a:p>
          <a:p>
            <a:r>
              <a:rPr sz="1300">
                <a:solidFill>
                  <a:srgbClr val="1C1C1C"/>
                </a:solidFill>
                <a:latin typeface="Arial"/>
              </a:rPr>
              <a:t>Observable in FBref / StatsBomb cohorts</a:t>
            </a:r>
          </a:p>
          <a:p>
            <a:endParaRPr sz="1300">
              <a:solidFill>
                <a:srgbClr val="1C1C1C"/>
              </a:solidFill>
              <a:latin typeface="Arial"/>
            </a:endParaRPr>
          </a:p>
          <a:p>
            <a:r>
              <a:rPr sz="130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>
              <a:solidFill>
                <a:srgbClr val="1C1C1C"/>
              </a:solidFill>
              <a:latin typeface="Arial"/>
            </a:endParaRPr>
          </a:p>
          <a:p>
            <a:r>
              <a:rPr sz="1300">
                <a:solidFill>
                  <a:srgbClr val="1C1C1C"/>
                </a:solidFill>
                <a:latin typeface="Arial"/>
              </a:rPr>
              <a:t>Not the same as goals, xG, or team points</a:t>
            </a:r>
          </a:p>
          <a:p>
            <a:endParaRPr sz="1300">
              <a:solidFill>
                <a:srgbClr val="1C1C1C"/>
              </a:solidFill>
              <a:latin typeface="Arial"/>
            </a:endParaRPr>
          </a:p>
          <a:p>
            <a:r>
              <a:rPr sz="1300">
                <a:solidFill>
                  <a:srgbClr val="1C1C1C"/>
                </a:solidFill>
                <a:latin typeface="Arial"/>
              </a:rPr>
              <a:t>Honest scope: associative scouting weights, not a forecast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Y1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Top indicator in a full club model: change in market value (Δ Transfermarkt MV)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Captures performance + hype + contract context in one outcome scouts care about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NYRB Axis-3 used MV; this project uses open data only — Transfermarkt bans bots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So we proxy success with Y1 minutes until a licensed MV feed is available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Natural extension: prior traits → Δ MV with holdout regression / 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417320"/>
            <a:ext cx="5212080" cy="3840480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B7A45"/>
                </a:solidFill>
                <a:latin typeface="Georgia"/>
              </a:rPr>
              <a:t>Bottom line</a:t>
            </a:r>
          </a:p>
          <a:p>
            <a:endParaRPr sz="1600" b="1">
              <a:solidFill>
                <a:srgbClr val="1B7A45"/>
              </a:solidFill>
              <a:latin typeface="Georgia"/>
            </a:endParaRPr>
          </a:p>
          <a:p>
            <a:r>
              <a:rPr sz="1300">
                <a:solidFill>
                  <a:srgbClr val="1C1C1C"/>
                </a:solidFill>
                <a:latin typeface="Arial"/>
              </a:rPr>
              <a:t>Y1 minutes = best open-data proxy for first-year BL success</a:t>
            </a:r>
          </a:p>
          <a:p>
            <a:endParaRPr sz="1300">
              <a:solidFill>
                <a:srgbClr val="1C1C1C"/>
              </a:solidFill>
              <a:latin typeface="Arial"/>
            </a:endParaRPr>
          </a:p>
          <a:p>
            <a:r>
              <a:rPr sz="1300">
                <a:solidFill>
                  <a:srgbClr val="1C1C1C"/>
                </a:solidFill>
                <a:latin typeface="Arial"/>
              </a:rPr>
              <a:t>Δ Transfermarkt value = preferred outcome in a pro scouting stack</a:t>
            </a:r>
          </a:p>
          <a:p>
            <a:endParaRPr sz="1300">
              <a:solidFill>
                <a:srgbClr val="1C1C1C"/>
              </a:solidFill>
              <a:latin typeface="Arial"/>
            </a:endParaRPr>
          </a:p>
          <a:p>
            <a:r>
              <a:rPr sz="1300">
                <a:solidFill>
                  <a:srgbClr val="1C1C1C"/>
                </a:solidFill>
                <a:latin typeface="Arial"/>
              </a:rPr>
              <a:t>Same pipeline (stability → traits → outcome) — swap the Y variable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TRAITS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500" b="1" dirty="0">
                <a:solidFill>
                  <a:srgbClr val="3D5A80"/>
                </a:solidFill>
                <a:latin typeface="Calibri"/>
              </a:rPr>
              <a:t> (N=96)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prior 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p</a:t>
            </a:r>
            <a:r>
              <a:rPr lang="en-US" sz="1200" dirty="0">
                <a:solidFill>
                  <a:srgbClr val="555555"/>
                </a:solidFill>
                <a:latin typeface="Calibri"/>
              </a:rPr>
              <a:t>ercentile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→ Y1 minutes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=-0.28  p=0.006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=-0.17  p=0.090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=+0.16  p=0.112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=+0.14  p=0.185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=-0.11  p=0.280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=-0.07  p=0.473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=+0.00  p=0.980</a:t>
            </a:r>
          </a:p>
          <a:p>
            <a:pPr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104138"/>
              </p:ext>
            </p:extLst>
          </p:nvPr>
        </p:nvGraphicFramePr>
        <p:xfrm>
          <a:off x="411480" y="1097280"/>
          <a:ext cx="420624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DRB — 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 — Dispossessed (inverted)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-0.29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PPC — Progressive passes (~10m+</a:t>
                      </a:r>
                      <a:r>
                        <a:rPr lang="en-US" dirty="0"/>
                        <a:t>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0.104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 — 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3D5A80"/>
                </a:solidFill>
                <a:latin typeface="Calibri"/>
              </a:rPr>
              <a:t>FBref (N=329)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prior %ile → Y1 minutes</a:t>
            </a:r>
          </a:p>
          <a:p>
            <a:pPr>
              <a:spcAft>
                <a:spcPts val="300"/>
              </a:spcAft>
            </a:pPr>
            <a:endParaRPr sz="1200" b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FINAL  ρ=+0.30  p=0.005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SH  ρ=+0.27  p=0.011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PRGDI  ρ=+0.24  p=0.025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TKLD  ρ=+0.23  p=0.030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ATTLO  ρ=+0.22  p=0.036 *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DEF3R  ρ=+0.22  p=0.039 *</a:t>
            </a:r>
          </a:p>
          <a:p>
            <a:pPr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* p&lt;0.05  ·  Final Third, shot blocks, progressive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68737"/>
              </p:ext>
            </p:extLst>
          </p:nvPr>
        </p:nvGraphicFramePr>
        <p:xfrm>
          <a:off x="6126480" y="1097280"/>
          <a:ext cx="39319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LOST — Lost Aerial*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FINAL — Final Third*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SH — Sh</a:t>
                      </a:r>
                      <a:r>
                        <a:rPr lang="en-US" dirty="0"/>
                        <a:t>ot</a:t>
                      </a:r>
                      <a:r>
                        <a:rPr dirty="0"/>
                        <a:t> Blocks*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DEFPE — Def Pen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WONPE — Won percent Aerial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0.062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 — PrgDist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3657600"/>
            <a:ext cx="1115568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500" b="1" dirty="0">
                <a:solidFill>
                  <a:srgbClr val="3D5A80"/>
                </a:solidFill>
                <a:latin typeface="Calibri"/>
              </a:rPr>
              <a:t> (N=96)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prior 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percentile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→ Y1 minutes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=-0.28  p=0.006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=-0.17  p=0.090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=+0.16  p=0.112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=+0.14  p=0.185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=-0.11  p=0.280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=-0.07  p=0.473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ρ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=+0.00  p=0.980</a:t>
            </a:r>
          </a:p>
          <a:p>
            <a:pPr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FEEDER LEAGUES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350146"/>
              </p:ext>
            </p:extLst>
          </p:nvPr>
        </p:nvGraphicFramePr>
        <p:xfrm>
          <a:off x="411480" y="1179576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Ligue 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51.1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50.6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52.4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46120"/>
          <a:ext cx="48463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FBref (N=329, n≥8): e.g. DEN Superliga, 2.BL, PL, Eredivisie, Ligue 1 lead on mean Y1 min among larger cells.</a:t>
            </a:r>
          </a:p>
          <a:p>
            <a:r>
              <a:rPr sz="1300" b="0">
                <a:solidFill>
                  <a:srgbClr val="333333"/>
                </a:solidFill>
              </a:rPr>
              <a:t>Differences are modest — descriptive, not causal.</a:t>
            </a:r>
          </a:p>
          <a:p>
            <a:r>
              <a:rPr sz="1300" b="0">
                <a:solidFill>
                  <a:srgbClr val="333333"/>
                </a:solidFill>
              </a:rPr>
              <a:t>StatsBomb league ranking is directional only (WC/Euro mix).</a:t>
            </a:r>
          </a:p>
          <a:p>
            <a:r>
              <a:rPr sz="1300" b="0">
                <a:solidFill>
                  <a:srgbClr val="333333"/>
                </a:solidFill>
              </a:rPr>
              <a:t>Tables: results/success_league_indicators_*.csv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5A80"/>
                </a:solidFill>
                <a:latin typeface="Georgia"/>
              </a:rPr>
              <a:t>PHASE 2 · FEEDER REGRESSION (DONE · 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Georgia"/>
              </a:rPr>
              <a:t>Descriptive “best feeder” is not enough — OLS vs Serie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Arial"/>
              </a:rPr>
              <a:t>Outcome: Y1 minutes</a:t>
            </a:r>
          </a:p>
          <a:p>
            <a:r>
              <a:rPr sz="1300" b="0">
                <a:solidFill>
                  <a:srgbClr val="333333"/>
                </a:solidFill>
              </a:rPr>
              <a:t>Ref: Serie A</a:t>
            </a:r>
          </a:p>
          <a:p>
            <a:r>
              <a:rPr sz="1300" b="0">
                <a:solidFill>
                  <a:srgbClr val="333333"/>
                </a:solidFill>
              </a:rPr>
              <a:t>M1: league dummies + prior minutes + position</a:t>
            </a:r>
          </a:p>
          <a:p>
            <a:r>
              <a:rPr sz="1300" b="0">
                <a:solidFill>
                  <a:srgbClr val="333333"/>
                </a:solidFill>
              </a:rPr>
              <a:t>M3: + prior trait %iles</a:t>
            </a:r>
          </a:p>
          <a:p>
            <a:r>
              <a:rPr sz="1300" b="0">
                <a:solidFill>
                  <a:srgbClr val="333333"/>
                </a:solidFill>
              </a:rPr>
              <a:t>M4: 80/20 holdout (exploratory)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4389120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333333"/>
                </a:solidFill>
                <a:latin typeface="Georgia"/>
              </a:rPr>
              <a:t>What this is / is not</a:t>
            </a:r>
          </a:p>
          <a:p>
            <a:endParaRPr sz="1300" b="0">
              <a:solidFill>
                <a:srgbClr val="333333"/>
              </a:solidFill>
              <a:latin typeface="Georgia"/>
            </a:endParaRPr>
          </a:p>
          <a:p>
            <a:r>
              <a:rPr sz="1300" b="0">
                <a:solidFill>
                  <a:srgbClr val="333333"/>
                </a:solidFill>
              </a:rPr>
              <a:t>DID RUN: exploratory OLS on Big-5 subset (N=117)</a:t>
            </a:r>
          </a:p>
          <a:p>
            <a:r>
              <a:rPr sz="1300" b="0">
                <a:solidFill>
                  <a:srgbClr val="333333"/>
                </a:solidFill>
              </a:rPr>
              <a:t>IS: why league means move after controls</a:t>
            </a:r>
          </a:p>
          <a:p>
            <a:r>
              <a:rPr sz="1300" b="0">
                <a:solidFill>
                  <a:srgbClr val="333333"/>
                </a:solidFill>
              </a:rPr>
              <a:t>NOT: validated BL forecast</a:t>
            </a:r>
          </a:p>
          <a:p>
            <a:r>
              <a:rPr sz="1300" b="0">
                <a:solidFill>
                  <a:srgbClr val="333333"/>
                </a:solidFill>
              </a:rPr>
              <a:t>Wide CIs — small league cells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Georgia"/>
              </a:rPr>
              <a:t>M1 R²=0.086  →  M3 R²=0.215 when traits added  ·  holdout r=0.35 (exploratory)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3657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32588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xG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Arial"/>
              </a:rPr>
              <a:t>Ligue 1 +163 min vs Serie A (p≈0.38) — not significant at N=117.</a:t>
            </a:r>
          </a:p>
          <a:p>
            <a:r>
              <a:rPr sz="1400" b="0">
                <a:solidFill>
                  <a:srgbClr val="333333"/>
                </a:solidFill>
              </a:rPr>
              <a:t>Traits raise R² (0.09 → 0.22). Profile &gt; league label.</a:t>
            </a:r>
          </a:p>
          <a:p>
            <a:r>
              <a:rPr sz="1400" b="0">
                <a:solidFill>
                  <a:srgbClr val="333333"/>
                </a:solidFill>
              </a:rPr>
              <a:t>Takeaway: scout portable traits + minutes; league is a weak residual.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Why p-values stay modest</a:t>
            </a:r>
          </a:p>
          <a:p>
            <a:endParaRPr sz="2600" b="1">
              <a:solidFill>
                <a:srgbClr val="3D5A80"/>
              </a:solidFill>
              <a:latin typeface="Calibri"/>
            </a:endParaRPr>
          </a:p>
          <a:p>
            <a:r>
              <a:rPr sz="1600" b="0">
                <a:solidFill>
                  <a:srgbClr val="333333"/>
                </a:solidFill>
              </a:rPr>
              <a:t>• StatsBomb N=96 with messy open-data priors (WC / Euro / CL mix)</a:t>
            </a:r>
          </a:p>
          <a:p>
            <a:r>
              <a:rPr sz="16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6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600" b="0">
              <a:solidFill>
                <a:srgbClr val="333333"/>
              </a:solidFill>
            </a:endParaRPr>
          </a:p>
          <a:p>
            <a:r>
              <a:rPr sz="1800" b="1">
                <a:solidFill>
                  <a:srgbClr val="222222"/>
                </a:solidFill>
              </a:rPr>
              <a:t>What hardened the sample</a:t>
            </a:r>
          </a:p>
          <a:p>
            <a:endParaRPr sz="1800" b="1">
              <a:solidFill>
                <a:srgbClr val="222222"/>
              </a:solidFill>
            </a:endParaRPr>
          </a:p>
          <a:p>
            <a:r>
              <a:rPr sz="1600" b="0">
                <a:solidFill>
                  <a:srgbClr val="333333"/>
                </a:solidFill>
              </a:rPr>
              <a:t>• 19 leagues · first BL ≥2021 · prior/Y1 ≥300′ → N=329</a:t>
            </a:r>
          </a:p>
          <a:p>
            <a:r>
              <a:rPr sz="16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6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  <a:p>
            <a:endParaRPr sz="16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555555"/>
                </a:solidFill>
              </a:rPr>
              <a:t>Public-data limits still apply — larger N than Big-5-only, not a club-grade validation set.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400" b="1" dirty="0">
                <a:solidFill>
                  <a:srgbClr val="3D5A80"/>
                </a:solidFill>
                <a:latin typeface="Calibri"/>
              </a:rPr>
              <a:t>CONCLUSION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• Portable shortlists: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105→43→32 · </a:t>
            </a:r>
            <a:r>
              <a:rPr lang="en-US" sz="1600" dirty="0" err="1">
                <a:solidFill>
                  <a:srgbClr val="333333"/>
                </a:solidFill>
              </a:rPr>
              <a:t>StatsBomb</a:t>
            </a:r>
            <a:r>
              <a:rPr lang="en-US" sz="1600" dirty="0">
                <a:solidFill>
                  <a:srgbClr val="333333"/>
                </a:solidFill>
              </a:rPr>
              <a:t> 16→7</a:t>
            </a:r>
            <a:endParaRPr lang="en-US" sz="1600" dirty="0"/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: final-third passing, shot blocks, progressive distance, box defending ↔ more Y1 minutes (p&lt;0.05)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Feeder gaps are modest; exploratory OLS (N=117) — traits matter more than league label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Scout what travels. Y1 minutes = open-data success proxy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Future project goals would be to test </a:t>
            </a:r>
            <a:r>
              <a:rPr lang="el-GR" sz="1600" dirty="0">
                <a:solidFill>
                  <a:srgbClr val="333333"/>
                </a:solidFill>
              </a:rPr>
              <a:t>Δ</a:t>
            </a:r>
            <a:r>
              <a:rPr lang="en-US" sz="1600" dirty="0">
                <a:solidFill>
                  <a:srgbClr val="333333"/>
                </a:solidFill>
              </a:rPr>
              <a:t> in</a:t>
            </a:r>
            <a:r>
              <a:rPr lang="el-GR" sz="1600" dirty="0">
                <a:solidFill>
                  <a:srgbClr val="333333"/>
                </a:solidFill>
              </a:rPr>
              <a:t> </a:t>
            </a:r>
            <a:r>
              <a:rPr lang="en-US" sz="1600" dirty="0" err="1">
                <a:solidFill>
                  <a:srgbClr val="333333"/>
                </a:solidFill>
              </a:rPr>
              <a:t>Transfermarkt</a:t>
            </a:r>
            <a:r>
              <a:rPr lang="en-US" sz="1600" dirty="0">
                <a:solidFill>
                  <a:srgbClr val="333333"/>
                </a:solidFill>
              </a:rPr>
              <a:t> market value which is a main club outcome goal</a:t>
            </a:r>
          </a:p>
          <a:p>
            <a:pPr>
              <a:spcAft>
                <a:spcPts val="300"/>
              </a:spcAft>
            </a:pPr>
            <a:endParaRPr sz="2400" b="1" dirty="0">
              <a:solidFill>
                <a:srgbClr val="3D5A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5440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Deliverables</a:t>
            </a:r>
            <a:endParaRPr sz="1600" b="0" dirty="0">
              <a:solidFill>
                <a:srgbClr val="555555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Deck </a:t>
            </a:r>
            <a:r>
              <a:rPr sz="1300" b="0">
                <a:solidFill>
                  <a:srgbClr val="333333"/>
                </a:solidFill>
              </a:rPr>
              <a:t>· </a:t>
            </a:r>
            <a:r>
              <a:rPr lang="en-US" sz="1300">
                <a:solidFill>
                  <a:srgbClr val="333333"/>
                </a:solidFill>
              </a:rPr>
              <a:t>README · </a:t>
            </a:r>
            <a:r>
              <a:rPr sz="1300" b="0">
                <a:solidFill>
                  <a:srgbClr val="333333"/>
                </a:solidFill>
              </a:rPr>
              <a:t>interactive</a:t>
            </a:r>
            <a:r>
              <a:rPr sz="1300" b="0" dirty="0" err="1">
                <a:solidFill>
                  <a:srgbClr val="333333"/>
                </a:solidFill>
              </a:rPr>
              <a:t>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endParaRPr sz="1300" b="0" dirty="0">
              <a:solidFill>
                <a:srgbClr val="333333"/>
              </a:solidFill>
            </a:endParaRPr>
          </a:p>
          <a:p>
            <a:r>
              <a:rPr sz="1300" b="0" dirty="0" err="1">
                <a:solidFill>
                  <a:srgbClr val="333333"/>
                </a:solidFill>
              </a:rPr>
              <a:t>projectproposal</a:t>
            </a:r>
            <a:r>
              <a:rPr sz="1300" b="0" dirty="0">
                <a:solidFill>
                  <a:srgbClr val="333333"/>
                </a:solidFill>
              </a:rPr>
              <a:t> · results/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Gates: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</a:t>
            </a:r>
            <a:r>
              <a:rPr sz="1300" b="0" dirty="0" err="1">
                <a:solidFill>
                  <a:srgbClr val="333333"/>
                </a:solidFill>
              </a:rPr>
              <a:t>Att</a:t>
            </a:r>
            <a:r>
              <a:rPr sz="1300" b="0" dirty="0">
                <a:solidFill>
                  <a:srgbClr val="333333"/>
                </a:solidFill>
              </a:rPr>
              <a:t>/Pass/Other ≥0.60 · Def/Carry ≥0.50 · SB r≥0.40 ·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3588</Words>
  <Application>Microsoft Macintosh PowerPoint</Application>
  <PresentationFormat>Widescreen</PresentationFormat>
  <Paragraphs>669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5</cp:revision>
  <dcterms:created xsi:type="dcterms:W3CDTF">2013-01-27T09:14:16Z</dcterms:created>
  <dcterms:modified xsi:type="dcterms:W3CDTF">2026-07-18T18:04:54Z</dcterms:modified>
  <cp:category/>
</cp:coreProperties>
</file>