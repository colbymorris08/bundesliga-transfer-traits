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85" r:id="rId5"/>
    <p:sldId id="268" r:id="rId6"/>
    <p:sldId id="281" r:id="rId7"/>
    <p:sldId id="282" r:id="rId8"/>
    <p:sldId id="260" r:id="rId9"/>
    <p:sldId id="259" r:id="rId10"/>
    <p:sldId id="261" r:id="rId11"/>
    <p:sldId id="263" r:id="rId12"/>
    <p:sldId id="267" r:id="rId13"/>
    <p:sldId id="264" r:id="rId14"/>
    <p:sldId id="269" r:id="rId15"/>
    <p:sldId id="276" r:id="rId16"/>
    <p:sldId id="270" r:id="rId17"/>
    <p:sldId id="271" r:id="rId18"/>
    <p:sldId id="274" r:id="rId19"/>
    <p:sldId id="275" r:id="rId20"/>
    <p:sldId id="280" r:id="rId21"/>
    <p:sldId id="278" r:id="rId22"/>
    <p:sldId id="277" r:id="rId23"/>
    <p:sldId id="284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91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Football Reference + StatsBomb data sources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*Based on framework used in data science internship with Red Bull New York transfer-market evaluation*</a:t>
            </a: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Flow: research question → collect data (Football Reference + StatsBomb) → keep traits that stay consistent after the move → drop near-duplicate traits → interactive player charts → test which prior traits and leagues line up with more first-season Bundesliga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Bundesliga (Germany’s top men’s soccer league) — and which prior stats line up with more minutes in a player’s first Bundesliga season?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211024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90283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Collect data from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season and first Bundesliga season each ≥300 minutes.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match files for 2015/16 and 2023/24; prior ≥45 minutes / first Bundesliga season ≥30 minutes.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3463831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10035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Consistency check (“stability”)</a:t>
            </a:r>
          </a:p>
          <a:p>
            <a:r>
              <a:rPr sz="1100" b="0" dirty="0">
                <a:solidFill>
                  <a:srgbClr val="333333"/>
                </a:solidFill>
              </a:rPr>
              <a:t>For each per-90-minute rate, correlate the prior-league season with the first Bundesliga season. Keep traits that clear a minimum correlation (“travel”). Traits that miss the cutoff are treated as non-traveling (do not clear the consistency floor) and listed in the inspector, not on the final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4142349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417631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cutoffs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category cutoffs → 43 of 105 metrics met the consistency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 ≥ 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Drop near-duplicates</a:t>
            </a:r>
          </a:p>
          <a:p>
            <a:r>
              <a:rPr sz="1100" b="0">
                <a:solidFill>
                  <a:srgbClr val="333333"/>
                </a:solidFill>
              </a:rPr>
              <a:t>Remove traits that almost always move together (same information twice). Football Reference 43→32 · StatsBomb keep all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Player charts</a:t>
            </a:r>
          </a:p>
          <a:p>
            <a:r>
              <a:rPr sz="1100" b="0">
                <a:solidFill>
                  <a:srgbClr val="333333"/>
                </a:solidFill>
              </a:rPr>
              <a:t>Category radar charts on the shortlisted traits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Success tests</a:t>
            </a:r>
          </a:p>
          <a:p>
            <a:r>
              <a:rPr sz="1100" b="0">
                <a:solidFill>
                  <a:srgbClr val="333333"/>
                </a:solidFill>
              </a:rPr>
              <a:t>Spearman rank correlation: prior trait percentile vs first-season Bundesliga minutes; averages by prior league; exploratory ordinary least squares (OLS) regression.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455419" y="5133214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Compared with the New York Red Bulls project: here we define which traits stay consistent after a move and which prior rates line up with more first-season Bundesliga minutes — not </a:t>
            </a:r>
            <a:r>
              <a:rPr sz="1200" b="0" dirty="0" err="1">
                <a:solidFill>
                  <a:srgbClr val="333333"/>
                </a:solidFill>
              </a:rPr>
              <a:t>Transfermarkt</a:t>
            </a:r>
            <a:r>
              <a:rPr sz="1200" b="0" dirty="0">
                <a:solidFill>
                  <a:srgbClr val="333333"/>
                </a:solidFill>
              </a:rPr>
              <a:t> market value. Analysts can ask which outside-league rates best relate to playing time once a player arrives.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Difference from New York Red Bulls Project: 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We do not optimize Transfermarkt price. We shortlist performance traits that stay consistent after the move into the Bundesliga.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Consistency check → drop near-duplicates → radar charts / explorer → success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Football Reference = larger sample, season-rate metrics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19 leagues · first Bundesliga season 2021–2025 · ≥300 minutes each side</a:t>
            </a:r>
          </a:p>
          <a:p>
            <a:r>
              <a:rPr sz="1200" b="0">
                <a:solidFill>
                  <a:srgbClr val="333333"/>
                </a:solidFill>
              </a:rPr>
              <a:t>N=329 player pairs</a:t>
            </a:r>
          </a:p>
          <a:p>
            <a:r>
              <a:rPr sz="1200" b="0">
                <a:solidFill>
                  <a:srgbClr val="333333"/>
                </a:solidFill>
              </a:rPr>
              <a:t>105 metrics tested → 43 met consistency floor → 32 left after dropping near-duplicates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Other: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Carrying: Pearson r ≥ 0.50 (slightly lower so enough defensive metrics remain)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= deeper event metrics,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N=96 · prior ≥45 minutes / first Bundesliga season ≥30 minutes</a:t>
            </a:r>
          </a:p>
          <a:p>
            <a:r>
              <a:rPr sz="1200" b="0">
                <a:solidFill>
                  <a:srgbClr val="333333"/>
                </a:solidFill>
              </a:rPr>
              <a:t>Pearson r ≥ 0.40 → 7 of 16 · near-duplicate cutoff |r| ≥ 0.85 (all 7 kept)</a:t>
            </a:r>
          </a:p>
          <a:p>
            <a:r>
              <a:rPr sz="1200" b="0">
                <a:solidFill>
                  <a:srgbClr val="333333"/>
                </a:solidFill>
              </a:rPr>
              <a:t>Prior competitions: 17 · Bundesliga files: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0D9A-CA05-B390-A111-8EF555C1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FF173-1B67-703E-F4CF-543D51E90C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C5A663-8ACF-1B45-0C3E-B03A46755894}"/>
              </a:ext>
            </a:extLst>
          </p:cNvPr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4C91A-B18B-A00B-0A82-7B6740FD3FAC}"/>
              </a:ext>
            </a:extLst>
          </p:cNvPr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GENERAL OVERVIEW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pic>
        <p:nvPicPr>
          <p:cNvPr id="22" name="Picture 21" descr="feeder_to_bundesliga_design.png">
            <a:extLst>
              <a:ext uri="{FF2B5EF4-FFF2-40B4-BE49-F238E27FC236}">
                <a16:creationId xmlns:a16="http://schemas.microsoft.com/office/drawing/2014/main" id="{E3B9D340-9236-584D-9CBF-1C4383A0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04" y="1508167"/>
            <a:ext cx="10484591" cy="471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62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Metric evaluation for transfers into the Bundesliga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71994"/>
            <a:ext cx="11064240" cy="177416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(same broad framework as a New York Red Bulls internship project).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Pearson r = consistency (“stability”): does a player’s ranking on a rate in the prior league tend to show up again in the first Bundesliga season?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= more minutes in the first Bundesliga season (playing time), not goals or market value. Spearman ρ asks whether higher prior trait ranks line up with more first-season minutes.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Near-duplicates = traits that move together; we keep one. Percentiles = rank versus Bundesliga players at a similar position (0–100).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Trait consistency — prior season ↔ first Bundesliga season (Pearson r)</a:t>
            </a:r>
          </a:p>
          <a:p>
            <a:r>
              <a:rPr sz="1200" b="0">
                <a:solidFill>
                  <a:srgbClr val="333333"/>
                </a:solidFill>
              </a:rPr>
              <a:t>Near-duplicates removed — Football Reference |r| ≥ 0.95 · StatsBomb |r| ≥ 0.85</a:t>
            </a:r>
          </a:p>
          <a:p>
            <a:r>
              <a:rPr sz="1200" b="0">
                <a:solidFill>
                  <a:srgbClr val="333333"/>
                </a:solidFill>
              </a:rPr>
              <a:t>First-season profile strength — stable-trait score (average percentile on kept traits)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r>
              <a:rPr sz="1200" b="0" dirty="0">
                <a:solidFill>
                  <a:srgbClr val="333333"/>
                </a:solidFill>
              </a:rPr>
              <a:t>Consistency ≠ “this player will succeed” — it means the ranking tends to travel</a:t>
            </a:r>
            <a:r>
              <a:rPr lang="en-US" sz="1200" b="0" dirty="0">
                <a:solidFill>
                  <a:srgbClr val="333333"/>
                </a:solidFill>
              </a:rPr>
              <a:t> from one league to the Bundesliga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  <a:p>
            <a:r>
              <a:rPr sz="1200" b="0" dirty="0">
                <a:solidFill>
                  <a:srgbClr val="333333"/>
                </a:solidFill>
              </a:rPr>
              <a:t>OLS is exploratory (Big Five European leagues subset,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Cohort design + data joins</a:t>
            </a:r>
          </a:p>
          <a:p>
            <a:r>
              <a:rPr sz="1200" b="0">
                <a:solidFill>
                  <a:srgbClr val="333333"/>
                </a:solidFill>
              </a:rPr>
              <a:t>Correlation / feature screening</a:t>
            </a:r>
          </a:p>
          <a:p>
            <a:r>
              <a:rPr sz="1200" b="0">
                <a:solidFill>
                  <a:srgbClr val="333333"/>
                </a:solidFill>
              </a:rPr>
              <a:t>Near-duplicate pruning</a:t>
            </a:r>
          </a:p>
          <a:p>
            <a:r>
              <a:rPr sz="1200" b="0">
                <a:solidFill>
                  <a:srgbClr val="333333"/>
                </a:solidFill>
              </a:rPr>
              <a:t>Peer percentiles + interactive explorer</a:t>
            </a:r>
          </a:p>
          <a:p>
            <a:r>
              <a:rPr sz="1200" b="0">
                <a:solidFill>
                  <a:srgbClr val="333333"/>
                </a:solidFill>
              </a:rPr>
              <a:t>Analyst review of the shortlist after the automated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3D5A80"/>
                </a:solidFill>
              </a:rPr>
              <a:t>DATA  ·  FOOTBALL REFERENCE (Primary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D5A80"/>
                </a:solidFill>
              </a:rPr>
              <a:t>Scale layer — prior leagues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1964640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What we use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Season tables from leagues outside the Bundesliga, plus player-page fills when needed</a:t>
            </a:r>
          </a:p>
          <a:p>
            <a:r>
              <a:rPr sz="1200" b="0" dirty="0">
                <a:solidFill>
                  <a:srgbClr val="333333"/>
                </a:solidFill>
              </a:rPr>
              <a:t>Analysis window: first Bundesliga seasons ending 2021–2025</a:t>
            </a:r>
          </a:p>
          <a:p>
            <a:r>
              <a:rPr sz="1200" b="0" dirty="0">
                <a:solidFill>
                  <a:srgbClr val="333333"/>
                </a:solidFill>
              </a:rPr>
              <a:t>Minutes: prior season ≥300′ and first Bundesliga season ≥300′ → N=329 pairs · 19 leagues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League-relative scaling (mentioned once): we tried scoring each rate as “how high vs peers in the same prior league” (z-score / percentile). It did not improve </a:t>
            </a:r>
            <a:r>
              <a:rPr sz="1200" b="0" dirty="0" err="1">
                <a:solidFill>
                  <a:srgbClr val="333333"/>
                </a:solidFill>
              </a:rPr>
              <a:t>prior→first-season</a:t>
            </a:r>
            <a:r>
              <a:rPr sz="1200" b="0" dirty="0">
                <a:solidFill>
                  <a:srgbClr val="333333"/>
                </a:solidFill>
              </a:rPr>
              <a:t> consistency, so we keep absolute per-90-minute rates everywhere.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Time </a:t>
            </a:r>
            <a:r>
              <a:rPr sz="1200" b="0" dirty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What we use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“Open” = free public StatsBomb match files (not a paid feed). Priors = any of those men’s competitions the player appeared in before the Bundesliga (club leagues and tournaments such as the World Cup, European Championship, and Champions League).</a:t>
            </a:r>
          </a:p>
          <a:p>
            <a:r>
              <a:rPr sz="1100" b="0">
                <a:solidFill>
                  <a:srgbClr val="333333"/>
                </a:solidFill>
              </a:rPr>
              <a:t>Bundesliga open match files available: 2015/16 and 2023/24 only</a:t>
            </a:r>
          </a:p>
          <a:p>
            <a:r>
              <a:rPr sz="1100" b="0">
                <a:solidFill>
                  <a:srgbClr val="333333"/>
                </a:solidFill>
              </a:rPr>
              <a:t>N=96 · prior ≥45′ · first Bundesliga season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 ≥ 0.40 → 7 metrics · near-duplicate cutoff |r| ≥ 0.85 → keep all 7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Smaller open-data sample · only two Bundesliga seasons · event-level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Versus Football Reference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Event-level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and international competitions, so prior-league tables here are directional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CONSISTENCY CHECK (FOOTBALL REFERENCE) ·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Paired N=329 · 19 leagues · ≥300 minutes on both sides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Category cutoffs (not one global cut):</a:t>
            </a:r>
          </a:p>
          <a:p>
            <a:r>
              <a:rPr sz="11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1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100" b="0">
                <a:solidFill>
                  <a:srgbClr val="333333"/>
                </a:solidFill>
              </a:rPr>
              <a:t>43 of 105 metrics pass → next: drop near-duplicates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defending cutoff is lower because fewer defensive rates cleared 0.60, and defending is harder to capture in event counts (positioning off the ball is mostly missing).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Full names in the table; see Glossary for any leftover codes.</a:t>
            </a:r>
          </a:p>
          <a:p>
            <a:r>
              <a:rPr sz="1100" b="0">
                <a:solidFill>
                  <a:srgbClr val="333333"/>
                </a:solidFill>
              </a:rPr>
              <a:t>The other 62 metrics miss the floor — non-traveling;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694422"/>
              </p:ext>
            </p:extLst>
          </p:nvPr>
        </p:nvGraphicFramePr>
        <p:xfrm>
          <a:off x="3490950" y="852269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 penalty-area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(xG)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expected goals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Defensive-third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carry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per 90 minutes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(standard counting)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xG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Total pass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passes received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Goals +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Free kicks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 ≥ 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Times dispossessed (inverted: fewer is better)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Pressures (closing down opponents)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Passes into the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Shots  r=0.40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Progressive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Tackles  r=0.34 · Non-penalty expected goals  r=0.30 ·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Interceptions  r=0.20 · Expected assists  r=0.13 ·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26013"/>
              </p:ext>
            </p:extLst>
          </p:nvPr>
        </p:nvGraphicFramePr>
        <p:xfrm>
          <a:off x="4821382" y="1066800"/>
          <a:ext cx="668600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6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sz="1000"/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Times dispossessed (inverted: fewer is better)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Non-penalty expected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Next: drop near-duplicates at Pearson |r| ≥ 0.85 — only near-duplicates cut; pass volume kept with progressive passes (related but not identical).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Position changes: we use broad position groups for peer ranks. We do not model “center back became fullback” as the main story — role switches can add noise to consistency,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shortlist (7)</a:t>
            </a:r>
          </a:p>
          <a:p>
            <a:r>
              <a:rPr sz="1100" b="0">
                <a:solidFill>
                  <a:srgbClr val="333333"/>
                </a:solidFill>
              </a:rPr>
              <a:t>Consistency r ≥ 0.40 · near-duplicate |r| ≥ 0.85 (passes kept)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Progressive passes  r=0.74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r=0.59</a:t>
            </a:r>
          </a:p>
          <a:p>
            <a:r>
              <a:rPr sz="1100" b="0">
                <a:solidFill>
                  <a:srgbClr val="333333"/>
                </a:solidFill>
              </a:rPr>
              <a:t>Pressures (closing down opponents)  r=0.51</a:t>
            </a:r>
          </a:p>
          <a:p>
            <a:r>
              <a:rPr sz="1100" b="0">
                <a:solidFill>
                  <a:srgbClr val="333333"/>
                </a:solidFill>
              </a:rPr>
              <a:t>Pass volume  r=0.49</a:t>
            </a:r>
          </a:p>
          <a:p>
            <a:r>
              <a:rPr sz="1100" b="0">
                <a:solidFill>
                  <a:srgbClr val="333333"/>
                </a:solidFill>
              </a:rPr>
              <a:t>Clearances  r=0.47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r=0.46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</a:rPr>
              <a:t>StatsBomb: |r| ≥ 0.85 — no cuts; pass volume kept with progressive passes (related definitions, not identical).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Football Reference: 43 cleared consistency → 32 kept</a:t>
            </a:r>
          </a:p>
          <a:p>
            <a:r>
              <a:rPr sz="1100" b="0">
                <a:solidFill>
                  <a:srgbClr val="333333"/>
                </a:solidFill>
              </a:rPr>
              <a:t>105 tested · category cutoffs → 43 · Pearson |r| ≥ 0.95 → drop near-duplicates → 32</a:t>
            </a:r>
          </a:p>
          <a:p>
            <a:r>
              <a:rPr sz="1100" b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>
                <a:solidFill>
                  <a:srgbClr val="333333"/>
                </a:solidFill>
              </a:rPr>
              <a:t>When choosing which to keep: higher consistency → larger sample size → prefer rate/context metrics</a:t>
            </a:r>
          </a:p>
          <a:p>
            <a:r>
              <a:rPr sz="1100" b="0">
                <a:solidFill>
                  <a:srgbClr val="333333"/>
                </a:solidFill>
              </a:rPr>
              <a:t>Top consistency examples: Defensive penalty-area touches (0.91) · Progressive carries (0.81) · Expected goals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Expected goals (0.80) · Goals (0.66) · Shots on target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carries (0.81) · Progressive carry distance (0.79) · Key passes (0.65) · Passes into final third (0.62) · Medium completion % (0.64) · Crosses into box (0.59) · Crosses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receives (0.60) · Attacking-third touches (0.54) · Successful take-ons (0.65) · Miscontrols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Defensive box touches (0.91) · Clearances (0.67) · Tackled while dribbling (0.59) · Aerials won (0.42) · Shot blocks (0.79) · Interceptions (0.57) · Aerials lost (0.42) · Aerial win % (0.50) · Defensive-third touches (0.79) · Tackle % (0.31) · Recoveries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Fouls drawn (0.53)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OUTPUT · CATEGORY RADAR CHART (Same chart style used in the New York Red Bulls internship project)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Built from shortlisted traits. Explorer HTML combines Football Reference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first Bundesliga season</a:t>
            </a:r>
          </a:p>
          <a:p>
            <a:r>
              <a:rPr sz="1200" b="0">
                <a:solidFill>
                  <a:srgbClr val="333333"/>
                </a:solidFill>
              </a:rPr>
              <a:t>Red dotted = prior season</a:t>
            </a:r>
          </a:p>
          <a:p>
            <a:r>
              <a:rPr sz="1200" b="0">
                <a:solidFill>
                  <a:srgbClr val="333333"/>
                </a:solidFill>
              </a:rPr>
              <a:t>Dashed = average peer (50th percentile)</a:t>
            </a:r>
          </a:p>
          <a:p>
            <a:r>
              <a:rPr sz="1200" b="0">
                <a:solidFill>
                  <a:srgbClr val="333333"/>
                </a:solidFill>
              </a:rPr>
              <a:t>Grey = top peer (~90th percentile)</a:t>
            </a:r>
          </a:p>
          <a:p>
            <a:r>
              <a:rPr sz="1200" b="0">
                <a:solidFill>
                  <a:srgbClr val="333333"/>
                </a:solidFill>
              </a:rPr>
              <a:t>Each slice averages shortlisted traits in that style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One number that answers: in Year 1 in Bundesliga, how strong is this player on the shortlisted (traveling) traits — vs peers at their position?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(StatsBomb 7 · Football Reference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Stable-trait score = mean of those Year 1 in Bundesliga percentiles across the shortlist.</a:t>
            </a:r>
          </a:p>
          <a:p>
            <a:r>
              <a:rPr sz="1300" b="0">
                <a:solidFill>
                  <a:srgbClr val="333333"/>
                </a:solidFill>
              </a:rPr>
              <a:t>Example: if a center back is 70th / 60th / 80th on three traits → score ≈ 70.</a:t>
            </a:r>
          </a:p>
          <a:p>
            <a:r>
              <a:rPr sz="1300" b="0">
                <a:solidFill>
                  <a:srgbClr val="333333"/>
                </a:solidFill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</a:rPr>
              <a:t>Switch StatsBomb (N=96 · 7 traits) ↔ Football Reference (N=329 · 32 traits).</a:t>
            </a:r>
          </a:p>
          <a:p>
            <a:r>
              <a:rPr sz="1600" b="0">
                <a:solidFill>
                  <a:srgbClr val="333333"/>
                </a:solidFill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Same explorer combines both sources — pick Football Reference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24226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79" y="914399"/>
            <a:ext cx="11338561" cy="283891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Phase 2: after trimming the metrics to the shortlist of traits that travel, test what lines up with Bundesliga success.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 b="0" dirty="0">
                <a:solidFill>
                  <a:srgbClr val="333333"/>
                </a:solidFill>
              </a:rPr>
              <a:t>• Year 1 minutes percentile — where this player’s first-season minutes rank among other arriving players in the study (0–100).</a:t>
            </a:r>
          </a:p>
          <a:p>
            <a:r>
              <a:rPr sz="1100" b="0" dirty="0">
                <a:solidFill>
                  <a:srgbClr val="333333"/>
                </a:solidFill>
              </a:rPr>
              <a:t>• Stable-trait score — how strong their Year 1 profile looks on the traits that travel we kept (average percentile vs position peers).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Spearman </a:t>
            </a:r>
            <a:r>
              <a:rPr sz="1100" b="0" dirty="0" err="1">
                <a:solidFill>
                  <a:srgbClr val="333333"/>
                </a:solidFill>
              </a:rPr>
              <a:t>ρ</a:t>
            </a:r>
            <a:r>
              <a:rPr sz="1100" b="0" dirty="0">
                <a:solidFill>
                  <a:srgbClr val="333333"/>
                </a:solidFill>
              </a:rPr>
              <a:t>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7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59" y="468113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59" y="5010314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1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19" y="4571402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399" y="4681130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Football Reference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400" b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4571402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5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39" y="468113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Signaling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39" y="5010314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Supports weights for evaluation</a:t>
            </a:r>
          </a:p>
          <a:p>
            <a:r>
              <a:rPr sz="1200" b="0" dirty="0">
                <a:solidFill>
                  <a:srgbClr val="333333"/>
                </a:solidFill>
              </a:rPr>
              <a:t>Does not predict every transfer</a:t>
            </a:r>
          </a:p>
          <a:p>
            <a:r>
              <a:rPr sz="1200" b="0" dirty="0">
                <a:solidFill>
                  <a:srgbClr val="333333"/>
                </a:solidFill>
              </a:rPr>
              <a:t>Full interactive tables: 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 · </a:t>
            </a:r>
            <a:r>
              <a:rPr sz="1200" b="0" dirty="0" err="1">
                <a:solidFill>
                  <a:srgbClr val="333333"/>
                </a:solidFill>
              </a:rPr>
              <a:t>README.md</a:t>
            </a:r>
            <a:endParaRPr sz="1200" b="0" dirty="0">
              <a:solidFill>
                <a:srgbClr val="333333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3817323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means the club gave the arriving player playing time — not goals scored and not market value.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 b="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 b="0">
                <a:solidFill>
                  <a:srgbClr val="333333"/>
                </a:solidFill>
              </a:rPr>
              <a:t>• Stable-trait score — how strong the Year 1 profile looks on the traits that travel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333333"/>
                </a:solidFill>
              </a:rPr>
              <a:t>Why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Observable in Football Reference / StatsBomb cohorts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Directly measures opportunity and role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Not the same as goals, expected goals, or team points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Scope: associations useful when weighing which prior rates matter —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329408"/>
              </p:ext>
            </p:extLst>
          </p:nvPr>
        </p:nvGraphicFramePr>
        <p:xfrm>
          <a:off x="411480" y="2657626"/>
          <a:ext cx="4652888" cy="3212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dispossessed (inverted: fewer is better)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Football Reference (N=329)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Passes into the final third  ρ=+0.30  p=0.005 *</a:t>
            </a:r>
          </a:p>
          <a:p>
            <a:r>
              <a:rPr sz="1100" b="0">
                <a:solidFill>
                  <a:srgbClr val="333333"/>
                </a:solidFill>
              </a:rPr>
              <a:t>Shot blocks  ρ=+0.27  p=0.011 *</a:t>
            </a:r>
          </a:p>
          <a:p>
            <a:r>
              <a:rPr sz="1100" b="0">
                <a:solidFill>
                  <a:srgbClr val="333333"/>
                </a:solidFill>
              </a:rPr>
              <a:t>Progressive carry distance  ρ=+0.24  p=0.025 *</a:t>
            </a:r>
          </a:p>
          <a:p>
            <a:r>
              <a:rPr sz="1100" b="0">
                <a:solidFill>
                  <a:srgbClr val="333333"/>
                </a:solidFill>
              </a:rPr>
              <a:t>Times tackled while dribbling  ρ=+0.23  p=0.030 *</a:t>
            </a:r>
          </a:p>
          <a:p>
            <a:r>
              <a:rPr sz="1100" b="0">
                <a:solidFill>
                  <a:srgbClr val="333333"/>
                </a:solidFill>
              </a:rPr>
              <a:t>Long pass attempts  ρ=+0.22  p=0.036 *</a:t>
            </a:r>
          </a:p>
          <a:p>
            <a:r>
              <a:rPr sz="1100" b="0">
                <a:solidFill>
                  <a:srgbClr val="333333"/>
                </a:solidFill>
              </a:rPr>
              <a:t>Defensive-third touches  ρ=+0.22  p=0.039 *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* p&lt;0.05  ·  Final-third passes, shot blocks, progressive carry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664275"/>
              </p:ext>
            </p:extLst>
          </p:nvPr>
        </p:nvGraphicFramePr>
        <p:xfrm>
          <a:off x="6126480" y="2927016"/>
          <a:ext cx="4349439" cy="362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carry distance*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tackled while dribbling*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Long pass attempts*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Defensive-third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Miscontrols while 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11242" y="1313482"/>
            <a:ext cx="6080453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Football Reference N=329 (only leagues with ≥8 players shown).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N=96 — international priors are directional only.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How to read these averages: each row is players who already moved from that competition into the Bundesliga. Clubs chose whom to sign, so this is not a random sample of everyone in that league.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Relative prior-league averages are a useful description of arrivals. They are not a causal claim that “coming from league X causes more minutes” or that the league produces better transferable talent — that would need separating the league label from who gets signed and where they land. (The exploratory OLS later holds prior minutes / position / traits fixed and finds league gaps are modest.)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Tables also in the explorer Success tab · </a:t>
            </a:r>
            <a:r>
              <a:rPr sz="1100" b="0" dirty="0" err="1">
                <a:solidFill>
                  <a:srgbClr val="333333"/>
                </a:solidFill>
              </a:rPr>
              <a:t>README.md</a:t>
            </a:r>
            <a:endParaRPr sz="11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(Premier League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passes into the final third, defensive penalty-area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 Five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 Five Football Reference subset N=117. Exploratory associations — not a validated forecast.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Aerials lost (fewer is better)*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</a:rPr>
              <a:t>Does the Ligue 1 result make sense?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table shows Ligue 1 arrivals with about +163 Year 1 minutes versus Serie A. That gap looks large, but p≈0.38 with N=117 — under usual standards it is not distinguishable from chance. In plain terms: we do not have clear evidence that Ligue 1 labels alone buy more first-season playing time once prior minutes and position are held fixed.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What does look clearer: adding prior trait percentiles raises R² from about 0.09 to 0.22, so the player’s prior profile explains Year 1 minutes better than the league name. The holdout check (correlation ≈0.35) is only moderate — useful as exploration, not a strong forecast.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Takeaway: prioritize traits that travel and Year 1 minutes; treat prior-league labels as a weak leftover signal.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Serie A = baseline (lowest mean Year 1 minutes among Big Five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629224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StatsBomb N=96 with mixed open-data priors (World Cup / European Championship / Champions League mix rather than clean domestic league seasons — larger count,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200" b="0">
                <a:solidFill>
                  <a:srgbClr val="333333"/>
                </a:solidFill>
              </a:rPr>
              <a:t>• Football Reference N=329 helps, but many advanced metrics only have ~90–100 complete pairs</a:t>
            </a:r>
          </a:p>
          <a:p>
            <a:r>
              <a:rPr sz="1200" b="0">
                <a:solidFill>
                  <a:srgbClr val="333333"/>
                </a:solidFill>
              </a:rPr>
              <a:t>• Multiple traits tested — treat Phase 2 as associations, not a forecast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What hardened the sample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• 19 leagues · first Bundesliga seasons 2021–2025 · prior / Year 1 ≥300′ → N=329</a:t>
            </a:r>
          </a:p>
          <a:p>
            <a:r>
              <a:rPr sz="1200" b="0">
                <a:solidFill>
                  <a:srgbClr val="333333"/>
                </a:solidFill>
              </a:rPr>
              <a:t>• Category consistency cutoffs + light near-duplicate filter (|r| ≥ 0.95) → 32 traits</a:t>
            </a:r>
          </a:p>
          <a:p>
            <a:r>
              <a:rPr sz="1200" b="0">
                <a:solidFill>
                  <a:srgbClr val="333333"/>
                </a:solidFill>
              </a:rPr>
              <a:t>• StatsBomb kept as an event deep dive (r ≥ 0.40 · 7 traits), not a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</a:rPr>
              <a:t>• Shortlists of traits that travel: Football Reference 105 tested → 43 met consistency floor → 32 after dropping near-duplicates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16 tested → 7 met consistency floor (all 7 kept)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Football Reference traits most linked to Year 1 Bundesliga minutes (p&lt;0.05): passes into the final third, shot blocks, progressive carry distance, box defending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333333"/>
                </a:solidFill>
              </a:rPr>
              <a:t>• The player (prior trait profile) matters more than the prior-league label: exploratory OLS (N=117) finds league gaps modest/non-significant once controls and traits are included, while adding traits raises fit more than league names alone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Use metrics that stay consistent across leagues. Year 1 Bundesliga minutes = open-data success measure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Future work: change in </a:t>
            </a:r>
            <a:r>
              <a:rPr sz="1300" b="0" dirty="0" err="1">
                <a:solidFill>
                  <a:srgbClr val="333333"/>
                </a:solidFill>
              </a:rPr>
              <a:t>Transfermarkt</a:t>
            </a:r>
            <a:r>
              <a:rPr sz="1300" b="0" dirty="0">
                <a:solidFill>
                  <a:srgbClr val="333333"/>
                </a:solidFill>
              </a:rPr>
              <a:t> market value (next slide) as a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(change in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clubs care about</a:t>
            </a:r>
          </a:p>
          <a:p>
            <a:r>
              <a:rPr sz="1300" b="0">
                <a:solidFill>
                  <a:srgbClr val="333333"/>
                </a:solidFill>
              </a:rPr>
              <a:t>The New York Red Bulls internship project’s player-value work used market value rather than Year 1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use Year 1 Bundesliga minutes as the success measure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change in market value with holdout regression /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</a:rPr>
              <a:t>GLOSSARY · SHORT CODES → FULL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Football Reference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333333"/>
                </a:solidFill>
              </a:rPr>
              <a:t>Deliverables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Repo: deck · README.md · interactive_player_explorer.html · stability_redundancy_inspector.html · projectproposal</a:t>
            </a:r>
          </a:p>
          <a:p>
            <a:endParaRPr sz="2600" b="0">
              <a:solidFill>
                <a:srgbClr val="333333"/>
              </a:solidFill>
            </a:endParaRPr>
          </a:p>
          <a:p>
            <a:r>
              <a:rPr sz="2600" b="0">
                <a:solidFill>
                  <a:srgbClr val="333333"/>
                </a:solidFill>
              </a:rPr>
              <a:t>Stability floors: Football Reference Attacking/Passing/Other Pearson r ≥ 0.60 · Defending/Carrying Pearson r ≥ 0.50 · StatsBomb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4546</TotalTime>
  <Words>4775</Words>
  <Application>Microsoft Macintosh PowerPoint</Application>
  <PresentationFormat>Widescreen</PresentationFormat>
  <Paragraphs>709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30</cp:revision>
  <dcterms:created xsi:type="dcterms:W3CDTF">2013-01-27T09:14:16Z</dcterms:created>
  <dcterms:modified xsi:type="dcterms:W3CDTF">2026-08-06T05:36:00Z</dcterms:modified>
  <cp:category/>
</cp:coreProperties>
</file>