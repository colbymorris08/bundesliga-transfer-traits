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57" r:id="rId4"/>
    <p:sldId id="268" r:id="rId5"/>
    <p:sldId id="281" r:id="rId6"/>
    <p:sldId id="282" r:id="rId7"/>
    <p:sldId id="260" r:id="rId8"/>
    <p:sldId id="259" r:id="rId9"/>
    <p:sldId id="261" r:id="rId10"/>
    <p:sldId id="263" r:id="rId11"/>
    <p:sldId id="267" r:id="rId12"/>
    <p:sldId id="264" r:id="rId13"/>
    <p:sldId id="269" r:id="rId14"/>
    <p:sldId id="276" r:id="rId15"/>
    <p:sldId id="270" r:id="rId16"/>
    <p:sldId id="271" r:id="rId17"/>
    <p:sldId id="274" r:id="rId18"/>
    <p:sldId id="275" r:id="rId19"/>
    <p:sldId id="280" r:id="rId20"/>
    <p:sldId id="278" r:id="rId21"/>
    <p:sldId id="277" r:id="rId22"/>
    <p:sldId id="284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7"/>
    <p:restoredTop sz="94697"/>
  </p:normalViewPr>
  <p:slideViewPr>
    <p:cSldViewPr snapToGrid="0" snapToObjects="1">
      <p:cViewPr varScale="1">
        <p:scale>
          <a:sx n="108" d="100"/>
          <a:sy n="108" d="100"/>
        </p:scale>
        <p:origin x="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55555"/>
                </a:solidFill>
              </a:rPr>
              <a:t>COLBY MORRIS  · 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BERKELEY</a:t>
            </a:r>
            <a:r>
              <a:rPr lang="en-US" sz="1200" b="0" dirty="0">
                <a:solidFill>
                  <a:srgbClr val="555555"/>
                </a:solidFill>
                <a:latin typeface="Calibri"/>
              </a:rPr>
              <a:t> HAAS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  ·  INDEPENDENT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22222"/>
                </a:solidFill>
                <a:latin typeface="Georgia"/>
              </a:rPr>
              <a:t>Which traits</a:t>
            </a:r>
            <a:r>
              <a:rPr lang="en-US" sz="2800" b="1" dirty="0">
                <a:solidFill>
                  <a:srgbClr val="222222"/>
                </a:solidFill>
                <a:latin typeface="Georgia"/>
              </a:rPr>
              <a:t> most accurately </a:t>
            </a:r>
            <a:r>
              <a:rPr sz="2800" b="1" dirty="0">
                <a:solidFill>
                  <a:srgbClr val="222222"/>
                </a:solidFill>
                <a:latin typeface="Georgia"/>
              </a:rPr>
              <a:t>travel into the Bundesliga</a:t>
            </a:r>
            <a:r>
              <a:rPr lang="en-US" sz="2800" b="1" dirty="0">
                <a:solidFill>
                  <a:srgbClr val="222222"/>
                </a:solidFill>
                <a:latin typeface="Georgia"/>
              </a:rPr>
              <a:t> from other professional soccer leagues</a:t>
            </a:r>
            <a:r>
              <a:rPr sz="2800" b="1" dirty="0">
                <a:solidFill>
                  <a:srgbClr val="222222"/>
                </a:solidFill>
                <a:latin typeface="Georgia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333333"/>
                </a:solidFill>
                <a:latin typeface="Calibri"/>
              </a:rPr>
              <a:t>F</a:t>
            </a:r>
            <a:r>
              <a:rPr lang="en-US" sz="1600" b="0" i="1" dirty="0">
                <a:solidFill>
                  <a:srgbClr val="333333"/>
                </a:solidFill>
                <a:latin typeface="Calibri"/>
              </a:rPr>
              <a:t>ootball R</a:t>
            </a:r>
            <a:r>
              <a:rPr sz="1600" b="0" i="1" dirty="0">
                <a:solidFill>
                  <a:srgbClr val="333333"/>
                </a:solidFill>
                <a:latin typeface="Calibri"/>
              </a:rPr>
              <a:t>ef</a:t>
            </a:r>
            <a:r>
              <a:rPr lang="en-US" sz="1600" b="0" i="1" dirty="0">
                <a:solidFill>
                  <a:srgbClr val="333333"/>
                </a:solidFill>
                <a:latin typeface="Calibri"/>
              </a:rPr>
              <a:t>erence</a:t>
            </a:r>
            <a:r>
              <a:rPr sz="1600" b="0" i="1" dirty="0">
                <a:solidFill>
                  <a:srgbClr val="333333"/>
                </a:solidFill>
                <a:latin typeface="Calibri"/>
              </a:rPr>
              <a:t> + </a:t>
            </a:r>
            <a:r>
              <a:rPr sz="1600" b="0" i="1" dirty="0" err="1">
                <a:solidFill>
                  <a:srgbClr val="333333"/>
                </a:solidFill>
                <a:latin typeface="Calibri"/>
              </a:rPr>
              <a:t>StatsBomb</a:t>
            </a:r>
            <a:r>
              <a:rPr lang="en-US" sz="1600" b="0" i="1" dirty="0">
                <a:solidFill>
                  <a:srgbClr val="333333"/>
                </a:solidFill>
                <a:latin typeface="Calibri"/>
              </a:rPr>
              <a:t> data sources</a:t>
            </a:r>
          </a:p>
          <a:p>
            <a:pPr algn="l"/>
            <a:endParaRPr lang="en-US" sz="1600" b="0" i="1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600" i="1" dirty="0">
                <a:solidFill>
                  <a:srgbClr val="333333"/>
                </a:solidFill>
                <a:latin typeface="Calibri"/>
              </a:rPr>
              <a:t>*Based on framework used in data science internship with Red Bull New York Transfer Market scouting analysis*</a:t>
            </a:r>
            <a:endParaRPr sz="1600" b="0" i="1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3D5A80"/>
                </a:solidFill>
                <a:latin typeface="Calibri"/>
              </a:rPr>
              <a:t>PROJECT STEPS  ·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Research question → data scrape from FBref and StatsBomb → stability thresholds → redundancy thresholds → HTML player explorer → team-based significance findings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207008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170432"/>
            <a:ext cx="50292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Question</a:t>
            </a:r>
          </a:p>
          <a:p>
            <a:r>
              <a:rPr sz="1200" b="0">
                <a:solidFill>
                  <a:srgbClr val="333333"/>
                </a:solidFill>
              </a:rPr>
              <a:t>Which traits travel into the German Bundesliga — and which prior stats line up with Year 1 in Bundesliga minutes?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920240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752147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</a:rPr>
              <a:t>Scrape two sources</a:t>
            </a:r>
          </a:p>
          <a:p>
            <a:r>
              <a:rPr sz="1100" b="0" dirty="0">
                <a:solidFill>
                  <a:srgbClr val="333333"/>
                </a:solidFill>
              </a:rPr>
              <a:t>Football Reference (</a:t>
            </a:r>
            <a:r>
              <a:rPr sz="1100" b="0" dirty="0" err="1">
                <a:solidFill>
                  <a:srgbClr val="333333"/>
                </a:solidFill>
              </a:rPr>
              <a:t>FBref</a:t>
            </a:r>
            <a:r>
              <a:rPr sz="1100" b="0" dirty="0">
                <a:solidFill>
                  <a:srgbClr val="333333"/>
                </a:solidFill>
              </a:rPr>
              <a:t>): 19 leagues; first Bundesliga season in 2021–2025; prior and Year 1 in Bundesliga minutes ≥300′.</a:t>
            </a:r>
          </a:p>
          <a:p>
            <a:r>
              <a:rPr sz="1100" b="0" dirty="0" err="1">
                <a:solidFill>
                  <a:srgbClr val="333333"/>
                </a:solidFill>
              </a:rPr>
              <a:t>StatsBomb</a:t>
            </a:r>
            <a:r>
              <a:rPr sz="1100" b="0" dirty="0">
                <a:solidFill>
                  <a:srgbClr val="333333"/>
                </a:solidFill>
              </a:rPr>
              <a:t>: 17 competitions; Bundesliga 2015/16 + 2023/24; prior ≥45′ / Year 1 in Bundesliga ≥30′.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703810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708474"/>
            <a:ext cx="502920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 dirty="0">
                <a:solidFill>
                  <a:srgbClr val="333333"/>
                </a:solidFill>
              </a:rPr>
              <a:t>Stability</a:t>
            </a:r>
          </a:p>
          <a:p>
            <a:r>
              <a:rPr sz="1200" b="0" dirty="0">
                <a:solidFill>
                  <a:srgbClr val="333333"/>
                </a:solidFill>
              </a:rPr>
              <a:t>Correlate prior → Year 1 in Bundesliga per-90 rates. Keep metrics that travel (clear the floor). Metrics that miss the floor are non-portable — reported as failed/unstable in the inspector, not on the scout shortlist.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774215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511296"/>
            <a:ext cx="502920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</a:rPr>
              <a:t>Choose thresholds</a:t>
            </a:r>
          </a:p>
          <a:p>
            <a:r>
              <a:rPr sz="1100" b="0" dirty="0" err="1">
                <a:solidFill>
                  <a:srgbClr val="333333"/>
                </a:solidFill>
              </a:rPr>
              <a:t>FBref</a:t>
            </a:r>
            <a:r>
              <a:rPr sz="1100" b="0" dirty="0">
                <a:solidFill>
                  <a:srgbClr val="333333"/>
                </a:solidFill>
              </a:rPr>
              <a:t> category gates → 43 of 105 metrics met the stability floor. </a:t>
            </a:r>
            <a:r>
              <a:rPr sz="1100" b="0" dirty="0" err="1">
                <a:solidFill>
                  <a:srgbClr val="333333"/>
                </a:solidFill>
              </a:rPr>
              <a:t>StatsBomb</a:t>
            </a:r>
            <a:r>
              <a:rPr sz="1100" b="0" dirty="0">
                <a:solidFill>
                  <a:srgbClr val="333333"/>
                </a:solidFill>
              </a:rPr>
              <a:t> Pearson r≥0.40 → 7 of 16.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1207008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170432"/>
            <a:ext cx="502920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Redundancy + context</a:t>
            </a:r>
          </a:p>
          <a:p>
            <a:r>
              <a:rPr sz="1200" b="0">
                <a:solidFill>
                  <a:srgbClr val="333333"/>
                </a:solidFill>
              </a:rPr>
              <a:t>Drop near-duplicates. FBref 43→32 · StatsBomb keep 7.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920240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883664"/>
            <a:ext cx="502920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Explorer &amp; graphics</a:t>
            </a:r>
          </a:p>
          <a:p>
            <a:r>
              <a:rPr sz="1200" b="0">
                <a:solidFill>
                  <a:srgbClr val="333333"/>
                </a:solidFill>
              </a:rPr>
              <a:t>Radars / pizzas on shortlisted metrics (interactive_player_explorer.html).</a:t>
            </a:r>
          </a:p>
        </p:txBody>
      </p:sp>
      <p:sp>
        <p:nvSpPr>
          <p:cNvPr id="17" name="Oval 16"/>
          <p:cNvSpPr/>
          <p:nvPr/>
        </p:nvSpPr>
        <p:spPr>
          <a:xfrm>
            <a:off x="5989320" y="2633472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596896"/>
            <a:ext cx="50292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</a:rPr>
              <a:t>Significance tests</a:t>
            </a:r>
          </a:p>
          <a:p>
            <a:r>
              <a:rPr sz="1100" b="0">
                <a:solidFill>
                  <a:srgbClr val="333333"/>
                </a:solidFill>
              </a:rPr>
              <a:t>Spearman: prior trait percentile vs Year 1 in Bundesliga minutes; feeder-league summaries; exploratory OLS.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469259-8206-2172-4E02-B549B0A1904C}"/>
              </a:ext>
            </a:extLst>
          </p:cNvPr>
          <p:cNvSpPr txBox="1"/>
          <p:nvPr/>
        </p:nvSpPr>
        <p:spPr>
          <a:xfrm>
            <a:off x="502920" y="4753206"/>
            <a:ext cx="10515600" cy="69249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Compared to the project completed with Red Bull New York, the project defines the most portable traits for scouting leading to playing time in the Bundesliga year 1 post-transfer rather than Transfermarkt value. Scouts and teams will be able to answer the questions: ‘Which traits do we scout in outside leagues to best predict playing time? Which leagues provide the most reliable statistics to best predict results in the Bundesliga?</a:t>
            </a:r>
            <a:endParaRPr sz="1300" b="0" i="1" dirty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D5A80"/>
                </a:solidFill>
                <a:latin typeface="Calibri"/>
              </a:rPr>
              <a:t>1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C1C1C"/>
                </a:solidFill>
                <a:latin typeface="Georgia"/>
              </a:rPr>
              <a:t>Research Question</a:t>
            </a:r>
            <a:endParaRPr sz="2600" b="1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" cy="15544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207007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36192"/>
            <a:ext cx="5120640" cy="101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</a:rPr>
              <a:t>When a player moves into the top German league, the Bundesliga, which stats stay consistent — and which are league context?</a:t>
            </a:r>
          </a:p>
          <a:p>
            <a:r>
              <a:rPr sz="1300" b="0">
                <a:solidFill>
                  <a:srgbClr val="333333"/>
                </a:solidFill>
              </a:rPr>
              <a:t>This applies only to players who entered the Bundesliga from a different league (transfers / promotions).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40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097280"/>
            <a:ext cx="73152" cy="155448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207007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1C1C1C"/>
                </a:solidFill>
                <a:latin typeface="Georgia"/>
              </a:rPr>
              <a:t>Difference from NYRB Project: </a:t>
            </a:r>
            <a:r>
              <a:rPr sz="1400" b="1" dirty="0">
                <a:solidFill>
                  <a:srgbClr val="1C1C1C"/>
                </a:solidFill>
                <a:latin typeface="Georgia"/>
              </a:rPr>
              <a:t>Not market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536192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We do not optimize Transfermarkt price. We shortlist portable performance traits for scouting.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80360"/>
            <a:ext cx="11109960" cy="777240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</a:rPr>
              <a:t>Stability → Redundancy → Pizza/explorer →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73152" cy="23317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3995928"/>
            <a:ext cx="5166360" cy="91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</a:rPr>
              <a:t>FBref = scaled metrics, larger sample</a:t>
            </a:r>
            <a:endParaRPr sz="1300" b="0" dirty="0">
              <a:solidFill>
                <a:srgbClr val="333333"/>
              </a:solidFill>
              <a:latin typeface="Calibri"/>
            </a:endParaRPr>
          </a:p>
          <a:p>
            <a:r>
              <a:rPr sz="1100" b="0">
                <a:solidFill>
                  <a:srgbClr val="333333"/>
                </a:solidFill>
              </a:rPr>
              <a:t>19 leagues · first Bundesliga season 2021–2025 · ≥300′</a:t>
            </a:r>
          </a:p>
          <a:p>
            <a:r>
              <a:rPr sz="1100" b="0">
                <a:solidFill>
                  <a:srgbClr val="333333"/>
                </a:solidFill>
              </a:rPr>
              <a:t>N=329 pairs</a:t>
            </a:r>
          </a:p>
          <a:p>
            <a:r>
              <a:rPr sz="1100" b="0">
                <a:solidFill>
                  <a:srgbClr val="333333"/>
                </a:solidFill>
              </a:rPr>
              <a:t>105 metrics tested → 43 met stability floor → 32 met redundancy floor (final list)</a:t>
            </a:r>
          </a:p>
          <a:p>
            <a:r>
              <a:rPr sz="1100" b="0">
                <a:solidFill>
                  <a:srgbClr val="333333"/>
                </a:solidFill>
              </a:rPr>
              <a:t>Attacking/Passing/Other: Pearson stability ≥0.60</a:t>
            </a:r>
          </a:p>
          <a:p>
            <a:r>
              <a:rPr sz="1100" b="0">
                <a:solidFill>
                  <a:srgbClr val="333333"/>
                </a:solidFill>
              </a:rPr>
              <a:t>Defending/Carrying: Pearson stability ≥0.50 (lower floor to keep enough defensive volume)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86200"/>
            <a:ext cx="5440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886200"/>
            <a:ext cx="73152" cy="2331720"/>
          </a:xfrm>
          <a:prstGeom prst="rect">
            <a:avLst/>
          </a:prstGeom>
          <a:solidFill>
            <a:srgbClr val="2F9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995928"/>
            <a:ext cx="5120640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</a:rPr>
              <a:t>StatsBomb = metric depth, smaller sample</a:t>
            </a:r>
            <a:endParaRPr sz="1300" b="0" dirty="0">
              <a:solidFill>
                <a:srgbClr val="333333"/>
              </a:solidFill>
              <a:latin typeface="Calibri"/>
            </a:endParaRPr>
          </a:p>
          <a:p>
            <a:r>
              <a:rPr sz="1100" b="0">
                <a:solidFill>
                  <a:srgbClr val="333333"/>
                </a:solidFill>
              </a:rPr>
              <a:t>N=96 · prior ≥45′ / Year 1 in Bundesliga ≥30′</a:t>
            </a:r>
          </a:p>
          <a:p>
            <a:r>
              <a:rPr sz="1100" b="0">
                <a:solidFill>
                  <a:srgbClr val="333333"/>
                </a:solidFill>
              </a:rPr>
              <a:t>Pearson r≥0.40 → 7 of 16 · Pearson |r|≥0.85 keep all 7</a:t>
            </a:r>
          </a:p>
          <a:p>
            <a:r>
              <a:rPr sz="1100" b="0">
                <a:solidFill>
                  <a:srgbClr val="333333"/>
                </a:solidFill>
              </a:rPr>
              <a:t>Priors: 17 competitions · Bundesliga 2015/16 + 2023/24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METHODOLOGY  ·  WHAT THIS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597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C1C1C"/>
                </a:solidFill>
                <a:latin typeface="Georgia"/>
              </a:rPr>
              <a:t>Scouting metric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11109960" cy="1190526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789920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Applied sports analytics / metric selection (NYRB-style framework).</a:t>
            </a:r>
          </a:p>
          <a:p>
            <a:r>
              <a:rPr sz="1200" b="0">
                <a:solidFill>
                  <a:srgbClr val="333333"/>
                </a:solidFill>
              </a:rPr>
              <a:t>Pearson r = stability (does the prior ranking of a rate recur in Year 1 in Bundesliga?).</a:t>
            </a:r>
          </a:p>
          <a:p>
            <a:r>
              <a:rPr sz="1200" b="0">
                <a:solidFill>
                  <a:srgbClr val="333333"/>
                </a:solidFill>
              </a:rPr>
              <a:t>Spearman ρ = success — yes: success means more Year 1 in Bundesliga minutes (playing time), not goals or market value. We ask whether higher prior trait ranks line up with more first-season minutes.</a:t>
            </a:r>
          </a:p>
          <a:p>
            <a:r>
              <a:rPr sz="1200" b="0">
                <a:solidFill>
                  <a:srgbClr val="333333"/>
                </a:solidFill>
              </a:rPr>
              <a:t>Redundancy = drop near-duplicate metrics. Percentiles = rank vs Bundesliga position peers.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44014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844014"/>
            <a:ext cx="73152" cy="2331720"/>
          </a:xfrm>
          <a:prstGeom prst="rect">
            <a:avLst/>
          </a:prstGeom>
          <a:solidFill>
            <a:srgbClr val="1B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53742"/>
            <a:ext cx="3337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222222"/>
                </a:solidFill>
              </a:rPr>
              <a:t>Measurables</a:t>
            </a:r>
            <a:endParaRPr sz="1600" b="1" dirty="0">
              <a:solidFill>
                <a:srgbClr val="22222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282926"/>
            <a:ext cx="329184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</a:rPr>
              <a:t>Trait portability — prior ↔ Year 1 in Bundesliga stability r</a:t>
            </a:r>
          </a:p>
          <a:p>
            <a:pPr>
              <a:spcAft>
                <a:spcPts val="400"/>
              </a:spcAft>
            </a:pPr>
            <a:r>
              <a:rPr lang="en-US" sz="1300" b="0" dirty="0">
                <a:solidFill>
                  <a:srgbClr val="333333"/>
                </a:solidFill>
              </a:rPr>
              <a:t>Removed </a:t>
            </a:r>
            <a:r>
              <a:rPr lang="en-US" sz="1300" dirty="0">
                <a:solidFill>
                  <a:srgbClr val="333333"/>
                </a:solidFill>
              </a:rPr>
              <a:t>n</a:t>
            </a:r>
            <a:r>
              <a:rPr sz="1300" b="0" dirty="0">
                <a:solidFill>
                  <a:srgbClr val="333333"/>
                </a:solidFill>
              </a:rPr>
              <a:t>ear-duplicates — </a:t>
            </a:r>
            <a:r>
              <a:rPr sz="1300" b="0" dirty="0" err="1">
                <a:solidFill>
                  <a:srgbClr val="333333"/>
                </a:solidFill>
              </a:rPr>
              <a:t>FBref</a:t>
            </a:r>
            <a:r>
              <a:rPr sz="1300" b="0" dirty="0">
                <a:solidFill>
                  <a:srgbClr val="333333"/>
                </a:solidFill>
              </a:rPr>
              <a:t> |r|≥0.95 · </a:t>
            </a:r>
            <a:r>
              <a:rPr lang="en-US" sz="1300" b="0" dirty="0" err="1">
                <a:solidFill>
                  <a:srgbClr val="333333"/>
                </a:solidFill>
              </a:rPr>
              <a:t>Statsbomb</a:t>
            </a:r>
            <a:r>
              <a:rPr lang="en-US" sz="1300" b="0" dirty="0">
                <a:solidFill>
                  <a:srgbClr val="333333"/>
                </a:solidFill>
              </a:rPr>
              <a:t> (SB)</a:t>
            </a:r>
            <a:r>
              <a:rPr sz="1300" b="0" dirty="0">
                <a:solidFill>
                  <a:srgbClr val="333333"/>
                </a:solidFill>
              </a:rPr>
              <a:t> |r|≥0.85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</a:rPr>
              <a:t>Year 1 in Bundesliga profile strength — stable-trait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44014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844014"/>
            <a:ext cx="73152" cy="233172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953742"/>
            <a:ext cx="3337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222222"/>
                </a:solidFill>
              </a:rPr>
              <a:t>Disclaimer</a:t>
            </a:r>
            <a:endParaRPr sz="1600" b="1" dirty="0">
              <a:solidFill>
                <a:srgbClr val="22222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3282926"/>
            <a:ext cx="329184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</a:rPr>
              <a:t>Not a production forecast of goals, minutes, or “success.”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</a:rPr>
              <a:t>Stability ≠ “</a:t>
            </a:r>
            <a:r>
              <a:rPr lang="en-US" sz="1300" dirty="0">
                <a:solidFill>
                  <a:srgbClr val="333333"/>
                </a:solidFill>
              </a:rPr>
              <a:t>player is primed for success</a:t>
            </a:r>
            <a:r>
              <a:rPr sz="1300" b="0" dirty="0">
                <a:solidFill>
                  <a:srgbClr val="333333"/>
                </a:solidFill>
              </a:rPr>
              <a:t>” — it means the ranking tends to travel.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</a:rPr>
              <a:t>OLS</a:t>
            </a:r>
            <a:r>
              <a:rPr lang="en-US" sz="1300" dirty="0">
                <a:solidFill>
                  <a:srgbClr val="333333"/>
                </a:solidFill>
              </a:rPr>
              <a:t> </a:t>
            </a:r>
            <a:r>
              <a:rPr sz="1300" b="0" dirty="0">
                <a:solidFill>
                  <a:srgbClr val="333333"/>
                </a:solidFill>
              </a:rPr>
              <a:t>is exploratory (Big-5 N=117), not club-grade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844014"/>
            <a:ext cx="3566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844014"/>
            <a:ext cx="73152" cy="23317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953742"/>
            <a:ext cx="3246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222222"/>
                </a:solidFill>
              </a:rPr>
              <a:t>Data science methods</a:t>
            </a:r>
            <a:endParaRPr sz="1600" b="1" dirty="0">
              <a:solidFill>
                <a:srgbClr val="22222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3282926"/>
            <a:ext cx="32004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Cohort design + joins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Correlation / feature screening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Redundancy pruning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Peer percentiles + explorer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Human Step-2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800" b="1" dirty="0">
                <a:solidFill>
                  <a:srgbClr val="3D5A80"/>
                </a:solidFill>
                <a:latin typeface="Calibri"/>
              </a:rPr>
              <a:t>DATA  ·  FBREF (</a:t>
            </a:r>
            <a:r>
              <a:rPr lang="en-US" sz="2800" b="1" dirty="0">
                <a:solidFill>
                  <a:srgbClr val="3D5A80"/>
                </a:solidFill>
                <a:latin typeface="Calibri"/>
              </a:rPr>
              <a:t>Primary Source</a:t>
            </a:r>
            <a:r>
              <a:rPr sz="2800" b="1" dirty="0">
                <a:solidFill>
                  <a:srgbClr val="3D5A80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555555"/>
                </a:solidFill>
                <a:latin typeface="Calibri"/>
              </a:rPr>
              <a:t>Scale layer — inbound</a:t>
            </a:r>
            <a:r>
              <a:rPr lang="en-US" sz="1400" b="0" dirty="0">
                <a:solidFill>
                  <a:srgbClr val="555555"/>
                </a:solidFill>
                <a:latin typeface="Calibri"/>
              </a:rPr>
              <a:t> leagues</a:t>
            </a:r>
            <a:r>
              <a:rPr sz="1400" b="0" dirty="0">
                <a:solidFill>
                  <a:srgbClr val="555555"/>
                </a:solidFill>
                <a:latin typeface="Calibri"/>
              </a:rPr>
              <a:t> → Bundesliga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876714" cy="235705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What we use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Outside-league tables + player-page fills</a:t>
            </a:r>
          </a:p>
          <a:p>
            <a:r>
              <a:rPr sz="1200" b="0">
                <a:solidFill>
                  <a:srgbClr val="333333"/>
                </a:solidFill>
              </a:rPr>
              <a:t>Analysis window: first Bundesliga end-years 2021–2025</a:t>
            </a:r>
          </a:p>
          <a:p>
            <a:r>
              <a:rPr sz="1200" b="0">
                <a:solidFill>
                  <a:srgbClr val="333333"/>
                </a:solidFill>
              </a:rPr>
              <a:t>Minutes: prior ≥300′ · Year 1 in Bundesliga ≥300′ → N=329 pairs · 19 leagues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League-relative scaling (mentioned once): we tried “how high vs peers in the same prior league” (z-score / percentile). It did not improve prior→Year 1 stability, so we keep absolute per-90 rates everywhere.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Window · 2021–2025 · ≥300′ both sides · N=329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800" b="1" dirty="0">
                <a:solidFill>
                  <a:srgbClr val="3D5A80"/>
                </a:solidFill>
                <a:latin typeface="Calibri"/>
              </a:rPr>
              <a:t>DATA  ·  STATSBOMB OPEN DATA (</a:t>
            </a:r>
            <a:r>
              <a:rPr lang="en-US" sz="2800" b="1" dirty="0">
                <a:solidFill>
                  <a:srgbClr val="3D5A80"/>
                </a:solidFill>
                <a:latin typeface="Calibri"/>
              </a:rPr>
              <a:t>Deeper but secondary/smaller data source</a:t>
            </a:r>
            <a:r>
              <a:rPr sz="2800" b="1" dirty="0">
                <a:solidFill>
                  <a:srgbClr val="3D5A80"/>
                </a:solidFill>
                <a:latin typeface="Calibr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What we use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Priors = any StatsBomb open men’s competition the player played before Bundesliga (club leagues and internationals — World Cup, Euro, Champions League, etc.).</a:t>
            </a:r>
          </a:p>
          <a:p>
            <a:r>
              <a:rPr sz="1200" b="0">
                <a:solidFill>
                  <a:srgbClr val="333333"/>
                </a:solidFill>
              </a:rPr>
              <a:t>1. Bundesliga open dumps: 2015/16 + 2023/24 only</a:t>
            </a:r>
          </a:p>
          <a:p>
            <a:r>
              <a:rPr sz="1200" b="0">
                <a:solidFill>
                  <a:srgbClr val="333333"/>
                </a:solidFill>
              </a:rPr>
              <a:t>N=96 · prior ≥45′ · Year 1 in Bundesliga ≥30′</a:t>
            </a:r>
          </a:p>
          <a:p>
            <a:r>
              <a:rPr sz="1200" b="0">
                <a:solidFill>
                  <a:srgbClr val="333333"/>
                </a:solidFill>
              </a:rPr>
              <a:t>Pearson r≥0.40 → 7 · Pearson |r|≥0.85 → keep all 7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Open-data thinness · two BL seasons · event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5303520" cy="47548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vs FBref</a:t>
            </a:r>
            <a:endParaRPr sz="1300" b="0" dirty="0">
              <a:solidFill>
                <a:srgbClr val="333333"/>
              </a:solidFill>
              <a:latin typeface="Calibri"/>
            </a:endParaRPr>
          </a:p>
          <a:p>
            <a:r>
              <a:rPr sz="1200" b="0">
                <a:solidFill>
                  <a:srgbClr val="333333"/>
                </a:solidFill>
              </a:rPr>
              <a:t>Same pipeline; thinner year coverage by design.</a:t>
            </a:r>
          </a:p>
          <a:p>
            <a:r>
              <a:rPr sz="1200" b="0">
                <a:solidFill>
                  <a:srgbClr val="333333"/>
                </a:solidFill>
              </a:rPr>
              <a:t>Event check on trait families — not a second league-ranking study.</a:t>
            </a:r>
          </a:p>
          <a:p>
            <a:r>
              <a:rPr sz="1200" b="0">
                <a:solidFill>
                  <a:srgbClr val="333333"/>
                </a:solidFill>
              </a:rPr>
              <a:t>Priors mix club + international competitions, so feeder tables here are directional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411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0011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D5A80"/>
                </a:solidFill>
                <a:latin typeface="Calibri"/>
              </a:rPr>
              <a:t>STABILITY (FBREF)</a:t>
            </a:r>
            <a:r>
              <a:rPr lang="en-US" sz="1300" b="1" dirty="0">
                <a:solidFill>
                  <a:srgbClr val="3D5A80"/>
                </a:solidFill>
                <a:latin typeface="Calibri"/>
              </a:rPr>
              <a:t> top metrics</a:t>
            </a:r>
            <a:endParaRPr sz="1300" b="1" dirty="0">
              <a:solidFill>
                <a:srgbClr val="3D5A8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118846"/>
            <a:ext cx="3036279" cy="38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333333"/>
                </a:solidFill>
              </a:rPr>
              <a:t>Prior league → first Bundesliga season (end-years 2021–2025)</a:t>
            </a:r>
            <a:endParaRPr lang="en-US" sz="1200" b="0" dirty="0">
              <a:solidFill>
                <a:srgbClr val="333333"/>
              </a:solidFill>
            </a:endParaRPr>
          </a:p>
          <a:p>
            <a:endParaRPr lang="en-US" sz="1200" b="0" dirty="0">
              <a:solidFill>
                <a:srgbClr val="333333"/>
              </a:solidFill>
            </a:endParaRPr>
          </a:p>
          <a:p>
            <a:r>
              <a:rPr sz="1200" b="0" dirty="0">
                <a:solidFill>
                  <a:srgbClr val="333333"/>
                </a:solidFill>
              </a:rPr>
              <a:t>Paired N=329 · 19 leagues · minutes ≥300′ both sides</a:t>
            </a:r>
          </a:p>
          <a:p>
            <a:endParaRPr sz="1200" b="0" dirty="0">
              <a:solidFill>
                <a:srgbClr val="333333"/>
              </a:solidFill>
            </a:endParaRPr>
          </a:p>
          <a:p>
            <a:r>
              <a:rPr sz="1200" b="0" dirty="0">
                <a:solidFill>
                  <a:srgbClr val="333333"/>
                </a:solidFill>
              </a:rPr>
              <a:t>Category gates (not one global cut):</a:t>
            </a:r>
          </a:p>
          <a:p>
            <a:r>
              <a:rPr sz="1200" b="0" dirty="0">
                <a:solidFill>
                  <a:srgbClr val="333333"/>
                </a:solidFill>
              </a:rPr>
              <a:t>Attacking / Passing / Other · Pearson r ≥ 0.60</a:t>
            </a:r>
          </a:p>
          <a:p>
            <a:r>
              <a:rPr sz="1200" b="0" dirty="0">
                <a:solidFill>
                  <a:srgbClr val="333333"/>
                </a:solidFill>
              </a:rPr>
              <a:t>Defending / Carrying · Pearson r ≥ 0.50</a:t>
            </a:r>
          </a:p>
          <a:p>
            <a:r>
              <a:rPr sz="1200" b="0" dirty="0">
                <a:solidFill>
                  <a:srgbClr val="333333"/>
                </a:solidFill>
              </a:rPr>
              <a:t>43 of 105 metrics pass → redundancy next</a:t>
            </a:r>
            <a:endParaRPr lang="en-US" sz="1200" b="0" dirty="0">
              <a:solidFill>
                <a:srgbClr val="333333"/>
              </a:solidFill>
            </a:endParaRPr>
          </a:p>
          <a:p>
            <a:endParaRPr lang="en-US" sz="1200" dirty="0">
              <a:solidFill>
                <a:srgbClr val="333333"/>
              </a:solidFill>
            </a:endParaRPr>
          </a:p>
          <a:p>
            <a:r>
              <a:rPr lang="en-US" sz="1200" dirty="0">
                <a:solidFill>
                  <a:srgbClr val="333333"/>
                </a:solidFill>
              </a:rPr>
              <a:t>Defending Pearson threshold was lower because less metrics made it above the 0.6 cutoff and defending is inherently harder to calculate due to importance of non-represented on field positioning.</a:t>
            </a:r>
            <a:endParaRPr sz="1200" b="0" dirty="0">
              <a:solidFill>
                <a:srgbClr val="333333"/>
              </a:solidFill>
            </a:endParaRPr>
          </a:p>
          <a:p>
            <a:endParaRPr sz="1200" b="0" dirty="0">
              <a:solidFill>
                <a:srgbClr val="333333"/>
              </a:solidFill>
            </a:endParaRPr>
          </a:p>
          <a:p>
            <a:r>
              <a:rPr sz="1200" b="0" dirty="0">
                <a:solidFill>
                  <a:srgbClr val="333333"/>
                </a:solidFill>
              </a:rPr>
              <a:t>Metric codes: see Glossary slide.</a:t>
            </a:r>
          </a:p>
          <a:p>
            <a:r>
              <a:rPr sz="1200" b="0" dirty="0">
                <a:solidFill>
                  <a:srgbClr val="333333"/>
                </a:solidFill>
              </a:rPr>
              <a:t>Unstable metrics (the other 62) miss the floor — non-portable; listed in the inspector.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27445"/>
              </p:ext>
            </p:extLst>
          </p:nvPr>
        </p:nvGraphicFramePr>
        <p:xfrm>
          <a:off x="3447759" y="658148"/>
          <a:ext cx="8321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4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Abbrev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 Pen Touches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0.906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95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PRGC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PrgC Progression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0.805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xG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0.797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NPXG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npxG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0.793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DEF3R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 3rd Touches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95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PRGDI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PrgDist Total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Sh/90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292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292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NPXGP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npxG+xAG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XGPLU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xG+xAG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ATTLO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 Long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0.785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SOT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SoT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0.775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292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SOTPE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SoT/90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0.774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292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CMPLO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Cmp Long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0.767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CMPME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Cmp Medium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0.730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 Medium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0.724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TOTDI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TotDist Total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PRGR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PrgR Progression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0.703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GPLUS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G+A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0.702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FK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FK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0.697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987552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D5A80"/>
                </a:solidFill>
              </a:rPr>
              <a:t>→ Glossary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D5A80"/>
                </a:solidFill>
                <a:latin typeface="Calibri"/>
              </a:rPr>
              <a:t>STABILITY (STATSBOMB)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333333"/>
                </a:solidFill>
                <a:latin typeface="Calibri"/>
              </a:rPr>
              <a:t>Prior competition → Bundesliga Year 1 in Bundesliga · pass if r ≥ 0.40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333333"/>
                </a:solidFill>
              </a:rPr>
              <a:t>Open Data · cohort N=96 · 7 of 16 pass (r≥0.40)</a:t>
            </a:r>
          </a:p>
          <a:p>
            <a:endParaRPr sz="1100" b="0" dirty="0">
              <a:solidFill>
                <a:srgbClr val="333333"/>
              </a:solidFill>
            </a:endParaRPr>
          </a:p>
          <a:p>
            <a:r>
              <a:rPr sz="1100" b="0" dirty="0">
                <a:solidFill>
                  <a:srgbClr val="333333"/>
                </a:solidFill>
              </a:rPr>
              <a:t>✓  PPC  Progressive passes (~10m+ toward goal)  r=0.74</a:t>
            </a:r>
          </a:p>
          <a:p>
            <a:r>
              <a:rPr sz="1100" b="0" dirty="0">
                <a:solidFill>
                  <a:srgbClr val="333333"/>
                </a:solidFill>
              </a:rPr>
              <a:t>✓  DIS  Dispossessed (inverted)  r=0.59</a:t>
            </a:r>
          </a:p>
          <a:p>
            <a:r>
              <a:rPr sz="1100" b="0" dirty="0">
                <a:solidFill>
                  <a:srgbClr val="333333"/>
                </a:solidFill>
              </a:rPr>
              <a:t>✓  PRS  Pressures  r=0.51</a:t>
            </a:r>
          </a:p>
          <a:p>
            <a:r>
              <a:rPr sz="1100" b="0" dirty="0">
                <a:solidFill>
                  <a:srgbClr val="333333"/>
                </a:solidFill>
              </a:rPr>
              <a:t>✓  PAS  Pass volume  r=0.49</a:t>
            </a:r>
          </a:p>
          <a:p>
            <a:r>
              <a:rPr sz="1100" b="0" dirty="0">
                <a:solidFill>
                  <a:srgbClr val="333333"/>
                </a:solidFill>
              </a:rPr>
              <a:t>✓  CLR  Clearances  r=0.47</a:t>
            </a:r>
          </a:p>
          <a:p>
            <a:r>
              <a:rPr sz="1100" b="0" dirty="0">
                <a:solidFill>
                  <a:srgbClr val="333333"/>
                </a:solidFill>
              </a:rPr>
              <a:t>✓  DRB  Successful dribbles  r=0.46</a:t>
            </a:r>
          </a:p>
          <a:p>
            <a:r>
              <a:rPr sz="1100" b="0" dirty="0">
                <a:solidFill>
                  <a:srgbClr val="333333"/>
                </a:solidFill>
              </a:rPr>
              <a:t>✓  PATT  Passes into final third  r=0.42</a:t>
            </a:r>
          </a:p>
          <a:p>
            <a:r>
              <a:rPr sz="1100" b="0" dirty="0">
                <a:solidFill>
                  <a:srgbClr val="333333"/>
                </a:solidFill>
              </a:rPr>
              <a:t>·  SH  Shots  r=0.40</a:t>
            </a:r>
          </a:p>
          <a:p>
            <a:r>
              <a:rPr sz="1100" b="0" dirty="0">
                <a:solidFill>
                  <a:srgbClr val="333333"/>
                </a:solidFill>
              </a:rPr>
              <a:t>·  CFGP  Progressive carries  r=0.38</a:t>
            </a:r>
          </a:p>
          <a:p>
            <a:r>
              <a:rPr sz="1100" b="0" dirty="0">
                <a:solidFill>
                  <a:srgbClr val="333333"/>
                </a:solidFill>
              </a:rPr>
              <a:t>·  CRY  Carries  r=0.38</a:t>
            </a:r>
          </a:p>
          <a:p>
            <a:r>
              <a:rPr sz="1100" b="0" dirty="0">
                <a:solidFill>
                  <a:srgbClr val="333333"/>
                </a:solidFill>
              </a:rPr>
              <a:t>·  TAC  Tackles  r=0.34</a:t>
            </a:r>
          </a:p>
          <a:p>
            <a:r>
              <a:rPr sz="1100" b="0" dirty="0">
                <a:solidFill>
                  <a:srgbClr val="333333"/>
                </a:solidFill>
              </a:rPr>
              <a:t>·  XG  Non-pen </a:t>
            </a:r>
            <a:r>
              <a:rPr sz="1100" b="0" dirty="0" err="1">
                <a:solidFill>
                  <a:srgbClr val="333333"/>
                </a:solidFill>
              </a:rPr>
              <a:t>xG</a:t>
            </a:r>
            <a:r>
              <a:rPr sz="1100" b="0" dirty="0">
                <a:solidFill>
                  <a:srgbClr val="333333"/>
                </a:solidFill>
              </a:rPr>
              <a:t>  r=0.30</a:t>
            </a:r>
          </a:p>
          <a:p>
            <a:r>
              <a:rPr sz="1100" b="0" dirty="0">
                <a:solidFill>
                  <a:srgbClr val="333333"/>
                </a:solidFill>
              </a:rPr>
              <a:t>·  FLW  Fouls won  r=0.27</a:t>
            </a:r>
          </a:p>
          <a:p>
            <a:r>
              <a:rPr sz="1100" b="0" dirty="0">
                <a:solidFill>
                  <a:srgbClr val="333333"/>
                </a:solidFill>
              </a:rPr>
              <a:t>·  INT  Interceptions  r=0.20</a:t>
            </a:r>
          </a:p>
          <a:p>
            <a:r>
              <a:rPr sz="1100" b="0" dirty="0">
                <a:solidFill>
                  <a:srgbClr val="333333"/>
                </a:solidFill>
              </a:rPr>
              <a:t>·  XA  Expected assists  r=0.13</a:t>
            </a:r>
          </a:p>
          <a:p>
            <a:r>
              <a:rPr sz="1100" b="0" dirty="0">
                <a:solidFill>
                  <a:srgbClr val="333333"/>
                </a:solidFill>
              </a:rPr>
              <a:t>·  AER  Aerials won  r=0.12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602011"/>
              </p:ext>
            </p:extLst>
          </p:nvPr>
        </p:nvGraphicFramePr>
        <p:xfrm>
          <a:off x="386862" y="1234440"/>
          <a:ext cx="916861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rgbClr val="333333"/>
                          </a:solidFill>
                        </a:rPr>
                        <a:t>Abbrev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333333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333333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333333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rgbClr val="333333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PPC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Progressive passes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DIS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Dispossessed (inv)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Pressures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0.51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 volume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0.49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CLR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Clearances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DRB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Successful dribbles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0.46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PATT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Passes into final third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Shots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CFGP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Progressive 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CRY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TAC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Tackles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XG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Non-pen xG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FLW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Fouls won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0.27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Interceptions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XA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Expected assists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Attacking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0.13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Aerials won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0852" y="5897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333333"/>
                </a:solidFill>
              </a:rPr>
              <a:t>Next: redundancy at Pearson |r|≥0.85 — only near-dupes cut; passes kept with progressive passes.</a:t>
            </a:r>
          </a:p>
          <a:p>
            <a:r>
              <a:rPr sz="1100" b="0" dirty="0">
                <a:solidFill>
                  <a:srgbClr val="333333"/>
                </a:solidFill>
              </a:rPr>
              <a:t>Metric codes: see Glossary slide (PPC, DIS, PRS, …).</a:t>
            </a:r>
          </a:p>
          <a:p>
            <a:endParaRPr sz="1100" b="0" dirty="0">
              <a:solidFill>
                <a:srgbClr val="333333"/>
              </a:solidFill>
            </a:endParaRPr>
          </a:p>
          <a:p>
            <a:r>
              <a:rPr sz="1100" b="0" dirty="0">
                <a:solidFill>
                  <a:srgbClr val="333333"/>
                </a:solidFill>
              </a:rPr>
              <a:t>Position changes: we use broad position groups for peer ranks. We do not model "CB became FB" as the main story — role switches can add noise to stability, but this project is about which rate traits travel, not which players changed position.</a:t>
            </a:r>
          </a:p>
        </p:txBody>
      </p:sp>
      <p:sp>
        <p:nvSpPr>
          <p:cNvPr id="8" name="TextBox 7">
            <a:hlinkClick r:id="rId2" action="ppaction://hlinksldjump"/>
          </p:cNvPr>
          <p:cNvSpPr txBox="1"/>
          <p:nvPr/>
        </p:nvSpPr>
        <p:spPr>
          <a:xfrm>
            <a:off x="987552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D5A80"/>
                </a:solidFill>
              </a:rPr>
              <a:t>→ Glossary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7639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D5A80"/>
                </a:solidFill>
                <a:latin typeface="Calibri"/>
              </a:rPr>
              <a:t>REDUNDANCY PICKS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5A80"/>
                </a:solidFill>
              </a:rPr>
              <a:t>Drop near-duplicate metrics</a:t>
            </a:r>
            <a:endParaRPr sz="2200" b="1" dirty="0">
              <a:solidFill>
                <a:srgbClr val="1C1C1C"/>
              </a:solidFill>
              <a:latin typeface="Georgia"/>
            </a:endParaRPr>
          </a:p>
          <a:p>
            <a:r>
              <a:rPr sz="1200">
                <a:solidFill>
                  <a:srgbClr val="555555"/>
                </a:solidFill>
              </a:rPr>
              <a:t>(metrics that move together — same information twice)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54406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1803" y="141380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 err="1">
                <a:solidFill>
                  <a:srgbClr val="3D5A80"/>
                </a:solidFill>
                <a:latin typeface="Calibri"/>
              </a:rPr>
              <a:t>StatsBomb</a:t>
            </a:r>
            <a:r>
              <a:rPr sz="1600" b="1" dirty="0">
                <a:solidFill>
                  <a:srgbClr val="3D5A80"/>
                </a:solidFill>
                <a:latin typeface="Calibri"/>
              </a:rPr>
              <a:t> shortlist (7)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Stability r≥0.40 · redundancy |r|≥0.85 (passes kept)</a:t>
            </a:r>
          </a:p>
          <a:p>
            <a:pPr>
              <a:spcAft>
                <a:spcPts val="300"/>
              </a:spcAft>
            </a:pPr>
            <a:endParaRPr sz="1200" b="0" dirty="0">
              <a:solidFill>
                <a:srgbClr val="555555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PPC  Progressive passes  r=0.74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DIS  Dispossessed (inv)  r=0.59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PRS  Pressures  r=0.51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PAS  Pass volume  r=0.49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CLR  Clearances  r=0.47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DRB  Dribbles completed  r=0.46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PATT  Passes into final third  r=0.42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803" y="5279955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dirty="0">
                <a:solidFill>
                  <a:srgbClr val="333333"/>
                </a:solidFill>
                <a:latin typeface="Calibri"/>
              </a:rPr>
              <a:t>SB: |r|≥0.85 — no cuts; passes kept with progressive passes</a:t>
            </a:r>
            <a:r>
              <a:rPr lang="en-US" sz="1200" b="0" dirty="0">
                <a:solidFill>
                  <a:srgbClr val="333333"/>
                </a:solidFill>
                <a:latin typeface="Calibri"/>
              </a:rPr>
              <a:t> due to fundamental difference in definition</a:t>
            </a:r>
            <a:r>
              <a:rPr sz="1200" b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960120"/>
            <a:ext cx="562356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1373874"/>
            <a:ext cx="521208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333333"/>
                </a:solidFill>
              </a:rPr>
              <a:t>FBref</a:t>
            </a:r>
            <a:r>
              <a:rPr sz="1100" b="0" dirty="0">
                <a:solidFill>
                  <a:srgbClr val="333333"/>
                </a:solidFill>
              </a:rPr>
              <a:t>: 43 cleared stability → 32 kept</a:t>
            </a:r>
          </a:p>
          <a:p>
            <a:r>
              <a:rPr sz="1100" b="0" dirty="0">
                <a:solidFill>
                  <a:srgbClr val="333333"/>
                </a:solidFill>
              </a:rPr>
              <a:t>105 tested · category gates → 43 · Pearson |r|≥0.95 → drop near-duplicates → 32</a:t>
            </a:r>
          </a:p>
          <a:p>
            <a:r>
              <a:rPr sz="1100" b="0" dirty="0">
                <a:solidFill>
                  <a:srgbClr val="333333"/>
                </a:solidFill>
              </a:rPr>
              <a:t>Near-duplicate = two metrics that almost always move together (same information twice).</a:t>
            </a:r>
          </a:p>
          <a:p>
            <a:r>
              <a:rPr sz="1100" b="0" dirty="0">
                <a:solidFill>
                  <a:srgbClr val="333333"/>
                </a:solidFill>
              </a:rPr>
              <a:t>Pick order when choosing which to keep: higher stability → larger N → prefer rate/contextual</a:t>
            </a:r>
          </a:p>
          <a:p>
            <a:r>
              <a:rPr sz="1100" b="0" dirty="0">
                <a:solidFill>
                  <a:srgbClr val="333333"/>
                </a:solidFill>
              </a:rPr>
              <a:t>Top stability examples: DEFPE (0.91) · PRGC (0.81) · XG (0.80)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70803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</a:rPr>
              <a:t>Attacking (3)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22295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</a:rPr>
              <a:t>Passing (7)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94578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</a:rPr>
              <a:t>XG (0.80)  ·  GLS (0.66)  ·  ATTSH (0.56)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90875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</a:rPr>
              <a:t>Carrying 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46069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PRGC (0.81)  ·  PRGDI (0.79)  ·  KP (0.65)  ·  FINAL (0.62)  ·  CMPPE (0.64)  ·  CRSPA (0.59)  ·  CRS (0.68)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59455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</a:rPr>
              <a:t>Defending (11)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414649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PRGRR (0.60)  ·  ATT3R (0.54)  ·  SUCC (0.65)  ·  MIS (0.37)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537179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</a:rPr>
              <a:t>Other 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483229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DEFPE (0.91)  ·  CLR (0.67)  ·  TKLD (0.59)  ·  WON (0.42)  ·  SH (0.79)  ·  INT (0.57)  ·  LOST (0.42)  ·  WONPE (0.50)  ·  DEF3R (0.79)  ·  TKLPE (0.31)  ·  RECOV (0.40)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60953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FLD (0.53)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OUTPUT · SCOUT PIZZA CHART (Based on charts used by RBNY)</a:t>
            </a:r>
            <a:endParaRPr sz="1300" b="1" dirty="0">
              <a:solidFill>
                <a:srgbClr val="3D5A8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  <a:latin typeface="Georgia"/>
              </a:rPr>
              <a:t>Example player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Built from shortlisted traits. Explorer HTML combines FBref + StatsBomb with category slices.</a:t>
            </a:r>
          </a:p>
        </p:txBody>
      </p:sp>
      <p:pic>
        <p:nvPicPr>
          <p:cNvPr id="6" name="Picture 5" descr="mock_pizza_bundesli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5639438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32588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508760"/>
            <a:ext cx="46634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</a:rPr>
              <a:t>How to read</a:t>
            </a:r>
          </a:p>
          <a:p>
            <a:r>
              <a:rPr sz="1200" b="0" dirty="0">
                <a:solidFill>
                  <a:srgbClr val="333333"/>
                </a:solidFill>
              </a:rPr>
              <a:t>Blue = Year 1 in Bundesliga </a:t>
            </a:r>
            <a:endParaRPr lang="en-US" sz="1200" b="0" dirty="0">
              <a:solidFill>
                <a:srgbClr val="333333"/>
              </a:solidFill>
            </a:endParaRPr>
          </a:p>
          <a:p>
            <a:r>
              <a:rPr lang="en-US" sz="1200" dirty="0">
                <a:solidFill>
                  <a:srgbClr val="333333"/>
                </a:solidFill>
              </a:rPr>
              <a:t>R</a:t>
            </a:r>
            <a:r>
              <a:rPr sz="1200" b="0" dirty="0">
                <a:solidFill>
                  <a:srgbClr val="333333"/>
                </a:solidFill>
              </a:rPr>
              <a:t>ed dotted = prior </a:t>
            </a:r>
            <a:r>
              <a:rPr lang="en-US" sz="1200" b="0" dirty="0">
                <a:solidFill>
                  <a:srgbClr val="333333"/>
                </a:solidFill>
              </a:rPr>
              <a:t>Season</a:t>
            </a:r>
          </a:p>
          <a:p>
            <a:r>
              <a:rPr lang="en-US" sz="1200" dirty="0">
                <a:solidFill>
                  <a:srgbClr val="333333"/>
                </a:solidFill>
              </a:rPr>
              <a:t>D</a:t>
            </a:r>
            <a:r>
              <a:rPr sz="1200" b="0" dirty="0">
                <a:solidFill>
                  <a:srgbClr val="333333"/>
                </a:solidFill>
              </a:rPr>
              <a:t>ashed = 50th-percentile Bundesliga peer </a:t>
            </a:r>
            <a:endParaRPr lang="en-US" sz="1200" dirty="0">
              <a:solidFill>
                <a:srgbClr val="333333"/>
              </a:solidFill>
            </a:endParaRPr>
          </a:p>
          <a:p>
            <a:r>
              <a:rPr lang="en-US" sz="1200" b="0" dirty="0">
                <a:solidFill>
                  <a:srgbClr val="333333"/>
                </a:solidFill>
              </a:rPr>
              <a:t>G</a:t>
            </a:r>
            <a:r>
              <a:rPr sz="1200" b="0" dirty="0">
                <a:solidFill>
                  <a:srgbClr val="333333"/>
                </a:solidFill>
              </a:rPr>
              <a:t>rey = 90th-percentile Bundesliga peer</a:t>
            </a:r>
            <a:endParaRPr lang="en-US" sz="1200" b="0" dirty="0">
              <a:solidFill>
                <a:srgbClr val="333333"/>
              </a:solidFill>
            </a:endParaRPr>
          </a:p>
          <a:p>
            <a:endParaRPr sz="1200" b="0" dirty="0">
              <a:solidFill>
                <a:srgbClr val="333333"/>
              </a:solidFill>
            </a:endParaRPr>
          </a:p>
          <a:p>
            <a:r>
              <a:rPr sz="1200" b="0" dirty="0">
                <a:solidFill>
                  <a:srgbClr val="333333"/>
                </a:solidFill>
              </a:rPr>
              <a:t>Numbers are percentiles 0–100 vs position peers.</a:t>
            </a:r>
          </a:p>
          <a:p>
            <a:endParaRPr sz="1200" b="0" dirty="0">
              <a:solidFill>
                <a:srgbClr val="333333"/>
              </a:solidFill>
            </a:endParaRPr>
          </a:p>
          <a:p>
            <a:r>
              <a:rPr sz="1200" b="0" dirty="0">
                <a:solidFill>
                  <a:srgbClr val="333333"/>
                </a:solidFill>
              </a:rPr>
              <a:t>Explorer: </a:t>
            </a:r>
            <a:r>
              <a:rPr sz="1200" b="0" dirty="0" err="1">
                <a:solidFill>
                  <a:srgbClr val="333333"/>
                </a:solidFill>
              </a:rPr>
              <a:t>StatsBomb</a:t>
            </a:r>
            <a:r>
              <a:rPr sz="1200" b="0" dirty="0">
                <a:solidFill>
                  <a:srgbClr val="333333"/>
                </a:solidFill>
              </a:rPr>
              <a:t> N=96 · 7 traits · </a:t>
            </a:r>
            <a:r>
              <a:rPr sz="1200" b="0" dirty="0" err="1">
                <a:solidFill>
                  <a:srgbClr val="333333"/>
                </a:solidFill>
              </a:rPr>
              <a:t>FBref</a:t>
            </a:r>
            <a:r>
              <a:rPr sz="1200" b="0" dirty="0">
                <a:solidFill>
                  <a:srgbClr val="333333"/>
                </a:solidFill>
              </a:rPr>
              <a:t> N=329 · 32 traits.</a:t>
            </a:r>
          </a:p>
          <a:p>
            <a:r>
              <a:rPr sz="1200" b="0" dirty="0">
                <a:solidFill>
                  <a:srgbClr val="333333"/>
                </a:solidFill>
              </a:rPr>
              <a:t>Metric abbreviations: see Glossary slide (click codes on stability/success slides where linked).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What “stable-trait score” means</a:t>
            </a:r>
          </a:p>
          <a:p>
            <a:endParaRPr sz="1300" b="0">
              <a:solidFill>
                <a:srgbClr val="333333"/>
              </a:solidFill>
            </a:endParaRPr>
          </a:p>
          <a:p>
            <a:r>
              <a:rPr sz="1300" b="0">
                <a:solidFill>
                  <a:srgbClr val="333333"/>
                </a:solidFill>
              </a:rPr>
              <a:t>One number that answers: in Year 1 in Bundesliga, how strong is this player on the portable (shortlisted) traits — vs peers at their position?</a:t>
            </a:r>
          </a:p>
          <a:p>
            <a:endParaRPr sz="1300" b="0">
              <a:solidFill>
                <a:srgbClr val="333333"/>
              </a:solidFill>
            </a:endParaRPr>
          </a:p>
          <a:p>
            <a:r>
              <a:rPr sz="1300" b="0">
                <a:solidFill>
                  <a:srgbClr val="333333"/>
                </a:solidFill>
              </a:rPr>
              <a:t>Phase 2 note: this is a secondary success outcome (alongside Year 1 minutes and minutes percentile) — a profile-fit score, not the primary playing-time marker.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One number that answers: in Year 1 in Bundesliga, how strong is this player on the portable (shortlisted) traits — vs peers at their position?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73152" cy="41148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  <a:latin typeface="Georgia"/>
              </a:rPr>
              <a:t>1 · Pick the traits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02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 · Pick the traits</a:t>
            </a:r>
          </a:p>
          <a:p>
            <a:r>
              <a:rPr sz="1300" b="0">
                <a:solidFill>
                  <a:srgbClr val="333333"/>
                </a:solidFill>
              </a:rPr>
              <a:t>Shortlist only (SB 7 · FBref 32). Dropped metrics stay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73152" cy="4114800"/>
          </a:xfrm>
          <a:prstGeom prst="rect">
            <a:avLst/>
          </a:prstGeom>
          <a:solidFill>
            <a:srgbClr val="2F9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  <a:latin typeface="Georgia"/>
              </a:rPr>
              <a:t>2 · Turn each into a percentile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For each shortlist trait, take the player’s Bundesliga Year 1 in Bundesliga per-90 value.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Rank it vs all Bundesliga peers in the same broad position.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0 = worst peer · 50 = average · 100 = best peer.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3736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737360"/>
            <a:ext cx="73152" cy="411480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  <a:latin typeface="Georgia"/>
              </a:rPr>
              <a:t>3 · Average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Stable-trait score = mean of those Year 1 in Bundesliga percentiles across the shortlist.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Example: if a CB is 70th / 60th / 80th on three traits → score ≈ 70.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Higher = better Year 1 in Bundesliga profile on traits that travel.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D5A80"/>
                </a:solidFill>
                <a:latin typeface="Calibri"/>
              </a:rPr>
              <a:t>HOW TO USE THE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1C1C"/>
                </a:solidFill>
                <a:latin typeface="Georgia"/>
              </a:rPr>
              <a:t>interactive_player_explorer.html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80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234439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1463039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333333"/>
                </a:solidFill>
                <a:latin typeface="Calibri"/>
              </a:rPr>
              <a:t>Open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interactive_player_explorer.html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in a browser.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77439"/>
            <a:ext cx="502920" cy="502920"/>
          </a:xfrm>
          <a:prstGeom prst="ellipse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5059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80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331720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501705"/>
            <a:ext cx="96012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333333"/>
                </a:solidFill>
                <a:latin typeface="Calibri"/>
              </a:rPr>
              <a:t>Switch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StatsBomb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(N=96 · 7 traits) ↔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FBref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(N=329 · 32 traits).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333333"/>
                </a:solidFill>
                <a:latin typeface="Calibri"/>
              </a:rPr>
              <a:t>Dropdowns: league → position → player.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80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429000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C1C1C"/>
                </a:solidFill>
                <a:latin typeface="Calibri"/>
              </a:rPr>
              <a:t>Radar slices = style categories (attack/pass/carry/defend). Each slice averages that group’s percentiles.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80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26280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00200" y="4754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Same explorer combines both sources — pick FBref or StatsBomb in the data-source dropdown.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Calibri"/>
              </a:rPr>
              <a:t>RESULTS  ·  SUCCESS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1C1C"/>
                </a:solidFill>
                <a:latin typeface="Georgia"/>
              </a:rPr>
              <a:t>Which prior traits &amp; leagues line up with Year 1 in Bundesliga success?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11338560" cy="1170432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Phase 2: after trimming the metrics to the portable shortlist, test what lines up with Bundesliga success.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Success = Year 1 in Bundesliga minutes (more minutes = more playing time).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We also show two supporting numbers (not the main success definition):</a:t>
            </a:r>
          </a:p>
          <a:p>
            <a:r>
              <a:rPr sz="1100">
                <a:solidFill>
                  <a:srgbClr val="333333"/>
                </a:solidFill>
              </a:rPr>
              <a:t>• Year 1 minutes percentile — where this player’s first-season minutes rank among other inbound players in the study (0–100).</a:t>
            </a:r>
          </a:p>
          <a:p>
            <a:r>
              <a:rPr sz="1100">
                <a:solidFill>
                  <a:srgbClr val="333333"/>
                </a:solidFill>
              </a:rPr>
              <a:t>• Stable-trait score — how strong their Year 1 profile looks on the portable traits we kept (average percentile vs position peers).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Spearman ρ: sort players from high to low on a prior trait, sort them from high to low on Year 1 minutes, and measure how often those two orderings agree. A positive link means players who ranked higher on that trait before the move also tended to play more in their first Bundesliga season.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Playing time still depends on the roster, injuries, and coaching choices — we use minutes as an observable open-data stand-in for “the club gave this player a real role,” not as proof that the player should have gotten those minutes.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Next steps on later slides: compare average Year 1 minutes by prior league (feeder-league averages), then run exploratory ordinary least squares (OLS) regression with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64008" cy="20116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1C1C1C"/>
                </a:solidFill>
                <a:latin typeface="Georgia"/>
              </a:rPr>
              <a:t>StatsBomb</a:t>
            </a:r>
            <a:endParaRPr sz="1400" b="1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N=96 open-data cohort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Primary priors often intl comps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Weaker league signal · use for traits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2148840"/>
            <a:ext cx="64008" cy="2011680"/>
          </a:xfrm>
          <a:prstGeom prst="rect">
            <a:avLst/>
          </a:prstGeom>
          <a:solidFill>
            <a:srgbClr val="1B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258568"/>
            <a:ext cx="329184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333333"/>
                </a:solidFill>
                <a:latin typeface="Georgia" panose="02040502050405020303" pitchFamily="18" charset="0"/>
              </a:rPr>
              <a:t>FBref</a:t>
            </a:r>
            <a:endParaRPr sz="1400" b="1" dirty="0">
              <a:solidFill>
                <a:srgbClr val="3D5A80"/>
              </a:solidFill>
              <a:latin typeface="Georgia" panose="02040502050405020303" pitchFamily="18" charset="0"/>
            </a:endParaRPr>
          </a:p>
          <a:p>
            <a:r>
              <a:rPr sz="1300" b="0" dirty="0">
                <a:solidFill>
                  <a:srgbClr val="333333"/>
                </a:solidFill>
              </a:rPr>
              <a:t>N=329 · 19 leagues</a:t>
            </a:r>
          </a:p>
          <a:p>
            <a:r>
              <a:rPr sz="1300" b="0" dirty="0">
                <a:solidFill>
                  <a:srgbClr val="333333"/>
                </a:solidFill>
              </a:rPr>
              <a:t>Success = Year 1 in Bundesliga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148840"/>
            <a:ext cx="3840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2148840"/>
            <a:ext cx="64008" cy="20116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25856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C1C1C"/>
                </a:solidFill>
                <a:latin typeface="Georgia"/>
              </a:rPr>
              <a:t>Weak </a:t>
            </a:r>
            <a:r>
              <a:rPr lang="en-US" sz="1400" b="1" dirty="0" err="1">
                <a:solidFill>
                  <a:srgbClr val="1C1C1C"/>
                </a:solidFill>
                <a:latin typeface="Georgia"/>
              </a:rPr>
              <a:t>Signalling</a:t>
            </a:r>
            <a:endParaRPr sz="1400" b="1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2440" y="2587752"/>
            <a:ext cx="352044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dirty="0">
                <a:solidFill>
                  <a:srgbClr val="555555"/>
                </a:solidFill>
                <a:latin typeface="Calibri"/>
              </a:rPr>
              <a:t>Supports scouting weights</a:t>
            </a:r>
          </a:p>
          <a:p>
            <a:pPr>
              <a:spcAft>
                <a:spcPts val="400"/>
              </a:spcAft>
            </a:pPr>
            <a:r>
              <a:rPr sz="1200" dirty="0">
                <a:solidFill>
                  <a:srgbClr val="555555"/>
                </a:solidFill>
                <a:latin typeface="Calibri"/>
              </a:rPr>
              <a:t>Does not predict every transfer</a:t>
            </a:r>
          </a:p>
          <a:p>
            <a:pPr>
              <a:spcAft>
                <a:spcPts val="400"/>
              </a:spcAft>
            </a:pPr>
            <a:r>
              <a:rPr lang="en-US" sz="1200" dirty="0"/>
              <a:t>Full interactive tables: </a:t>
            </a:r>
            <a:r>
              <a:rPr lang="en-US" sz="1200" dirty="0" err="1"/>
              <a:t>interactive_player_explorer.html</a:t>
            </a:r>
            <a:r>
              <a:rPr lang="en-US" sz="1200" dirty="0"/>
              <a:t> · </a:t>
            </a:r>
            <a:r>
              <a:rPr lang="en-US" sz="1200" dirty="0" err="1"/>
              <a:t>README.md</a:t>
            </a:r>
            <a:endParaRPr sz="12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4434840"/>
            <a:ext cx="10972800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Interpretation: positive ρ = arriving with a higher prior percentile on that trait tends to coincide with more Year 1 in Bundesliga minutes / higher trait score.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Negative </a:t>
            </a:r>
            <a:r>
              <a:rPr sz="1300" dirty="0" err="1">
                <a:solidFill>
                  <a:srgbClr val="555555"/>
                </a:solidFill>
                <a:latin typeface="Calibri"/>
              </a:rPr>
              <a:t>ρ</a:t>
            </a:r>
            <a:r>
              <a:rPr sz="1300" dirty="0">
                <a:solidFill>
                  <a:srgbClr val="555555"/>
                </a:solidFill>
                <a:latin typeface="Calibri"/>
              </a:rPr>
              <a:t> on inverted metrics (e.g. dispossessed) can still be informative — read label + sign together</a:t>
            </a:r>
            <a:r>
              <a:rPr lang="en-US" sz="1300" dirty="0">
                <a:solidFill>
                  <a:srgbClr val="555555"/>
                </a:solidFill>
                <a:latin typeface="Calibri"/>
              </a:rPr>
              <a:t> since lower dispossessed score means better player performance</a:t>
            </a:r>
            <a:endParaRPr sz="1300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D5A80"/>
                </a:solidFill>
                <a:latin typeface="Georgia"/>
              </a:rPr>
              <a:t>SUCCESS DEFINITION  ·  YEAR-1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Georgia"/>
              </a:rPr>
              <a:t>How we operationalize “Bundesliga success” in Phase 2 with open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Primary success marker: minutes played in the player’s first Bundesliga season (“Year 1 in Bundesliga minutes”).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Success means the club gave the inbound player playing time — not goals scored and not market value.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Also reported (secondary):</a:t>
            </a:r>
          </a:p>
          <a:p>
            <a:r>
              <a:rPr sz="1200">
                <a:solidFill>
                  <a:srgbClr val="333333"/>
                </a:solidFill>
              </a:rPr>
              <a:t>• Year 1 minutes percentile — where that player’s minutes rank among peers in the study</a:t>
            </a:r>
          </a:p>
          <a:p>
            <a:r>
              <a:rPr sz="1200">
                <a:solidFill>
                  <a:srgbClr val="333333"/>
                </a:solidFill>
              </a:rPr>
              <a:t>• Stable-trait score — how strong the Year 1 profile looks on the portable traits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Trait and league tests ask: which prior signals line up with more Year 1 minutes?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Regression Δ Year 1 minutes = estimated extra first-season minutes versus a reference league (Serie A), holding other controls fixed.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04183" y="1417320"/>
            <a:ext cx="4193345" cy="3222674"/>
          </a:xfrm>
          <a:prstGeom prst="roundRect">
            <a:avLst/>
          </a:prstGeom>
          <a:solidFill>
            <a:srgbClr val="EEF3F8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D5A80"/>
                </a:solidFill>
                <a:latin typeface="Georgia"/>
              </a:rPr>
              <a:t>Why minutes?</a:t>
            </a:r>
          </a:p>
          <a:p>
            <a:endParaRPr sz="1600" b="1" dirty="0">
              <a:solidFill>
                <a:srgbClr val="3D5A80"/>
              </a:solidFill>
              <a:latin typeface="Georgia"/>
            </a:endParaRPr>
          </a:p>
          <a:p>
            <a:r>
              <a:rPr sz="1300" dirty="0">
                <a:solidFill>
                  <a:srgbClr val="1C1C1C"/>
                </a:solidFill>
                <a:latin typeface="Arial"/>
              </a:rPr>
              <a:t>Observable in </a:t>
            </a:r>
            <a:r>
              <a:rPr sz="1300" dirty="0" err="1">
                <a:solidFill>
                  <a:srgbClr val="1C1C1C"/>
                </a:solidFill>
                <a:latin typeface="Arial"/>
              </a:rPr>
              <a:t>FBref</a:t>
            </a:r>
            <a:r>
              <a:rPr sz="1300" dirty="0">
                <a:solidFill>
                  <a:srgbClr val="1C1C1C"/>
                </a:solidFill>
                <a:latin typeface="Arial"/>
              </a:rPr>
              <a:t> / </a:t>
            </a:r>
            <a:r>
              <a:rPr sz="1300" dirty="0" err="1">
                <a:solidFill>
                  <a:srgbClr val="1C1C1C"/>
                </a:solidFill>
                <a:latin typeface="Arial"/>
              </a:rPr>
              <a:t>StatsBomb</a:t>
            </a:r>
            <a:r>
              <a:rPr sz="1300" dirty="0">
                <a:solidFill>
                  <a:srgbClr val="1C1C1C"/>
                </a:solidFill>
                <a:latin typeface="Arial"/>
              </a:rPr>
              <a:t> cohorts</a:t>
            </a:r>
          </a:p>
          <a:p>
            <a:endParaRPr sz="1300" dirty="0">
              <a:solidFill>
                <a:srgbClr val="1C1C1C"/>
              </a:solidFill>
              <a:latin typeface="Arial"/>
            </a:endParaRPr>
          </a:p>
          <a:p>
            <a:r>
              <a:rPr sz="1300" dirty="0">
                <a:solidFill>
                  <a:srgbClr val="1C1C1C"/>
                </a:solidFill>
                <a:latin typeface="Arial"/>
              </a:rPr>
              <a:t>Directly measures opportunity &amp; role</a:t>
            </a:r>
          </a:p>
          <a:p>
            <a:endParaRPr sz="1300" dirty="0">
              <a:solidFill>
                <a:srgbClr val="1C1C1C"/>
              </a:solidFill>
              <a:latin typeface="Arial"/>
            </a:endParaRPr>
          </a:p>
          <a:p>
            <a:r>
              <a:rPr sz="1300" dirty="0">
                <a:solidFill>
                  <a:srgbClr val="1C1C1C"/>
                </a:solidFill>
                <a:latin typeface="Arial"/>
              </a:rPr>
              <a:t>Not the same as goals, </a:t>
            </a:r>
            <a:r>
              <a:rPr sz="1300" dirty="0" err="1">
                <a:solidFill>
                  <a:srgbClr val="1C1C1C"/>
                </a:solidFill>
                <a:latin typeface="Arial"/>
              </a:rPr>
              <a:t>xG</a:t>
            </a:r>
            <a:r>
              <a:rPr sz="1300" dirty="0">
                <a:solidFill>
                  <a:srgbClr val="1C1C1C"/>
                </a:solidFill>
                <a:latin typeface="Arial"/>
              </a:rPr>
              <a:t>, or team points</a:t>
            </a:r>
          </a:p>
          <a:p>
            <a:endParaRPr sz="1300" dirty="0">
              <a:solidFill>
                <a:srgbClr val="1C1C1C"/>
              </a:solidFill>
              <a:latin typeface="Arial"/>
            </a:endParaRPr>
          </a:p>
          <a:p>
            <a:r>
              <a:rPr lang="en-US" sz="1300" dirty="0">
                <a:solidFill>
                  <a:srgbClr val="1C1C1C"/>
                </a:solidFill>
                <a:latin typeface="Arial"/>
              </a:rPr>
              <a:t>S</a:t>
            </a:r>
            <a:r>
              <a:rPr sz="1300" dirty="0">
                <a:solidFill>
                  <a:srgbClr val="1C1C1C"/>
                </a:solidFill>
                <a:latin typeface="Arial"/>
              </a:rPr>
              <a:t>cope: associative scouting weights, not a forecast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D5A80"/>
                </a:solidFill>
                <a:latin typeface="Calibri"/>
              </a:rPr>
              <a:t>RESULTS  ·  TRAITS → BUNDESLIGA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StatsBomb (N=96)</a:t>
            </a:r>
          </a:p>
          <a:p>
            <a:r>
              <a:rPr sz="1200" b="0">
                <a:solidFill>
                  <a:srgbClr val="333333"/>
                </a:solidFill>
              </a:rPr>
              <a:t>prior percentile → Year 1 in Bundesliga minutes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PRS  ρ=-0.28  p=0.006</a:t>
            </a:r>
          </a:p>
          <a:p>
            <a:r>
              <a:rPr sz="1200" b="0">
                <a:solidFill>
                  <a:srgbClr val="333333"/>
                </a:solidFill>
              </a:rPr>
              <a:t>DRB  ρ=-0.17  p=0.090</a:t>
            </a:r>
          </a:p>
          <a:p>
            <a:r>
              <a:rPr sz="1200" b="0">
                <a:solidFill>
                  <a:srgbClr val="333333"/>
                </a:solidFill>
              </a:rPr>
              <a:t>PPC  ρ=+0.16  p=0.112</a:t>
            </a:r>
          </a:p>
          <a:p>
            <a:r>
              <a:rPr sz="1200" b="0">
                <a:solidFill>
                  <a:srgbClr val="333333"/>
                </a:solidFill>
              </a:rPr>
              <a:t>DIS  ρ=+0.14  p=0.185</a:t>
            </a:r>
          </a:p>
          <a:p>
            <a:r>
              <a:rPr sz="1200" b="0">
                <a:solidFill>
                  <a:srgbClr val="333333"/>
                </a:solidFill>
              </a:rPr>
              <a:t>PATT  ρ=-0.11  p=0.280</a:t>
            </a:r>
          </a:p>
          <a:p>
            <a:r>
              <a:rPr sz="1200" b="0">
                <a:solidFill>
                  <a:srgbClr val="333333"/>
                </a:solidFill>
              </a:rPr>
              <a:t>CLR  ρ=-0.07  p=0.473</a:t>
            </a:r>
          </a:p>
          <a:p>
            <a:r>
              <a:rPr sz="1200" b="0">
                <a:solidFill>
                  <a:srgbClr val="333333"/>
                </a:solidFill>
              </a:rPr>
              <a:t>PAS  ρ=+0.00  p=0.980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77490"/>
              </p:ext>
            </p:extLst>
          </p:nvPr>
        </p:nvGraphicFramePr>
        <p:xfrm>
          <a:off x="411479" y="1097279"/>
          <a:ext cx="4652888" cy="295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6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0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Trait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ρ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PRS — Pressures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-0.28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0.006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DRB — Successful dribbles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-0.17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PPC — Progressive passes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+0.16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0.112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DIS — Dispossessed (inv)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+0.14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PATT — Passes into final third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-0.11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0.280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CLR — Clearances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-0.07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FBref (N=329)</a:t>
            </a:r>
          </a:p>
          <a:p>
            <a:r>
              <a:rPr sz="1200" b="0">
                <a:solidFill>
                  <a:srgbClr val="333333"/>
                </a:solidFill>
              </a:rPr>
              <a:t>prior %ile → Year 1 in Bundesliga minutes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FINAL  ρ=+0.30  p=0.005 *</a:t>
            </a:r>
          </a:p>
          <a:p>
            <a:r>
              <a:rPr sz="1200" b="0">
                <a:solidFill>
                  <a:srgbClr val="333333"/>
                </a:solidFill>
              </a:rPr>
              <a:t>SH  ρ=+0.27  p=0.011 *</a:t>
            </a:r>
          </a:p>
          <a:p>
            <a:r>
              <a:rPr sz="1200" b="0">
                <a:solidFill>
                  <a:srgbClr val="333333"/>
                </a:solidFill>
              </a:rPr>
              <a:t>PRGDI  ρ=+0.24  p=0.025 *</a:t>
            </a:r>
          </a:p>
          <a:p>
            <a:r>
              <a:rPr sz="1200" b="0">
                <a:solidFill>
                  <a:srgbClr val="333333"/>
                </a:solidFill>
              </a:rPr>
              <a:t>TKLD  ρ=+0.23  p=0.030 *</a:t>
            </a:r>
          </a:p>
          <a:p>
            <a:r>
              <a:rPr sz="1200" b="0">
                <a:solidFill>
                  <a:srgbClr val="333333"/>
                </a:solidFill>
              </a:rPr>
              <a:t>ATTLO  ρ=+0.22  p=0.036 *</a:t>
            </a:r>
          </a:p>
          <a:p>
            <a:r>
              <a:rPr sz="1200" b="0">
                <a:solidFill>
                  <a:srgbClr val="333333"/>
                </a:solidFill>
              </a:rPr>
              <a:t>DEF3R  ρ=+0.22  p=0.039 *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* p&lt;0.05  ·  Final Third, shot blocks, progressive distance lead.</a:t>
            </a:r>
          </a:p>
          <a:p>
            <a:r>
              <a:rPr sz="1200" b="0">
                <a:solidFill>
                  <a:srgbClr val="333333"/>
                </a:solidFill>
              </a:rPr>
              <a:t>Metric codes: see Glossary slide.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49453"/>
              </p:ext>
            </p:extLst>
          </p:nvPr>
        </p:nvGraphicFramePr>
        <p:xfrm>
          <a:off x="6126479" y="1097279"/>
          <a:ext cx="4349439" cy="3798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0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Trait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ρ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FINAL — Final Third*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+0.30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0.005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SH — Shot Blocks*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PRGDI — PrgDist Total*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+0.24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0.025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TKLD — Tkld Take*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ATTLO — Att Long*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+0.22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0.036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DEF3R — Def 3rd Touches*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+0.22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MIS — Mis 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0.078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dirty="0"/>
                        <a:t>CLR — Cl</a:t>
                      </a:r>
                      <a:r>
                        <a:rPr lang="en-US" dirty="0"/>
                        <a:t>earances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dirty="0"/>
                        <a:t>0.162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hlinkClick r:id="rId2" action="ppaction://hlinksldjump"/>
          </p:cNvPr>
          <p:cNvSpPr txBox="1"/>
          <p:nvPr/>
        </p:nvSpPr>
        <p:spPr>
          <a:xfrm>
            <a:off x="987552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D5A80"/>
                </a:solidFill>
              </a:rPr>
              <a:t>→ Glossary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D5A80"/>
                </a:solidFill>
                <a:latin typeface="Calibri"/>
              </a:rPr>
              <a:t>RESULTS  ·  FEEDER LEAGUES → BUNDESLIGA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1C1C"/>
                </a:solidFill>
                <a:latin typeface="Georgia"/>
              </a:rPr>
              <a:t>Which source leagues produce the strongest Year 1 in Bundesliga outcomes?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62344"/>
              </p:ext>
            </p:extLst>
          </p:nvPr>
        </p:nvGraphicFramePr>
        <p:xfrm>
          <a:off x="411480" y="1179576"/>
          <a:ext cx="5669280" cy="2444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82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League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Mean Year 1 in Bundesliga min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Median Year 1 in Bundesliga min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Trait score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DEN Superliga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1864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1855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48.0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Premier 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60.1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Eredivisie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1401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1154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53.4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Ligue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53.5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Serie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56.7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1547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2. Bundesliga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783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Belgian Pro 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53.1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8155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Austrian Bundesliga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1284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b="0" dirty="0">
                          <a:solidFill>
                            <a:srgbClr val="333333"/>
                          </a:solidFill>
                        </a:rPr>
                        <a:t>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1733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765181"/>
              </p:ext>
            </p:extLst>
          </p:nvPr>
        </p:nvGraphicFramePr>
        <p:xfrm>
          <a:off x="411480" y="3738486"/>
          <a:ext cx="484632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League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Mean Year 1 in Bundesliga min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Trait score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FIFA World Cup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288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57.3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Champions 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UEFA Euro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193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45.9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Premier 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La Liga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133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55.2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521566"/>
            <a:ext cx="11155680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FBref N=329 (n≥8 players per league shown). StatsBomb N=96 — international priors are directional only.</a:t>
            </a:r>
          </a:p>
          <a:p>
            <a:r>
              <a:rPr sz="1100" b="0">
                <a:solidFill>
                  <a:srgbClr val="333333"/>
                </a:solidFill>
              </a:rPr>
              <a:t>Selection bias: these are players clubs already chose to sign from each feeder — not a random draw from that league. Means describe arrived cohorts, not “transfer from X causes minutes.”</a:t>
            </a:r>
          </a:p>
          <a:p>
            <a:r>
              <a:rPr sz="1100" b="0">
                <a:solidFill>
                  <a:srgbClr val="333333"/>
                </a:solidFill>
              </a:rPr>
              <a:t>Tables also in the explorer Success tab · README.md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3D5A80"/>
                </a:solidFill>
                <a:latin typeface="Georgia"/>
              </a:rPr>
              <a:t>PHASE 2 · FEEDER REGRESSION (EXPLORATORY)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Descriptive “best feeder league” averages are not enough — ordinary least squares (OLS) regression asks whether league gaps remain after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03520" cy="397031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sz="1200" b="0">
                <a:solidFill>
                  <a:srgbClr val="333333"/>
                </a:solidFill>
              </a:rPr>
              <a:t>Model 1 — league only (with basic controls)</a:t>
            </a:r>
          </a:p>
          <a:p>
            <a:r>
              <a:rPr sz="1200" b="0">
                <a:solidFill>
                  <a:srgbClr val="333333"/>
                </a:solidFill>
              </a:rPr>
              <a:t>Year 1 minutes = prior league (PL / La Liga / Ligue 1 vs Serie A baseline)</a:t>
            </a:r>
          </a:p>
          <a:p>
            <a:r>
              <a:rPr sz="1200" b="0">
                <a:solidFill>
                  <a:srgbClr val="333333"/>
                </a:solidFill>
              </a:rPr>
              <a:t>                 + prior minutes + position</a:t>
            </a:r>
          </a:p>
          <a:p>
            <a:r>
              <a:rPr sz="1200" b="0">
                <a:solidFill>
                  <a:srgbClr val="333333"/>
                </a:solidFill>
              </a:rPr>
              <a:t>Question: after that, does league still matter?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Model 2 — league + traits</a:t>
            </a:r>
          </a:p>
          <a:p>
            <a:r>
              <a:rPr sz="1200" b="0">
                <a:solidFill>
                  <a:srgbClr val="333333"/>
                </a:solidFill>
              </a:rPr>
              <a:t>Year 1 minutes = Model 1 + prior trait percentiles</a:t>
            </a:r>
          </a:p>
          <a:p>
            <a:r>
              <a:rPr sz="1200" b="0">
                <a:solidFill>
                  <a:srgbClr val="333333"/>
                </a:solidFill>
              </a:rPr>
              <a:t>                 (e.g. Final Third, Def Pen Touches, …)</a:t>
            </a:r>
          </a:p>
          <a:p>
            <a:r>
              <a:rPr sz="1200" b="0">
                <a:solidFill>
                  <a:srgbClr val="333333"/>
                </a:solidFill>
              </a:rPr>
              <a:t>Question: once you know the prior profile, do league gaps shrink?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Model 3 — holdout check</a:t>
            </a:r>
          </a:p>
          <a:p>
            <a:r>
              <a:rPr sz="1200" b="0">
                <a:solidFill>
                  <a:srgbClr val="333333"/>
                </a:solidFill>
              </a:rPr>
              <a:t>Fit Model 2 on 80% of players; correlate predicted vs actual Year 1 minutes on the other 20%.</a:t>
            </a:r>
          </a:p>
          <a:p>
            <a:r>
              <a:rPr sz="1200" b="0">
                <a:solidFill>
                  <a:srgbClr val="333333"/>
                </a:solidFill>
              </a:rPr>
              <a:t>Question: is the fit just memorizing this sample?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Serie A = baseline (lowest average Year 1 minutes among Big-5 feeders in this subset).</a:t>
            </a:r>
          </a:p>
          <a:p>
            <a:r>
              <a:rPr sz="1200" b="0">
                <a:solidFill>
                  <a:srgbClr val="333333"/>
                </a:solidFill>
              </a:rPr>
              <a:t>Big-5 FBref subset N=117. Associative / exploratory — not a validated forecast.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3D5A80"/>
                </a:solidFill>
                <a:latin typeface="Georgia"/>
              </a:rPr>
              <a:t>RESULTS  ·  REGRESSION — WHY LIGUE 1 LOOKS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Model 1 R²=0.086 → Model 2 R²=0.215 when traits added · Model 3 holdout correlation r=0.35 (exploratory)</a:t>
            </a:r>
            <a:endParaRPr lang="en-US" sz="1200" b="0" dirty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Left table = Model 1 league gaps · Right table = Model 2 trait effects · Model 3 = holdout check only (no third chart)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676595"/>
              </p:ext>
            </p:extLst>
          </p:nvPr>
        </p:nvGraphicFramePr>
        <p:xfrm>
          <a:off x="548640" y="1786128"/>
          <a:ext cx="3657600" cy="1472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League vs Serie A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Δ Year 1 in Bundesliga min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La Liga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0.856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Ligue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Premier League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C1C1C"/>
                          </a:solidFill>
                          <a:latin typeface="Arial"/>
                        </a:rPr>
                        <a:t>0.661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298479"/>
              </p:ext>
            </p:extLst>
          </p:nvPr>
        </p:nvGraphicFramePr>
        <p:xfrm>
          <a:off x="4663440" y="1786128"/>
          <a:ext cx="3657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Prior trait pct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Δ Year 1 in Bundesliga min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Lost Aerial*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Final Third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0.158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Def Pen Touches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0.189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PrgDist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C1C1C"/>
                          </a:solidFill>
                          <a:latin typeface="Arial"/>
                        </a:rPr>
                        <a:t>xG</a:t>
                      </a:r>
                      <a:r>
                        <a:rPr sz="1100" b="0" dirty="0">
                          <a:solidFill>
                            <a:srgbClr val="1C1C1C"/>
                          </a:solidFill>
                          <a:latin typeface="Arial"/>
                        </a:rPr>
                        <a:t> 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C1C1C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C1C1C"/>
                          </a:solidFill>
                          <a:latin typeface="Arial"/>
                        </a:rPr>
                        <a:t>0.430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1325880"/>
            <a:ext cx="310896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Does this make sense?</a:t>
            </a:r>
          </a:p>
          <a:p>
            <a:r>
              <a:rPr sz="1200" b="0">
                <a:solidFill>
                  <a:srgbClr val="333333"/>
                </a:solidFill>
              </a:rPr>
              <a:t>Yes — Ligue 1’s +163 minutes vs Serie A looks large on the table but p≈0.38 (N=117): not statistically distinguishable from noise. Modest, non-significant league gaps are exactly what you’d expect if clubs already select carefully and league labels are weak once minutes/position are controlled.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Adding traits raises R² (0.09 → 0.22): prior profile matters more than league label.</a:t>
            </a:r>
          </a:p>
          <a:p>
            <a:r>
              <a:rPr sz="1200" b="0">
                <a:solidFill>
                  <a:srgbClr val="333333"/>
                </a:solidFill>
              </a:rPr>
              <a:t>Model 3 holdout r≈0.35 = moderate match on held-out players (not a strong forecast).</a:t>
            </a:r>
          </a:p>
          <a:p>
            <a:r>
              <a:rPr sz="1200" b="0">
                <a:solidFill>
                  <a:srgbClr val="333333"/>
                </a:solidFill>
              </a:rPr>
              <a:t>Takeaway: scout portable traits + Year 1 minutes; league is a weak residual signal.</a:t>
            </a:r>
          </a:p>
          <a:p>
            <a:endParaRPr sz="1200" b="0">
              <a:solidFill>
                <a:srgbClr val="333333"/>
              </a:solidFill>
            </a:endParaRPr>
          </a:p>
          <a:p>
            <a:r>
              <a:rPr sz="1200" b="0">
                <a:solidFill>
                  <a:srgbClr val="333333"/>
                </a:solidFill>
              </a:rPr>
              <a:t>Serie A = baseline (lowest mean Year 1 minutes among Big-5 feeders).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55555"/>
                </a:solidFill>
                <a:latin typeface="Georgia"/>
              </a:rPr>
              <a:t>* p&lt;0.05. Full tables: README.md (Exploratory feeder regression).</a:t>
            </a:r>
            <a:endParaRPr sz="1100" b="0" dirty="0">
              <a:solidFill>
                <a:srgbClr val="555555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FDC249-A5FD-8DEF-D331-6AC779D7AD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</a:rPr>
              <a:t>• StatsBomb N=96 with messy open-data priors (World Cup / Euro / Champions League mix rather than clean league seasons — larger sample, less consistent prior context)</a:t>
            </a:r>
            <a:endParaRPr sz="2600" b="1" dirty="0">
              <a:solidFill>
                <a:srgbClr val="3D5A80"/>
              </a:solidFill>
              <a:latin typeface="Georgia" panose="02040502050405020303" pitchFamily="18" charset="0"/>
            </a:endParaRPr>
          </a:p>
          <a:p>
            <a:r>
              <a:rPr sz="1400" b="0">
                <a:solidFill>
                  <a:srgbClr val="333333"/>
                </a:solidFill>
              </a:rPr>
              <a:t>• FBref N=329 helps, but many advanced metrics only have ~90–100 complete pairs</a:t>
            </a:r>
          </a:p>
          <a:p>
            <a:r>
              <a:rPr sz="1400" b="0">
                <a:solidFill>
                  <a:srgbClr val="333333"/>
                </a:solidFill>
              </a:rPr>
              <a:t>• Multiple traits tested — treat Phase 2 as associative, not a forecast</a:t>
            </a:r>
          </a:p>
          <a:p>
            <a:endParaRPr sz="1400" b="0">
              <a:solidFill>
                <a:srgbClr val="333333"/>
              </a:solidFill>
            </a:endParaRPr>
          </a:p>
          <a:p>
            <a:r>
              <a:rPr sz="1400" b="1">
                <a:solidFill>
                  <a:srgbClr val="333333"/>
                </a:solidFill>
              </a:rPr>
              <a:t>What hardened the sample</a:t>
            </a:r>
          </a:p>
          <a:p>
            <a:endParaRPr sz="1400" b="1">
              <a:solidFill>
                <a:srgbClr val="333333"/>
              </a:solidFill>
            </a:endParaRPr>
          </a:p>
          <a:p>
            <a:r>
              <a:rPr sz="1400" b="0">
                <a:solidFill>
                  <a:srgbClr val="333333"/>
                </a:solidFill>
              </a:rPr>
              <a:t>• 19 leagues · first BL seasons 2021–2025 · prior / Year 1 in Bundesliga ≥300′ → N=329</a:t>
            </a:r>
          </a:p>
          <a:p>
            <a:r>
              <a:rPr sz="1400" b="0">
                <a:solidFill>
                  <a:srgbClr val="333333"/>
                </a:solidFill>
              </a:rPr>
              <a:t>• Category stability gates + light redundancy (|r|≥0.95) → 32 traits</a:t>
            </a:r>
          </a:p>
          <a:p>
            <a:r>
              <a:rPr sz="1400" b="0">
                <a:solidFill>
                  <a:srgbClr val="333333"/>
                </a:solidFill>
              </a:rPr>
              <a:t>• StatsBomb kept as event deep dive (r≥0.40 · 7 traits), not league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D5A80"/>
                </a:solidFill>
                <a:latin typeface="Georgia"/>
              </a:rPr>
              <a:t>WHY P-VALUES STAY MODEST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0DF8E9-F5CF-8327-48D0-70D97E7B353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7932" y="960120"/>
            <a:ext cx="109728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Portable shortlists: FBref 105 metrics tested → 43 met stability floor → 32 met redundancy floor · StatsBomb 16 metrics tested → 7 met stability floor (all 7 kept after redundancy)</a:t>
            </a:r>
            <a:endParaRPr lang="en-US" sz="2400" b="1" dirty="0">
              <a:solidFill>
                <a:srgbClr val="3D5A80"/>
              </a:solidFill>
              <a:latin typeface="Calibri"/>
            </a:endParaRPr>
          </a:p>
          <a:p>
            <a:r>
              <a:rPr sz="1300">
                <a:solidFill>
                  <a:srgbClr val="333333"/>
                </a:solidFill>
              </a:rPr>
              <a:t/>
            </a:r>
          </a:p>
          <a:p>
            <a:r>
              <a:rPr sz="1300">
                <a:solidFill>
                  <a:srgbClr val="333333"/>
                </a:solidFill>
              </a:rPr>
              <a:t>• FBref traits most linked to Year 1 in Bundesliga minutes (p&lt;0.05): final-third passing, shot blocks, progressive distance, box defending</a:t>
            </a:r>
          </a:p>
          <a:p>
            <a:r>
              <a:rPr sz="1300">
                <a:solidFill>
                  <a:srgbClr val="333333"/>
                </a:solidFill>
              </a:rPr>
              <a:t/>
            </a:r>
          </a:p>
          <a:p>
            <a:r>
              <a:rPr sz="1300">
                <a:solidFill>
                  <a:srgbClr val="333333"/>
                </a:solidFill>
              </a:rPr>
              <a:t>• The player (prior trait profile) matters more than the feeder-league label: exploratory OLS (N=117) finds league gaps modest/non-significant once controls and traits are included, while adding traits raises fit more than league names alone</a:t>
            </a:r>
          </a:p>
          <a:p>
            <a:r>
              <a:rPr sz="1300">
                <a:solidFill>
                  <a:srgbClr val="333333"/>
                </a:solidFill>
              </a:rPr>
              <a:t/>
            </a:r>
          </a:p>
          <a:p>
            <a:r>
              <a:rPr sz="1300">
                <a:solidFill>
                  <a:srgbClr val="333333"/>
                </a:solidFill>
              </a:rPr>
              <a:t>• Scout metrics that travel league-to-league. Year 1 in Bundesliga minutes = open-data success proxy</a:t>
            </a:r>
          </a:p>
          <a:p>
            <a:r>
              <a:rPr sz="1300">
                <a:solidFill>
                  <a:srgbClr val="333333"/>
                </a:solidFill>
              </a:rPr>
              <a:t/>
            </a:r>
          </a:p>
          <a:p>
            <a:r>
              <a:rPr sz="1300">
                <a:solidFill>
                  <a:srgbClr val="333333"/>
                </a:solidFill>
              </a:rPr>
              <a:t>• Future work: Δ Transfermarkt market value (next slide) as the club-grade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D5A80"/>
                </a:solidFill>
                <a:latin typeface="Georgia"/>
              </a:rPr>
              <a:t>TAKEAWAYS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3D5A80"/>
                </a:solidFill>
                <a:latin typeface="Georgia"/>
              </a:rPr>
              <a:t>IF WE HAD THE DATA  ·  TRANSFERMARKT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Georgia"/>
              </a:rPr>
              <a:t>What we would use instead of (or alongside) Year 1 in Bundesliga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52760" cy="147732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Top indicator in a full club model: change in market value (Δ Transfermarkt market value)</a:t>
            </a:r>
          </a:p>
          <a:p>
            <a:r>
              <a:rPr sz="1300" b="0">
                <a:solidFill>
                  <a:srgbClr val="333333"/>
                </a:solidFill>
              </a:rPr>
              <a:t>Captures performance + hype + contract context in one outcome scouts care about</a:t>
            </a:r>
          </a:p>
          <a:p>
            <a:r>
              <a:rPr sz="1300" b="0">
                <a:solidFill>
                  <a:srgbClr val="333333"/>
                </a:solidFill>
              </a:rPr>
              <a:t>NYRB project Axis-3 testing of player value used market value rather than Year 1 in Bundesliga minutes; this project uses open data only — Transfermarkt disallows scraping</a:t>
            </a:r>
          </a:p>
          <a:p>
            <a:r>
              <a:rPr sz="1300" b="0">
                <a:solidFill>
                  <a:srgbClr val="333333"/>
                </a:solidFill>
              </a:rPr>
              <a:t>So we proxy success with Year 1 in Bundesliga minutes until a licensed market-value feed is available</a:t>
            </a:r>
          </a:p>
          <a:p>
            <a:r>
              <a:rPr sz="1300" b="0">
                <a:solidFill>
                  <a:srgbClr val="333333"/>
                </a:solidFill>
              </a:rPr>
              <a:t>Natural extension: prior traits → Δ market value with holdout regression / ML</a:t>
            </a:r>
          </a:p>
        </p:txBody>
      </p:sp>
    </p:spTree>
    <p:extLst>
      <p:ext uri="{BB962C8B-B14F-4D97-AF65-F5344CB8AC3E}">
        <p14:creationId xmlns:p14="http://schemas.microsoft.com/office/powerpoint/2010/main" val="797582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D5A80"/>
                </a:solidFill>
              </a:rPr>
              <a:t>GLOSSARY · METRIC ABBREVIATIONS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4864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FBref (examples)</a:t>
            </a:r>
          </a:p>
          <a:p>
            <a:r>
              <a:rPr sz="1100" b="0">
                <a:solidFill>
                  <a:srgbClr val="333333"/>
                </a:solidFill>
              </a:rPr>
              <a:t>DEFPE — Defensive penalty-area touches /90</a:t>
            </a:r>
          </a:p>
          <a:p>
            <a:r>
              <a:rPr sz="1100" b="0">
                <a:solidFill>
                  <a:srgbClr val="333333"/>
                </a:solidFill>
              </a:rPr>
              <a:t>DEF3R — Defensive-third touches /90</a:t>
            </a:r>
          </a:p>
          <a:p>
            <a:r>
              <a:rPr sz="1100" b="0">
                <a:solidFill>
                  <a:srgbClr val="333333"/>
                </a:solidFill>
              </a:rPr>
              <a:t>PRGC — Progressive carries /90</a:t>
            </a:r>
          </a:p>
          <a:p>
            <a:r>
              <a:rPr sz="1100" b="0">
                <a:solidFill>
                  <a:srgbClr val="333333"/>
                </a:solidFill>
              </a:rPr>
              <a:t>PRGDI — Progressive carry distance /90</a:t>
            </a:r>
          </a:p>
          <a:p>
            <a:r>
              <a:rPr sz="1100" b="0">
                <a:solidFill>
                  <a:srgbClr val="333333"/>
                </a:solidFill>
              </a:rPr>
              <a:t>PRGRR — Progressive receives /90</a:t>
            </a:r>
          </a:p>
          <a:p>
            <a:r>
              <a:rPr sz="1100" b="0">
                <a:solidFill>
                  <a:srgbClr val="333333"/>
                </a:solidFill>
              </a:rPr>
              <a:t>XG — Expected goals /90</a:t>
            </a:r>
          </a:p>
          <a:p>
            <a:r>
              <a:rPr sz="1100" b="0">
                <a:solidFill>
                  <a:srgbClr val="333333"/>
                </a:solidFill>
              </a:rPr>
              <a:t>GLS — Goals /90</a:t>
            </a:r>
          </a:p>
          <a:p>
            <a:r>
              <a:rPr sz="1100" b="0">
                <a:solidFill>
                  <a:srgbClr val="333333"/>
                </a:solidFill>
              </a:rPr>
              <a:t>SOTPE / ATTSH — Shots on target /90</a:t>
            </a:r>
          </a:p>
          <a:p>
            <a:r>
              <a:rPr sz="1100" b="0">
                <a:solidFill>
                  <a:srgbClr val="333333"/>
                </a:solidFill>
              </a:rPr>
              <a:t>FINAL — Passes into final third /90</a:t>
            </a:r>
          </a:p>
          <a:p>
            <a:r>
              <a:rPr sz="1100" b="0">
                <a:solidFill>
                  <a:srgbClr val="333333"/>
                </a:solidFill>
              </a:rPr>
              <a:t>KP — Key passes /90</a:t>
            </a:r>
          </a:p>
          <a:p>
            <a:r>
              <a:rPr sz="1100" b="0">
                <a:solidFill>
                  <a:srgbClr val="333333"/>
                </a:solidFill>
              </a:rPr>
              <a:t>SH — Shot blocks /90</a:t>
            </a:r>
          </a:p>
          <a:p>
            <a:r>
              <a:rPr sz="1100" b="0">
                <a:solidFill>
                  <a:srgbClr val="333333"/>
                </a:solidFill>
              </a:rPr>
              <a:t>TKLD — Tackled (take-ons) /90</a:t>
            </a:r>
          </a:p>
          <a:p>
            <a:r>
              <a:rPr sz="1100" b="0">
                <a:solidFill>
                  <a:srgbClr val="333333"/>
                </a:solidFill>
              </a:rPr>
              <a:t>CLR — Clearances /90</a:t>
            </a:r>
          </a:p>
          <a:p>
            <a:r>
              <a:rPr sz="1100" b="0">
                <a:solidFill>
                  <a:srgbClr val="333333"/>
                </a:solidFill>
              </a:rPr>
              <a:t>INT — Interceptions /90</a:t>
            </a:r>
          </a:p>
          <a:p>
            <a:r>
              <a:rPr sz="1100" b="0">
                <a:solidFill>
                  <a:srgbClr val="333333"/>
                </a:solidFill>
              </a:rPr>
              <a:t>ATTLO — Long pass attempts /90</a:t>
            </a:r>
          </a:p>
          <a:p>
            <a:r>
              <a:rPr sz="1100" b="0">
                <a:solidFill>
                  <a:srgbClr val="333333"/>
                </a:solidFill>
              </a:rPr>
              <a:t>FLD — Fouls drawn /90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22960"/>
            <a:ext cx="54864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StatsBomb</a:t>
            </a:r>
          </a:p>
          <a:p>
            <a:r>
              <a:rPr sz="1100" b="0">
                <a:solidFill>
                  <a:srgbClr val="333333"/>
                </a:solidFill>
              </a:rPr>
              <a:t>PPC — Progressive passes (~10m+ toward goal) /90</a:t>
            </a:r>
          </a:p>
          <a:p>
            <a:r>
              <a:rPr sz="1100" b="0">
                <a:solidFill>
                  <a:srgbClr val="333333"/>
                </a:solidFill>
              </a:rPr>
              <a:t>DIS — Dispossessed /90 (often inverted: fewer = better)</a:t>
            </a:r>
          </a:p>
          <a:p>
            <a:r>
              <a:rPr sz="1100" b="0">
                <a:solidFill>
                  <a:srgbClr val="333333"/>
                </a:solidFill>
              </a:rPr>
              <a:t>PRS — Pressures /90</a:t>
            </a:r>
          </a:p>
          <a:p>
            <a:r>
              <a:rPr sz="1100" b="0">
                <a:solidFill>
                  <a:srgbClr val="333333"/>
                </a:solidFill>
              </a:rPr>
              <a:t>PAS — Pass volume /90</a:t>
            </a:r>
          </a:p>
          <a:p>
            <a:r>
              <a:rPr sz="1100" b="0">
                <a:solidFill>
                  <a:srgbClr val="333333"/>
                </a:solidFill>
              </a:rPr>
              <a:t>CLR — Clearances /90</a:t>
            </a:r>
          </a:p>
          <a:p>
            <a:r>
              <a:rPr sz="1100" b="0">
                <a:solidFill>
                  <a:srgbClr val="333333"/>
                </a:solidFill>
              </a:rPr>
              <a:t>DRB — Successful dribbles /90</a:t>
            </a:r>
          </a:p>
          <a:p>
            <a:r>
              <a:rPr sz="1100" b="0">
                <a:solidFill>
                  <a:srgbClr val="333333"/>
                </a:solidFill>
              </a:rPr>
              <a:t>PATT — Passes into final third /90</a:t>
            </a:r>
          </a:p>
          <a:p>
            <a:r>
              <a:rPr sz="1100" b="0">
                <a:solidFill>
                  <a:srgbClr val="333333"/>
                </a:solidFill>
              </a:rPr>
              <a:t>SH — Shots /90</a:t>
            </a:r>
          </a:p>
          <a:p>
            <a:r>
              <a:rPr sz="1100" b="0">
                <a:solidFill>
                  <a:srgbClr val="333333"/>
                </a:solidFill>
              </a:rPr>
              <a:t>XG — Non-penalty expected goals /90</a:t>
            </a:r>
          </a:p>
          <a:p>
            <a:endParaRPr sz="1100" b="0">
              <a:solidFill>
                <a:srgbClr val="333333"/>
              </a:solidFill>
            </a:endParaRPr>
          </a:p>
          <a:p>
            <a:r>
              <a:rPr sz="1100" b="0">
                <a:solidFill>
                  <a:srgbClr val="333333"/>
                </a:solidFill>
              </a:rPr>
              <a:t>Other terms</a:t>
            </a:r>
          </a:p>
          <a:p>
            <a:r>
              <a:rPr sz="1100" b="0">
                <a:solidFill>
                  <a:srgbClr val="333333"/>
                </a:solidFill>
              </a:rPr>
              <a:t>Pearson r — linear correlation (stability)</a:t>
            </a:r>
          </a:p>
          <a:p>
            <a:r>
              <a:rPr sz="1100" b="0">
                <a:solidFill>
                  <a:srgbClr val="333333"/>
                </a:solidFill>
              </a:rPr>
              <a:t>Spearman ρ — rank correlation (success vs minutes)</a:t>
            </a:r>
          </a:p>
          <a:p>
            <a:r>
              <a:rPr sz="1100" b="0">
                <a:solidFill>
                  <a:srgbClr val="333333"/>
                </a:solidFill>
              </a:rPr>
              <a:t>Year 1 in Bundesliga — first Bundesliga season</a:t>
            </a:r>
          </a:p>
          <a:p>
            <a:r>
              <a:rPr sz="1100" b="0">
                <a:solidFill>
                  <a:srgbClr val="333333"/>
                </a:solidFill>
              </a:rPr>
              <a:t>Feeder league — prior league before Bundesliga arrival</a:t>
            </a:r>
          </a:p>
          <a:p>
            <a:r>
              <a:rPr sz="1100" b="0">
                <a:solidFill>
                  <a:srgbClr val="333333"/>
                </a:solidFill>
              </a:rPr>
              <a:t>n≥8 — only show leagues with ≥8 players in the cell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dirty="0">
                <a:solidFill>
                  <a:srgbClr val="333333"/>
                </a:solidFill>
                <a:latin typeface="Georgia" panose="02040502050405020303" pitchFamily="18" charset="0"/>
              </a:rPr>
              <a:t>Deliverables</a:t>
            </a: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1 · Cohort (with minute floors) · 2 · Stability · 3 · Redundancy · 4 · Explorer + success</a:t>
            </a: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Repo: deck · </a:t>
            </a:r>
            <a:r>
              <a:rPr sz="1300" b="0" dirty="0" err="1">
                <a:solidFill>
                  <a:srgbClr val="333333"/>
                </a:solidFill>
              </a:rPr>
              <a:t>README.md</a:t>
            </a:r>
            <a:r>
              <a:rPr sz="1300" b="0" dirty="0">
                <a:solidFill>
                  <a:srgbClr val="333333"/>
                </a:solidFill>
              </a:rPr>
              <a:t> · </a:t>
            </a:r>
            <a:r>
              <a:rPr sz="1300" b="0" dirty="0" err="1">
                <a:solidFill>
                  <a:srgbClr val="333333"/>
                </a:solidFill>
              </a:rPr>
              <a:t>interactive_player_explorer.html</a:t>
            </a:r>
            <a:r>
              <a:rPr sz="1300" b="0" dirty="0">
                <a:solidFill>
                  <a:srgbClr val="333333"/>
                </a:solidFill>
              </a:rPr>
              <a:t> · </a:t>
            </a:r>
            <a:r>
              <a:rPr sz="1300" b="0" dirty="0" err="1">
                <a:solidFill>
                  <a:srgbClr val="333333"/>
                </a:solidFill>
              </a:rPr>
              <a:t>stability_redundancy_inspector.html</a:t>
            </a:r>
            <a:r>
              <a:rPr sz="1300" b="0" dirty="0">
                <a:solidFill>
                  <a:srgbClr val="333333"/>
                </a:solidFill>
              </a:rPr>
              <a:t> · </a:t>
            </a:r>
            <a:r>
              <a:rPr sz="1300" b="0" dirty="0" err="1">
                <a:solidFill>
                  <a:srgbClr val="333333"/>
                </a:solidFill>
              </a:rPr>
              <a:t>projectproposal</a:t>
            </a:r>
            <a:endParaRPr sz="1300" b="0" dirty="0">
              <a:solidFill>
                <a:srgbClr val="333333"/>
              </a:solidFill>
            </a:endParaRP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Stability floors: </a:t>
            </a:r>
            <a:r>
              <a:rPr sz="1300" b="0" dirty="0" err="1">
                <a:solidFill>
                  <a:srgbClr val="333333"/>
                </a:solidFill>
              </a:rPr>
              <a:t>FBref</a:t>
            </a:r>
            <a:r>
              <a:rPr sz="1300" b="0" dirty="0">
                <a:solidFill>
                  <a:srgbClr val="333333"/>
                </a:solidFill>
              </a:rPr>
              <a:t> Attacking/Passing/Other Pearson r ≥ 0.60 · Defending/Carrying Pearson r ≥ 0.50 · </a:t>
            </a:r>
            <a:r>
              <a:rPr sz="1300" b="0" dirty="0" err="1">
                <a:solidFill>
                  <a:srgbClr val="333333"/>
                </a:solidFill>
              </a:rPr>
              <a:t>StatsBomb</a:t>
            </a:r>
            <a:r>
              <a:rPr sz="1300" b="0" dirty="0">
                <a:solidFill>
                  <a:srgbClr val="333333"/>
                </a:solidFill>
              </a:rPr>
              <a:t> Pearson r ≥ 0.40 · final shortlists 32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4520</TotalTime>
  <Words>4318</Words>
  <Application>Microsoft Macintosh PowerPoint</Application>
  <PresentationFormat>Widescreen</PresentationFormat>
  <Paragraphs>707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Colby Morris</cp:lastModifiedBy>
  <cp:revision>21</cp:revision>
  <dcterms:created xsi:type="dcterms:W3CDTF">2013-01-27T09:14:16Z</dcterms:created>
  <dcterms:modified xsi:type="dcterms:W3CDTF">2026-08-05T16:19:08Z</dcterms:modified>
  <cp:category/>
</cp:coreProperties>
</file>