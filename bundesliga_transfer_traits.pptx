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68" r:id="rId5"/>
    <p:sldId id="281" r:id="rId6"/>
    <p:sldId id="282" r:id="rId7"/>
    <p:sldId id="260" r:id="rId8"/>
    <p:sldId id="259" r:id="rId9"/>
    <p:sldId id="261" r:id="rId10"/>
    <p:sldId id="263" r:id="rId11"/>
    <p:sldId id="267" r:id="rId12"/>
    <p:sldId id="264" r:id="rId13"/>
    <p:sldId id="269" r:id="rId14"/>
    <p:sldId id="276" r:id="rId15"/>
    <p:sldId id="270" r:id="rId16"/>
    <p:sldId id="271" r:id="rId17"/>
    <p:sldId id="274" r:id="rId18"/>
    <p:sldId id="275" r:id="rId19"/>
    <p:sldId id="280" r:id="rId20"/>
    <p:sldId id="278" r:id="rId21"/>
    <p:sldId id="277" r:id="rId22"/>
    <p:sldId id="284" r:id="rId28"/>
    <p:sldId id="279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2"/>
    <p:restoredTop sz="94678"/>
  </p:normalViewPr>
  <p:slideViewPr>
    <p:cSldViewPr snapToGrid="0" snapToObjects="1">
      <p:cViewPr varScale="1">
        <p:scale>
          <a:sx n="109" d="100"/>
          <a:sy n="109" d="100"/>
        </p:scale>
        <p:origin x="60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3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</a:rPr>
              <a:t>COLBY MORRIS  · 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BERKELEY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 HAAS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222222"/>
                </a:solidFill>
                <a:latin typeface="Georgia"/>
              </a:rPr>
              <a:t>Which traits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most accurately 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travel into the Bundesliga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from other professional soccer leagues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333333"/>
                </a:solidFill>
                <a:latin typeface="Calibri"/>
              </a:rPr>
              <a:t>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ootball R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ef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erence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0" i="1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 data sources</a:t>
            </a:r>
          </a:p>
          <a:p>
            <a:pPr algn="l"/>
            <a:endParaRPr lang="en-US" sz="1600" b="0" i="1" dirty="0">
              <a:solidFill>
                <a:srgbClr val="333333"/>
              </a:solidFill>
              <a:latin typeface="Calibri"/>
            </a:endParaRPr>
          </a:p>
          <a:p>
            <a:pPr algn="l"/>
            <a:r>
              <a:rPr lang="en-US" sz="1600" i="1" dirty="0">
                <a:solidFill>
                  <a:srgbClr val="333333"/>
                </a:solidFill>
                <a:latin typeface="Calibri"/>
              </a:rPr>
              <a:t>*Based on framework used in data science internship with Red Bull New York Transfer Market scouting analysis*</a:t>
            </a:r>
            <a:endParaRPr sz="1600" b="0" i="1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Research question → data scrape from FBref and StatsBomb → stability thresholds → redundancy thresholds → HTML player explorer → team-based significance findings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Question</a:t>
            </a:r>
          </a:p>
          <a:p>
            <a:r>
              <a:rPr sz="1200" b="0">
                <a:solidFill>
                  <a:srgbClr val="333333"/>
                </a:solidFill>
              </a:rPr>
              <a:t>Which traits travel into the German Bundesliga — and which prior stats line up with Year 1 in Bundesliga minutes?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883664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Scrape two sources</a:t>
            </a:r>
          </a:p>
          <a:p>
            <a:r>
              <a:rPr sz="1100" b="0">
                <a:solidFill>
                  <a:srgbClr val="333333"/>
                </a:solidFill>
              </a:rPr>
              <a:t>Football Reference (FBref): 19 leagues; first Bundesliga season in 2021–2025; prior and Year 1 in Bundesliga minutes ≥300′.</a:t>
            </a:r>
          </a:p>
          <a:p>
            <a:r>
              <a:rPr sz="1100" b="0">
                <a:solidFill>
                  <a:srgbClr val="333333"/>
                </a:solidFill>
              </a:rPr>
              <a:t>StatsBomb: 17 competitions; Bundesliga 2015/16 + 2023/24; prior ≥45′ / Year 1 in Bundesliga ≥30′.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596896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Stability</a:t>
            </a:r>
          </a:p>
          <a:p>
            <a:r>
              <a:rPr sz="1200" b="0">
                <a:solidFill>
                  <a:srgbClr val="333333"/>
                </a:solidFill>
              </a:rPr>
              <a:t>Correlate prior → Year 1 in Bundesliga per-90 rates. Keep metrics that travel.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346704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310128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Choose thresholds</a:t>
            </a:r>
          </a:p>
          <a:p>
            <a:r>
              <a:rPr sz="1100" b="0">
                <a:solidFill>
                  <a:srgbClr val="333333"/>
                </a:solidFill>
              </a:rPr>
              <a:t>FBref category gates → 43 of 105 metrics met the stability floor. StatsBomb Pearson r≥0.40 → 7 of 16.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Redundancy + context</a:t>
            </a:r>
          </a:p>
          <a:p>
            <a:r>
              <a:rPr sz="1200" b="0">
                <a:solidFill>
                  <a:srgbClr val="333333"/>
                </a:solidFill>
              </a:rPr>
              <a:t>Drop near-duplicates. FBref 43→32 · StatsBomb keep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Explorer &amp; graphics</a:t>
            </a:r>
          </a:p>
          <a:p>
            <a:r>
              <a:rPr sz="1200" b="0">
                <a:solidFill>
                  <a:srgbClr val="333333"/>
                </a:solidFill>
              </a:rPr>
              <a:t>Radars / pizzas on shortlisted metrics (interactive_player_explorer.html).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Significance tests</a:t>
            </a:r>
          </a:p>
          <a:p>
            <a:r>
              <a:rPr sz="1100" b="0">
                <a:solidFill>
                  <a:srgbClr val="333333"/>
                </a:solidFill>
              </a:rPr>
              <a:t>Spearman: prior trait percentile vs Year 1 in Bundesliga minutes; feeder-league summaries; exploratory OLS.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69259-8206-2172-4E02-B549B0A1904C}"/>
              </a:ext>
            </a:extLst>
          </p:cNvPr>
          <p:cNvSpPr txBox="1"/>
          <p:nvPr/>
        </p:nvSpPr>
        <p:spPr>
          <a:xfrm>
            <a:off x="502920" y="4753206"/>
            <a:ext cx="10515600" cy="692497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Compared to the project completed with Red Bull New York, the project defines the most portable traits for scouting leading to playing time in the Bundesliga year 1 post-transfer rather than Transfermarkt value. Scouts and teams will be able to answer the questions: ‘Which traits do we scout in outside leagues to best predict playing time? Which leagues provide the most reliable statistics to best predict results in the Bundesliga?</a:t>
            </a:r>
            <a:endParaRPr sz="1300" b="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Research Question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When a player moves into the top German league, the Bundesliga, which stats stay consistent — and which are league context?</a:t>
            </a:r>
          </a:p>
          <a:p>
            <a:r>
              <a:rPr sz="1300" b="0">
                <a:solidFill>
                  <a:srgbClr val="333333"/>
                </a:solidFill>
              </a:rPr>
              <a:t>This applies only to players who entered the Bundesliga from a different league (transfers / promotions).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1C1C1C"/>
                </a:solidFill>
                <a:latin typeface="Georgia"/>
              </a:rPr>
              <a:t>Difference from NYRB Project: </a:t>
            </a:r>
            <a:r>
              <a:rPr sz="1400" b="1" dirty="0">
                <a:solidFill>
                  <a:srgbClr val="1C1C1C"/>
                </a:solidFill>
                <a:latin typeface="Georgia"/>
              </a:rPr>
              <a:t>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We do not optimize Transfermarkt price. We shortlist portable performance traits for scouting.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Stability → Redundancy → Pizza/explorer → Success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4864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3995928"/>
            <a:ext cx="516636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FBref = scaled metrics, larger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19 leagues · first Bundesliga season 2021–2025 · ≥300′</a:t>
            </a:r>
          </a:p>
          <a:p>
            <a:r>
              <a:rPr sz="1100" b="0">
                <a:solidFill>
                  <a:srgbClr val="333333"/>
                </a:solidFill>
              </a:rPr>
              <a:t>N=329 pairs</a:t>
            </a:r>
          </a:p>
          <a:p>
            <a:r>
              <a:rPr sz="1100" b="0">
                <a:solidFill>
                  <a:srgbClr val="333333"/>
                </a:solidFill>
              </a:rPr>
              <a:t>105 metrics tested → 43 met stability floor → 32 met redundancy floor (final list)</a:t>
            </a:r>
          </a:p>
          <a:p>
            <a:r>
              <a:rPr sz="1100" b="0">
                <a:solidFill>
                  <a:srgbClr val="333333"/>
                </a:solidFill>
              </a:rPr>
              <a:t>Attacking/Passing/Other: Pearson stability ≥0.60</a:t>
            </a:r>
          </a:p>
          <a:p>
            <a:r>
              <a:rPr sz="1100" b="0">
                <a:solidFill>
                  <a:srgbClr val="333333"/>
                </a:solidFill>
              </a:rPr>
              <a:t>Defending/Carrying: Pearson stability ≥0.50 (lower floor to keep enough defensive volume)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86200"/>
            <a:ext cx="5440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3886200"/>
            <a:ext cx="73152" cy="233172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3995928"/>
            <a:ext cx="512064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StatsBomb = metric depth, smaller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N=96 · prior ≥45′ / Year 1 in Bundesliga ≥30′</a:t>
            </a:r>
          </a:p>
          <a:p>
            <a:r>
              <a:rPr sz="1100" b="0">
                <a:solidFill>
                  <a:srgbClr val="333333"/>
                </a:solidFill>
              </a:rPr>
              <a:t>Pearson r≥0.40 → 7 of 16 · Pearson |r|≥0.85 keep all 7</a:t>
            </a:r>
          </a:p>
          <a:p>
            <a:r>
              <a:rPr sz="1100" b="0">
                <a:solidFill>
                  <a:srgbClr val="333333"/>
                </a:solidFill>
              </a:rPr>
              <a:t>Priors: 17 competitions · Bundesliga 2015/16 + 2023/24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1C1C1C"/>
                </a:solidFill>
                <a:latin typeface="Georgia"/>
              </a:rPr>
              <a:t>Scouting metric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47120" cy="86868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Applied sports analytics / metric selection (NYRB-style framework).</a:t>
            </a:r>
          </a:p>
          <a:p>
            <a:r>
              <a:rPr sz="1200" b="0">
                <a:solidFill>
                  <a:srgbClr val="333333"/>
                </a:solidFill>
              </a:rPr>
              <a:t>Pearson r = stability (does the prior ranking of a rate recur in Year 1 in Bundesliga?).</a:t>
            </a:r>
          </a:p>
          <a:p>
            <a:r>
              <a:rPr sz="1200" b="0">
                <a:solidFill>
                  <a:srgbClr val="333333"/>
                </a:solidFill>
              </a:rPr>
              <a:t>Spearman ρ = success (do higher prior trait ranks line up with more Year 1 in Bundesliga minutes — rank-based, robust when minutes are skewed).</a:t>
            </a:r>
          </a:p>
          <a:p>
            <a:r>
              <a:rPr sz="1200" b="0">
                <a:solidFill>
                  <a:srgbClr val="333333"/>
                </a:solidFill>
              </a:rPr>
              <a:t>Then redundancy pruning and peer percentiles.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21408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Measurables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Trait portability — prior ↔ Year 1 in Bundesliga stability r</a:t>
            </a:r>
          </a:p>
          <a:p>
            <a:pPr>
              <a:spcAft>
                <a:spcPts val="400"/>
              </a:spcAft>
            </a:pPr>
            <a:r>
              <a:rPr lang="en-US" sz="1300" b="0" dirty="0">
                <a:solidFill>
                  <a:srgbClr val="333333"/>
                </a:solidFill>
              </a:rPr>
              <a:t>Removed </a:t>
            </a:r>
            <a:r>
              <a:rPr lang="en-US" sz="1300" dirty="0">
                <a:solidFill>
                  <a:srgbClr val="333333"/>
                </a:solidFill>
              </a:rPr>
              <a:t>n</a:t>
            </a:r>
            <a:r>
              <a:rPr sz="1300" b="0" dirty="0">
                <a:solidFill>
                  <a:srgbClr val="333333"/>
                </a:solidFill>
              </a:rPr>
              <a:t>ear-duplicates —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|r|≥0.95 · </a:t>
            </a:r>
            <a:r>
              <a:rPr lang="en-US" sz="1300" b="0" dirty="0" err="1">
                <a:solidFill>
                  <a:srgbClr val="333333"/>
                </a:solidFill>
              </a:rPr>
              <a:t>Statsbomb</a:t>
            </a:r>
            <a:r>
              <a:rPr lang="en-US" sz="1300" b="0" dirty="0">
                <a:solidFill>
                  <a:srgbClr val="333333"/>
                </a:solidFill>
              </a:rPr>
              <a:t> (SB)</a:t>
            </a:r>
            <a:r>
              <a:rPr sz="1300" b="0" dirty="0">
                <a:solidFill>
                  <a:srgbClr val="333333"/>
                </a:solidFill>
              </a:rPr>
              <a:t> |r|≥0.85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Year 1 in Bundesliga profile strength — stable-trait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01168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011680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121408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Disclaimer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2450592"/>
            <a:ext cx="3291840" cy="139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Stability ≠ “</a:t>
            </a:r>
            <a:r>
              <a:rPr lang="en-US" sz="1300" dirty="0">
                <a:solidFill>
                  <a:srgbClr val="333333"/>
                </a:solidFill>
              </a:rPr>
              <a:t>player is primed for success</a:t>
            </a:r>
            <a:r>
              <a:rPr sz="1300" b="0" dirty="0">
                <a:solidFill>
                  <a:srgbClr val="333333"/>
                </a:solidFill>
              </a:rPr>
              <a:t>” — it means the ranking tends to travel.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OLS</a:t>
            </a:r>
            <a:r>
              <a:rPr lang="en-US" sz="1300" dirty="0">
                <a:solidFill>
                  <a:srgbClr val="333333"/>
                </a:solidFill>
              </a:rPr>
              <a:t> </a:t>
            </a:r>
            <a:r>
              <a:rPr sz="1300" b="0" dirty="0">
                <a:solidFill>
                  <a:srgbClr val="333333"/>
                </a:solidFill>
              </a:rPr>
              <a:t>is exploratory (Big-5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011680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01168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121408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2450592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Cohort design + joins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Correlation / feature screening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Redundancy pruning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Peer percentiles + explorer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Human Step-2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FBREF (PRIMARY)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555555"/>
                </a:solidFill>
                <a:latin typeface="Calibri"/>
              </a:rPr>
              <a:t>Scale layer — inbound</a:t>
            </a:r>
            <a:r>
              <a:rPr lang="en-US" sz="1400" b="0" dirty="0">
                <a:solidFill>
                  <a:srgbClr val="555555"/>
                </a:solidFill>
                <a:latin typeface="Calibri"/>
              </a:rPr>
              <a:t> leagues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 → Bundesliga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876714" cy="2357056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</a:rPr>
              <a:t>What we use</a:t>
            </a:r>
          </a:p>
          <a:p>
            <a:r>
              <a:rPr sz="1200">
                <a:solidFill>
                  <a:srgbClr val="333333"/>
                </a:solidFill>
              </a:rPr>
              <a:t/>
            </a:r>
          </a:p>
          <a:p>
            <a:r>
              <a:rPr sz="1200">
                <a:solidFill>
                  <a:srgbClr val="333333"/>
                </a:solidFill>
              </a:rPr>
              <a:t>Outside-league tables + player-page fills</a:t>
            </a:r>
          </a:p>
          <a:p>
            <a:r>
              <a:rPr sz="1200">
                <a:solidFill>
                  <a:srgbClr val="333333"/>
                </a:solidFill>
              </a:rPr>
              <a:t>Analysis window: first Bundesliga end-years 2021–2025</a:t>
            </a:r>
          </a:p>
          <a:p>
            <a:r>
              <a:rPr sz="1200">
                <a:solidFill>
                  <a:srgbClr val="333333"/>
                </a:solidFill>
              </a:rPr>
              <a:t>Minutes: prior ≥300′ · Year 1 in Bundesliga ≥300′ → N=329 pairs · 19 leagues</a:t>
            </a:r>
          </a:p>
          <a:p>
            <a:r>
              <a:rPr sz="1200">
                <a:solidFill>
                  <a:srgbClr val="333333"/>
                </a:solidFill>
              </a:rPr>
              <a:t/>
            </a:r>
          </a:p>
          <a:p>
            <a:r>
              <a:rPr sz="1200">
                <a:solidFill>
                  <a:srgbClr val="333333"/>
                </a:solidFill>
              </a:rPr>
              <a:t>League-relative scaling tested and dropped: “how high vs peers in the same prior league” (z-score / percentile) did not improve prior→Year 1 in Bundesliga stability, so we keep absolute per-90 rates.</a:t>
            </a:r>
          </a:p>
          <a:p>
            <a:r>
              <a:rPr sz="1200">
                <a:solidFill>
                  <a:srgbClr val="333333"/>
                </a:solidFill>
              </a:rPr>
              <a:t/>
            </a:r>
          </a:p>
          <a:p>
            <a:r>
              <a:rPr sz="1200">
                <a:solidFill>
                  <a:srgbClr val="333333"/>
                </a:solidFill>
              </a:rPr>
              <a:t>Window · 2021–2025 · ≥300′ both sides · N=329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STATSBOMB OPEN DATA (DEEP DIVE)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What we use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All male open competitions as priors</a:t>
            </a:r>
          </a:p>
          <a:p>
            <a:r>
              <a:rPr sz="1200" b="0">
                <a:solidFill>
                  <a:srgbClr val="333333"/>
                </a:solidFill>
              </a:rPr>
              <a:t>1. Bundesliga open dumps: 2015/16 + 2023/24 only</a:t>
            </a:r>
          </a:p>
          <a:p>
            <a:r>
              <a:rPr sz="1200" b="0">
                <a:solidFill>
                  <a:srgbClr val="333333"/>
                </a:solidFill>
              </a:rPr>
              <a:t>N=96 · prior ≥45′ · Year 1 in Bundesliga ≥30′</a:t>
            </a:r>
          </a:p>
          <a:p>
            <a:r>
              <a:rPr sz="1200" b="0">
                <a:solidFill>
                  <a:srgbClr val="333333"/>
                </a:solidFill>
              </a:rPr>
              <a:t>Pearson r≥0.40 → 7 · Pearson |r|≥0.85 → keep all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</a:rPr>
              <a:t>vs FBref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200">
                <a:solidFill>
                  <a:srgbClr val="333333"/>
                </a:solidFill>
              </a:rPr>
              <a:t>Event check on trait families — not league ranking.</a:t>
            </a:r>
          </a:p>
          <a:p>
            <a:r>
              <a:rPr sz="1200">
                <a:solidFill>
                  <a:srgbClr val="333333"/>
                </a:solidFill>
              </a:rPr>
              <a:t/>
            </a:r>
          </a:p>
          <a:p>
            <a:r>
              <a:rPr sz="1200">
                <a:solidFill>
                  <a:srgbClr val="333333"/>
                </a:solidFill>
              </a:rPr>
              <a:t>No relative scaling: same peer-rank idea failed on FBref. StatsBomb priors mix FIFA World Cup, UEFA European Championship (Euro), UEFA Champions League, and other pro leagues, so within-league peer ranks are even less meaningful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6411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0011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(FBREF)</a:t>
            </a:r>
            <a:r>
              <a:rPr lang="en-US" sz="1300" b="1" dirty="0">
                <a:solidFill>
                  <a:srgbClr val="3D5A80"/>
                </a:solidFill>
                <a:latin typeface="Calibri"/>
              </a:rPr>
              <a:t>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1118846"/>
            <a:ext cx="3036279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b="0">
                <a:solidFill>
                  <a:srgbClr val="333333"/>
                </a:solidFill>
              </a:rPr>
              <a:t>Prior league → first Bundesliga Year 1 in Bundesliga (end-year ≥2021)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Paired N=329 · 19 leagues · minutes ≥300′ both sides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Category gates (not one global cut):</a:t>
            </a:r>
          </a:p>
          <a:p>
            <a:r>
              <a:rPr sz="1200" b="0">
                <a:solidFill>
                  <a:srgbClr val="333333"/>
                </a:solidFill>
              </a:rPr>
              <a:t>Attacking / Passing / Other  ·  r ≥ 0.60</a:t>
            </a:r>
          </a:p>
          <a:p>
            <a:r>
              <a:rPr sz="1200" b="0">
                <a:solidFill>
                  <a:srgbClr val="333333"/>
                </a:solidFill>
              </a:rPr>
              <a:t>Defending / Carrying  ·  r ≥ 0.50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43 metrics pass gates → redundancy next</a:t>
            </a:r>
          </a:p>
          <a:p>
            <a:r>
              <a:rPr sz="1200" b="0">
                <a:solidFill>
                  <a:srgbClr val="333333"/>
                </a:solidFill>
              </a:rPr>
              <a:t>No league-relative scaling — absolute per-90 rates travel better.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Metric codes: see Glossary slide.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127445"/>
              </p:ext>
            </p:extLst>
          </p:nvPr>
        </p:nvGraphicFramePr>
        <p:xfrm>
          <a:off x="3447759" y="658148"/>
          <a:ext cx="83210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42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Pen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0.906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0.805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3rd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0.767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GPLUS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G+A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FK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FK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0.697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>
            <a:hlinkClick action="ppaction://hlinksldjump" r:id="rId2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Prior competition → Bundesliga Year 1 in Bundesliga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Open Data · cohort N=96 · 7 of 16 pass (r≥0.40)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✓  PPC  Progressive passes (~10m+ toward goal)  r=0.74</a:t>
            </a:r>
          </a:p>
          <a:p>
            <a:r>
              <a:rPr sz="1100" b="0" dirty="0">
                <a:solidFill>
                  <a:srgbClr val="333333"/>
                </a:solidFill>
              </a:rPr>
              <a:t>✓  DIS  Dispossessed (inverted)  r=0.59</a:t>
            </a:r>
          </a:p>
          <a:p>
            <a:r>
              <a:rPr sz="1100" b="0" dirty="0">
                <a:solidFill>
                  <a:srgbClr val="333333"/>
                </a:solidFill>
              </a:rPr>
              <a:t>✓  PRS  Pressures  r=0.51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  Pass volume  r=0.49</a:t>
            </a:r>
          </a:p>
          <a:p>
            <a:r>
              <a:rPr sz="1100" b="0" dirty="0">
                <a:solidFill>
                  <a:srgbClr val="333333"/>
                </a:solidFill>
              </a:rPr>
              <a:t>✓  CLR  Clearances  r=0.47</a:t>
            </a:r>
          </a:p>
          <a:p>
            <a:r>
              <a:rPr sz="1100" b="0" dirty="0">
                <a:solidFill>
                  <a:srgbClr val="333333"/>
                </a:solidFill>
              </a:rPr>
              <a:t>✓  DRB  Successful dribbles  r=0.46</a:t>
            </a:r>
          </a:p>
          <a:p>
            <a:r>
              <a:rPr sz="1100" b="0" dirty="0">
                <a:solidFill>
                  <a:srgbClr val="333333"/>
                </a:solidFill>
              </a:rPr>
              <a:t>✓  PATT  Passes into final third  r=0.42</a:t>
            </a:r>
          </a:p>
          <a:p>
            <a:r>
              <a:rPr sz="1100" b="0" dirty="0">
                <a:solidFill>
                  <a:srgbClr val="333333"/>
                </a:solidFill>
              </a:rPr>
              <a:t>·  SH  Shots  r=0.40</a:t>
            </a:r>
          </a:p>
          <a:p>
            <a:r>
              <a:rPr sz="1100" b="0" dirty="0">
                <a:solidFill>
                  <a:srgbClr val="333333"/>
                </a:solidFill>
              </a:rPr>
              <a:t>·  CFGP  Progressive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CRY 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TAC  Tackles  r=0.34</a:t>
            </a:r>
          </a:p>
          <a:p>
            <a:r>
              <a:rPr sz="1100" b="0" dirty="0">
                <a:solidFill>
                  <a:srgbClr val="333333"/>
                </a:solidFill>
              </a:rPr>
              <a:t>·  XG  Non-pen </a:t>
            </a:r>
            <a:r>
              <a:rPr sz="1100" b="0" dirty="0" err="1">
                <a:solidFill>
                  <a:srgbClr val="333333"/>
                </a:solidFill>
              </a:rPr>
              <a:t>xG</a:t>
            </a:r>
            <a:r>
              <a:rPr sz="1100" b="0" dirty="0">
                <a:solidFill>
                  <a:srgbClr val="333333"/>
                </a:solidFill>
              </a:rPr>
              <a:t>  r=0.30</a:t>
            </a:r>
          </a:p>
          <a:p>
            <a:r>
              <a:rPr sz="1100" b="0" dirty="0">
                <a:solidFill>
                  <a:srgbClr val="333333"/>
                </a:solidFill>
              </a:rPr>
              <a:t>·  FLW  Fouls won  r=0.27</a:t>
            </a:r>
          </a:p>
          <a:p>
            <a:r>
              <a:rPr sz="1100" b="0" dirty="0">
                <a:solidFill>
                  <a:srgbClr val="333333"/>
                </a:solidFill>
              </a:rPr>
              <a:t>·  INT  Interceptions  r=0.20</a:t>
            </a:r>
          </a:p>
          <a:p>
            <a:r>
              <a:rPr sz="1100" b="0" dirty="0">
                <a:solidFill>
                  <a:srgbClr val="333333"/>
                </a:solidFill>
              </a:rPr>
              <a:t>·  XA  Expected assists  r=0.13</a:t>
            </a:r>
          </a:p>
          <a:p>
            <a:r>
              <a:rPr sz="1100" b="0" dirty="0">
                <a:solidFill>
                  <a:srgbClr val="333333"/>
                </a:solidFill>
              </a:rPr>
              <a:t>·  AER 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1602011"/>
              </p:ext>
            </p:extLst>
          </p:nvPr>
        </p:nvGraphicFramePr>
        <p:xfrm>
          <a:off x="386862" y="1234440"/>
          <a:ext cx="916861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4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Dispossessed (inv)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CFGP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Non-pen 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6263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Next: redundancy at Pearson |r|≥0.85 — only near-dupes cut; passes kept with progressive passes.</a:t>
            </a:r>
          </a:p>
          <a:p>
            <a:r>
              <a:rPr sz="1200" b="0">
                <a:solidFill>
                  <a:srgbClr val="333333"/>
                </a:solidFill>
              </a:rPr>
              <a:t>Metric codes: see Glossary slide (PPC, DIS, PRS, …).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333333"/>
                </a:solidFill>
              </a:rPr>
              <a:t/>
            </a: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200" b="1" dirty="0">
                <a:solidFill>
                  <a:srgbClr val="1C1C1C"/>
                </a:solidFill>
                <a:latin typeface="Georgia"/>
              </a:rPr>
              <a:t>Collinearity-Style Metric Pruning </a:t>
            </a:r>
            <a:endParaRPr sz="22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1803" y="1413801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 err="1">
                <a:solidFill>
                  <a:srgbClr val="3D5A80"/>
                </a:solidFill>
                <a:latin typeface="Calibri"/>
              </a:rPr>
              <a:t>StatsBomb</a:t>
            </a:r>
            <a:r>
              <a:rPr sz="1600" b="1" dirty="0">
                <a:solidFill>
                  <a:srgbClr val="3D5A80"/>
                </a:solidFill>
                <a:latin typeface="Calibri"/>
              </a:rPr>
              <a:t> shortlist (7)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Stability r≥0.40 · redundancy |r|≥0.85 (passes kept)</a:t>
            </a:r>
          </a:p>
          <a:p>
            <a:pPr>
              <a:spcAft>
                <a:spcPts val="3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PPC  Progressive passes  r=0.74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DIS  Dispossessed (inv)  r=0.59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PRS  Pressures  r=0.51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PAS  Pass volume  r=0.49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CLR  Clearances  r=0.47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DRB  Dribbles completed  r=0.46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PATT  Passes into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803" y="5279955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SB: |r|≥0.85 — no cuts; passes kept with progressive passes.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1083" y="1413801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FBref: 43 gated → 32 kept</a:t>
            </a:r>
          </a:p>
          <a:p>
            <a:r>
              <a:rPr sz="1200" b="0">
                <a:solidFill>
                  <a:srgbClr val="333333"/>
                </a:solidFill>
              </a:rPr>
              <a:t>105 tested · category gates → 43 · |r|≥0.95 → 32</a:t>
            </a:r>
          </a:p>
          <a:p>
            <a:r>
              <a:rPr sz="1200" b="0">
                <a:solidFill>
                  <a:srgbClr val="333333"/>
                </a:solidFill>
              </a:rPr>
              <a:t>Pick order: stability → N → rate/contextual</a:t>
            </a:r>
          </a:p>
          <a:p>
            <a:r>
              <a:rPr sz="1200" b="0">
                <a:solidFill>
                  <a:srgbClr val="333333"/>
                </a:solidFill>
              </a:rPr>
              <a:t>Force-kept: SoT/90 · Gls/90 · Tkld Take · Att Total</a:t>
            </a:r>
          </a:p>
          <a:p>
            <a:r>
              <a:rPr sz="1200" b="0">
                <a:solidFill>
                  <a:srgbClr val="333333"/>
                </a:solidFill>
              </a:rPr>
              <a:t>Top: DEFPE (0.91) · PRGC (0.81) · XG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230428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Attacking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9260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54203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XG (0.80)  ·  GLS (0.66)  ·  ATTSH (0.56)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6118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16382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PRGC (0.81)  ·  PRGDI (0.79)  ·  KP (0.65)  ·  FINAL (0.62)  ·  CMPPE (0.64)  ·  CRSPA (0.59)  ·  CRS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42976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384962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PRGRR (0.60)  ·  ATT3R (0.54)  ·  SUCC (0.65)  ·  MIS (0.37)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507492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53542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DEFPE (0.91)  ·  CLR (0.67)  ·  TKLD (0.59)  ·  WON (0.42)  ·  SH (0.79)  ·  INT (0.57)  ·  LOST (0.42)  ·  WONPE (0.50)  ·  DEF3R (0.79)  ·  TKLPE (0.31)  ·  RECOV (0.40)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31266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FLD (0.53)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OUTPUT · SCOUT PIZZA CHART (Based on charts used by RBNY)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Built from shortlisted traits. Explorer HTML combines FBref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How to read</a:t>
            </a:r>
          </a:p>
          <a:p>
            <a:r>
              <a:rPr sz="1200" b="0">
                <a:solidFill>
                  <a:srgbClr val="333333"/>
                </a:solidFill>
              </a:rPr>
              <a:t>Blue = Year 1 in Bundesliga · red dotted = prior · dashed = 50th-percentile Bundesliga peer · grey = 90th-percentile Bundesliga peer.</a:t>
            </a:r>
          </a:p>
          <a:p>
            <a:r>
              <a:rPr sz="1200" b="0">
                <a:solidFill>
                  <a:srgbClr val="333333"/>
                </a:solidFill>
              </a:rPr>
              <a:t>Numbers are percentiles 0–100 vs position peers.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Explorer: StatsBomb N=96 · 7 traits · FBref N=329 · 32 traits.</a:t>
            </a:r>
          </a:p>
          <a:p>
            <a:r>
              <a:rPr sz="1200" b="0">
                <a:solidFill>
                  <a:srgbClr val="333333"/>
                </a:solidFill>
              </a:rPr>
              <a:t>Metric abbreviations: see Glossary slide (click codes on stability/success slides where linked).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C1C"/>
                </a:solidFill>
                <a:latin typeface="Georgia"/>
              </a:rPr>
              <a:t>What “stable-trait score”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1C1C"/>
                </a:solidFill>
                <a:latin typeface="Calibri"/>
              </a:rPr>
              <a:t>One number that answers: in Year 1 in Bundesliga, how strong is this player on the portable (shortlisted) traits — vs peers at their position?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(SB 7 · FBref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Year 1 in Bundesliga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Stable-trait score = mean of those Year 1 in Bundesliga percentiles across the shortlist.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Example: if a CB is 70th / 60th / 80th on three traits → score ≈ 70.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Higher = better Year 1 in Bundesliga profile on traits that travel.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Open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interactive_player_explorer.html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01705"/>
            <a:ext cx="960120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Switch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(N=96 · 7 traits) ↔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FBref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(N=329 · 32 traits).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Same explorer combines both sources — pick FBref or StatsBomb in the data-source dropdown.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Year 1 in Bundesliga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14400"/>
            <a:ext cx="11338560" cy="1170432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Phase 2: after shortlisting, test what lines up with BL success.
Outcomes: Year 1 in Bundesliga minutes · Year 1 in Bundesliga min percentile · stable-trait score.
Spearman ρ ranks players so we test “higher prior trait → more minutes” without a linear minutes scale; then feeder means + exploratory OLS.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/>
            </a:r>
            <a:r>
              <a:rPr sz="1200" b="0" dirty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C1C1C"/>
                </a:solidFill>
                <a:latin typeface="Georgia"/>
              </a:rPr>
              <a:t>StatsBomb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587752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20" y="2148840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258568"/>
            <a:ext cx="3291840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dirty="0" err="1">
                <a:solidFill>
                  <a:srgbClr val="333333"/>
                </a:solidFill>
                <a:latin typeface="Georgia" panose="02040502050405020303" pitchFamily="18" charset="0"/>
              </a:rPr>
              <a:t>FBref</a:t>
            </a:r>
            <a:endParaRPr sz="14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300" b="0" dirty="0">
                <a:solidFill>
                  <a:srgbClr val="333333"/>
                </a:solidFill>
              </a:rPr>
              <a:t>N=329 · 19 leagues</a:t>
            </a:r>
          </a:p>
          <a:p>
            <a:r>
              <a:rPr sz="1300" b="0" dirty="0">
                <a:solidFill>
                  <a:srgbClr val="333333"/>
                </a:solidFill>
              </a:rPr>
              <a:t>Success = Year 1 in Bundesliga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2148840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6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2258568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1C1C1C"/>
                </a:solidFill>
                <a:latin typeface="Georgia"/>
              </a:rPr>
              <a:t>Weak </a:t>
            </a:r>
            <a:r>
              <a:rPr lang="en-US" sz="1400" b="1" dirty="0" err="1">
                <a:solidFill>
                  <a:srgbClr val="1C1C1C"/>
                </a:solidFill>
                <a:latin typeface="Georgia"/>
              </a:rPr>
              <a:t>Signalling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92440" y="2587752"/>
            <a:ext cx="352044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Supports scouting weights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Does not predict every transfer</a:t>
            </a:r>
          </a:p>
          <a:p>
            <a:pPr>
              <a:spcAft>
                <a:spcPts val="400"/>
              </a:spcAft>
            </a:pPr>
            <a:r>
              <a:rPr lang="en-US" sz="1200" dirty="0"/>
              <a:t>Full interactive tables: </a:t>
            </a:r>
            <a:r>
              <a:rPr lang="en-US" sz="1200" dirty="0" err="1"/>
              <a:t>interactive_player_explorer.html</a:t>
            </a:r>
            <a:r>
              <a:rPr lang="en-US" sz="1200" dirty="0"/>
              <a:t> · </a:t>
            </a:r>
            <a:r>
              <a:rPr lang="en-US" sz="1200" dirty="0" err="1"/>
              <a:t>README.md</a:t>
            </a:r>
            <a:endParaRPr sz="1200" dirty="0">
              <a:solidFill>
                <a:srgbClr val="555555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4434840"/>
            <a:ext cx="1097280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Interpretation: positive ρ = arriving with a higher prior percentile on that trait tends to coincide with more Year 1 in Bundesliga minutes / higher trait score.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/>
            </a:r>
            <a:r>
              <a:rPr sz="1300" dirty="0">
                <a:solidFill>
                  <a:srgbClr val="555555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Negative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on inverted metrics (e.g. dispossessed) can still be informative — read label + sign together</a:t>
            </a:r>
            <a:r>
              <a:rPr lang="en-US" sz="1300" dirty="0">
                <a:solidFill>
                  <a:srgbClr val="555555"/>
                </a:solidFill>
                <a:latin typeface="Calibri"/>
              </a:rPr>
              <a:t> since lower dispossessed score means better player performance</a:t>
            </a:r>
            <a:endParaRPr sz="130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Primary success marker: Bundesliga minutes played in the player’s first BL season (Year 1 in Bundesliga minutes)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Interpretation: playing-time success — did the club trust and use the inbound player?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Also reported: Year 1 in Bundesliga minutes percentile (rank in cohort) and stable-trait score (profile fit)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Trait &amp; league tests ask: which prior signals line up with more Year 1 in Bundesliga minutes?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Regression Δ Year 1 in Bundesliga min = estimated extra first-season minutes vs a reference league, holding controls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04183" y="1417320"/>
            <a:ext cx="4193345" cy="3222674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3D5A80"/>
                </a:solidFill>
                <a:latin typeface="Georgia"/>
              </a:rPr>
              <a:t>Why minutes?</a:t>
            </a:r>
          </a:p>
          <a:p>
            <a:endParaRPr sz="1600" b="1" dirty="0">
              <a:solidFill>
                <a:srgbClr val="3D5A80"/>
              </a:solidFill>
              <a:latin typeface="Georgia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Observable in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FBref</a:t>
            </a:r>
            <a:r>
              <a:rPr sz="1300" dirty="0">
                <a:solidFill>
                  <a:srgbClr val="1C1C1C"/>
                </a:solidFill>
                <a:latin typeface="Arial"/>
              </a:rPr>
              <a:t> /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StatsBomb</a:t>
            </a:r>
            <a:r>
              <a:rPr sz="1300" dirty="0">
                <a:solidFill>
                  <a:srgbClr val="1C1C1C"/>
                </a:solidFill>
                <a:latin typeface="Arial"/>
              </a:rPr>
              <a:t> cohorts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Directly measures opportunity &amp; role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Not the same as goals,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xG</a:t>
            </a:r>
            <a:r>
              <a:rPr sz="1300" dirty="0">
                <a:solidFill>
                  <a:srgbClr val="1C1C1C"/>
                </a:solidFill>
                <a:latin typeface="Arial"/>
              </a:rPr>
              <a:t>, or team points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lang="en-US" sz="1300" dirty="0">
                <a:solidFill>
                  <a:srgbClr val="1C1C1C"/>
                </a:solidFill>
                <a:latin typeface="Arial"/>
              </a:rPr>
              <a:t>S</a:t>
            </a:r>
            <a:r>
              <a:rPr sz="1300" dirty="0">
                <a:solidFill>
                  <a:srgbClr val="1C1C1C"/>
                </a:solidFill>
                <a:latin typeface="Arial"/>
              </a:rPr>
              <a:t>cope: associative scouting weights, not a forecast model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TRAITS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StatsBomb (N=96)</a:t>
            </a:r>
          </a:p>
          <a:p>
            <a:r>
              <a:rPr sz="12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PRS  ρ=-0.28  p=0.006</a:t>
            </a:r>
          </a:p>
          <a:p>
            <a:r>
              <a:rPr sz="1200" b="0">
                <a:solidFill>
                  <a:srgbClr val="333333"/>
                </a:solidFill>
              </a:rPr>
              <a:t>DRB  ρ=-0.17  p=0.090</a:t>
            </a:r>
          </a:p>
          <a:p>
            <a:r>
              <a:rPr sz="1200" b="0">
                <a:solidFill>
                  <a:srgbClr val="333333"/>
                </a:solidFill>
              </a:rPr>
              <a:t>PPC  ρ=+0.16  p=0.112</a:t>
            </a:r>
          </a:p>
          <a:p>
            <a:r>
              <a:rPr sz="1200" b="0">
                <a:solidFill>
                  <a:srgbClr val="333333"/>
                </a:solidFill>
              </a:rPr>
              <a:t>DIS  ρ=+0.14  p=0.185</a:t>
            </a:r>
          </a:p>
          <a:p>
            <a:r>
              <a:rPr sz="1200" b="0">
                <a:solidFill>
                  <a:srgbClr val="333333"/>
                </a:solidFill>
              </a:rPr>
              <a:t>PATT  ρ=-0.11  p=0.280</a:t>
            </a:r>
          </a:p>
          <a:p>
            <a:r>
              <a:rPr sz="1200" b="0">
                <a:solidFill>
                  <a:srgbClr val="333333"/>
                </a:solidFill>
              </a:rPr>
              <a:t>CLR  ρ=-0.07  p=0.473</a:t>
            </a:r>
          </a:p>
          <a:p>
            <a:r>
              <a:rPr sz="1200" b="0">
                <a:solidFill>
                  <a:srgbClr val="333333"/>
                </a:solidFill>
              </a:rPr>
              <a:t>PAS  ρ=+0.00  p=0.980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77490"/>
              </p:ext>
            </p:extLst>
          </p:nvPr>
        </p:nvGraphicFramePr>
        <p:xfrm>
          <a:off x="411479" y="1097279"/>
          <a:ext cx="4652888" cy="2954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6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 — 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-0.28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 — Successful dribbles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DIS — Dispossessed (inv)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 — 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0.280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 — 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FBref (N=329)</a:t>
            </a:r>
          </a:p>
          <a:p>
            <a:r>
              <a:rPr sz="1200" b="0">
                <a:solidFill>
                  <a:srgbClr val="333333"/>
                </a:solidFill>
              </a:rPr>
              <a:t>prior %ile → Year 1 in Bundesliga minutes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FINAL  ρ=+0.30  p=0.005 *</a:t>
            </a:r>
          </a:p>
          <a:p>
            <a:r>
              <a:rPr sz="1200" b="0">
                <a:solidFill>
                  <a:srgbClr val="333333"/>
                </a:solidFill>
              </a:rPr>
              <a:t>SH  ρ=+0.27  p=0.011 *</a:t>
            </a:r>
          </a:p>
          <a:p>
            <a:r>
              <a:rPr sz="1200" b="0">
                <a:solidFill>
                  <a:srgbClr val="333333"/>
                </a:solidFill>
              </a:rPr>
              <a:t>PRGDI  ρ=+0.24  p=0.025 *</a:t>
            </a:r>
          </a:p>
          <a:p>
            <a:r>
              <a:rPr sz="1200" b="0">
                <a:solidFill>
                  <a:srgbClr val="333333"/>
                </a:solidFill>
              </a:rPr>
              <a:t>TKLD  ρ=+0.23  p=0.030 *</a:t>
            </a:r>
          </a:p>
          <a:p>
            <a:r>
              <a:rPr sz="1200" b="0">
                <a:solidFill>
                  <a:srgbClr val="333333"/>
                </a:solidFill>
              </a:rPr>
              <a:t>ATTLO  ρ=+0.22  p=0.036 *</a:t>
            </a:r>
          </a:p>
          <a:p>
            <a:r>
              <a:rPr sz="1200" b="0">
                <a:solidFill>
                  <a:srgbClr val="333333"/>
                </a:solidFill>
              </a:rPr>
              <a:t>DEF3R  ρ=+0.22  p=0.039 *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* p&lt;0.05  ·  Final Third, shot blocks, progressive distance lead.</a:t>
            </a:r>
          </a:p>
          <a:p>
            <a:r>
              <a:rPr sz="1200" b="0">
                <a:solidFill>
                  <a:srgbClr val="333333"/>
                </a:solidFill>
              </a:rPr>
              <a:t>Metric codes: see Glossary slide.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249453"/>
              </p:ext>
            </p:extLst>
          </p:nvPr>
        </p:nvGraphicFramePr>
        <p:xfrm>
          <a:off x="6126479" y="1097279"/>
          <a:ext cx="4349439" cy="3798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4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FINAL — Final Third*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— Shot Blocks*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PRGDI — PrgDist Total*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TKLD — Tkld Take*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 — Att Long*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 — Def 3rd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MIS — Mis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CLR — Cl</a:t>
                      </a:r>
                      <a:r>
                        <a:rPr lang="en-US" dirty="0"/>
                        <a:t>earances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FEEDER LEAGUES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 1 in Bundesliga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262344"/>
              </p:ext>
            </p:extLst>
          </p:nvPr>
        </p:nvGraphicFramePr>
        <p:xfrm>
          <a:off x="411480" y="1179576"/>
          <a:ext cx="5669280" cy="2292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Median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DEN Superliga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1864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1855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48.0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60.1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Eredivisie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53.4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547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2.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783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Belgian Pro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98155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Austrian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1733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4551680"/>
              </p:ext>
            </p:extLst>
          </p:nvPr>
        </p:nvGraphicFramePr>
        <p:xfrm>
          <a:off x="411480" y="3246120"/>
          <a:ext cx="48463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Champions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45.9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55.2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5029200"/>
            <a:ext cx="1115568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</a:rPr>
              <a:t>FBref N=329 (n≥8 players per league shown). StatsBomb N=96 — international priors are directional only.</a:t>
            </a:r>
          </a:p>
          <a:p>
            <a:r>
              <a:rPr sz="1200" b="0">
                <a:solidFill>
                  <a:srgbClr val="555555"/>
                </a:solidFill>
              </a:rPr>
              <a:t>Tables also in the explorer Success tab · README.md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3D5A80"/>
                </a:solidFill>
                <a:latin typeface="Georgia"/>
              </a:rPr>
              <a:t>PHASE 2 · FEEDER REGRESSION (EXPLORATORY)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Descriptive “best feeder league” averages are not enough — ordinary least squares (OLS) regression asks whether league gaps remain after controls.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397031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br>
              <a:rPr lang="en-US" dirty="0"/>
            </a:br>
            <a:r>
              <a:rPr sz="1200" b="0">
                <a:solidFill>
                  <a:srgbClr val="333333"/>
                </a:solidFill>
              </a:rPr>
              <a:t>Model 1 — league only (with basic controls)</a:t>
            </a:r>
          </a:p>
          <a:p>
            <a:r>
              <a:rPr sz="1200" b="0">
                <a:solidFill>
                  <a:srgbClr val="333333"/>
                </a:solidFill>
              </a:rPr>
              <a:t>Predict Year 1 in Bundesliga minutes from prior league (Premier League / La Liga / Ligue 1 vs Serie A baseline), prior minutes, and position.</a:t>
            </a:r>
          </a:p>
          <a:p>
            <a:r>
              <a:rPr sz="1200" b="0">
                <a:solidFill>
                  <a:srgbClr val="333333"/>
                </a:solidFill>
              </a:rPr>
              <a:t>Question: after that, does league still matter?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Model 2 — league + traits</a:t>
            </a:r>
          </a:p>
          <a:p>
            <a:r>
              <a:rPr sz="1200" b="0">
                <a:solidFill>
                  <a:srgbClr val="333333"/>
                </a:solidFill>
              </a:rPr>
              <a:t>Same as Model 1, plus prior trait percentiles (e.g. Final Third, box touches).</a:t>
            </a:r>
          </a:p>
          <a:p>
            <a:r>
              <a:rPr sz="1200" b="0">
                <a:solidFill>
                  <a:srgbClr val="333333"/>
                </a:solidFill>
              </a:rPr>
              <a:t>Question: once you know the prior profile, do league gaps shrink?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Model 3 — holdout check</a:t>
            </a:r>
          </a:p>
          <a:p>
            <a:r>
              <a:rPr sz="1200" b="0">
                <a:solidFill>
                  <a:srgbClr val="333333"/>
                </a:solidFill>
              </a:rPr>
              <a:t>Fit on 80% of players; see if predictions match the other 20%.</a:t>
            </a:r>
          </a:p>
          <a:p>
            <a:r>
              <a:rPr sz="1200" b="0">
                <a:solidFill>
                  <a:srgbClr val="333333"/>
                </a:solidFill>
              </a:rPr>
              <a:t>Question: is the fit just memorizing this sample?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Serie A is the baseline league (lowest average Year 1 in Bundesliga minutes among Big-5 feeders), so other leagues are estimated as “extra minutes vs Serie A.”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Model 1 R²=0.086 → Model 2 R²=0.215 when traits added · Model 3 holdout correlation r=0.35 (exploratory)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Left table = Model 1 league gaps · Right table = Model 2 trait effects · Model 3 = holdout check only (no third chart)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676595"/>
              </p:ext>
            </p:extLst>
          </p:nvPr>
        </p:nvGraphicFramePr>
        <p:xfrm>
          <a:off x="548640" y="1786128"/>
          <a:ext cx="3657600" cy="1136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98479"/>
              </p:ext>
            </p:extLst>
          </p:nvPr>
        </p:nvGraphicFramePr>
        <p:xfrm>
          <a:off x="4663440" y="1786128"/>
          <a:ext cx="3657600" cy="172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Lost Aerial*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Def Pen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PrgDist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 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Ligue 1 about +163 minutes vs Serie A (p≈0.38) — not statistically significant at N=117.</a:t>
            </a:r>
          </a:p>
          <a:p>
            <a:r>
              <a:rPr sz="1200" b="0">
                <a:solidFill>
                  <a:srgbClr val="333333"/>
                </a:solidFill>
              </a:rPr>
              <a:t>Adding traits raises R² (0.09 → 0.22): prior profile matters more than league label.</a:t>
            </a:r>
          </a:p>
          <a:p>
            <a:r>
              <a:rPr sz="1200" b="0">
                <a:solidFill>
                  <a:srgbClr val="333333"/>
                </a:solidFill>
              </a:rPr>
              <a:t>Model 3 holdout r≈0.35 = moderate match on held-out players (not a strong forecast).</a:t>
            </a:r>
          </a:p>
          <a:p>
            <a:r>
              <a:rPr sz="1200" b="0">
                <a:solidFill>
                  <a:srgbClr val="333333"/>
                </a:solidFill>
              </a:rPr>
              <a:t>Takeaway: scout portable traits + minutes; league is a weak residual signal.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Serie A = baseline (lowest mean Year 1 in Bundesliga minutes among Big-5 feeders).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55555"/>
                </a:solidFill>
                <a:latin typeface="Georgia"/>
              </a:rPr>
              <a:t>* p&lt;0.05. Full tables: README.md (Exploratory feeder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502920"/>
            <a:ext cx="11064240" cy="3701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Why p-values stay modest</a:t>
            </a:r>
            <a:endParaRPr sz="2600" b="1" dirty="0">
              <a:solidFill>
                <a:srgbClr val="3D5A80"/>
              </a:solidFill>
              <a:latin typeface="Calibri"/>
            </a:endParaRP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• StatsBomb N=96 with messy open-data priors (World Cup / Euro / Champions League mix rather than clean league seasons — larger sample, less consistent prior context)</a:t>
            </a:r>
          </a:p>
          <a:p>
            <a:r>
              <a:rPr sz="1400" b="0">
                <a:solidFill>
                  <a:srgbClr val="333333"/>
                </a:solidFill>
              </a:rPr>
              <a:t>• FBref N=329 helps, but many advanced metrics only have ~90–100 complete pairs</a:t>
            </a:r>
          </a:p>
          <a:p>
            <a:r>
              <a:rPr sz="1400" b="0">
                <a:solidFill>
                  <a:srgbClr val="333333"/>
                </a:solidFill>
              </a:rPr>
              <a:t>• Multiple traits tested — treat Phase 2 as associative, not a forecast</a:t>
            </a: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What hardened the sample</a:t>
            </a: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• 19 leagues · first BL seasons 2021–2025 · prior / Year 1 in Bundesliga ≥300′ → N=329</a:t>
            </a:r>
          </a:p>
          <a:p>
            <a:r>
              <a:rPr sz="1400" b="0">
                <a:solidFill>
                  <a:srgbClr val="333333"/>
                </a:solidFill>
              </a:rPr>
              <a:t>• Category stability gates + light redundancy (|r|≥0.95) → 32 traits</a:t>
            </a:r>
          </a:p>
          <a:p>
            <a:r>
              <a:rPr sz="1400" b="0">
                <a:solidFill>
                  <a:srgbClr val="333333"/>
                </a:solidFill>
              </a:rPr>
              <a:t>• StatsBomb kept as event deep dive (r≥0.40 · 7 traits), not league ranking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47932" y="282526"/>
            <a:ext cx="10972800" cy="361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• Portable shortlists: FBref 105 metrics tested → 43 met stability floor → 32 met redundancy floor · StatsBomb 16 metrics tested → 7 met stability floor (all 7 kept after redundancy)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• FBref traits most linked to Year 1 in Bundesliga minutes (p&lt;0.05): final-third passing, shot blocks, progressive distance, box defending</a:t>
            </a: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• Feeder-league gaps are modest; exploratory OLS (N=117) — traits matter more than league label</a:t>
            </a: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• Scout metrics that travel league-to-league. Year 1 in Bundesliga minutes = open-data success proxy</a:t>
            </a: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• Future work: Δ Transfermarkt market value (next slide) as the club-grade outcome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Year 1 in Bundesliga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652760" cy="14773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Top indicator in a full club model: change in market value (Δ Transfermarkt market value)</a:t>
            </a:r>
          </a:p>
          <a:p>
            <a:r>
              <a:rPr sz="1300" b="0">
                <a:solidFill>
                  <a:srgbClr val="333333"/>
                </a:solidFill>
              </a:rPr>
              <a:t>Captures performance + hype + contract context in one outcome scouts care about</a:t>
            </a:r>
          </a:p>
          <a:p>
            <a:r>
              <a:rPr sz="1300" b="0">
                <a:solidFill>
                  <a:srgbClr val="333333"/>
                </a:solidFill>
              </a:rPr>
              <a:t>NYRB project Axis-3 testing of player value used market value rather than Year 1 in Bundesliga minutes; this project uses open data only — Transfermarkt disallows scraping</a:t>
            </a:r>
          </a:p>
          <a:p>
            <a:r>
              <a:rPr sz="1300" b="0">
                <a:solidFill>
                  <a:srgbClr val="333333"/>
                </a:solidFill>
              </a:rPr>
              <a:t>So we proxy success with Year 1 in Bundesliga minutes until a licensed market-value feed is available</a:t>
            </a:r>
          </a:p>
          <a:p>
            <a:r>
              <a:rPr sz="1300" b="0">
                <a:solidFill>
                  <a:srgbClr val="333333"/>
                </a:solidFill>
              </a:rPr>
              <a:t>Natural extension: prior traits → Δ market value with holdout regression / ML</a:t>
            </a:r>
          </a:p>
        </p:txBody>
      </p:sp>
    </p:spTree>
    <p:extLst>
      <p:ext uri="{BB962C8B-B14F-4D97-AF65-F5344CB8AC3E}">
        <p14:creationId xmlns:p14="http://schemas.microsoft.com/office/powerpoint/2010/main" val="797582397"/>
      </p:ext>
    </p:extLst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3D5A80"/>
                </a:solidFill>
              </a:rPr>
              <a:t>GLOSSARY · METRIC ABBREVIATIONS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FBref (examples)</a:t>
            </a:r>
          </a:p>
          <a:p>
            <a:r>
              <a:rPr sz="1100" b="0">
                <a:solidFill>
                  <a:srgbClr val="333333"/>
                </a:solidFill>
              </a:rPr>
              <a:t>DEFPE — Defensive penalty-area touches /90</a:t>
            </a:r>
          </a:p>
          <a:p>
            <a:r>
              <a:rPr sz="1100" b="0">
                <a:solidFill>
                  <a:srgbClr val="333333"/>
                </a:solidFill>
              </a:rPr>
              <a:t>DEF3R — Defensive-third touches /90</a:t>
            </a:r>
          </a:p>
          <a:p>
            <a:r>
              <a:rPr sz="1100" b="0">
                <a:solidFill>
                  <a:srgbClr val="333333"/>
                </a:solidFill>
              </a:rPr>
              <a:t>PRGC — Progressive carries /90</a:t>
            </a:r>
          </a:p>
          <a:p>
            <a:r>
              <a:rPr sz="1100" b="0">
                <a:solidFill>
                  <a:srgbClr val="333333"/>
                </a:solidFill>
              </a:rPr>
              <a:t>PRGDI — Progressive carry distance /90</a:t>
            </a:r>
          </a:p>
          <a:p>
            <a:r>
              <a:rPr sz="1100" b="0">
                <a:solidFill>
                  <a:srgbClr val="333333"/>
                </a:solidFill>
              </a:rPr>
              <a:t>PRGRR — Progressive receives /90</a:t>
            </a:r>
          </a:p>
          <a:p>
            <a:r>
              <a:rPr sz="1100" b="0">
                <a:solidFill>
                  <a:srgbClr val="333333"/>
                </a:solidFill>
              </a:rPr>
              <a:t>XG — Expected goals /90</a:t>
            </a:r>
          </a:p>
          <a:p>
            <a:r>
              <a:rPr sz="1100" b="0">
                <a:solidFill>
                  <a:srgbClr val="333333"/>
                </a:solidFill>
              </a:rPr>
              <a:t>GLS — Goals /90</a:t>
            </a:r>
          </a:p>
          <a:p>
            <a:r>
              <a:rPr sz="1100" b="0">
                <a:solidFill>
                  <a:srgbClr val="333333"/>
                </a:solidFill>
              </a:rPr>
              <a:t>SOTPE / ATTSH — Shots on target /90</a:t>
            </a:r>
          </a:p>
          <a:p>
            <a:r>
              <a:rPr sz="1100" b="0">
                <a:solidFill>
                  <a:srgbClr val="333333"/>
                </a:solidFill>
              </a:rPr>
              <a:t>FINAL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KP — Key passes /90</a:t>
            </a:r>
          </a:p>
          <a:p>
            <a:r>
              <a:rPr sz="1100" b="0">
                <a:solidFill>
                  <a:srgbClr val="333333"/>
                </a:solidFill>
              </a:rPr>
              <a:t>SH — Shot blocks /90</a:t>
            </a:r>
          </a:p>
          <a:p>
            <a:r>
              <a:rPr sz="1100" b="0">
                <a:solidFill>
                  <a:srgbClr val="333333"/>
                </a:solidFill>
              </a:rPr>
              <a:t>TKLD — Tackled (take-ons)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INT — Interceptions /90</a:t>
            </a:r>
          </a:p>
          <a:p>
            <a:r>
              <a:rPr sz="1100" b="0">
                <a:solidFill>
                  <a:srgbClr val="333333"/>
                </a:solidFill>
              </a:rPr>
              <a:t>ATTLO — Long pass attempts /90</a:t>
            </a:r>
          </a:p>
          <a:p>
            <a:r>
              <a:rPr sz="1100" b="0">
                <a:solidFill>
                  <a:srgbClr val="333333"/>
                </a:solidFill>
              </a:rPr>
              <a:t>FLD — Fouls drawn /90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StatsBomb</a:t>
            </a:r>
          </a:p>
          <a:p>
            <a:r>
              <a:rPr sz="1100" b="0">
                <a:solidFill>
                  <a:srgbClr val="333333"/>
                </a:solidFill>
              </a:rPr>
              <a:t>PPC — Progressive passes (~10m+ toward goal) /90</a:t>
            </a:r>
          </a:p>
          <a:p>
            <a:r>
              <a:rPr sz="1100" b="0">
                <a:solidFill>
                  <a:srgbClr val="333333"/>
                </a:solidFill>
              </a:rPr>
              <a:t>DIS — Dispossessed /90 (often inverted: fewer = better)</a:t>
            </a:r>
          </a:p>
          <a:p>
            <a:r>
              <a:rPr sz="1100" b="0">
                <a:solidFill>
                  <a:srgbClr val="333333"/>
                </a:solidFill>
              </a:rPr>
              <a:t>PRS — Pressures /90</a:t>
            </a:r>
          </a:p>
          <a:p>
            <a:r>
              <a:rPr sz="1100" b="0">
                <a:solidFill>
                  <a:srgbClr val="333333"/>
                </a:solidFill>
              </a:rPr>
              <a:t>PAS — Pass volume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DRB — Successful dribbles /90</a:t>
            </a:r>
          </a:p>
          <a:p>
            <a:r>
              <a:rPr sz="1100" b="0">
                <a:solidFill>
                  <a:srgbClr val="333333"/>
                </a:solidFill>
              </a:rPr>
              <a:t>PATT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SH — Shots /90</a:t>
            </a:r>
          </a:p>
          <a:p>
            <a:r>
              <a:rPr sz="1100" b="0">
                <a:solidFill>
                  <a:srgbClr val="333333"/>
                </a:solidFill>
              </a:rPr>
              <a:t>XG — Non-penalty expected goals /90</a:t>
            </a:r>
          </a:p>
          <a:p>
            <a:r>
              <a:rPr sz="1100" b="0">
                <a:solidFill>
                  <a:srgbClr val="333333"/>
                </a:solidFill>
              </a:rPr>
              <a:t/>
            </a:r>
          </a:p>
          <a:p>
            <a:r>
              <a:rPr sz="1100" b="0">
                <a:solidFill>
                  <a:srgbClr val="333333"/>
                </a:solidFill>
              </a:rPr>
              <a:t>Other terms</a:t>
            </a:r>
          </a:p>
          <a:p>
            <a:r>
              <a:rPr sz="1100" b="0">
                <a:solidFill>
                  <a:srgbClr val="333333"/>
                </a:solidFill>
              </a:rPr>
              <a:t>Pearson r — linear correlation (stability)</a:t>
            </a:r>
          </a:p>
          <a:p>
            <a:r>
              <a:rPr sz="1100" b="0">
                <a:solidFill>
                  <a:srgbClr val="333333"/>
                </a:solidFill>
              </a:rPr>
              <a:t>Spearman ρ — rank correlation (success vs minutes)</a:t>
            </a:r>
          </a:p>
          <a:p>
            <a:r>
              <a:rPr sz="1100" b="0">
                <a:solidFill>
                  <a:srgbClr val="333333"/>
                </a:solidFill>
              </a:rPr>
              <a:t>Year 1 in Bundesliga — first Bundesliga season</a:t>
            </a:r>
          </a:p>
          <a:p>
            <a:r>
              <a:rPr sz="1100" b="0">
                <a:solidFill>
                  <a:srgbClr val="333333"/>
                </a:solidFill>
              </a:rPr>
              <a:t>Feeder league — prior league before Bundesliga arrival</a:t>
            </a:r>
          </a:p>
          <a:p>
            <a:r>
              <a:rPr sz="1100" b="0">
                <a:solidFill>
                  <a:srgbClr val="333333"/>
                </a:solidFill>
              </a:rPr>
              <a:t>n≥8 — only show leagues with ≥8 players in the cell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472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Deliverables</a:t>
            </a:r>
          </a:p>
          <a:p>
            <a:r>
              <a:rPr sz="1300" b="0">
                <a:solidFill>
                  <a:srgbClr val="333333"/>
                </a:solidFill>
              </a:rPr>
              <a:t/>
            </a:r>
          </a:p>
          <a:p>
            <a:r>
              <a:rPr sz="1300" b="0">
                <a:solidFill>
                  <a:srgbClr val="333333"/>
                </a:solidFill>
              </a:rPr>
              <a:t>1 · Cohort (with minute floors) · 2 · Stability · 3 · Redundancy · 4 · Explorer + success</a:t>
            </a:r>
          </a:p>
          <a:p>
            <a:r>
              <a:rPr sz="1300" b="0">
                <a:solidFill>
                  <a:srgbClr val="333333"/>
                </a:solidFill>
              </a:rPr>
              <a:t/>
            </a:r>
          </a:p>
          <a:p>
            <a:r>
              <a:rPr sz="1300" b="0">
                <a:solidFill>
                  <a:srgbClr val="333333"/>
                </a:solidFill>
              </a:rPr>
              <a:t>Repo: deck · README.md · interactive_player_explorer.html · stability_redundancy_inspector.html · projectproposal</a:t>
            </a:r>
          </a:p>
          <a:p>
            <a:r>
              <a:rPr sz="1300" b="0">
                <a:solidFill>
                  <a:srgbClr val="333333"/>
                </a:solidFill>
              </a:rPr>
              <a:t/>
            </a:r>
          </a:p>
          <a:p>
            <a:r>
              <a:rPr sz="1300" b="0">
                <a:solidFill>
                  <a:srgbClr val="333333"/>
                </a:solidFill>
              </a:rPr>
              <a:t>Stability floors: FBref Attacking/Passing/Other Pearson r ≥ 0.60 · Defending/Carrying Pearson r ≥ 0.50 · StatsBomb Pearson r ≥ 0.40 · final shortlists 32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3010</TotalTime>
  <Words>3358</Words>
  <Application>Microsoft Macintosh PowerPoint</Application>
  <PresentationFormat>Widescreen</PresentationFormat>
  <Paragraphs>632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15</cp:revision>
  <dcterms:created xsi:type="dcterms:W3CDTF">2013-01-27T09:14:16Z</dcterms:created>
  <dcterms:modified xsi:type="dcterms:W3CDTF">2026-07-20T19:57:32Z</dcterms:modified>
  <cp:category/>
</cp:coreProperties>
</file>