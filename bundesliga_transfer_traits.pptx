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68" r:id="rId5"/>
    <p:sldId id="281" r:id="rId6"/>
    <p:sldId id="282" r:id="rId7"/>
    <p:sldId id="260" r:id="rId8"/>
    <p:sldId id="259" r:id="rId9"/>
    <p:sldId id="261" r:id="rId10"/>
    <p:sldId id="263" r:id="rId11"/>
    <p:sldId id="267" r:id="rId12"/>
    <p:sldId id="264" r:id="rId13"/>
    <p:sldId id="269" r:id="rId14"/>
    <p:sldId id="276" r:id="rId15"/>
    <p:sldId id="270" r:id="rId16"/>
    <p:sldId id="271" r:id="rId17"/>
    <p:sldId id="274" r:id="rId18"/>
    <p:sldId id="275" r:id="rId19"/>
    <p:sldId id="280" r:id="rId20"/>
    <p:sldId id="278" r:id="rId21"/>
    <p:sldId id="277" r:id="rId22"/>
    <p:sldId id="279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22"/>
    <p:restoredTop sz="94678"/>
  </p:normalViewPr>
  <p:slideViewPr>
    <p:cSldViewPr snapToGrid="0" snapToObjects="1">
      <p:cViewPr varScale="1">
        <p:scale>
          <a:sx n="109" d="100"/>
          <a:sy n="109" d="100"/>
        </p:scale>
        <p:origin x="60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dirty="0">
                <a:solidFill>
                  <a:srgbClr val="222222"/>
                </a:solidFill>
                <a:latin typeface="Georgia"/>
              </a:rPr>
              <a:t>Which traits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most accurately 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travel into the Bundesliga</a:t>
            </a:r>
            <a:r>
              <a:rPr lang="en-US" sz="2800" b="1" dirty="0">
                <a:solidFill>
                  <a:srgbClr val="222222"/>
                </a:solidFill>
                <a:latin typeface="Georgia"/>
              </a:rPr>
              <a:t> from other professional soccer leagues</a:t>
            </a:r>
            <a:r>
              <a:rPr sz="2800" b="1" dirty="0">
                <a:solidFill>
                  <a:srgbClr val="222222"/>
                </a:solidFill>
                <a:latin typeface="Georgia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333333"/>
                </a:solidFill>
                <a:latin typeface="Calibri"/>
              </a:rPr>
              <a:t>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ootball R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ef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erence</a:t>
            </a:r>
            <a:r>
              <a:rPr sz="1600" b="0" i="1" dirty="0">
                <a:solidFill>
                  <a:srgbClr val="333333"/>
                </a:solidFill>
                <a:latin typeface="Calibri"/>
              </a:rPr>
              <a:t> + </a:t>
            </a:r>
            <a:r>
              <a:rPr sz="1600" b="0" i="1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lang="en-US" sz="1600" b="0" i="1" dirty="0">
                <a:solidFill>
                  <a:srgbClr val="333333"/>
                </a:solidFill>
                <a:latin typeface="Calibri"/>
              </a:rPr>
              <a:t> data sources</a:t>
            </a:r>
          </a:p>
          <a:p>
            <a:pPr algn="l"/>
            <a:endParaRPr lang="en-US" sz="1600" b="0" i="1" dirty="0">
              <a:solidFill>
                <a:srgbClr val="333333"/>
              </a:solidFill>
              <a:latin typeface="Calibri"/>
            </a:endParaRPr>
          </a:p>
          <a:p>
            <a:pPr algn="l"/>
            <a:r>
              <a:rPr lang="en-US" sz="1600" i="1" dirty="0">
                <a:solidFill>
                  <a:srgbClr val="333333"/>
                </a:solidFill>
                <a:latin typeface="Calibri"/>
              </a:rPr>
              <a:t>*Based on framework used in data science internship with Red Bull New York Transfer Market scouting analysis*</a:t>
            </a:r>
            <a:endParaRPr sz="1600" b="0" i="1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555555"/>
                </a:solidFill>
                <a:latin typeface="Calibri"/>
              </a:rPr>
              <a:t>Question → scrape → stability → thresholds → redundancy → explorer → significance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Question</a:t>
            </a:r>
          </a:p>
          <a:p>
            <a:r>
              <a:rPr sz="1200" b="0" dirty="0">
                <a:solidFill>
                  <a:srgbClr val="333333"/>
                </a:solidFill>
              </a:rPr>
              <a:t>Which traits travel into </a:t>
            </a:r>
            <a:r>
              <a:rPr lang="en-US" sz="1200" dirty="0">
                <a:solidFill>
                  <a:srgbClr val="333333"/>
                </a:solidFill>
              </a:rPr>
              <a:t>the German Bundesliga (BL) </a:t>
            </a:r>
            <a:r>
              <a:rPr sz="1200" b="0" dirty="0">
                <a:solidFill>
                  <a:srgbClr val="333333"/>
                </a:solidFill>
              </a:rPr>
              <a:t>— and which prior</a:t>
            </a:r>
            <a:r>
              <a:rPr lang="en-US" sz="1200" b="0" dirty="0">
                <a:solidFill>
                  <a:srgbClr val="333333"/>
                </a:solidFill>
              </a:rPr>
              <a:t> stats line </a:t>
            </a:r>
            <a:r>
              <a:rPr sz="1200" b="0" dirty="0">
                <a:solidFill>
                  <a:srgbClr val="333333"/>
                </a:solidFill>
              </a:rPr>
              <a:t>up with </a:t>
            </a:r>
            <a:r>
              <a:rPr lang="en-US" sz="1200" dirty="0">
                <a:solidFill>
                  <a:srgbClr val="333333"/>
                </a:solidFill>
              </a:rPr>
              <a:t>Year 1</a:t>
            </a:r>
            <a:r>
              <a:rPr sz="1200" b="0" dirty="0">
                <a:solidFill>
                  <a:srgbClr val="333333"/>
                </a:solidFill>
              </a:rPr>
              <a:t> </a:t>
            </a:r>
            <a:r>
              <a:rPr lang="en-US" sz="1200" b="0" dirty="0">
                <a:solidFill>
                  <a:srgbClr val="333333"/>
                </a:solidFill>
              </a:rPr>
              <a:t>(Y1) </a:t>
            </a:r>
            <a:r>
              <a:rPr sz="1200" b="0" dirty="0">
                <a:solidFill>
                  <a:srgbClr val="333333"/>
                </a:solidFill>
              </a:rPr>
              <a:t>minutes?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883664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Scrape two sources</a:t>
            </a:r>
          </a:p>
          <a:p>
            <a:r>
              <a:rPr lang="en-US" sz="1200" b="0" dirty="0">
                <a:solidFill>
                  <a:srgbClr val="333333"/>
                </a:solidFill>
              </a:rPr>
              <a:t>Football Reference (</a:t>
            </a:r>
            <a:r>
              <a:rPr sz="1200" b="0" dirty="0" err="1">
                <a:solidFill>
                  <a:srgbClr val="333333"/>
                </a:solidFill>
              </a:rPr>
              <a:t>F</a:t>
            </a:r>
            <a:r>
              <a:rPr lang="en-US" sz="1200" b="0" dirty="0" err="1">
                <a:solidFill>
                  <a:srgbClr val="333333"/>
                </a:solidFill>
              </a:rPr>
              <a:t>b</a:t>
            </a:r>
            <a:r>
              <a:rPr sz="1200" b="0" dirty="0" err="1">
                <a:solidFill>
                  <a:srgbClr val="333333"/>
                </a:solidFill>
              </a:rPr>
              <a:t>ref</a:t>
            </a:r>
            <a:r>
              <a:rPr lang="en-US" sz="1200" b="0" dirty="0">
                <a:solidFill>
                  <a:srgbClr val="333333"/>
                </a:solidFill>
              </a:rPr>
              <a:t>)</a:t>
            </a:r>
            <a:r>
              <a:rPr sz="1200" b="0" dirty="0">
                <a:solidFill>
                  <a:srgbClr val="333333"/>
                </a:solidFill>
              </a:rPr>
              <a:t>: 19 leagues, first BL ≥2021, ≥300′.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: 17 comps; BL 2015/16 + 2023/24; ≥45′/≥30′.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596896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Stability</a:t>
            </a:r>
          </a:p>
          <a:p>
            <a:r>
              <a:rPr sz="1200" b="0" dirty="0">
                <a:solidFill>
                  <a:srgbClr val="333333"/>
                </a:solidFill>
              </a:rPr>
              <a:t>Correlate prior → BL Y1 per-90</a:t>
            </a:r>
            <a:r>
              <a:rPr lang="en-US" sz="1200" b="0" dirty="0">
                <a:solidFill>
                  <a:srgbClr val="333333"/>
                </a:solidFill>
              </a:rPr>
              <a:t> minutes</a:t>
            </a:r>
            <a:r>
              <a:rPr sz="1200" b="0" dirty="0">
                <a:solidFill>
                  <a:srgbClr val="333333"/>
                </a:solidFill>
              </a:rPr>
              <a:t>. Keep metrics that travel.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346704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331012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Choose thresholds</a:t>
            </a:r>
          </a:p>
          <a:p>
            <a:r>
              <a:rPr sz="1200" b="0" dirty="0" err="1">
                <a:solidFill>
                  <a:srgbClr val="333333"/>
                </a:solidFill>
              </a:rPr>
              <a:t>FBref</a:t>
            </a:r>
            <a:r>
              <a:rPr sz="1200" b="0" dirty="0">
                <a:solidFill>
                  <a:srgbClr val="333333"/>
                </a:solidFill>
              </a:rPr>
              <a:t> category gates → 43/105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 </a:t>
            </a:r>
            <a:r>
              <a:rPr sz="1200" b="0" dirty="0" err="1">
                <a:solidFill>
                  <a:srgbClr val="333333"/>
                </a:solidFill>
              </a:rPr>
              <a:t>StatsBomb</a:t>
            </a:r>
            <a:r>
              <a:rPr sz="1200" b="0" dirty="0">
                <a:solidFill>
                  <a:srgbClr val="333333"/>
                </a:solidFill>
              </a:rPr>
              <a:t> r≥0.40 → 7/16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Redundancy + context</a:t>
            </a:r>
          </a:p>
          <a:p>
            <a:r>
              <a:rPr sz="1200" b="0" dirty="0">
                <a:solidFill>
                  <a:srgbClr val="333333"/>
                </a:solidFill>
              </a:rPr>
              <a:t>Drop </a:t>
            </a:r>
            <a:r>
              <a:rPr lang="en-US" sz="1200" b="0" dirty="0">
                <a:solidFill>
                  <a:srgbClr val="333333"/>
                </a:solidFill>
              </a:rPr>
              <a:t>near-duplicates</a:t>
            </a:r>
            <a:r>
              <a:rPr sz="1200" b="0" dirty="0">
                <a:solidFill>
                  <a:srgbClr val="333333"/>
                </a:solidFill>
              </a:rPr>
              <a:t>.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lang="en-US" sz="1200" b="0" dirty="0" err="1">
                <a:solidFill>
                  <a:srgbClr val="333333"/>
                </a:solidFill>
              </a:rPr>
              <a:t>Fbref</a:t>
            </a:r>
            <a:r>
              <a:rPr lang="en-US" sz="1200" b="0" dirty="0">
                <a:solidFill>
                  <a:srgbClr val="333333"/>
                </a:solidFill>
              </a:rPr>
              <a:t> </a:t>
            </a:r>
            <a:r>
              <a:rPr sz="1200" b="0" dirty="0">
                <a:solidFill>
                  <a:srgbClr val="333333"/>
                </a:solidFill>
              </a:rPr>
              <a:t>43→32 · SB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Explorer &amp; graphics</a:t>
            </a:r>
          </a:p>
          <a:p>
            <a:r>
              <a:rPr sz="1200" b="0" dirty="0">
                <a:solidFill>
                  <a:srgbClr val="333333"/>
                </a:solidFill>
              </a:rPr>
              <a:t>Radars / pizzas on shortlist</a:t>
            </a:r>
            <a:r>
              <a:rPr lang="en-US" sz="1200" b="0" dirty="0">
                <a:solidFill>
                  <a:srgbClr val="333333"/>
                </a:solidFill>
              </a:rPr>
              <a:t> metrics</a:t>
            </a:r>
            <a:r>
              <a:rPr sz="1200" b="0" dirty="0">
                <a:solidFill>
                  <a:srgbClr val="333333"/>
                </a:solidFill>
              </a:rPr>
              <a:t> (</a:t>
            </a:r>
            <a:r>
              <a:rPr sz="1200" b="0" dirty="0" err="1">
                <a:solidFill>
                  <a:srgbClr val="333333"/>
                </a:solidFill>
              </a:rPr>
              <a:t>interactive_player_explorer.html</a:t>
            </a:r>
            <a:r>
              <a:rPr sz="1200" b="0" dirty="0">
                <a:solidFill>
                  <a:srgbClr val="333333"/>
                </a:solidFill>
              </a:rPr>
              <a:t>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Significance tests</a:t>
            </a:r>
          </a:p>
          <a:p>
            <a:r>
              <a:rPr sz="1200" b="0" dirty="0">
                <a:solidFill>
                  <a:srgbClr val="333333"/>
                </a:solidFill>
              </a:rPr>
              <a:t>Spearman: prior trait</a:t>
            </a:r>
            <a:r>
              <a:rPr lang="en-US" sz="1200" b="0" dirty="0">
                <a:solidFill>
                  <a:srgbClr val="333333"/>
                </a:solidFill>
              </a:rPr>
              <a:t> percentile</a:t>
            </a:r>
            <a:r>
              <a:rPr sz="1200" b="0" dirty="0">
                <a:solidFill>
                  <a:srgbClr val="333333"/>
                </a:solidFill>
              </a:rPr>
              <a:t> vs Y1 minutes; feeder</a:t>
            </a:r>
            <a:r>
              <a:rPr lang="en-US" sz="1200" b="0" dirty="0">
                <a:solidFill>
                  <a:srgbClr val="333333"/>
                </a:solidFill>
              </a:rPr>
              <a:t> league</a:t>
            </a:r>
            <a:r>
              <a:rPr sz="1200" b="0" dirty="0">
                <a:solidFill>
                  <a:srgbClr val="333333"/>
                </a:solidFill>
              </a:rPr>
              <a:t> summaries; exploratory OLS.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502920" y="4753206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Compared to the project completed with Red Bull New York, </a:t>
            </a:r>
            <a:r>
              <a:rPr lang="en-US" sz="1300" i="1" dirty="0">
                <a:solidFill>
                  <a:srgbClr val="555555"/>
                </a:solidFill>
                <a:latin typeface="Calibri"/>
              </a:rPr>
              <a:t>the project 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defines the most portable traits for scouting leading to playing time in the Bundesliga year 1 post-transfer rather rather than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</a:t>
            </a:r>
            <a:r>
              <a:rPr sz="1300" b="0" i="1" dirty="0" err="1">
                <a:solidFill>
                  <a:srgbClr val="555555"/>
                </a:solidFill>
                <a:latin typeface="Calibri"/>
              </a:rPr>
              <a:t>Transfermarkt</a:t>
            </a:r>
            <a:r>
              <a:rPr sz="1300" b="0" i="1" dirty="0">
                <a:solidFill>
                  <a:srgbClr val="555555"/>
                </a:solidFill>
                <a:latin typeface="Calibri"/>
              </a:rPr>
              <a:t> value</a:t>
            </a:r>
            <a:r>
              <a:rPr lang="en-US" sz="1300" b="0" i="1" dirty="0">
                <a:solidFill>
                  <a:srgbClr val="555555"/>
                </a:solidFill>
                <a:latin typeface="Calibri"/>
              </a:rPr>
              <a:t>. Scouts and teams will be able to answer the questions: ‘Which traits do we scout in outside leagues to best predict playing time? Which leagues provide the most reliable statistics to best predict results in the BL?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3333"/>
                </a:solidFill>
                <a:latin typeface="Calibri"/>
              </a:rPr>
              <a:t>When a player moves into </a:t>
            </a:r>
            <a:r>
              <a:rPr lang="en-US" sz="1400" dirty="0">
                <a:solidFill>
                  <a:srgbClr val="333333"/>
                </a:solidFill>
                <a:latin typeface="Calibri"/>
              </a:rPr>
              <a:t>the top German league, the </a:t>
            </a:r>
            <a:r>
              <a:rPr sz="1400" b="0" dirty="0">
                <a:solidFill>
                  <a:srgbClr val="333333"/>
                </a:solidFill>
                <a:latin typeface="Calibri"/>
              </a:rPr>
              <a:t>BL, which stats stay consistent — and which are league context?</a:t>
            </a:r>
            <a:r>
              <a:rPr lang="en-US" sz="1400" b="0" dirty="0">
                <a:solidFill>
                  <a:srgbClr val="333333"/>
                </a:solidFill>
                <a:latin typeface="Calibri"/>
              </a:rPr>
              <a:t> </a:t>
            </a:r>
          </a:p>
          <a:p>
            <a:pPr>
              <a:spcAft>
                <a:spcPts val="500"/>
              </a:spcAft>
            </a:pPr>
            <a:r>
              <a:rPr lang="en-US" sz="1400" i="1" dirty="0">
                <a:solidFill>
                  <a:srgbClr val="333333"/>
                </a:solidFill>
                <a:latin typeface="Calibri"/>
              </a:rPr>
              <a:t>This applies only to player who entered the BL from a different league. AKA player transfers</a:t>
            </a:r>
            <a:endParaRPr sz="1400" b="0" i="1" dirty="0">
              <a:solidFill>
                <a:srgbClr val="333333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1C1C1C"/>
                </a:solidFill>
                <a:latin typeface="Georgia"/>
              </a:rPr>
              <a:t>Difference from NYRB Project: </a:t>
            </a:r>
            <a:r>
              <a:rPr sz="1400" b="1" dirty="0">
                <a:solidFill>
                  <a:srgbClr val="1C1C1C"/>
                </a:solidFill>
                <a:latin typeface="Georgia"/>
              </a:rPr>
              <a:t>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We do not optimize Transfermarkt price. We shortlist portable performance traits for scouting.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Stability → Redundancy → Pizza/explorer → Success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4864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388620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3995928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scale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d metrics, larger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19 leagues · BL ≥2021 · ≥300′</a:t>
            </a:r>
          </a:p>
          <a:p>
            <a:r>
              <a:rPr sz="1300" b="0" dirty="0">
                <a:solidFill>
                  <a:srgbClr val="333333"/>
                </a:solidFill>
              </a:rPr>
              <a:t>N=329 · 105→43→32</a:t>
            </a:r>
          </a:p>
          <a:p>
            <a:r>
              <a:rPr sz="1300" b="0" dirty="0" err="1">
                <a:solidFill>
                  <a:srgbClr val="333333"/>
                </a:solidFill>
              </a:rPr>
              <a:t>Att</a:t>
            </a:r>
            <a:r>
              <a:rPr sz="1300" b="0" dirty="0">
                <a:solidFill>
                  <a:srgbClr val="333333"/>
                </a:solidFill>
              </a:rPr>
              <a:t>/Pass/Other ≥0.60 · Def/Carry ≥0.50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886200"/>
            <a:ext cx="544068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3886200"/>
            <a:ext cx="73152" cy="233172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3995928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 = 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metric </a:t>
            </a:r>
            <a:r>
              <a:rPr sz="1300" b="0" dirty="0">
                <a:solidFill>
                  <a:srgbClr val="333333"/>
                </a:solidFill>
                <a:latin typeface="Calibri"/>
              </a:rPr>
              <a:t>depth</a:t>
            </a:r>
            <a:r>
              <a:rPr lang="en-US" sz="1300" b="0" dirty="0">
                <a:solidFill>
                  <a:srgbClr val="333333"/>
                </a:solidFill>
                <a:latin typeface="Calibri"/>
              </a:rPr>
              <a:t>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N=96 · ≥45′ /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keep all 7</a:t>
            </a:r>
          </a:p>
          <a:p>
            <a:r>
              <a:rPr sz="1300" b="0" dirty="0">
                <a:solidFill>
                  <a:srgbClr val="333333"/>
                </a:solidFill>
              </a:rPr>
              <a:t>Priors: 17 comps · BL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dirty="0">
                <a:solidFill>
                  <a:srgbClr val="1C1C1C"/>
                </a:solidFill>
                <a:latin typeface="Georgia"/>
              </a:rPr>
              <a:t>Scouting metric evaluation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960120"/>
            <a:ext cx="11247120" cy="86868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Applied sports analytics / metric selection (NYRB-style framework).</a:t>
            </a:r>
          </a:p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Pearson r = stability · Spearman </a:t>
            </a:r>
            <a:r>
              <a:rPr sz="1200" b="0" dirty="0" err="1">
                <a:solidFill>
                  <a:srgbClr val="333333"/>
                </a:solidFill>
              </a:rPr>
              <a:t>ρ</a:t>
            </a:r>
            <a:r>
              <a:rPr sz="1200" b="0" dirty="0">
                <a:solidFill>
                  <a:srgbClr val="333333"/>
                </a:solidFill>
              </a:rPr>
              <a:t> = success (rank-based; robust when Y1 minutes are skewed) · redundancy · percentiles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2450592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Trait portability — prior ↔ BL Y1 stability r</a:t>
            </a:r>
          </a:p>
          <a:p>
            <a:pPr>
              <a:spcAft>
                <a:spcPts val="400"/>
              </a:spcAft>
            </a:pPr>
            <a:r>
              <a:rPr lang="en-US" sz="1300" b="0" dirty="0">
                <a:solidFill>
                  <a:srgbClr val="333333"/>
                </a:solidFill>
              </a:rPr>
              <a:t>Removed </a:t>
            </a:r>
            <a:r>
              <a:rPr lang="en-US" sz="1300" dirty="0">
                <a:solidFill>
                  <a:srgbClr val="333333"/>
                </a:solidFill>
              </a:rPr>
              <a:t>n</a:t>
            </a:r>
            <a:r>
              <a:rPr sz="1300" b="0" dirty="0">
                <a:solidFill>
                  <a:srgbClr val="333333"/>
                </a:solidFill>
              </a:rPr>
              <a:t>ear-duplicates —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 |r|≥0.95 · </a:t>
            </a:r>
            <a:r>
              <a:rPr lang="en-US" sz="1300" b="0" dirty="0" err="1">
                <a:solidFill>
                  <a:srgbClr val="333333"/>
                </a:solidFill>
              </a:rPr>
              <a:t>Statsbomb</a:t>
            </a:r>
            <a:r>
              <a:rPr lang="en-US" sz="1300" b="0" dirty="0">
                <a:solidFill>
                  <a:srgbClr val="333333"/>
                </a:solidFill>
              </a:rPr>
              <a:t> (SB)</a:t>
            </a:r>
            <a:r>
              <a:rPr sz="1300" b="0" dirty="0">
                <a:solidFill>
                  <a:srgbClr val="333333"/>
                </a:solidFill>
              </a:rPr>
              <a:t> |r|≥0.85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Y1 profile strength — stable-trait score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011680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121408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2450592"/>
            <a:ext cx="3291840" cy="1395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Stability ≠ “</a:t>
            </a:r>
            <a:r>
              <a:rPr lang="en-US" sz="1300" dirty="0">
                <a:solidFill>
                  <a:srgbClr val="333333"/>
                </a:solidFill>
              </a:rPr>
              <a:t>player is primed for success</a:t>
            </a:r>
            <a:r>
              <a:rPr sz="1300" b="0" dirty="0">
                <a:solidFill>
                  <a:srgbClr val="333333"/>
                </a:solidFill>
              </a:rPr>
              <a:t>” — it means the ranking tends to travel.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333333"/>
                </a:solidFill>
              </a:rPr>
              <a:t>OLS</a:t>
            </a:r>
            <a:r>
              <a:rPr lang="en-US" sz="1300" dirty="0">
                <a:solidFill>
                  <a:srgbClr val="333333"/>
                </a:solidFill>
              </a:rPr>
              <a:t> </a:t>
            </a:r>
            <a:r>
              <a:rPr sz="1300" b="0" dirty="0">
                <a:solidFill>
                  <a:srgbClr val="333333"/>
                </a:solidFill>
              </a:rPr>
              <a:t>is exploratory (Big-5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011680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011680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121408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2450592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Cohort design + joins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Correlation / feature screening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Redundancy pruning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Peer percentiles + explorer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Human Step-2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FBREF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555555"/>
                </a:solidFill>
                <a:latin typeface="Calibri"/>
              </a:rPr>
              <a:t>Scale layer — inbound</a:t>
            </a:r>
            <a:r>
              <a:rPr lang="en-US" sz="1400" b="0" dirty="0">
                <a:solidFill>
                  <a:srgbClr val="555555"/>
                </a:solidFill>
                <a:latin typeface="Calibri"/>
              </a:rPr>
              <a:t> leagues</a:t>
            </a:r>
            <a:r>
              <a:rPr sz="1400" b="0" dirty="0">
                <a:solidFill>
                  <a:srgbClr val="555555"/>
                </a:solidFill>
                <a:latin typeface="Calibri"/>
              </a:rPr>
              <a:t>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2357056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lang="en-US" sz="1300" b="0" dirty="0">
                <a:solidFill>
                  <a:srgbClr val="333333"/>
                </a:solidFill>
              </a:rPr>
              <a:t>Outside league </a:t>
            </a:r>
            <a:r>
              <a:rPr sz="1300" b="0" dirty="0">
                <a:solidFill>
                  <a:srgbClr val="333333"/>
                </a:solidFill>
              </a:rPr>
              <a:t>tables + player-page fills</a:t>
            </a:r>
          </a:p>
          <a:p>
            <a:r>
              <a:rPr sz="1300" b="0" dirty="0">
                <a:solidFill>
                  <a:srgbClr val="333333"/>
                </a:solidFill>
              </a:rPr>
              <a:t>Analysis window: first BL end-years 2021–2025</a:t>
            </a:r>
          </a:p>
          <a:p>
            <a:r>
              <a:rPr sz="1300" b="0" dirty="0">
                <a:solidFill>
                  <a:srgbClr val="333333"/>
                </a:solidFill>
              </a:rPr>
              <a:t>Minutes: prior ≥300′ · Y1 ≥300′ → N=329 pairs · 19 leagues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league-relative scaling — it did not help rate→Y1 stability.</a:t>
            </a:r>
          </a:p>
          <a:p>
            <a:r>
              <a:rPr sz="1300" b="0" dirty="0">
                <a:solidFill>
                  <a:srgbClr val="333333"/>
                </a:solidFill>
              </a:rPr>
              <a:t>Absolute per-90 rates kept.</a:t>
            </a:r>
            <a:endParaRPr lang="en-US" sz="1300" b="0" dirty="0">
              <a:solidFill>
                <a:srgbClr val="333333"/>
              </a:solidFill>
            </a:endParaRPr>
          </a:p>
          <a:p>
            <a:endParaRPr lang="en-US" sz="1300" dirty="0">
              <a:solidFill>
                <a:srgbClr val="333333"/>
              </a:solidFill>
            </a:endParaRPr>
          </a:p>
          <a:p>
            <a:r>
              <a:rPr lang="en-US" sz="1300" dirty="0">
                <a:solidFill>
                  <a:srgbClr val="333333"/>
                </a:solidFill>
              </a:rPr>
              <a:t>Window · 2021–2025 · ≥300′ both sides · N=329</a:t>
            </a:r>
          </a:p>
          <a:p>
            <a:endParaRPr sz="13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>
                <a:solidFill>
                  <a:srgbClr val="3D5A80"/>
                </a:solidFill>
                <a:latin typeface="Calibri"/>
              </a:rPr>
              <a:t>DATA  ·  STATSBOMB OPEN DATA (DEEP DIVE)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What we use</a:t>
            </a:r>
          </a:p>
          <a:p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All male open comps as priors</a:t>
            </a:r>
          </a:p>
          <a:p>
            <a:r>
              <a:rPr sz="1300" b="0" dirty="0">
                <a:solidFill>
                  <a:srgbClr val="333333"/>
                </a:solidFill>
              </a:rPr>
              <a:t>BL open dumps: 2015/16 + 2023/24 only</a:t>
            </a:r>
          </a:p>
          <a:p>
            <a:r>
              <a:rPr sz="1300" b="0" dirty="0">
                <a:solidFill>
                  <a:srgbClr val="333333"/>
                </a:solidFill>
              </a:rPr>
              <a:t>N=96 · prior ≥45′ · Y1 ≥30′</a:t>
            </a:r>
          </a:p>
          <a:p>
            <a:r>
              <a:rPr sz="1300" b="0" dirty="0">
                <a:solidFill>
                  <a:srgbClr val="333333"/>
                </a:solidFill>
              </a:rPr>
              <a:t>r≥0.40 → 7 · |r|≥0.85 → keep all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vs </a:t>
            </a:r>
            <a:r>
              <a:rPr sz="1300" b="0" dirty="0" err="1">
                <a:solidFill>
                  <a:srgbClr val="333333"/>
                </a:solidFill>
                <a:latin typeface="Calibri"/>
              </a:rPr>
              <a:t>FBref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300" b="0" dirty="0">
                <a:solidFill>
                  <a:srgbClr val="333333"/>
                </a:solidFill>
              </a:rPr>
              <a:t>Event check on trait families — not league ranking.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No relative scaling: failed on </a:t>
            </a:r>
            <a:r>
              <a:rPr sz="1300" b="0" dirty="0" err="1">
                <a:solidFill>
                  <a:srgbClr val="333333"/>
                </a:solidFill>
              </a:rPr>
              <a:t>FBref</a:t>
            </a:r>
            <a:r>
              <a:rPr sz="1300" b="0" dirty="0">
                <a:solidFill>
                  <a:srgbClr val="333333"/>
                </a:solidFill>
              </a:rPr>
              <a:t>; SB priors are mixed</a:t>
            </a:r>
          </a:p>
          <a:p>
            <a:r>
              <a:rPr sz="1300" b="0" dirty="0">
                <a:solidFill>
                  <a:srgbClr val="333333"/>
                </a:solidFill>
              </a:rPr>
              <a:t>(WC / Euro / CL / leagues), so even less appropriate.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411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(FBREF)</a:t>
            </a:r>
            <a:r>
              <a:rPr lang="en-US" sz="1300" b="1" dirty="0">
                <a:solidFill>
                  <a:srgbClr val="3D5A80"/>
                </a:solidFill>
                <a:latin typeface="Calibri"/>
              </a:rPr>
              <a:t>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2569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Prior league → first Bundesliga Y1 (end-year ≥2021)</a:t>
            </a:r>
            <a:endParaRPr lang="en-US" sz="1200" b="0" dirty="0">
              <a:solidFill>
                <a:srgbClr val="333333"/>
              </a:solidFill>
            </a:endParaRPr>
          </a:p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Paired N=329 · 19 leagues · minutes ≥300′ both sides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Category gates (not one global cut):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Attacking / Passing / Other  ·  r ≥ 0.60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Defending / Carrying  ·  r ≥ 0.50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200" b="0" dirty="0">
              <a:solidFill>
                <a:srgbClr val="333333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43 metrics pass gates → redundancy next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b="0" dirty="0">
                <a:solidFill>
                  <a:srgbClr val="333333"/>
                </a:solidFill>
              </a:rPr>
              <a:t>No league-relative scaling — absolute per-90 rates travel better.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27445"/>
              </p:ext>
            </p:extLst>
          </p:nvPr>
        </p:nvGraphicFramePr>
        <p:xfrm>
          <a:off x="3447759" y="658148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Pen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PrgC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 3rd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npxG+xAG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xG+xAG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SoT/90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Long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Cmp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 Medium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TotDist Total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PrgR Progression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G+A 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FK Standard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Y1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(r≥0.40)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PPC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DIS  Dispossessed (inverted)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PRS  Pressures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CLR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DRB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PATT  Passes into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  Shots  r=0.40</a:t>
            </a:r>
          </a:p>
          <a:p>
            <a:r>
              <a:rPr sz="1100" b="0" dirty="0">
                <a:solidFill>
                  <a:srgbClr val="333333"/>
                </a:solidFill>
              </a:rPr>
              <a:t>·  CFGP  Progressive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CRY  Carries  r=0.38</a:t>
            </a:r>
          </a:p>
          <a:p>
            <a:r>
              <a:rPr sz="1100" b="0" dirty="0">
                <a:solidFill>
                  <a:srgbClr val="333333"/>
                </a:solidFill>
              </a:rPr>
              <a:t>·  TAC  Tackles  r=0.34</a:t>
            </a:r>
          </a:p>
          <a:p>
            <a:r>
              <a:rPr sz="1100" b="0" dirty="0">
                <a:solidFill>
                  <a:srgbClr val="333333"/>
                </a:solidFill>
              </a:rPr>
              <a:t>·  XG  Non-pen </a:t>
            </a:r>
            <a:r>
              <a:rPr sz="1100" b="0" dirty="0" err="1">
                <a:solidFill>
                  <a:srgbClr val="333333"/>
                </a:solidFill>
              </a:rPr>
              <a:t>xG</a:t>
            </a:r>
            <a:r>
              <a:rPr sz="1100" b="0" dirty="0">
                <a:solidFill>
                  <a:srgbClr val="333333"/>
                </a:solidFill>
              </a:rPr>
              <a:t>  r=0.30</a:t>
            </a:r>
          </a:p>
          <a:p>
            <a:r>
              <a:rPr sz="1100" b="0" dirty="0">
                <a:solidFill>
                  <a:srgbClr val="333333"/>
                </a:solidFill>
              </a:rPr>
              <a:t>·  FLW 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  Interceptions  r=0.20</a:t>
            </a:r>
          </a:p>
          <a:p>
            <a:r>
              <a:rPr sz="1100" b="0" dirty="0">
                <a:solidFill>
                  <a:srgbClr val="333333"/>
                </a:solidFill>
              </a:rPr>
              <a:t>·  XA  Expected assists  r=0.13</a:t>
            </a:r>
          </a:p>
          <a:p>
            <a:r>
              <a:rPr sz="1100" b="0" dirty="0">
                <a:solidFill>
                  <a:srgbClr val="333333"/>
                </a:solidFill>
              </a:rPr>
              <a:t>·  AER 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1602011"/>
              </p:ext>
            </p:extLst>
          </p:nvPr>
        </p:nvGraphicFramePr>
        <p:xfrm>
          <a:off x="386862" y="1234440"/>
          <a:ext cx="916861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4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Abbrev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Dispossessed (inv)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Non-pen 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Next: redundancy at |r|≥0.85 — only near-dupes cut; passes kept with progressive passes.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333333"/>
                </a:solidFill>
              </a:rPr>
              <a:t/>
            </a:r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1" dirty="0">
                <a:solidFill>
                  <a:srgbClr val="1C1C1C"/>
                </a:solidFill>
                <a:latin typeface="Georgia"/>
              </a:rPr>
              <a:t>Collinearity-Style Metric Pruning </a:t>
            </a:r>
            <a:endParaRPr sz="22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dirty="0" err="1">
                <a:solidFill>
                  <a:srgbClr val="3D5A80"/>
                </a:solidFill>
                <a:latin typeface="Calibri"/>
              </a:rPr>
              <a:t>StatsBomb</a:t>
            </a:r>
            <a:r>
              <a:rPr sz="1600" b="1" dirty="0">
                <a:solidFill>
                  <a:srgbClr val="3D5A80"/>
                </a:solidFill>
                <a:latin typeface="Calibri"/>
              </a:rPr>
              <a:t> shortlist (7)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555555"/>
                </a:solidFill>
                <a:latin typeface="Calibri"/>
              </a:rPr>
              <a:t>Stability r≥0.40 · redundancy |r|≥0.85 (passes kept)</a:t>
            </a:r>
          </a:p>
          <a:p>
            <a:pPr>
              <a:spcAft>
                <a:spcPts val="300"/>
              </a:spcAft>
            </a:pPr>
            <a:endParaRPr sz="1200" b="0" dirty="0">
              <a:solidFill>
                <a:srgbClr val="555555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PPC  Progressive passes  r=0.74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DIS  Dispossessed (inv)  r=0.59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PRS  Pressures  r=0.51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PAS  Pass volume  r=0.49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CLR  Clearances  r=0.47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DRB  Dribbles completed  r=0.46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  <a:latin typeface="Calibri"/>
              </a:rPr>
              <a:t>PATT  Passes into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SB: |r|≥0.85 — no cuts; passes kept with progressive passes.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21083" y="1413801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FBref: 43 gated → 32 kept</a:t>
            </a:r>
          </a:p>
          <a:p>
            <a:r>
              <a:rPr sz="1200" b="0">
                <a:solidFill>
                  <a:srgbClr val="333333"/>
                </a:solidFill>
              </a:rPr>
              <a:t>105 tested · category gates → 43 · |r|≥0.95 → 32</a:t>
            </a:r>
          </a:p>
          <a:p>
            <a:r>
              <a:rPr sz="1200" b="0">
                <a:solidFill>
                  <a:srgbClr val="333333"/>
                </a:solidFill>
              </a:rPr>
              <a:t>Pick order: stability → N → rate/contextual</a:t>
            </a:r>
          </a:p>
          <a:p>
            <a:r>
              <a:rPr sz="1200" b="0">
                <a:solidFill>
                  <a:srgbClr val="333333"/>
                </a:solidFill>
              </a:rPr>
              <a:t>Force-kept: SoT/90 · Gls/90 · Tkld Take · Att Total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Top: DEFPE (0.91) · PRGC (0.81) · XG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1083" y="2305341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1083" y="2811429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1083" y="3049173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XG (0.80)  ·  GLS (0.66)  ·  ATTSH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1083" y="348808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1083" y="3725829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PRGC (0.81)  ·  PRGDI (0.79)  ·  KP (0.65)  ·  FINAL (0.62)  ·  CMPPE (0.64)  ·  CRSPA (0.59)  ·  CRS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1083" y="4164741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1083" y="4402485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PRGRR (0.60)  ·  ATT3R (0.54)  ·  SUCC (0.65)  ·  MIS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1083" y="4841397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1083" y="5079141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</a:rPr>
              <a:t>DEFPE (0.91)  ·  CLR (0.67)  ·  TKLD (0.59)  ·  WON (0.42)  ·  SH (0.79)  ·  INT (0.57)  ·  LOST (0.42)  ·  WONPE (0.50)  ·  DEF3R (0.79)  ·  TKLPE (0.31)  ·  RECOV (0.40)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OUTPUT · SCOUT PIZZA CHART (Based on charts used by RBNY)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Built from shortlisted traits. Explorer HTML combines FBref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Georgia"/>
              </a:rPr>
              <a:t>How to read</a:t>
            </a:r>
          </a:p>
          <a:p>
            <a:r>
              <a:rPr sz="1300" b="0">
                <a:solidFill>
                  <a:srgbClr val="333333"/>
                </a:solidFill>
              </a:rPr>
              <a:t>Blue = BL Y1 · red dotted = prior · dashed = avg (50) · grey = top (90).</a:t>
            </a:r>
          </a:p>
          <a:p>
            <a:r>
              <a:rPr sz="1300" b="0">
                <a:solidFill>
                  <a:srgbClr val="333333"/>
                </a:solidFill>
              </a:rPr>
              <a:t>Percentiles 0–100 vs position peers.</a:t>
            </a:r>
          </a:p>
          <a:p>
            <a:endParaRPr sz="1300" b="0">
              <a:solidFill>
                <a:srgbClr val="333333"/>
              </a:solidFill>
            </a:endParaRPr>
          </a:p>
          <a:p>
            <a:r>
              <a:rPr sz="1300" b="0">
                <a:solidFill>
                  <a:srgbClr val="333333"/>
                </a:solidFill>
              </a:rPr>
              <a:t>Explorer: StatsBomb N=96 · 7 traits · FBref N=329 · 32 traits.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C1C1C"/>
                </a:solidFill>
                <a:latin typeface="Georgia"/>
              </a:rPr>
              <a:t>What “stable-trait score”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515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C1C1C"/>
                </a:solidFill>
                <a:latin typeface="Calibri"/>
              </a:rPr>
              <a:t>One number that answers: in Bundesliga Year-1, how strong is this player on the portable (shortlisted) traits — vs peers at their position?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(SB 7 · FBref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Y1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Stable-trait score = mean of those Y1 percentiles across the shortlist.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Example: if a CB is 70th / 60th / 80th on three traits → score ≈ 70.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Higher = better Year-1 profile on traits that travel.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Switch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StatsBomb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(N=96 · 7 traits) ↔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FBref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(N=329 · 32 traits).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C1C"/>
                </a:solidFill>
                <a:latin typeface="Calibri"/>
              </a:rPr>
              <a:t>Same explorer combines both sources — pick FBref or StatsBomb in the data-source dropdown.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BL Year-1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11338560" cy="1170432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  <a:latin typeface="Calibri"/>
              </a:rPr>
              <a:t>Phase 2: after shortlisting, test what lines up with BL success.
Outcomes: Y1 minutes · Y1 min </a:t>
            </a:r>
            <a:r>
              <a:rPr lang="en-US" sz="1200" dirty="0">
                <a:solidFill>
                  <a:srgbClr val="333333"/>
                </a:solidFill>
                <a:latin typeface="Calibri"/>
              </a:rPr>
              <a:t>percentile</a:t>
            </a:r>
            <a:r>
              <a:rPr sz="1200" b="0" dirty="0">
                <a:solidFill>
                  <a:srgbClr val="333333"/>
                </a:solidFill>
                <a:latin typeface="Calibri"/>
              </a:rPr>
              <a:t> · stable-trait score.
Spearman ρ ranks players so we test “higher prior trait → more minutes” without a linear minutes scale; then feeder means + exploratory 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585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60" y="2587752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148840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20" y="2148840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258568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 err="1">
                <a:solidFill>
                  <a:srgbClr val="333333"/>
                </a:solidFill>
                <a:latin typeface="Georgia" panose="02040502050405020303" pitchFamily="18" charset="0"/>
              </a:rPr>
              <a:t>FBref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300" b="0" dirty="0">
                <a:solidFill>
                  <a:srgbClr val="333333"/>
                </a:solidFill>
              </a:rPr>
              <a:t>N=329 · 19 leagues</a:t>
            </a:r>
          </a:p>
          <a:p>
            <a:r>
              <a:rPr sz="1300" b="0" dirty="0">
                <a:solidFill>
                  <a:srgbClr val="333333"/>
                </a:solidFill>
              </a:rPr>
              <a:t>Success = Y1 BL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2148840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60" y="2148840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40" y="2258568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</a:t>
            </a:r>
            <a:r>
              <a:rPr lang="en-US" sz="1400" b="1" dirty="0" err="1">
                <a:solidFill>
                  <a:srgbClr val="1C1C1C"/>
                </a:solidFill>
                <a:latin typeface="Georgia"/>
              </a:rPr>
              <a:t>Signalling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40" y="2587752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Supports scouting weights</a:t>
            </a:r>
          </a:p>
          <a:p>
            <a:pPr>
              <a:spcAft>
                <a:spcPts val="400"/>
              </a:spcAft>
            </a:pPr>
            <a:r>
              <a:rPr sz="1200" dirty="0">
                <a:solidFill>
                  <a:srgbClr val="555555"/>
                </a:solidFill>
                <a:latin typeface="Calibri"/>
              </a:rPr>
              <a:t>Does not predict every transfer</a:t>
            </a:r>
          </a:p>
          <a:p>
            <a:pPr>
              <a:spcAft>
                <a:spcPts val="400"/>
              </a:spcAft>
            </a:pPr>
            <a:r>
              <a:rPr lang="en-US" sz="1200" dirty="0"/>
              <a:t>Full interactive tables: </a:t>
            </a:r>
            <a:r>
              <a:rPr lang="en-US" sz="1200" dirty="0" err="1"/>
              <a:t>interactive_player_explorer.html</a:t>
            </a:r>
            <a:r>
              <a:rPr lang="en-US" sz="1200" dirty="0"/>
              <a:t> · </a:t>
            </a:r>
            <a:r>
              <a:rPr lang="en-US" sz="1200" dirty="0" err="1"/>
              <a:t>README.md</a:t>
            </a:r>
            <a:endParaRPr sz="1200" dirty="0">
              <a:solidFill>
                <a:srgbClr val="555555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4434840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= arriving with a higher prior percentile on that trait tends to coincide with more BL Y1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Primary success marker: Bundesliga minutes played in the player’s first BL season (Y1 minutes)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Interpretation: playing-time success — did the club trust and use the inbound player?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Also reported: Y1 minutes percentile (rank in cohort) and stable-trait score (profile fit)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Trait &amp; league tests ask: which prior signals line up with more Y1 minutes?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C1C1C"/>
                </a:solidFill>
                <a:latin typeface="Arial"/>
              </a:rPr>
              <a:t>Regression Δ Y1 min = estimated extra first-season minutes vs a reference league, holding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 dirty="0">
                <a:solidFill>
                  <a:srgbClr val="3D5A80"/>
                </a:solidFill>
                <a:latin typeface="Georgia"/>
              </a:rPr>
              <a:t>Why minutes?</a:t>
            </a:r>
          </a:p>
          <a:p>
            <a:endParaRPr sz="1600" b="1" dirty="0">
              <a:solidFill>
                <a:srgbClr val="3D5A80"/>
              </a:solidFill>
              <a:latin typeface="Georgia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Observable in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FBref</a:t>
            </a:r>
            <a:r>
              <a:rPr sz="1300" dirty="0">
                <a:solidFill>
                  <a:srgbClr val="1C1C1C"/>
                </a:solidFill>
                <a:latin typeface="Arial"/>
              </a:rPr>
              <a:t> /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StatsBomb</a:t>
            </a:r>
            <a:r>
              <a:rPr sz="1300" dirty="0">
                <a:solidFill>
                  <a:srgbClr val="1C1C1C"/>
                </a:solidFill>
                <a:latin typeface="Arial"/>
              </a:rPr>
              <a:t> cohorts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Directly measures opportunity &amp; role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sz="1300" dirty="0">
                <a:solidFill>
                  <a:srgbClr val="1C1C1C"/>
                </a:solidFill>
                <a:latin typeface="Arial"/>
              </a:rPr>
              <a:t>Not the same as goals, </a:t>
            </a:r>
            <a:r>
              <a:rPr sz="1300" dirty="0" err="1">
                <a:solidFill>
                  <a:srgbClr val="1C1C1C"/>
                </a:solidFill>
                <a:latin typeface="Arial"/>
              </a:rPr>
              <a:t>xG</a:t>
            </a:r>
            <a:r>
              <a:rPr sz="1300" dirty="0">
                <a:solidFill>
                  <a:srgbClr val="1C1C1C"/>
                </a:solidFill>
                <a:latin typeface="Arial"/>
              </a:rPr>
              <a:t>, or team points</a:t>
            </a:r>
          </a:p>
          <a:p>
            <a:endParaRPr sz="1300" dirty="0">
              <a:solidFill>
                <a:srgbClr val="1C1C1C"/>
              </a:solidFill>
              <a:latin typeface="Arial"/>
            </a:endParaRPr>
          </a:p>
          <a:p>
            <a:r>
              <a:rPr lang="en-US" sz="1300" dirty="0">
                <a:solidFill>
                  <a:srgbClr val="1C1C1C"/>
                </a:solidFill>
                <a:latin typeface="Arial"/>
              </a:rPr>
              <a:t>S</a:t>
            </a:r>
            <a:r>
              <a:rPr sz="1300" dirty="0">
                <a:solidFill>
                  <a:srgbClr val="1C1C1C"/>
                </a:solidFill>
                <a:latin typeface="Arial"/>
              </a:rPr>
              <a:t>cope: associative scouting weights, not a forecast model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TRAITS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(N=96)</a:t>
            </a:r>
          </a:p>
          <a:p>
            <a:r>
              <a:rPr sz="1200" b="0">
                <a:solidFill>
                  <a:srgbClr val="333333"/>
                </a:solidFill>
              </a:rPr>
              <a:t>prior percentile → Y1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PRS  ρ=-0.28  p=0.006</a:t>
            </a:r>
          </a:p>
          <a:p>
            <a:r>
              <a:rPr sz="1200" b="0">
                <a:solidFill>
                  <a:srgbClr val="333333"/>
                </a:solidFill>
              </a:rPr>
              <a:t>DRB  ρ=-0.17  p=0.090</a:t>
            </a:r>
          </a:p>
          <a:p>
            <a:r>
              <a:rPr sz="1200" b="0">
                <a:solidFill>
                  <a:srgbClr val="333333"/>
                </a:solidFill>
              </a:rPr>
              <a:t>PPC  ρ=+0.16  p=0.112</a:t>
            </a:r>
          </a:p>
          <a:p>
            <a:r>
              <a:rPr sz="1200" b="0">
                <a:solidFill>
                  <a:srgbClr val="333333"/>
                </a:solidFill>
              </a:rPr>
              <a:t>DIS  ρ=+0.14  p=0.185</a:t>
            </a:r>
          </a:p>
          <a:p>
            <a:r>
              <a:rPr sz="1200" b="0">
                <a:solidFill>
                  <a:srgbClr val="333333"/>
                </a:solidFill>
              </a:rPr>
              <a:t>PATT  ρ=-0.11  p=0.280</a:t>
            </a:r>
          </a:p>
          <a:p>
            <a:r>
              <a:rPr sz="1200" b="0">
                <a:solidFill>
                  <a:srgbClr val="333333"/>
                </a:solidFill>
              </a:rPr>
              <a:t>CLR  ρ=-0.07  p=0.473</a:t>
            </a:r>
          </a:p>
          <a:p>
            <a:r>
              <a:rPr sz="1200" b="0">
                <a:solidFill>
                  <a:srgbClr val="333333"/>
                </a:solidFill>
              </a:rPr>
              <a:t>PAS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77490"/>
              </p:ext>
            </p:extLst>
          </p:nvPr>
        </p:nvGraphicFramePr>
        <p:xfrm>
          <a:off x="411479" y="1097279"/>
          <a:ext cx="4652888" cy="2954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 — Pressures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 — 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 — 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DIS — Dispossessed (inv)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 — Passes into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 — 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FBref (N=329)</a:t>
            </a:r>
          </a:p>
          <a:p>
            <a:r>
              <a:rPr sz="1200" b="0">
                <a:solidFill>
                  <a:srgbClr val="333333"/>
                </a:solidFill>
              </a:rPr>
              <a:t>prior %ile → Y1 minutes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FINAL  ρ=+0.30  p=0.005 *</a:t>
            </a:r>
          </a:p>
          <a:p>
            <a:r>
              <a:rPr sz="1200" b="0">
                <a:solidFill>
                  <a:srgbClr val="333333"/>
                </a:solidFill>
              </a:rPr>
              <a:t>SH  ρ=+0.27  p=0.011 *</a:t>
            </a:r>
          </a:p>
          <a:p>
            <a:r>
              <a:rPr sz="1200" b="0">
                <a:solidFill>
                  <a:srgbClr val="333333"/>
                </a:solidFill>
              </a:rPr>
              <a:t>PRGDI  ρ=+0.24  p=0.025 *</a:t>
            </a:r>
          </a:p>
          <a:p>
            <a:r>
              <a:rPr sz="1200" b="0">
                <a:solidFill>
                  <a:srgbClr val="333333"/>
                </a:solidFill>
              </a:rPr>
              <a:t>TKLD  ρ=+0.23  p=0.030 *</a:t>
            </a:r>
          </a:p>
          <a:p>
            <a:r>
              <a:rPr sz="1200" b="0">
                <a:solidFill>
                  <a:srgbClr val="333333"/>
                </a:solidFill>
              </a:rPr>
              <a:t>ATTLO  ρ=+0.22  p=0.036 *</a:t>
            </a:r>
          </a:p>
          <a:p>
            <a:r>
              <a:rPr sz="1200" b="0">
                <a:solidFill>
                  <a:srgbClr val="333333"/>
                </a:solidFill>
              </a:rPr>
              <a:t>DEF3R  ρ=+0.22  p=0.039 *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 p&lt;0.05  ·  Final Third, shot blocks, progressive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249453"/>
              </p:ext>
            </p:extLst>
          </p:nvPr>
        </p:nvGraphicFramePr>
        <p:xfrm>
          <a:off x="6126479" y="1097279"/>
          <a:ext cx="4349439" cy="3798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FINAL —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 — 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PRGDI — PrgDist Total*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TKLD — Tkld Take*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ATTLO — Att Long*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DEF3R — Def 3rd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MIS — Mis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CLR — Cl</a:t>
                      </a:r>
                      <a:r>
                        <a:rPr lang="en-US" dirty="0"/>
                        <a:t>earances</a:t>
                      </a:r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FEEDER LEAGUES → BL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Year-1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292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4551680"/>
              </p:ext>
            </p:extLst>
          </p:nvPr>
        </p:nvGraphicFramePr>
        <p:xfrm>
          <a:off x="411480" y="3246120"/>
          <a:ext cx="48463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Y1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5029200"/>
            <a:ext cx="1115568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</a:rPr>
              <a:t>FBref N=329 (n≥8 shown). StatsBomb N=96 — intl priors are directional only.</a:t>
            </a:r>
          </a:p>
          <a:p>
            <a:r>
              <a:rPr sz="1200" b="0">
                <a:solidFill>
                  <a:srgbClr val="555555"/>
                </a:solidFill>
              </a:rPr>
              <a:t>Tables also in the explorer Success tab · README.md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dirty="0">
                <a:solidFill>
                  <a:srgbClr val="333333"/>
                </a:solidFill>
                <a:latin typeface="Georgia"/>
              </a:rPr>
              <a:t>Descriptive “best feeder</a:t>
            </a:r>
            <a:r>
              <a:rPr lang="en-US" b="0" dirty="0">
                <a:solidFill>
                  <a:srgbClr val="333333"/>
                </a:solidFill>
                <a:latin typeface="Georgia"/>
              </a:rPr>
              <a:t> league</a:t>
            </a:r>
            <a:r>
              <a:rPr b="0" dirty="0">
                <a:solidFill>
                  <a:srgbClr val="333333"/>
                </a:solidFill>
                <a:latin typeface="Georgia"/>
              </a:rPr>
              <a:t>” is not enough — OLS vs Serie A baseline.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r>
              <a:rPr lang="en-US" b="1" dirty="0"/>
              <a:t>Model 1</a:t>
            </a:r>
            <a:r>
              <a:rPr lang="en-US" dirty="0"/>
              <a:t> — league only (with basic controls)</a:t>
            </a:r>
            <a:br>
              <a:rPr lang="en-US" dirty="0"/>
            </a:br>
            <a:r>
              <a:rPr lang="en-US" dirty="0"/>
              <a:t>Predict Y1 minutes from:</a:t>
            </a:r>
          </a:p>
          <a:p>
            <a:r>
              <a:rPr lang="en-US" dirty="0"/>
              <a:t>prior league (PL / La Liga / Ligue 1 vs Serie A)</a:t>
            </a:r>
          </a:p>
          <a:p>
            <a:r>
              <a:rPr lang="en-US" dirty="0"/>
              <a:t>How many minutes they played before.</a:t>
            </a:r>
          </a:p>
          <a:p>
            <a:r>
              <a:rPr lang="en-US" i="1" dirty="0"/>
              <a:t>Question:</a:t>
            </a:r>
            <a:r>
              <a:rPr lang="en-US" dirty="0"/>
              <a:t> After that, does league still matter?</a:t>
            </a:r>
          </a:p>
          <a:p>
            <a:r>
              <a:rPr lang="en-US" b="1" dirty="0"/>
              <a:t>Model 2</a:t>
            </a:r>
            <a:r>
              <a:rPr lang="en-US" dirty="0"/>
              <a:t> — league + traits</a:t>
            </a:r>
            <a:br>
              <a:rPr lang="en-US" dirty="0"/>
            </a:br>
            <a:r>
              <a:rPr lang="en-US" dirty="0"/>
              <a:t>Same as M1, plus prior trait percentiles (Final Third, box touches, etc.).</a:t>
            </a:r>
          </a:p>
          <a:p>
            <a:r>
              <a:rPr lang="en-US" i="1" dirty="0"/>
              <a:t>Question:</a:t>
            </a:r>
            <a:r>
              <a:rPr lang="en-US" dirty="0"/>
              <a:t> Once you know their prior profile, do league gaps shrink? </a:t>
            </a:r>
          </a:p>
          <a:p>
            <a:r>
              <a:rPr lang="en-US" b="1" dirty="0"/>
              <a:t>Model 3</a:t>
            </a:r>
            <a:r>
              <a:rPr lang="en-US" dirty="0"/>
              <a:t> — reality check</a:t>
            </a:r>
            <a:br>
              <a:rPr lang="en-US" dirty="0"/>
            </a:br>
            <a:r>
              <a:rPr lang="en-US" dirty="0"/>
              <a:t>Fit on 80% of players, see if predictions match the other 20%.</a:t>
            </a:r>
          </a:p>
          <a:p>
            <a:r>
              <a:rPr lang="en-US" i="1" dirty="0"/>
              <a:t>Question:</a:t>
            </a:r>
            <a:r>
              <a:rPr lang="en-US" dirty="0"/>
              <a:t> Is this just memorizing the sample?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>
                <a:solidFill>
                  <a:srgbClr val="333333"/>
                </a:solidFill>
              </a:rPr>
              <a:t>M1 R²=0.086 → M2 R²=0.215 when traits added · M3 holdout r=0.35 (exploratory)
Left table = M1 league gaps · Right table = M2 trait effects · M3 = holdout r only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lang="en-US" sz="1200" dirty="0">
                <a:solidFill>
                  <a:srgbClr val="333333"/>
                </a:solidFill>
              </a:rPr>
              <a:t>M3</a:t>
            </a:r>
            <a:r>
              <a:rPr lang="en-US" sz="1200" b="1" dirty="0">
                <a:solidFill>
                  <a:srgbClr val="333333"/>
                </a:solidFill>
              </a:rPr>
              <a:t>: </a:t>
            </a:r>
            <a:r>
              <a:rPr lang="en-US" sz="1200" b="1" dirty="0"/>
              <a:t>r ≈ 0.35 </a:t>
            </a:r>
            <a:r>
              <a:rPr lang="en-US" sz="1200" dirty="0"/>
              <a:t>means: on the 20% of players left out, predicted Y1 minutes lined up with actual minutes only moderately</a:t>
            </a:r>
            <a:endParaRPr sz="1200" dirty="0">
              <a:solidFill>
                <a:srgbClr val="555555"/>
              </a:solidFill>
              <a:latin typeface="Georgia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136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172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Y1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Lost Aerial*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Def Pen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PrgDist 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1C1C1C"/>
                          </a:solidFill>
                          <a:latin typeface="Arial"/>
                        </a:rPr>
                        <a:t>xG</a:t>
                      </a:r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 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Ligue 1 +163 min vs Serie A (p≈0.38) — not significant at N=117.</a:t>
            </a:r>
          </a:p>
          <a:p>
            <a:r>
              <a:rPr sz="1200" b="0">
                <a:solidFill>
                  <a:srgbClr val="333333"/>
                </a:solidFill>
              </a:rPr>
              <a:t>Traits raise R² (0.09 → 0.22). Profile &gt; league label.</a:t>
            </a:r>
          </a:p>
          <a:p>
            <a:r>
              <a:rPr sz="1200" b="0">
                <a:solidFill>
                  <a:srgbClr val="333333"/>
                </a:solidFill>
              </a:rPr>
              <a:t>Takeaway: scout portable traits + minutes; league is a weak residual.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mean Y1 minutes among Big-5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02920"/>
            <a:ext cx="11064240" cy="3701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Why p-values stay modest</a:t>
            </a:r>
            <a:endParaRPr sz="2600" b="1" dirty="0">
              <a:solidFill>
                <a:srgbClr val="3D5A80"/>
              </a:solidFill>
              <a:latin typeface="Calibri"/>
            </a:endParaRP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StatsBomb N=96 with messy open-data priors (World Cup / Euro / Champions League mix rather than clean league seasons — larger sample, less consistent prior context)</a:t>
            </a:r>
          </a:p>
          <a:p>
            <a:r>
              <a:rPr sz="1400" b="0">
                <a:solidFill>
                  <a:srgbClr val="333333"/>
                </a:solidFill>
              </a:rPr>
              <a:t>• FBref N=329 helps, but many advanced metrics only have ~90–100 complete pairs</a:t>
            </a:r>
          </a:p>
          <a:p>
            <a:r>
              <a:rPr sz="1400" b="0">
                <a:solidFill>
                  <a:srgbClr val="333333"/>
                </a:solidFill>
              </a:rPr>
              <a:t>• Multiple traits tested — treat Phase 2 as associative, not a forecast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What hardened the sample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• 19 leagues · first BL seasons 2021–2025 · prior/Y1 ≥300′ → N=329</a:t>
            </a:r>
          </a:p>
          <a:p>
            <a:r>
              <a:rPr sz="1400" b="0">
                <a:solidFill>
                  <a:srgbClr val="333333"/>
                </a:solidFill>
              </a:rPr>
              <a:t>• Category stability gates + light redundancy (|r|≥0.95) → 32 traits</a:t>
            </a:r>
          </a:p>
          <a:p>
            <a:r>
              <a:rPr sz="1400" b="0">
                <a:solidFill>
                  <a:srgbClr val="333333"/>
                </a:solidFill>
              </a:rPr>
              <a:t>• StatsBomb kept as event deep dive (r≥0.40 · 7 traits), not league ranking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47932" y="282526"/>
            <a:ext cx="10972800" cy="361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400" b="1" dirty="0">
                <a:solidFill>
                  <a:srgbClr val="3D5A80"/>
                </a:solidFill>
                <a:latin typeface="Calibri"/>
              </a:rPr>
              <a:t>CONCLUSION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pPr>
              <a:spcAft>
                <a:spcPts val="300"/>
              </a:spcAft>
            </a:pPr>
            <a:endParaRPr lang="en-US" sz="1600" dirty="0"/>
          </a:p>
          <a:p>
            <a:r>
              <a:rPr lang="en-US" sz="1600" dirty="0">
                <a:solidFill>
                  <a:srgbClr val="333333"/>
                </a:solidFill>
              </a:rPr>
              <a:t>• Portable shortlists: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105→43→32 · </a:t>
            </a:r>
            <a:r>
              <a:rPr lang="en-US" sz="1600" dirty="0" err="1">
                <a:solidFill>
                  <a:srgbClr val="333333"/>
                </a:solidFill>
              </a:rPr>
              <a:t>StatsBomb</a:t>
            </a:r>
            <a:r>
              <a:rPr lang="en-US" sz="1600" dirty="0">
                <a:solidFill>
                  <a:srgbClr val="333333"/>
                </a:solidFill>
              </a:rPr>
              <a:t> 16→7</a:t>
            </a:r>
            <a:endParaRPr lang="en-US" sz="1600" dirty="0"/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</a:t>
            </a:r>
            <a:r>
              <a:rPr lang="en-US" sz="1600" dirty="0" err="1">
                <a:solidFill>
                  <a:srgbClr val="333333"/>
                </a:solidFill>
              </a:rPr>
              <a:t>Fbref</a:t>
            </a:r>
            <a:r>
              <a:rPr lang="en-US" sz="1600" dirty="0">
                <a:solidFill>
                  <a:srgbClr val="333333"/>
                </a:solidFill>
              </a:rPr>
              <a:t> best/most-stable metrics: final-third passing, shot blocks, progressive distance, box defending ↔ more Y1 minutes (p&lt;0.05)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Feeder league gaps are modest; exploratory OLS (N=117) — traits matter more than the league label or league strength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Scout metrics that travel from league to league. Y1 minutes = open-data success proxy</a:t>
            </a:r>
          </a:p>
          <a:p>
            <a:endParaRPr lang="en-US" sz="1600" dirty="0">
              <a:solidFill>
                <a:srgbClr val="333333"/>
              </a:solidFill>
            </a:endParaRPr>
          </a:p>
          <a:p>
            <a:r>
              <a:rPr lang="en-US" sz="1600" dirty="0">
                <a:solidFill>
                  <a:srgbClr val="333333"/>
                </a:solidFill>
              </a:rPr>
              <a:t>• Future project goals would be to test </a:t>
            </a:r>
            <a:r>
              <a:rPr lang="el-GR" sz="1600" dirty="0">
                <a:solidFill>
                  <a:srgbClr val="333333"/>
                </a:solidFill>
              </a:rPr>
              <a:t>Δ</a:t>
            </a:r>
            <a:r>
              <a:rPr lang="en-US" sz="1600" dirty="0">
                <a:solidFill>
                  <a:srgbClr val="333333"/>
                </a:solidFill>
              </a:rPr>
              <a:t> in</a:t>
            </a:r>
            <a:r>
              <a:rPr lang="el-GR" sz="1600" dirty="0">
                <a:solidFill>
                  <a:srgbClr val="333333"/>
                </a:solidFill>
              </a:rPr>
              <a:t> </a:t>
            </a:r>
            <a:r>
              <a:rPr lang="en-US" sz="1600" dirty="0" err="1">
                <a:solidFill>
                  <a:srgbClr val="333333"/>
                </a:solidFill>
              </a:rPr>
              <a:t>Transfermarkt</a:t>
            </a:r>
            <a:r>
              <a:rPr lang="en-US" sz="1600" dirty="0">
                <a:solidFill>
                  <a:srgbClr val="333333"/>
                </a:solidFill>
              </a:rPr>
              <a:t> market value (discussed in next slide) which is a main club outcome goal</a:t>
            </a:r>
          </a:p>
          <a:p>
            <a:pPr>
              <a:spcAft>
                <a:spcPts val="300"/>
              </a:spcAft>
            </a:pPr>
            <a:endParaRPr sz="2400" b="1" dirty="0">
              <a:solidFill>
                <a:srgbClr val="3D5A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Y1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Top indicator in a full club model: change in market value (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M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Captures performance + hype + contract context in one outcome scouts care about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NYRB Axis-3 used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Market Value</a:t>
            </a:r>
            <a:r>
              <a:rPr sz="1400" dirty="0">
                <a:solidFill>
                  <a:srgbClr val="1C1C1C"/>
                </a:solidFill>
                <a:latin typeface="Arial"/>
              </a:rPr>
              <a:t>; this project uses open data only —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Transfermarkt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disallows</a:t>
            </a:r>
            <a:r>
              <a:rPr sz="1400" dirty="0">
                <a:solidFill>
                  <a:srgbClr val="1C1C1C"/>
                </a:solidFill>
                <a:latin typeface="Arial"/>
              </a:rPr>
              <a:t> </a:t>
            </a:r>
            <a:r>
              <a:rPr lang="en-US" sz="1400" dirty="0">
                <a:solidFill>
                  <a:srgbClr val="1C1C1C"/>
                </a:solidFill>
                <a:latin typeface="Arial"/>
              </a:rPr>
              <a:t>scraping</a:t>
            </a:r>
            <a:endParaRPr sz="1400" dirty="0">
              <a:solidFill>
                <a:srgbClr val="1C1C1C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So we proxy success with Y1 minutes until a licensed MV feed is available</a:t>
            </a:r>
          </a:p>
          <a:p>
            <a:pPr>
              <a:spcAft>
                <a:spcPts val="600"/>
              </a:spcAft>
            </a:pPr>
            <a:r>
              <a:rPr sz="1400" dirty="0">
                <a:solidFill>
                  <a:srgbClr val="1C1C1C"/>
                </a:solidFill>
                <a:latin typeface="Arial"/>
              </a:rPr>
              <a:t>Natural extension: prior traits → </a:t>
            </a:r>
            <a:r>
              <a:rPr sz="1400" dirty="0" err="1">
                <a:solidFill>
                  <a:srgbClr val="1C1C1C"/>
                </a:solidFill>
                <a:latin typeface="Arial"/>
              </a:rPr>
              <a:t>Δ</a:t>
            </a:r>
            <a:r>
              <a:rPr sz="1400" dirty="0">
                <a:solidFill>
                  <a:srgbClr val="1C1C1C"/>
                </a:solidFill>
                <a:latin typeface="Arial"/>
              </a:rPr>
              <a:t> MV with holdout regression / ML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247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US" sz="2800" b="1" dirty="0">
                <a:solidFill>
                  <a:srgbClr val="3D5A8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DELIVERABLES</a:t>
            </a:r>
          </a:p>
          <a:p>
            <a:pPr>
              <a:spcAft>
                <a:spcPts val="400"/>
              </a:spcAft>
            </a:pPr>
            <a:endParaRPr sz="24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1 · Cohort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of players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with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minute floors) · 2 · Stability · 3 · Redundancy · 4 · Explorer + success</a:t>
            </a:r>
          </a:p>
          <a:p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		Repo: 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Deck · </a:t>
            </a:r>
            <a:r>
              <a:rPr lang="en-US" sz="1600" b="1" i="1">
                <a:latin typeface="Arial" panose="020B0604020202020204" pitchFamily="34" charset="0"/>
                <a:cs typeface="Arial" panose="020B0604020202020204" pitchFamily="34" charset="0"/>
              </a:rPr>
              <a:t>README.md </a:t>
            </a:r>
            <a:r>
              <a:rPr lang="en-US" sz="1600" b="1" i="1" dirty="0">
                <a:latin typeface="Arial" panose="020B0604020202020204" pitchFamily="34" charset="0"/>
                <a:cs typeface="Arial" panose="020B0604020202020204" pitchFamily="34" charset="0"/>
              </a:rPr>
              <a:t>· </a:t>
            </a:r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interactive_player_explorer.html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 · </a:t>
            </a:r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stability_redundancy_inspector.html</a:t>
            </a:r>
            <a:endParaRPr sz="1600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sz="16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projectproposal</a:t>
            </a:r>
            <a:r>
              <a:rPr sz="1600" b="1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sz="1600" b="0" dirty="0">
              <a:highlight>
                <a:srgbClr val="C0C0C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Stability 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Gates: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FBref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sz="1600" b="0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/Pass/Other ≥0.60 · Def/Carry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≥0.50 · SB r≥0.40 · shortlist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 of metrics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sz="1600" b="0" dirty="0">
                <a:latin typeface="Arial" panose="020B0604020202020204" pitchFamily="34" charset="0"/>
                <a:cs typeface="Arial" panose="020B0604020202020204" pitchFamily="34" charset="0"/>
              </a:rPr>
              <a:t>32 / 7</a:t>
            </a:r>
            <a:r>
              <a:rPr lang="en-US" sz="1600" b="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sz="16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3010</TotalTime>
  <Words>3358</Words>
  <Application>Microsoft Macintosh PowerPoint</Application>
  <PresentationFormat>Widescreen</PresentationFormat>
  <Paragraphs>632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15</cp:revision>
  <dcterms:created xsi:type="dcterms:W3CDTF">2013-01-27T09:14:16Z</dcterms:created>
  <dcterms:modified xsi:type="dcterms:W3CDTF">2026-07-20T19:57:32Z</dcterms:modified>
  <cp:category/>
</cp:coreProperties>
</file>