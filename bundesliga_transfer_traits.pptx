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83" r:id="rId3"/>
    <p:sldId id="257" r:id="rId4"/>
    <p:sldId id="268" r:id="rId5"/>
    <p:sldId id="281" r:id="rId6"/>
    <p:sldId id="282" r:id="rId7"/>
    <p:sldId id="260" r:id="rId8"/>
    <p:sldId id="259" r:id="rId9"/>
    <p:sldId id="261" r:id="rId10"/>
    <p:sldId id="263" r:id="rId11"/>
    <p:sldId id="267" r:id="rId12"/>
    <p:sldId id="264" r:id="rId13"/>
    <p:sldId id="269" r:id="rId14"/>
    <p:sldId id="276" r:id="rId15"/>
    <p:sldId id="270" r:id="rId16"/>
    <p:sldId id="271" r:id="rId17"/>
    <p:sldId id="274" r:id="rId18"/>
    <p:sldId id="275" r:id="rId19"/>
    <p:sldId id="280" r:id="rId20"/>
    <p:sldId id="278" r:id="rId21"/>
    <p:sldId id="277" r:id="rId22"/>
    <p:sldId id="284" r:id="rId23"/>
    <p:sldId id="279"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171"/>
    <p:restoredTop sz="94678"/>
  </p:normalViewPr>
  <p:slideViewPr>
    <p:cSldViewPr snapToGrid="0" snapToObjects="1">
      <p:cViewPr varScale="1">
        <p:scale>
          <a:sx n="109" d="100"/>
          <a:sy n="109" d="100"/>
        </p:scale>
        <p:origin x="51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371600"/>
            <a:ext cx="10972800" cy="276999"/>
          </a:xfrm>
          <a:prstGeom prst="rect">
            <a:avLst/>
          </a:prstGeom>
          <a:noFill/>
        </p:spPr>
        <p:txBody>
          <a:bodyPr wrap="square">
            <a:spAutoFit/>
          </a:bodyPr>
          <a:lstStyle/>
          <a:p>
            <a:r>
              <a:rPr lang="en-US" sz="1200" dirty="0">
                <a:solidFill>
                  <a:srgbClr val="555555"/>
                </a:solidFill>
              </a:rPr>
              <a:t>COLBY MORRIS  · </a:t>
            </a:r>
            <a:r>
              <a:rPr sz="1200" b="0" dirty="0">
                <a:solidFill>
                  <a:srgbClr val="555555"/>
                </a:solidFill>
                <a:latin typeface="Calibri"/>
              </a:rPr>
              <a:t>BERKELEY</a:t>
            </a:r>
            <a:r>
              <a:rPr lang="en-US" sz="1200" b="0" dirty="0">
                <a:solidFill>
                  <a:srgbClr val="555555"/>
                </a:solidFill>
                <a:latin typeface="Calibri"/>
              </a:rPr>
              <a:t> HAAS</a:t>
            </a:r>
            <a:r>
              <a:rPr sz="1200" b="0" dirty="0">
                <a:solidFill>
                  <a:srgbClr val="555555"/>
                </a:solidFill>
                <a:latin typeface="Calibri"/>
              </a:rPr>
              <a:t>  ·  INDEPENDENT STUDY</a:t>
            </a:r>
          </a:p>
        </p:txBody>
      </p:sp>
      <p:sp>
        <p:nvSpPr>
          <p:cNvPr id="4" name="TextBox 3"/>
          <p:cNvSpPr txBox="1"/>
          <p:nvPr/>
        </p:nvSpPr>
        <p:spPr>
          <a:xfrm>
            <a:off x="640080" y="1920240"/>
            <a:ext cx="10972800" cy="954107"/>
          </a:xfrm>
          <a:prstGeom prst="rect">
            <a:avLst/>
          </a:prstGeom>
          <a:noFill/>
        </p:spPr>
        <p:txBody>
          <a:bodyPr wrap="square">
            <a:spAutoFit/>
          </a:bodyPr>
          <a:lstStyle/>
          <a:p>
            <a:pPr algn="l"/>
            <a:r>
              <a:rPr sz="2000" b="1">
                <a:solidFill>
                  <a:srgbClr val="333333"/>
                </a:solidFill>
              </a:rPr>
              <a:t>Which traits most accurately travel into the Bundesliga (Germany’s top men’s soccer league) from other professional soccer leagues?</a:t>
            </a:r>
          </a:p>
        </p:txBody>
      </p:sp>
      <p:sp>
        <p:nvSpPr>
          <p:cNvPr id="5" name="TextBox 4"/>
          <p:cNvSpPr txBox="1"/>
          <p:nvPr/>
        </p:nvSpPr>
        <p:spPr>
          <a:xfrm>
            <a:off x="640080" y="2834640"/>
            <a:ext cx="10515600" cy="830997"/>
          </a:xfrm>
          <a:prstGeom prst="rect">
            <a:avLst/>
          </a:prstGeom>
          <a:noFill/>
        </p:spPr>
        <p:txBody>
          <a:bodyPr wrap="square">
            <a:spAutoFit/>
          </a:bodyPr>
          <a:lstStyle/>
          <a:p>
            <a:pPr algn="l"/>
            <a:r>
              <a:rPr sz="1600" b="0" i="1" dirty="0">
                <a:solidFill>
                  <a:srgbClr val="333333"/>
                </a:solidFill>
                <a:latin typeface="Calibri"/>
              </a:rPr>
              <a:t>F</a:t>
            </a:r>
            <a:r>
              <a:rPr lang="en-US" sz="1600" b="0" i="1" dirty="0">
                <a:solidFill>
                  <a:srgbClr val="333333"/>
                </a:solidFill>
                <a:latin typeface="Calibri"/>
              </a:rPr>
              <a:t>ootball R</a:t>
            </a:r>
            <a:r>
              <a:rPr sz="1600" b="0" i="1" dirty="0">
                <a:solidFill>
                  <a:srgbClr val="333333"/>
                </a:solidFill>
                <a:latin typeface="Calibri"/>
              </a:rPr>
              <a:t>ef</a:t>
            </a:r>
            <a:r>
              <a:rPr lang="en-US" sz="1600" b="0" i="1" dirty="0">
                <a:solidFill>
                  <a:srgbClr val="333333"/>
                </a:solidFill>
                <a:latin typeface="Calibri"/>
              </a:rPr>
              <a:t>erence</a:t>
            </a:r>
            <a:r>
              <a:rPr sz="1600" b="0" i="1" dirty="0">
                <a:solidFill>
                  <a:srgbClr val="333333"/>
                </a:solidFill>
                <a:latin typeface="Calibri"/>
              </a:rPr>
              <a:t> + </a:t>
            </a:r>
            <a:r>
              <a:rPr sz="1600" b="0" i="1" dirty="0" err="1">
                <a:solidFill>
                  <a:srgbClr val="333333"/>
                </a:solidFill>
                <a:latin typeface="Calibri"/>
              </a:rPr>
              <a:t>StatsBomb</a:t>
            </a:r>
            <a:r>
              <a:rPr lang="en-US" sz="1600" b="0" i="1" dirty="0">
                <a:solidFill>
                  <a:srgbClr val="333333"/>
                </a:solidFill>
                <a:latin typeface="Calibri"/>
              </a:rPr>
              <a:t> data sources</a:t>
            </a:r>
          </a:p>
          <a:p>
            <a:pPr algn="l"/>
            <a:endParaRPr lang="en-US" sz="1600" b="0" i="1" dirty="0">
              <a:solidFill>
                <a:srgbClr val="333333"/>
              </a:solidFill>
              <a:latin typeface="Calibri"/>
            </a:endParaRPr>
          </a:p>
          <a:p>
            <a:pPr algn="l"/>
            <a:r>
              <a:rPr lang="en-US" sz="1600" i="1" dirty="0">
                <a:solidFill>
                  <a:srgbClr val="333333"/>
                </a:solidFill>
                <a:latin typeface="Calibri"/>
              </a:rPr>
              <a:t>*Based on framework used in data science internship with Red Bull New York Transfer Market scouting analysis*</a:t>
            </a:r>
            <a:endParaRPr sz="1600" b="0" i="1" dirty="0">
              <a:solidFill>
                <a:srgbClr val="333333"/>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92608"/>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92608"/>
            <a:ext cx="11155680" cy="502920"/>
          </a:xfrm>
          <a:prstGeom prst="rect">
            <a:avLst/>
          </a:prstGeom>
          <a:noFill/>
        </p:spPr>
        <p:txBody>
          <a:bodyPr wrap="square">
            <a:spAutoFit/>
          </a:bodyPr>
          <a:lstStyle/>
          <a:p>
            <a:pPr>
              <a:spcAft>
                <a:spcPts val="200"/>
              </a:spcAft>
            </a:pPr>
            <a:r>
              <a:rPr sz="2600" b="1">
                <a:solidFill>
                  <a:srgbClr val="3D5A80"/>
                </a:solidFill>
                <a:latin typeface="Calibri"/>
              </a:rPr>
              <a:t>PROJECT STEPS  ·  TIMELINE</a:t>
            </a:r>
          </a:p>
        </p:txBody>
      </p:sp>
      <p:sp>
        <p:nvSpPr>
          <p:cNvPr id="4" name="TextBox 3"/>
          <p:cNvSpPr txBox="1"/>
          <p:nvPr/>
        </p:nvSpPr>
        <p:spPr>
          <a:xfrm>
            <a:off x="502920" y="777240"/>
            <a:ext cx="11155680" cy="292388"/>
          </a:xfrm>
          <a:prstGeom prst="rect">
            <a:avLst/>
          </a:prstGeom>
          <a:noFill/>
        </p:spPr>
        <p:txBody>
          <a:bodyPr wrap="square">
            <a:spAutoFit/>
          </a:bodyPr>
          <a:lstStyle/>
          <a:p>
            <a:pPr>
              <a:spcAft>
                <a:spcPts val="200"/>
              </a:spcAft>
            </a:pPr>
            <a:r>
              <a:rPr sz="1200">
                <a:solidFill>
                  <a:srgbClr val="333333"/>
                </a:solidFill>
              </a:rPr>
              <a:t>Question</a:t>
            </a:r>
          </a:p>
          <a:p>
            <a:r>
              <a:rPr sz="1200">
                <a:solidFill>
                  <a:srgbClr val="333333"/>
                </a:solidFill>
              </a:rPr>
              <a:t>Which traits travel into the Bundesliga (Germany’s top men’s soccer league) — and which prior stats line up with Year 1 in Bundesliga minutes?</a:t>
            </a:r>
          </a:p>
        </p:txBody>
      </p:sp>
      <p:sp>
        <p:nvSpPr>
          <p:cNvPr id="5" name="Oval 4"/>
          <p:cNvSpPr/>
          <p:nvPr/>
        </p:nvSpPr>
        <p:spPr>
          <a:xfrm>
            <a:off x="411480" y="1207008"/>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1</a:t>
            </a:r>
          </a:p>
        </p:txBody>
      </p:sp>
      <p:sp>
        <p:nvSpPr>
          <p:cNvPr id="6" name="TextBox 5"/>
          <p:cNvSpPr txBox="1"/>
          <p:nvPr/>
        </p:nvSpPr>
        <p:spPr>
          <a:xfrm>
            <a:off x="832104" y="1170432"/>
            <a:ext cx="5029200" cy="671979"/>
          </a:xfrm>
          <a:prstGeom prst="rect">
            <a:avLst/>
          </a:prstGeom>
          <a:noFill/>
        </p:spPr>
        <p:txBody>
          <a:bodyPr wrap="square">
            <a:spAutoFit/>
          </a:bodyPr>
          <a:lstStyle/>
          <a:p>
            <a:pPr>
              <a:spcAft>
                <a:spcPts val="200"/>
              </a:spcAft>
            </a:pPr>
            <a:r>
              <a:rPr sz="1200">
                <a:solidFill>
                  <a:srgbClr val="333333"/>
                </a:solidFill>
              </a:rPr>
              <a:t>Question</a:t>
            </a:r>
          </a:p>
          <a:p>
            <a:r>
              <a:rPr sz="1200">
                <a:solidFill>
                  <a:srgbClr val="333333"/>
                </a:solidFill>
              </a:rPr>
              <a:t>Which traits travel into the Bundesliga (Germany’s top men’s soccer league) — and which prior stats line up with Year 1 in Bundesliga minutes?</a:t>
            </a:r>
          </a:p>
        </p:txBody>
      </p:sp>
      <p:sp>
        <p:nvSpPr>
          <p:cNvPr id="7" name="Oval 6"/>
          <p:cNvSpPr/>
          <p:nvPr/>
        </p:nvSpPr>
        <p:spPr>
          <a:xfrm>
            <a:off x="411480" y="1920240"/>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2</a:t>
            </a:r>
          </a:p>
        </p:txBody>
      </p:sp>
      <p:sp>
        <p:nvSpPr>
          <p:cNvPr id="8" name="TextBox 7"/>
          <p:cNvSpPr txBox="1"/>
          <p:nvPr/>
        </p:nvSpPr>
        <p:spPr>
          <a:xfrm>
            <a:off x="832104" y="1752147"/>
            <a:ext cx="5029200" cy="685800"/>
          </a:xfrm>
          <a:prstGeom prst="rect">
            <a:avLst/>
          </a:prstGeom>
          <a:noFill/>
        </p:spPr>
        <p:txBody>
          <a:bodyPr wrap="square">
            <a:spAutoFit/>
          </a:bodyPr>
          <a:lstStyle/>
          <a:p>
            <a:pPr>
              <a:spcAft>
                <a:spcPts val="200"/>
              </a:spcAft>
            </a:pPr>
            <a:r>
              <a:rPr sz="1100" b="0" dirty="0">
                <a:solidFill>
                  <a:srgbClr val="333333"/>
                </a:solidFill>
              </a:rPr>
              <a:t>Scrape two sources</a:t>
            </a:r>
          </a:p>
          <a:p>
            <a:r>
              <a:rPr sz="1100" b="0" dirty="0">
                <a:solidFill>
                  <a:srgbClr val="333333"/>
                </a:solidFill>
              </a:rPr>
              <a:t>Football Reference (</a:t>
            </a:r>
            <a:r>
              <a:rPr sz="1100" b="0" dirty="0" err="1">
                <a:solidFill>
                  <a:srgbClr val="333333"/>
                </a:solidFill>
              </a:rPr>
              <a:t>FBref</a:t>
            </a:r>
            <a:r>
              <a:rPr sz="1100" b="0" dirty="0">
                <a:solidFill>
                  <a:srgbClr val="333333"/>
                </a:solidFill>
              </a:rPr>
              <a:t>): 19 leagues; first Bundesliga season in 2021–2025; prior and Year 1 in Bundesliga minutes ≥300′.</a:t>
            </a:r>
          </a:p>
          <a:p>
            <a:r>
              <a:rPr sz="1100" b="0" dirty="0" err="1">
                <a:solidFill>
                  <a:srgbClr val="333333"/>
                </a:solidFill>
              </a:rPr>
              <a:t>StatsBomb</a:t>
            </a:r>
            <a:r>
              <a:rPr sz="1100" b="0" dirty="0">
                <a:solidFill>
                  <a:srgbClr val="333333"/>
                </a:solidFill>
              </a:rPr>
              <a:t>: 17 competitions; Bundesliga 2015/16 + 2023/24; prior ≥45′ / Year 1 in Bundesliga ≥30′.</a:t>
            </a:r>
          </a:p>
        </p:txBody>
      </p:sp>
      <p:sp>
        <p:nvSpPr>
          <p:cNvPr id="9" name="Oval 8"/>
          <p:cNvSpPr/>
          <p:nvPr/>
        </p:nvSpPr>
        <p:spPr>
          <a:xfrm>
            <a:off x="411480" y="2703810"/>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dirty="0">
                <a:solidFill>
                  <a:srgbClr val="FFFFFF"/>
                </a:solidFill>
                <a:latin typeface="Calibri"/>
              </a:rPr>
              <a:t>3</a:t>
            </a:r>
          </a:p>
        </p:txBody>
      </p:sp>
      <p:sp>
        <p:nvSpPr>
          <p:cNvPr id="10" name="TextBox 9"/>
          <p:cNvSpPr txBox="1"/>
          <p:nvPr/>
        </p:nvSpPr>
        <p:spPr>
          <a:xfrm>
            <a:off x="832104" y="2708474"/>
            <a:ext cx="5029200" cy="487313"/>
          </a:xfrm>
          <a:prstGeom prst="rect">
            <a:avLst/>
          </a:prstGeom>
          <a:noFill/>
        </p:spPr>
        <p:txBody>
          <a:bodyPr wrap="square">
            <a:spAutoFit/>
          </a:bodyPr>
          <a:lstStyle/>
          <a:p>
            <a:pPr>
              <a:spcAft>
                <a:spcPts val="200"/>
              </a:spcAft>
            </a:pPr>
            <a:r>
              <a:rPr sz="1200" b="0">
                <a:solidFill>
                  <a:srgbClr val="333333"/>
                </a:solidFill>
              </a:rPr>
              <a:t>Stability</a:t>
            </a:r>
          </a:p>
          <a:p>
            <a:r>
              <a:rPr sz="1200" b="0">
                <a:solidFill>
                  <a:srgbClr val="333333"/>
                </a:solidFill>
              </a:rPr>
              <a:t>Correlate prior → Year 1 in Bundesliga per-90 rates. Keep metrics that travel (clear the floor). Metrics that miss the floor are non-portable — reported as failed/unstable in the inspector, not on the scout shortlist.</a:t>
            </a:r>
          </a:p>
        </p:txBody>
      </p:sp>
      <p:sp>
        <p:nvSpPr>
          <p:cNvPr id="11" name="Oval 10"/>
          <p:cNvSpPr/>
          <p:nvPr/>
        </p:nvSpPr>
        <p:spPr>
          <a:xfrm>
            <a:off x="411480" y="3346704"/>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4</a:t>
            </a:r>
          </a:p>
        </p:txBody>
      </p:sp>
      <p:sp>
        <p:nvSpPr>
          <p:cNvPr id="12" name="TextBox 11"/>
          <p:cNvSpPr txBox="1"/>
          <p:nvPr/>
        </p:nvSpPr>
        <p:spPr>
          <a:xfrm>
            <a:off x="832104" y="3310128"/>
            <a:ext cx="5029200" cy="487313"/>
          </a:xfrm>
          <a:prstGeom prst="rect">
            <a:avLst/>
          </a:prstGeom>
          <a:noFill/>
        </p:spPr>
        <p:txBody>
          <a:bodyPr wrap="square">
            <a:spAutoFit/>
          </a:bodyPr>
          <a:lstStyle/>
          <a:p>
            <a:pPr>
              <a:spcAft>
                <a:spcPts val="200"/>
              </a:spcAft>
            </a:pPr>
            <a:r>
              <a:rPr sz="1100" b="0">
                <a:solidFill>
                  <a:srgbClr val="333333"/>
                </a:solidFill>
              </a:rPr>
              <a:t>Choose thresholds</a:t>
            </a:r>
          </a:p>
          <a:p>
            <a:r>
              <a:rPr sz="1100" b="0">
                <a:solidFill>
                  <a:srgbClr val="333333"/>
                </a:solidFill>
              </a:rPr>
              <a:t>FBref category gates → 43 of 105 metrics met the stability floor. StatsBomb Pearson r≥0.40 → 7 of 16.</a:t>
            </a:r>
          </a:p>
        </p:txBody>
      </p:sp>
      <p:sp>
        <p:nvSpPr>
          <p:cNvPr id="13" name="Oval 12"/>
          <p:cNvSpPr/>
          <p:nvPr/>
        </p:nvSpPr>
        <p:spPr>
          <a:xfrm>
            <a:off x="5989320" y="1207008"/>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5</a:t>
            </a:r>
          </a:p>
        </p:txBody>
      </p:sp>
      <p:sp>
        <p:nvSpPr>
          <p:cNvPr id="14" name="TextBox 13"/>
          <p:cNvSpPr txBox="1"/>
          <p:nvPr/>
        </p:nvSpPr>
        <p:spPr>
          <a:xfrm>
            <a:off x="6409944" y="1170432"/>
            <a:ext cx="5029200" cy="487313"/>
          </a:xfrm>
          <a:prstGeom prst="rect">
            <a:avLst/>
          </a:prstGeom>
          <a:noFill/>
        </p:spPr>
        <p:txBody>
          <a:bodyPr wrap="square">
            <a:spAutoFit/>
          </a:bodyPr>
          <a:lstStyle/>
          <a:p>
            <a:pPr>
              <a:spcAft>
                <a:spcPts val="200"/>
              </a:spcAft>
            </a:pPr>
            <a:r>
              <a:rPr sz="1200" b="0">
                <a:solidFill>
                  <a:srgbClr val="333333"/>
                </a:solidFill>
              </a:rPr>
              <a:t>Redundancy + context</a:t>
            </a:r>
          </a:p>
          <a:p>
            <a:r>
              <a:rPr sz="1200" b="0">
                <a:solidFill>
                  <a:srgbClr val="333333"/>
                </a:solidFill>
              </a:rPr>
              <a:t>Drop near-duplicates. FBref 43→32 · StatsBomb keep 7.</a:t>
            </a:r>
          </a:p>
        </p:txBody>
      </p:sp>
      <p:sp>
        <p:nvSpPr>
          <p:cNvPr id="15" name="Oval 14"/>
          <p:cNvSpPr/>
          <p:nvPr/>
        </p:nvSpPr>
        <p:spPr>
          <a:xfrm>
            <a:off x="5989320" y="1920240"/>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6</a:t>
            </a:r>
          </a:p>
        </p:txBody>
      </p:sp>
      <p:sp>
        <p:nvSpPr>
          <p:cNvPr id="16" name="TextBox 15"/>
          <p:cNvSpPr txBox="1"/>
          <p:nvPr/>
        </p:nvSpPr>
        <p:spPr>
          <a:xfrm>
            <a:off x="6409944" y="1883664"/>
            <a:ext cx="5029200" cy="487313"/>
          </a:xfrm>
          <a:prstGeom prst="rect">
            <a:avLst/>
          </a:prstGeom>
          <a:noFill/>
        </p:spPr>
        <p:txBody>
          <a:bodyPr wrap="square">
            <a:spAutoFit/>
          </a:bodyPr>
          <a:lstStyle/>
          <a:p>
            <a:pPr>
              <a:spcAft>
                <a:spcPts val="200"/>
              </a:spcAft>
            </a:pPr>
            <a:r>
              <a:rPr sz="1200" b="0">
                <a:solidFill>
                  <a:srgbClr val="333333"/>
                </a:solidFill>
              </a:rPr>
              <a:t>Explorer &amp; graphics</a:t>
            </a:r>
          </a:p>
          <a:p>
            <a:r>
              <a:rPr sz="1200" b="0">
                <a:solidFill>
                  <a:srgbClr val="333333"/>
                </a:solidFill>
              </a:rPr>
              <a:t>Radars / pizzas on shortlisted metrics (interactive_player_explorer.html).</a:t>
            </a:r>
          </a:p>
        </p:txBody>
      </p:sp>
      <p:sp>
        <p:nvSpPr>
          <p:cNvPr id="17" name="Oval 16"/>
          <p:cNvSpPr/>
          <p:nvPr/>
        </p:nvSpPr>
        <p:spPr>
          <a:xfrm>
            <a:off x="5989320" y="2633472"/>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7</a:t>
            </a:r>
          </a:p>
        </p:txBody>
      </p:sp>
      <p:sp>
        <p:nvSpPr>
          <p:cNvPr id="18" name="TextBox 17"/>
          <p:cNvSpPr txBox="1"/>
          <p:nvPr/>
        </p:nvSpPr>
        <p:spPr>
          <a:xfrm>
            <a:off x="6409944" y="2596896"/>
            <a:ext cx="5029200" cy="671979"/>
          </a:xfrm>
          <a:prstGeom prst="rect">
            <a:avLst/>
          </a:prstGeom>
          <a:noFill/>
        </p:spPr>
        <p:txBody>
          <a:bodyPr wrap="square">
            <a:spAutoFit/>
          </a:bodyPr>
          <a:lstStyle/>
          <a:p>
            <a:pPr>
              <a:spcAft>
                <a:spcPts val="200"/>
              </a:spcAft>
            </a:pPr>
            <a:r>
              <a:rPr sz="1100" b="0">
                <a:solidFill>
                  <a:srgbClr val="333333"/>
                </a:solidFill>
              </a:rPr>
              <a:t>Significance tests</a:t>
            </a:r>
          </a:p>
          <a:p>
            <a:r>
              <a:rPr sz="1100" b="0">
                <a:solidFill>
                  <a:srgbClr val="333333"/>
                </a:solidFill>
              </a:rPr>
              <a:t>Spearman: prior trait percentile vs Year 1 in Bundesliga minutes; feeder-league summaries; exploratory OLS.</a:t>
            </a:r>
          </a:p>
        </p:txBody>
      </p:sp>
      <p:sp>
        <p:nvSpPr>
          <p:cNvPr id="19" name="TextBox 18">
            <a:extLst>
              <a:ext uri="{FF2B5EF4-FFF2-40B4-BE49-F238E27FC236}">
                <a16:creationId xmlns:a16="http://schemas.microsoft.com/office/drawing/2014/main" id="{C5469259-8206-2172-4E02-B549B0A1904C}"/>
              </a:ext>
            </a:extLst>
          </p:cNvPr>
          <p:cNvSpPr txBox="1"/>
          <p:nvPr/>
        </p:nvSpPr>
        <p:spPr>
          <a:xfrm>
            <a:off x="502920" y="4753206"/>
            <a:ext cx="10515600" cy="692497"/>
          </a:xfrm>
          <a:prstGeom prst="rect">
            <a:avLst/>
          </a:prstGeom>
          <a:solidFill>
            <a:schemeClr val="bg1">
              <a:lumMod val="75000"/>
            </a:schemeClr>
          </a:solidFill>
          <a:ln w="19050">
            <a:solidFill>
              <a:srgbClr val="002060"/>
            </a:solidFill>
          </a:ln>
        </p:spPr>
        <p:txBody>
          <a:bodyPr wrap="square">
            <a:spAutoFit/>
          </a:bodyPr>
          <a:lstStyle/>
          <a:p>
            <a:pPr>
              <a:spcAft>
                <a:spcPts val="400"/>
              </a:spcAft>
            </a:pPr>
            <a:r>
              <a:rPr sz="1100" b="0">
                <a:solidFill>
                  <a:srgbClr val="333333"/>
                </a:solidFill>
              </a:rPr>
              <a:t>Compared to the project completed with Red Bull New York, the project defines the most portable traits for scouting leading to playing time in the Bundesliga year 1 post-transfer rather than Transfermarkt value. Scouts and teams will be able to answer the questions: ‘Which traits do we scout in outside leagues to best predict playing time? Which leagues provide the most reliable statistics to best predict results in the Bundesliga?</a:t>
            </a:r>
            <a:endParaRPr sz="1300" b="0" i="1" dirty="0">
              <a:solidFill>
                <a:srgbClr val="555555"/>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0972800" cy="292388"/>
          </a:xfrm>
          <a:prstGeom prst="rect">
            <a:avLst/>
          </a:prstGeom>
          <a:noFill/>
        </p:spPr>
        <p:txBody>
          <a:bodyPr wrap="square">
            <a:spAutoFit/>
          </a:bodyPr>
          <a:lstStyle/>
          <a:p>
            <a:pPr algn="l"/>
            <a:r>
              <a:rPr sz="1300" b="1" dirty="0">
                <a:solidFill>
                  <a:srgbClr val="3D5A80"/>
                </a:solidFill>
                <a:latin typeface="Calibri"/>
              </a:rPr>
              <a:t>1 · DESIGN</a:t>
            </a:r>
          </a:p>
        </p:txBody>
      </p:sp>
      <p:sp>
        <p:nvSpPr>
          <p:cNvPr id="4" name="TextBox 3"/>
          <p:cNvSpPr txBox="1"/>
          <p:nvPr/>
        </p:nvSpPr>
        <p:spPr>
          <a:xfrm>
            <a:off x="502920" y="548640"/>
            <a:ext cx="10972800" cy="492443"/>
          </a:xfrm>
          <a:prstGeom prst="rect">
            <a:avLst/>
          </a:prstGeom>
          <a:noFill/>
        </p:spPr>
        <p:txBody>
          <a:bodyPr wrap="square">
            <a:spAutoFit/>
          </a:bodyPr>
          <a:lstStyle/>
          <a:p>
            <a:pPr algn="l"/>
            <a:r>
              <a:rPr lang="en-US" sz="2600" b="1" dirty="0">
                <a:solidFill>
                  <a:srgbClr val="1C1C1C"/>
                </a:solidFill>
                <a:latin typeface="Georgia"/>
              </a:rPr>
              <a:t>Research Question</a:t>
            </a:r>
            <a:endParaRPr sz="2600" b="1" dirty="0">
              <a:solidFill>
                <a:srgbClr val="1C1C1C"/>
              </a:solidFill>
              <a:latin typeface="Georgia"/>
            </a:endParaRPr>
          </a:p>
        </p:txBody>
      </p:sp>
      <p:sp>
        <p:nvSpPr>
          <p:cNvPr id="5" name="Rounded Rectangle 4"/>
          <p:cNvSpPr/>
          <p:nvPr/>
        </p:nvSpPr>
        <p:spPr>
          <a:xfrm>
            <a:off x="502920" y="1097280"/>
            <a:ext cx="5486400" cy="15544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097280"/>
            <a:ext cx="73152" cy="155448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207007"/>
            <a:ext cx="5166360" cy="292608"/>
          </a:xfrm>
          <a:prstGeom prst="rect">
            <a:avLst/>
          </a:prstGeom>
          <a:noFill/>
        </p:spPr>
        <p:txBody>
          <a:bodyPr wrap="square">
            <a:spAutoFit/>
          </a:bodyPr>
          <a:lstStyle/>
          <a:p>
            <a:pPr algn="l"/>
            <a:r>
              <a:rPr sz="1400" b="1">
                <a:solidFill>
                  <a:srgbClr val="1C1C1C"/>
                </a:solidFill>
                <a:latin typeface="Georgia"/>
              </a:rPr>
              <a:t>Question</a:t>
            </a:r>
          </a:p>
        </p:txBody>
      </p:sp>
      <p:sp>
        <p:nvSpPr>
          <p:cNvPr id="8" name="TextBox 7"/>
          <p:cNvSpPr txBox="1"/>
          <p:nvPr/>
        </p:nvSpPr>
        <p:spPr>
          <a:xfrm>
            <a:off x="704088" y="1536192"/>
            <a:ext cx="5120640" cy="1018227"/>
          </a:xfrm>
          <a:prstGeom prst="rect">
            <a:avLst/>
          </a:prstGeom>
          <a:noFill/>
        </p:spPr>
        <p:txBody>
          <a:bodyPr wrap="square">
            <a:spAutoFit/>
          </a:bodyPr>
          <a:lstStyle/>
          <a:p>
            <a:pPr>
              <a:spcAft>
                <a:spcPts val="500"/>
              </a:spcAft>
            </a:pPr>
            <a:r>
              <a:rPr sz="1300" b="0">
                <a:solidFill>
                  <a:srgbClr val="333333"/>
                </a:solidFill>
              </a:rPr>
              <a:t>When a player moves into the top German league, the Bundesliga, which stats stay consistent — and which are league context?</a:t>
            </a:r>
          </a:p>
          <a:p>
            <a:r>
              <a:rPr sz="1300" b="0">
                <a:solidFill>
                  <a:srgbClr val="333333"/>
                </a:solidFill>
              </a:rPr>
              <a:t>This applies only to players who entered the Bundesliga from a different league (transfers / promotions).</a:t>
            </a:r>
          </a:p>
        </p:txBody>
      </p:sp>
      <p:sp>
        <p:nvSpPr>
          <p:cNvPr id="9" name="Rounded Rectangle 8"/>
          <p:cNvSpPr/>
          <p:nvPr/>
        </p:nvSpPr>
        <p:spPr>
          <a:xfrm>
            <a:off x="6172200" y="1097280"/>
            <a:ext cx="5440680" cy="15544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097280"/>
            <a:ext cx="73152" cy="1554480"/>
          </a:xfrm>
          <a:prstGeom prst="rect">
            <a:avLst/>
          </a:prstGeom>
          <a:solidFill>
            <a:srgbClr val="BC4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73368" y="1207007"/>
            <a:ext cx="5120640" cy="307777"/>
          </a:xfrm>
          <a:prstGeom prst="rect">
            <a:avLst/>
          </a:prstGeom>
          <a:noFill/>
        </p:spPr>
        <p:txBody>
          <a:bodyPr wrap="square">
            <a:spAutoFit/>
          </a:bodyPr>
          <a:lstStyle/>
          <a:p>
            <a:pPr algn="l"/>
            <a:r>
              <a:rPr lang="en-US" sz="1400" b="1" dirty="0">
                <a:solidFill>
                  <a:srgbClr val="1C1C1C"/>
                </a:solidFill>
                <a:latin typeface="Georgia"/>
              </a:rPr>
              <a:t>Difference from NYRB Project: </a:t>
            </a:r>
            <a:r>
              <a:rPr sz="1400" b="1" dirty="0">
                <a:solidFill>
                  <a:srgbClr val="1C1C1C"/>
                </a:solidFill>
                <a:latin typeface="Georgia"/>
              </a:rPr>
              <a:t>Not market value</a:t>
            </a:r>
          </a:p>
        </p:txBody>
      </p:sp>
      <p:sp>
        <p:nvSpPr>
          <p:cNvPr id="12" name="TextBox 11"/>
          <p:cNvSpPr txBox="1"/>
          <p:nvPr/>
        </p:nvSpPr>
        <p:spPr>
          <a:xfrm>
            <a:off x="6373368" y="1536192"/>
            <a:ext cx="5074920" cy="1005840"/>
          </a:xfrm>
          <a:prstGeom prst="rect">
            <a:avLst/>
          </a:prstGeom>
          <a:noFill/>
        </p:spPr>
        <p:txBody>
          <a:bodyPr wrap="square">
            <a:spAutoFit/>
          </a:bodyPr>
          <a:lstStyle/>
          <a:p>
            <a:pPr>
              <a:spcAft>
                <a:spcPts val="500"/>
              </a:spcAft>
            </a:pPr>
            <a:r>
              <a:rPr sz="1300" b="0">
                <a:solidFill>
                  <a:srgbClr val="555555"/>
                </a:solidFill>
                <a:latin typeface="Calibri"/>
              </a:rPr>
              <a:t>We do not optimize Transfermarkt price. We shortlist portable performance traits for scouting.</a:t>
            </a:r>
          </a:p>
        </p:txBody>
      </p:sp>
      <p:sp>
        <p:nvSpPr>
          <p:cNvPr id="13" name="Rounded Rectangle 12"/>
          <p:cNvSpPr/>
          <p:nvPr/>
        </p:nvSpPr>
        <p:spPr>
          <a:xfrm>
            <a:off x="502920" y="2880360"/>
            <a:ext cx="11109960" cy="777240"/>
          </a:xfrm>
          <a:prstGeom prst="roundRect">
            <a:avLst/>
          </a:prstGeom>
          <a:solidFill>
            <a:srgbClr val="EEF3F8"/>
          </a:solidFill>
          <a:ln>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063240"/>
            <a:ext cx="10698480" cy="292388"/>
          </a:xfrm>
          <a:prstGeom prst="rect">
            <a:avLst/>
          </a:prstGeom>
          <a:noFill/>
        </p:spPr>
        <p:txBody>
          <a:bodyPr wrap="square">
            <a:spAutoFit/>
          </a:bodyPr>
          <a:lstStyle/>
          <a:p>
            <a:pPr>
              <a:spcAft>
                <a:spcPts val="500"/>
              </a:spcAft>
            </a:pPr>
            <a:r>
              <a:rPr sz="1300" b="0">
                <a:solidFill>
                  <a:srgbClr val="333333"/>
                </a:solidFill>
              </a:rPr>
              <a:t>Stability → Redundancy → Pizza/explorer → Success</a:t>
            </a:r>
          </a:p>
        </p:txBody>
      </p:sp>
      <p:sp>
        <p:nvSpPr>
          <p:cNvPr id="15" name="Rounded Rectangle 14"/>
          <p:cNvSpPr/>
          <p:nvPr/>
        </p:nvSpPr>
        <p:spPr>
          <a:xfrm>
            <a:off x="502920" y="3886200"/>
            <a:ext cx="548640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2920" y="3886200"/>
            <a:ext cx="73152" cy="233172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4088" y="3995928"/>
            <a:ext cx="5166360" cy="918200"/>
          </a:xfrm>
          <a:prstGeom prst="rect">
            <a:avLst/>
          </a:prstGeom>
          <a:noFill/>
        </p:spPr>
        <p:txBody>
          <a:bodyPr wrap="square">
            <a:spAutoFit/>
          </a:bodyPr>
          <a:lstStyle/>
          <a:p>
            <a:pPr algn="l">
              <a:spcAft>
                <a:spcPts val="200"/>
              </a:spcAft>
            </a:pPr>
            <a:r>
              <a:rPr sz="1100" b="0">
                <a:solidFill>
                  <a:srgbClr val="333333"/>
                </a:solidFill>
              </a:rPr>
              <a:t>FBref = scaled metrics, larger sample</a:t>
            </a:r>
            <a:endParaRPr sz="1300" b="0" dirty="0">
              <a:solidFill>
                <a:srgbClr val="333333"/>
              </a:solidFill>
              <a:latin typeface="Calibri"/>
            </a:endParaRPr>
          </a:p>
          <a:p>
            <a:r>
              <a:rPr sz="1100" b="0">
                <a:solidFill>
                  <a:srgbClr val="333333"/>
                </a:solidFill>
              </a:rPr>
              <a:t>19 leagues · first Bundesliga season 2021–2025 · ≥300′</a:t>
            </a:r>
          </a:p>
          <a:p>
            <a:r>
              <a:rPr sz="1100" b="0">
                <a:solidFill>
                  <a:srgbClr val="333333"/>
                </a:solidFill>
              </a:rPr>
              <a:t>N=329 pairs</a:t>
            </a:r>
          </a:p>
          <a:p>
            <a:r>
              <a:rPr sz="1100" b="0">
                <a:solidFill>
                  <a:srgbClr val="333333"/>
                </a:solidFill>
              </a:rPr>
              <a:t>105 metrics tested → 43 met stability floor → 32 met redundancy floor (final list)</a:t>
            </a:r>
          </a:p>
          <a:p>
            <a:r>
              <a:rPr sz="1100" b="0">
                <a:solidFill>
                  <a:srgbClr val="333333"/>
                </a:solidFill>
              </a:rPr>
              <a:t>Attacking/Passing/Other: Pearson stability ≥0.60</a:t>
            </a:r>
          </a:p>
          <a:p>
            <a:r>
              <a:rPr sz="1100" b="0">
                <a:solidFill>
                  <a:srgbClr val="333333"/>
                </a:solidFill>
              </a:rPr>
              <a:t>Defending/Carrying: Pearson stability ≥0.50 (lower floor to keep enough defensive volume)</a:t>
            </a:r>
          </a:p>
        </p:txBody>
      </p:sp>
      <p:sp>
        <p:nvSpPr>
          <p:cNvPr id="19" name="Rounded Rectangle 18"/>
          <p:cNvSpPr/>
          <p:nvPr/>
        </p:nvSpPr>
        <p:spPr>
          <a:xfrm>
            <a:off x="6172200" y="3886200"/>
            <a:ext cx="544068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172200" y="3886200"/>
            <a:ext cx="73152" cy="2331720"/>
          </a:xfrm>
          <a:prstGeom prst="rect">
            <a:avLst/>
          </a:prstGeom>
          <a:solidFill>
            <a:srgbClr val="2F9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73368" y="3995928"/>
            <a:ext cx="5120640" cy="931024"/>
          </a:xfrm>
          <a:prstGeom prst="rect">
            <a:avLst/>
          </a:prstGeom>
          <a:noFill/>
        </p:spPr>
        <p:txBody>
          <a:bodyPr wrap="square">
            <a:spAutoFit/>
          </a:bodyPr>
          <a:lstStyle/>
          <a:p>
            <a:pPr algn="l">
              <a:spcAft>
                <a:spcPts val="300"/>
              </a:spcAft>
            </a:pPr>
            <a:r>
              <a:rPr sz="1100" b="0">
                <a:solidFill>
                  <a:srgbClr val="333333"/>
                </a:solidFill>
              </a:rPr>
              <a:t>StatsBomb = metric depth, smaller sample</a:t>
            </a:r>
            <a:endParaRPr sz="1300" b="0" dirty="0">
              <a:solidFill>
                <a:srgbClr val="333333"/>
              </a:solidFill>
              <a:latin typeface="Calibri"/>
            </a:endParaRPr>
          </a:p>
          <a:p>
            <a:r>
              <a:rPr sz="1100" b="0">
                <a:solidFill>
                  <a:srgbClr val="333333"/>
                </a:solidFill>
              </a:rPr>
              <a:t>N=96 · prior ≥45′ / Year 1 in Bundesliga ≥30′</a:t>
            </a:r>
          </a:p>
          <a:p>
            <a:r>
              <a:rPr sz="1100" b="0">
                <a:solidFill>
                  <a:srgbClr val="333333"/>
                </a:solidFill>
              </a:rPr>
              <a:t>Pearson r≥0.40 → 7 of 16 · Pearson |r|≥0.85 keep all 7</a:t>
            </a:r>
          </a:p>
          <a:p>
            <a:r>
              <a:rPr sz="1100" b="0">
                <a:solidFill>
                  <a:srgbClr val="333333"/>
                </a:solidFill>
              </a:rPr>
              <a:t>Priors: 17 competitions · Bundesliga 2015/16 + 2023/24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01168"/>
            <a:ext cx="10972800" cy="256032"/>
          </a:xfrm>
          <a:prstGeom prst="rect">
            <a:avLst/>
          </a:prstGeom>
          <a:noFill/>
        </p:spPr>
        <p:txBody>
          <a:bodyPr wrap="square">
            <a:spAutoFit/>
          </a:bodyPr>
          <a:lstStyle/>
          <a:p>
            <a:pPr algn="l"/>
            <a:r>
              <a:rPr sz="1300" b="1">
                <a:solidFill>
                  <a:srgbClr val="3D5A80"/>
                </a:solidFill>
                <a:latin typeface="Calibri"/>
              </a:rPr>
              <a:t>METHODOLOGY  ·  WHAT THIS IS</a:t>
            </a:r>
          </a:p>
        </p:txBody>
      </p:sp>
      <p:sp>
        <p:nvSpPr>
          <p:cNvPr id="4" name="TextBox 3"/>
          <p:cNvSpPr txBox="1"/>
          <p:nvPr/>
        </p:nvSpPr>
        <p:spPr>
          <a:xfrm>
            <a:off x="502920" y="470597"/>
            <a:ext cx="10972800" cy="461665"/>
          </a:xfrm>
          <a:prstGeom prst="rect">
            <a:avLst/>
          </a:prstGeom>
          <a:noFill/>
        </p:spPr>
        <p:txBody>
          <a:bodyPr wrap="square">
            <a:spAutoFit/>
          </a:bodyPr>
          <a:lstStyle/>
          <a:p>
            <a:pPr algn="l"/>
            <a:r>
              <a:rPr sz="2400" b="1" dirty="0">
                <a:solidFill>
                  <a:srgbClr val="1C1C1C"/>
                </a:solidFill>
                <a:latin typeface="Georgia"/>
              </a:rPr>
              <a:t>Scouting metric evaluation</a:t>
            </a:r>
          </a:p>
        </p:txBody>
      </p:sp>
      <p:sp>
        <p:nvSpPr>
          <p:cNvPr id="5" name="Rounded Rectangle 4"/>
          <p:cNvSpPr/>
          <p:nvPr/>
        </p:nvSpPr>
        <p:spPr>
          <a:xfrm>
            <a:off x="457200" y="960120"/>
            <a:ext cx="11109960" cy="1190526"/>
          </a:xfrm>
          <a:prstGeom prst="roundRect">
            <a:avLst/>
          </a:prstGeom>
          <a:solidFill>
            <a:srgbClr val="EEF3F8"/>
          </a:solidFill>
          <a:ln>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097280"/>
            <a:ext cx="10789920" cy="528350"/>
          </a:xfrm>
          <a:prstGeom prst="rect">
            <a:avLst/>
          </a:prstGeom>
          <a:noFill/>
        </p:spPr>
        <p:txBody>
          <a:bodyPr wrap="square">
            <a:spAutoFit/>
          </a:bodyPr>
          <a:lstStyle/>
          <a:p>
            <a:pPr>
              <a:spcAft>
                <a:spcPts val="400"/>
              </a:spcAft>
            </a:pPr>
            <a:r>
              <a:rPr sz="1200">
                <a:solidFill>
                  <a:srgbClr val="333333"/>
                </a:solidFill>
              </a:rPr>
              <a:t>Applied sports analytics / metric selection (NYRB-style framework).</a:t>
            </a:r>
          </a:p>
          <a:p>
            <a:r>
              <a:rPr sz="1200">
                <a:solidFill>
                  <a:srgbClr val="333333"/>
                </a:solidFill>
              </a:rPr>
              <a:t/>
            </a:r>
          </a:p>
          <a:p>
            <a:r>
              <a:rPr sz="1200">
                <a:solidFill>
                  <a:srgbClr val="333333"/>
                </a:solidFill>
              </a:rPr>
              <a:t>Pearson r = stability: does a player’s ranking on a rate in the prior league tend to show up again in Year 1 in the Bundesliga?</a:t>
            </a:r>
          </a:p>
          <a:p>
            <a:r>
              <a:rPr sz="1200">
                <a:solidFill>
                  <a:srgbClr val="333333"/>
                </a:solidFill>
              </a:rPr>
              <a:t/>
            </a:r>
          </a:p>
          <a:p>
            <a:r>
              <a:rPr sz="1200">
                <a:solidFill>
                  <a:srgbClr val="333333"/>
                </a:solidFill>
              </a:rPr>
              <a:t>Success = more minutes in Year 1 in the Bundesliga (playing time), not goals or market value. Spearman ρ asks whether higher prior trait ranks line up with more first-season minutes.</a:t>
            </a:r>
          </a:p>
          <a:p>
            <a:r>
              <a:rPr sz="1200">
                <a:solidFill>
                  <a:srgbClr val="333333"/>
                </a:solidFill>
              </a:rPr>
              <a:t/>
            </a:r>
          </a:p>
          <a:p>
            <a:r>
              <a:rPr sz="1200">
                <a:solidFill>
                  <a:srgbClr val="333333"/>
                </a:solidFill>
              </a:rPr>
              <a:t>Redundancy = drop near-duplicate metrics. Percentiles = rank vs Bundesliga position peers.</a:t>
            </a:r>
          </a:p>
        </p:txBody>
      </p:sp>
      <p:sp>
        <p:nvSpPr>
          <p:cNvPr id="7" name="Rounded Rectangle 6"/>
          <p:cNvSpPr/>
          <p:nvPr/>
        </p:nvSpPr>
        <p:spPr>
          <a:xfrm>
            <a:off x="457200" y="2844014"/>
            <a:ext cx="365760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2844014"/>
            <a:ext cx="73152" cy="2331720"/>
          </a:xfrm>
          <a:prstGeom prst="rect">
            <a:avLst/>
          </a:prstGeom>
          <a:solidFill>
            <a:srgbClr val="1B7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953742"/>
            <a:ext cx="3337560" cy="338554"/>
          </a:xfrm>
          <a:prstGeom prst="rect">
            <a:avLst/>
          </a:prstGeom>
          <a:noFill/>
        </p:spPr>
        <p:txBody>
          <a:bodyPr wrap="square">
            <a:spAutoFit/>
          </a:bodyPr>
          <a:lstStyle/>
          <a:p>
            <a:pPr algn="l">
              <a:spcAft>
                <a:spcPts val="400"/>
              </a:spcAft>
            </a:pPr>
            <a:r>
              <a:rPr lang="en-US" sz="1600" b="1" dirty="0">
                <a:solidFill>
                  <a:srgbClr val="222222"/>
                </a:solidFill>
              </a:rPr>
              <a:t>Measurables</a:t>
            </a:r>
            <a:endParaRPr sz="1600" b="1" dirty="0">
              <a:solidFill>
                <a:srgbClr val="222222"/>
              </a:solidFill>
            </a:endParaRPr>
          </a:p>
        </p:txBody>
      </p:sp>
      <p:sp>
        <p:nvSpPr>
          <p:cNvPr id="10" name="TextBox 9"/>
          <p:cNvSpPr txBox="1"/>
          <p:nvPr/>
        </p:nvSpPr>
        <p:spPr>
          <a:xfrm>
            <a:off x="640080" y="3282926"/>
            <a:ext cx="3291840" cy="995144"/>
          </a:xfrm>
          <a:prstGeom prst="rect">
            <a:avLst/>
          </a:prstGeom>
          <a:noFill/>
        </p:spPr>
        <p:txBody>
          <a:bodyPr wrap="square">
            <a:spAutoFit/>
          </a:bodyPr>
          <a:lstStyle/>
          <a:p>
            <a:pPr>
              <a:spcAft>
                <a:spcPts val="400"/>
              </a:spcAft>
            </a:pPr>
            <a:r>
              <a:rPr sz="1300" b="0" dirty="0">
                <a:solidFill>
                  <a:srgbClr val="333333"/>
                </a:solidFill>
              </a:rPr>
              <a:t>Trait portability — prior ↔ Year 1 in Bundesliga stability r</a:t>
            </a:r>
          </a:p>
          <a:p>
            <a:pPr>
              <a:spcAft>
                <a:spcPts val="400"/>
              </a:spcAft>
            </a:pPr>
            <a:r>
              <a:rPr lang="en-US" sz="1300" b="0" dirty="0">
                <a:solidFill>
                  <a:srgbClr val="333333"/>
                </a:solidFill>
              </a:rPr>
              <a:t>Removed </a:t>
            </a:r>
            <a:r>
              <a:rPr lang="en-US" sz="1300" dirty="0">
                <a:solidFill>
                  <a:srgbClr val="333333"/>
                </a:solidFill>
              </a:rPr>
              <a:t>n</a:t>
            </a:r>
            <a:r>
              <a:rPr sz="1300" b="0" dirty="0">
                <a:solidFill>
                  <a:srgbClr val="333333"/>
                </a:solidFill>
              </a:rPr>
              <a:t>ear-duplicates — </a:t>
            </a:r>
            <a:r>
              <a:rPr sz="1300" b="0" dirty="0" err="1">
                <a:solidFill>
                  <a:srgbClr val="333333"/>
                </a:solidFill>
              </a:rPr>
              <a:t>FBref</a:t>
            </a:r>
            <a:r>
              <a:rPr sz="1300" b="0" dirty="0">
                <a:solidFill>
                  <a:srgbClr val="333333"/>
                </a:solidFill>
              </a:rPr>
              <a:t> |r|≥0.95 · </a:t>
            </a:r>
            <a:r>
              <a:rPr lang="en-US" sz="1300" b="0" dirty="0" err="1">
                <a:solidFill>
                  <a:srgbClr val="333333"/>
                </a:solidFill>
              </a:rPr>
              <a:t>Statsbomb</a:t>
            </a:r>
            <a:r>
              <a:rPr lang="en-US" sz="1300" b="0" dirty="0">
                <a:solidFill>
                  <a:srgbClr val="333333"/>
                </a:solidFill>
              </a:rPr>
              <a:t> (SB)</a:t>
            </a:r>
            <a:r>
              <a:rPr sz="1300" b="0" dirty="0">
                <a:solidFill>
                  <a:srgbClr val="333333"/>
                </a:solidFill>
              </a:rPr>
              <a:t> |r|≥0.85</a:t>
            </a:r>
          </a:p>
          <a:p>
            <a:pPr>
              <a:spcAft>
                <a:spcPts val="400"/>
              </a:spcAft>
            </a:pPr>
            <a:r>
              <a:rPr sz="1300" b="0" dirty="0">
                <a:solidFill>
                  <a:srgbClr val="333333"/>
                </a:solidFill>
              </a:rPr>
              <a:t>Year 1 in Bundesliga profile strength — stable-trait score</a:t>
            </a:r>
          </a:p>
        </p:txBody>
      </p:sp>
      <p:sp>
        <p:nvSpPr>
          <p:cNvPr id="11" name="Rounded Rectangle 10"/>
          <p:cNvSpPr/>
          <p:nvPr/>
        </p:nvSpPr>
        <p:spPr>
          <a:xfrm>
            <a:off x="4297680" y="2844014"/>
            <a:ext cx="365760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97680" y="2844014"/>
            <a:ext cx="73152" cy="2331720"/>
          </a:xfrm>
          <a:prstGeom prst="rect">
            <a:avLst/>
          </a:prstGeom>
          <a:solidFill>
            <a:srgbClr val="BC4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2953742"/>
            <a:ext cx="3337560" cy="338554"/>
          </a:xfrm>
          <a:prstGeom prst="rect">
            <a:avLst/>
          </a:prstGeom>
          <a:noFill/>
        </p:spPr>
        <p:txBody>
          <a:bodyPr wrap="square">
            <a:spAutoFit/>
          </a:bodyPr>
          <a:lstStyle/>
          <a:p>
            <a:pPr algn="l">
              <a:spcAft>
                <a:spcPts val="400"/>
              </a:spcAft>
            </a:pPr>
            <a:r>
              <a:rPr lang="en-US" sz="1600" b="1" dirty="0">
                <a:solidFill>
                  <a:srgbClr val="222222"/>
                </a:solidFill>
              </a:rPr>
              <a:t>Disclaimer</a:t>
            </a:r>
            <a:endParaRPr sz="1600" b="1" dirty="0">
              <a:solidFill>
                <a:srgbClr val="222222"/>
              </a:solidFill>
            </a:endParaRPr>
          </a:p>
        </p:txBody>
      </p:sp>
      <p:sp>
        <p:nvSpPr>
          <p:cNvPr id="14" name="TextBox 13"/>
          <p:cNvSpPr txBox="1"/>
          <p:nvPr/>
        </p:nvSpPr>
        <p:spPr>
          <a:xfrm>
            <a:off x="4480560" y="3282926"/>
            <a:ext cx="3291840" cy="1395254"/>
          </a:xfrm>
          <a:prstGeom prst="rect">
            <a:avLst/>
          </a:prstGeom>
          <a:noFill/>
        </p:spPr>
        <p:txBody>
          <a:bodyPr wrap="square">
            <a:spAutoFit/>
          </a:bodyPr>
          <a:lstStyle/>
          <a:p>
            <a:pPr>
              <a:spcAft>
                <a:spcPts val="400"/>
              </a:spcAft>
            </a:pPr>
            <a:r>
              <a:rPr sz="1300" b="0" dirty="0">
                <a:solidFill>
                  <a:srgbClr val="333333"/>
                </a:solidFill>
              </a:rPr>
              <a:t>Not a production forecast of goals, minutes, or “success.”</a:t>
            </a:r>
          </a:p>
          <a:p>
            <a:pPr>
              <a:spcAft>
                <a:spcPts val="400"/>
              </a:spcAft>
            </a:pPr>
            <a:r>
              <a:rPr sz="1300" b="0" dirty="0">
                <a:solidFill>
                  <a:srgbClr val="333333"/>
                </a:solidFill>
              </a:rPr>
              <a:t>Stability ≠ “</a:t>
            </a:r>
            <a:r>
              <a:rPr lang="en-US" sz="1300" dirty="0">
                <a:solidFill>
                  <a:srgbClr val="333333"/>
                </a:solidFill>
              </a:rPr>
              <a:t>player is primed for success</a:t>
            </a:r>
            <a:r>
              <a:rPr sz="1300" b="0" dirty="0">
                <a:solidFill>
                  <a:srgbClr val="333333"/>
                </a:solidFill>
              </a:rPr>
              <a:t>” — it means the ranking tends to travel.</a:t>
            </a:r>
          </a:p>
          <a:p>
            <a:pPr>
              <a:spcAft>
                <a:spcPts val="400"/>
              </a:spcAft>
            </a:pPr>
            <a:r>
              <a:rPr sz="1300" b="0" dirty="0">
                <a:solidFill>
                  <a:srgbClr val="333333"/>
                </a:solidFill>
              </a:rPr>
              <a:t>OLS</a:t>
            </a:r>
            <a:r>
              <a:rPr lang="en-US" sz="1300" dirty="0">
                <a:solidFill>
                  <a:srgbClr val="333333"/>
                </a:solidFill>
              </a:rPr>
              <a:t> </a:t>
            </a:r>
            <a:r>
              <a:rPr sz="1300" b="0" dirty="0">
                <a:solidFill>
                  <a:srgbClr val="333333"/>
                </a:solidFill>
              </a:rPr>
              <a:t>is exploratory (Big-5 N=117), not club-grade validation.</a:t>
            </a:r>
          </a:p>
        </p:txBody>
      </p:sp>
      <p:sp>
        <p:nvSpPr>
          <p:cNvPr id="15" name="Rounded Rectangle 14"/>
          <p:cNvSpPr/>
          <p:nvPr/>
        </p:nvSpPr>
        <p:spPr>
          <a:xfrm>
            <a:off x="8138160" y="2844014"/>
            <a:ext cx="356616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2844014"/>
            <a:ext cx="73152" cy="233172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2953742"/>
            <a:ext cx="3246120" cy="338554"/>
          </a:xfrm>
          <a:prstGeom prst="rect">
            <a:avLst/>
          </a:prstGeom>
          <a:noFill/>
        </p:spPr>
        <p:txBody>
          <a:bodyPr wrap="square">
            <a:spAutoFit/>
          </a:bodyPr>
          <a:lstStyle/>
          <a:p>
            <a:pPr algn="l">
              <a:spcAft>
                <a:spcPts val="400"/>
              </a:spcAft>
            </a:pPr>
            <a:r>
              <a:rPr lang="en-US" sz="1600" b="1" dirty="0">
                <a:solidFill>
                  <a:srgbClr val="222222"/>
                </a:solidFill>
              </a:rPr>
              <a:t>Data science methods</a:t>
            </a:r>
            <a:endParaRPr sz="1600" b="1" dirty="0">
              <a:solidFill>
                <a:srgbClr val="222222"/>
              </a:solidFill>
            </a:endParaRPr>
          </a:p>
        </p:txBody>
      </p:sp>
      <p:sp>
        <p:nvSpPr>
          <p:cNvPr id="18" name="TextBox 17"/>
          <p:cNvSpPr txBox="1"/>
          <p:nvPr/>
        </p:nvSpPr>
        <p:spPr>
          <a:xfrm>
            <a:off x="8321040" y="3282926"/>
            <a:ext cx="3200400" cy="1783079"/>
          </a:xfrm>
          <a:prstGeom prst="rect">
            <a:avLst/>
          </a:prstGeom>
          <a:noFill/>
        </p:spPr>
        <p:txBody>
          <a:bodyPr wrap="square">
            <a:spAutoFit/>
          </a:bodyPr>
          <a:lstStyle/>
          <a:p>
            <a:pPr>
              <a:spcAft>
                <a:spcPts val="400"/>
              </a:spcAft>
            </a:pPr>
            <a:r>
              <a:rPr sz="1300" b="0">
                <a:solidFill>
                  <a:srgbClr val="333333"/>
                </a:solidFill>
              </a:rPr>
              <a:t>Cohort design + joins</a:t>
            </a:r>
          </a:p>
          <a:p>
            <a:pPr>
              <a:spcAft>
                <a:spcPts val="400"/>
              </a:spcAft>
            </a:pPr>
            <a:r>
              <a:rPr sz="1300" b="0">
                <a:solidFill>
                  <a:srgbClr val="333333"/>
                </a:solidFill>
              </a:rPr>
              <a:t>Correlation / feature screening</a:t>
            </a:r>
          </a:p>
          <a:p>
            <a:pPr>
              <a:spcAft>
                <a:spcPts val="400"/>
              </a:spcAft>
            </a:pPr>
            <a:r>
              <a:rPr sz="1300" b="0">
                <a:solidFill>
                  <a:srgbClr val="333333"/>
                </a:solidFill>
              </a:rPr>
              <a:t>Redundancy pruning</a:t>
            </a:r>
          </a:p>
          <a:p>
            <a:pPr>
              <a:spcAft>
                <a:spcPts val="400"/>
              </a:spcAft>
            </a:pPr>
            <a:r>
              <a:rPr sz="1300" b="0">
                <a:solidFill>
                  <a:srgbClr val="333333"/>
                </a:solidFill>
              </a:rPr>
              <a:t>Peer percentiles + explorer</a:t>
            </a:r>
          </a:p>
          <a:p>
            <a:pPr>
              <a:spcAft>
                <a:spcPts val="400"/>
              </a:spcAft>
            </a:pPr>
            <a:r>
              <a:rPr sz="1300" b="0">
                <a:solidFill>
                  <a:srgbClr val="333333"/>
                </a:solidFill>
              </a:rPr>
              <a:t>Human Step-2 selection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640080"/>
          </a:xfrm>
          <a:prstGeom prst="rect">
            <a:avLst/>
          </a:prstGeom>
          <a:noFill/>
        </p:spPr>
        <p:txBody>
          <a:bodyPr wrap="square">
            <a:spAutoFit/>
          </a:bodyPr>
          <a:lstStyle/>
          <a:p>
            <a:pPr>
              <a:spcAft>
                <a:spcPts val="300"/>
              </a:spcAft>
            </a:pPr>
            <a:r>
              <a:rPr sz="2800" b="1">
                <a:solidFill>
                  <a:srgbClr val="3D5A80"/>
                </a:solidFill>
                <a:latin typeface="Calibri"/>
              </a:rPr>
              <a:t>DATA  ·  FBREF (PRIMARY)</a:t>
            </a:r>
          </a:p>
        </p:txBody>
      </p:sp>
      <p:sp>
        <p:nvSpPr>
          <p:cNvPr id="4" name="TextBox 3"/>
          <p:cNvSpPr txBox="1"/>
          <p:nvPr/>
        </p:nvSpPr>
        <p:spPr>
          <a:xfrm>
            <a:off x="548640" y="960120"/>
            <a:ext cx="10972800" cy="307777"/>
          </a:xfrm>
          <a:prstGeom prst="rect">
            <a:avLst/>
          </a:prstGeom>
          <a:noFill/>
        </p:spPr>
        <p:txBody>
          <a:bodyPr wrap="square">
            <a:spAutoFit/>
          </a:bodyPr>
          <a:lstStyle/>
          <a:p>
            <a:pPr>
              <a:spcAft>
                <a:spcPts val="300"/>
              </a:spcAft>
            </a:pPr>
            <a:r>
              <a:rPr sz="1400" b="0" dirty="0">
                <a:solidFill>
                  <a:srgbClr val="555555"/>
                </a:solidFill>
                <a:latin typeface="Calibri"/>
              </a:rPr>
              <a:t>Scale layer — inbound</a:t>
            </a:r>
            <a:r>
              <a:rPr lang="en-US" sz="1400" b="0" dirty="0">
                <a:solidFill>
                  <a:srgbClr val="555555"/>
                </a:solidFill>
                <a:latin typeface="Calibri"/>
              </a:rPr>
              <a:t> leagues</a:t>
            </a:r>
            <a:r>
              <a:rPr sz="1400" b="0" dirty="0">
                <a:solidFill>
                  <a:srgbClr val="555555"/>
                </a:solidFill>
                <a:latin typeface="Calibri"/>
              </a:rPr>
              <a:t> → Bundesliga</a:t>
            </a:r>
          </a:p>
        </p:txBody>
      </p:sp>
      <p:sp>
        <p:nvSpPr>
          <p:cNvPr id="5" name="TextBox 4"/>
          <p:cNvSpPr txBox="1"/>
          <p:nvPr/>
        </p:nvSpPr>
        <p:spPr>
          <a:xfrm>
            <a:off x="548640" y="1463040"/>
            <a:ext cx="8876714" cy="2357056"/>
          </a:xfrm>
          <a:prstGeom prst="rect">
            <a:avLst/>
          </a:prstGeom>
          <a:solidFill>
            <a:schemeClr val="bg1">
              <a:lumMod val="75000"/>
            </a:schemeClr>
          </a:solidFill>
          <a:ln w="19050">
            <a:solidFill>
              <a:srgbClr val="002060"/>
            </a:solidFill>
          </a:ln>
        </p:spPr>
        <p:txBody>
          <a:bodyPr wrap="square">
            <a:spAutoFit/>
          </a:bodyPr>
          <a:lstStyle/>
          <a:p>
            <a:pPr>
              <a:spcAft>
                <a:spcPts val="200"/>
              </a:spcAft>
            </a:pPr>
            <a:r>
              <a:rPr sz="1200" b="0">
                <a:solidFill>
                  <a:srgbClr val="333333"/>
                </a:solidFill>
              </a:rPr>
              <a:t>What we use</a:t>
            </a:r>
          </a:p>
          <a:p>
            <a:r>
              <a:rPr sz="1200" b="0">
                <a:solidFill>
                  <a:srgbClr val="333333"/>
                </a:solidFill>
              </a:rPr>
              <a:t/>
            </a:r>
          </a:p>
          <a:p>
            <a:r>
              <a:rPr sz="1200" b="0">
                <a:solidFill>
                  <a:srgbClr val="333333"/>
                </a:solidFill>
              </a:rPr>
              <a:t>Outside-league tables + player-page fills</a:t>
            </a:r>
          </a:p>
          <a:p>
            <a:r>
              <a:rPr sz="1200" b="0">
                <a:solidFill>
                  <a:srgbClr val="333333"/>
                </a:solidFill>
              </a:rPr>
              <a:t>Analysis window: first Bundesliga end-years 2021–2025</a:t>
            </a:r>
          </a:p>
          <a:p>
            <a:r>
              <a:rPr sz="1200" b="0">
                <a:solidFill>
                  <a:srgbClr val="333333"/>
                </a:solidFill>
              </a:rPr>
              <a:t>Minutes: prior ≥300′ · Year 1 in Bundesliga ≥300′ → N=329 pairs · 19 leagues</a:t>
            </a:r>
          </a:p>
          <a:p>
            <a:r>
              <a:rPr sz="1200" b="0">
                <a:solidFill>
                  <a:srgbClr val="333333"/>
                </a:solidFill>
              </a:rPr>
              <a:t/>
            </a:r>
          </a:p>
          <a:p>
            <a:r>
              <a:rPr sz="1200" b="0">
                <a:solidFill>
                  <a:srgbClr val="333333"/>
                </a:solidFill>
              </a:rPr>
              <a:t>League-relative scaling (mentioned once): we tried “how high vs peers in the same prior league” (z-score / percentile). It did not improve prior→Year 1 stability, so we keep absolute per-90 rates everywhere.</a:t>
            </a:r>
          </a:p>
          <a:p>
            <a:r>
              <a:rPr sz="1200" b="0">
                <a:solidFill>
                  <a:srgbClr val="333333"/>
                </a:solidFill>
              </a:rPr>
              <a:t/>
            </a:r>
          </a:p>
          <a:p>
            <a:r>
              <a:rPr sz="1200" b="0">
                <a:solidFill>
                  <a:srgbClr val="333333"/>
                </a:solidFill>
              </a:rPr>
              <a:t>Window · 2021–2025 · ≥300′ both sides · N=329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640080"/>
          </a:xfrm>
          <a:prstGeom prst="rect">
            <a:avLst/>
          </a:prstGeom>
          <a:noFill/>
        </p:spPr>
        <p:txBody>
          <a:bodyPr wrap="square">
            <a:spAutoFit/>
          </a:bodyPr>
          <a:lstStyle/>
          <a:p>
            <a:pPr>
              <a:spcAft>
                <a:spcPts val="300"/>
              </a:spcAft>
            </a:pPr>
            <a:r>
              <a:rPr sz="2800" b="1">
                <a:solidFill>
                  <a:srgbClr val="3D5A80"/>
                </a:solidFill>
                <a:latin typeface="Calibri"/>
              </a:rPr>
              <a:t>DATA  ·  STATSBOMB OPEN DATA (DEEP DIVE)</a:t>
            </a:r>
          </a:p>
        </p:txBody>
      </p:sp>
      <p:sp>
        <p:nvSpPr>
          <p:cNvPr id="5" name="TextBox 4"/>
          <p:cNvSpPr txBox="1"/>
          <p:nvPr/>
        </p:nvSpPr>
        <p:spPr>
          <a:xfrm>
            <a:off x="548640" y="1463040"/>
            <a:ext cx="5303520" cy="4754880"/>
          </a:xfrm>
          <a:prstGeom prst="rect">
            <a:avLst/>
          </a:prstGeom>
          <a:noFill/>
          <a:ln w="19050">
            <a:solidFill>
              <a:srgbClr val="002060"/>
            </a:solidFill>
          </a:ln>
        </p:spPr>
        <p:txBody>
          <a:bodyPr wrap="square">
            <a:spAutoFit/>
          </a:bodyPr>
          <a:lstStyle/>
          <a:p>
            <a:pPr>
              <a:spcAft>
                <a:spcPts val="300"/>
              </a:spcAft>
            </a:pPr>
            <a:r>
              <a:rPr sz="1100">
                <a:solidFill>
                  <a:srgbClr val="333333"/>
                </a:solidFill>
              </a:rPr>
              <a:t>What we use</a:t>
            </a:r>
          </a:p>
          <a:p>
            <a:r>
              <a:rPr sz="1100">
                <a:solidFill>
                  <a:srgbClr val="333333"/>
                </a:solidFill>
              </a:rPr>
              <a:t/>
            </a:r>
          </a:p>
          <a:p>
            <a:r>
              <a:rPr sz="1100">
                <a:solidFill>
                  <a:srgbClr val="333333"/>
                </a:solidFill>
              </a:rPr>
              <a:t>“Open” means free public StatsBomb match files anyone can download — not a paid data feed. Priors come from those open men’s competitions the player appeared in before the Bundesliga (club leagues and tournaments such as the World Cup, European Championship, and Champions League).</a:t>
            </a:r>
          </a:p>
          <a:p>
            <a:r>
              <a:rPr sz="1100">
                <a:solidFill>
                  <a:srgbClr val="333333"/>
                </a:solidFill>
              </a:rPr>
              <a:t>Bundesliga open dumps available: 2015/16 + 2023/24 only</a:t>
            </a:r>
          </a:p>
          <a:p>
            <a:r>
              <a:rPr sz="1100">
                <a:solidFill>
                  <a:srgbClr val="333333"/>
                </a:solidFill>
              </a:rPr>
              <a:t>N=96 · prior ≥45′ · Year 1 in Bundesliga ≥30′</a:t>
            </a:r>
          </a:p>
          <a:p>
            <a:r>
              <a:rPr sz="1100">
                <a:solidFill>
                  <a:srgbClr val="333333"/>
                </a:solidFill>
              </a:rPr>
              <a:t>Pearson r≥0.40 → 7 · Pearson |r|≥0.85 → keep all 7</a:t>
            </a:r>
          </a:p>
          <a:p>
            <a:r>
              <a:rPr sz="1100">
                <a:solidFill>
                  <a:srgbClr val="333333"/>
                </a:solidFill>
              </a:rPr>
              <a:t/>
            </a:r>
          </a:p>
          <a:p>
            <a:r>
              <a:rPr sz="1100">
                <a:solidFill>
                  <a:srgbClr val="333333"/>
                </a:solidFill>
              </a:rPr>
              <a:t>Open-data thinness · two Bundesliga seasons · event check</a:t>
            </a:r>
          </a:p>
        </p:txBody>
      </p:sp>
      <p:sp>
        <p:nvSpPr>
          <p:cNvPr id="6" name="TextBox 5"/>
          <p:cNvSpPr txBox="1"/>
          <p:nvPr/>
        </p:nvSpPr>
        <p:spPr>
          <a:xfrm>
            <a:off x="6126480" y="1463040"/>
            <a:ext cx="5303520" cy="4754880"/>
          </a:xfrm>
          <a:prstGeom prst="rect">
            <a:avLst/>
          </a:prstGeom>
          <a:noFill/>
          <a:ln w="19050">
            <a:solidFill>
              <a:srgbClr val="002060"/>
            </a:solidFill>
          </a:ln>
        </p:spPr>
        <p:txBody>
          <a:bodyPr wrap="square">
            <a:spAutoFit/>
          </a:bodyPr>
          <a:lstStyle/>
          <a:p>
            <a:pPr>
              <a:spcAft>
                <a:spcPts val="200"/>
              </a:spcAft>
            </a:pPr>
            <a:r>
              <a:rPr sz="1200" b="0">
                <a:solidFill>
                  <a:srgbClr val="333333"/>
                </a:solidFill>
              </a:rPr>
              <a:t>vs FBref</a:t>
            </a:r>
            <a:endParaRPr sz="1300" b="0" dirty="0">
              <a:solidFill>
                <a:srgbClr val="333333"/>
              </a:solidFill>
              <a:latin typeface="Calibri"/>
            </a:endParaRPr>
          </a:p>
          <a:p>
            <a:r>
              <a:rPr sz="1200" b="0">
                <a:solidFill>
                  <a:srgbClr val="333333"/>
                </a:solidFill>
              </a:rPr>
              <a:t>Same pipeline; thinner year coverage by design.</a:t>
            </a:r>
          </a:p>
          <a:p>
            <a:r>
              <a:rPr sz="1200" b="0">
                <a:solidFill>
                  <a:srgbClr val="333333"/>
                </a:solidFill>
              </a:rPr>
              <a:t>Event check on trait families — not a second league-ranking study.</a:t>
            </a:r>
          </a:p>
          <a:p>
            <a:r>
              <a:rPr sz="1200" b="0">
                <a:solidFill>
                  <a:srgbClr val="333333"/>
                </a:solidFill>
              </a:rPr>
              <a:t>Priors mix club + international competitions, so feeder tables here are directional only.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6411"/>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300110"/>
            <a:ext cx="10972800" cy="292388"/>
          </a:xfrm>
          <a:prstGeom prst="rect">
            <a:avLst/>
          </a:prstGeom>
          <a:noFill/>
        </p:spPr>
        <p:txBody>
          <a:bodyPr wrap="square">
            <a:spAutoFit/>
          </a:bodyPr>
          <a:lstStyle/>
          <a:p>
            <a:pPr algn="l"/>
            <a:r>
              <a:rPr sz="1300" b="1" dirty="0">
                <a:solidFill>
                  <a:srgbClr val="3D5A80"/>
                </a:solidFill>
                <a:latin typeface="Calibri"/>
              </a:rPr>
              <a:t>STABILITY (FBREF)</a:t>
            </a:r>
            <a:r>
              <a:rPr lang="en-US" sz="1300" b="1" dirty="0">
                <a:solidFill>
                  <a:srgbClr val="3D5A80"/>
                </a:solidFill>
                <a:latin typeface="Calibri"/>
              </a:rPr>
              <a:t> top metrics</a:t>
            </a:r>
            <a:endParaRPr sz="1300" b="1" dirty="0">
              <a:solidFill>
                <a:srgbClr val="3D5A80"/>
              </a:solidFill>
              <a:latin typeface="Calibri"/>
            </a:endParaRPr>
          </a:p>
        </p:txBody>
      </p:sp>
      <p:sp>
        <p:nvSpPr>
          <p:cNvPr id="4" name="TextBox 3"/>
          <p:cNvSpPr txBox="1"/>
          <p:nvPr/>
        </p:nvSpPr>
        <p:spPr>
          <a:xfrm>
            <a:off x="411480" y="1118846"/>
            <a:ext cx="3036279" cy="2569934"/>
          </a:xfrm>
          <a:prstGeom prst="rect">
            <a:avLst/>
          </a:prstGeom>
          <a:noFill/>
        </p:spPr>
        <p:txBody>
          <a:bodyPr wrap="square">
            <a:spAutoFit/>
          </a:bodyPr>
          <a:lstStyle/>
          <a:p>
            <a:pPr marL="171450" indent="-171450" algn="l">
              <a:spcAft>
                <a:spcPts val="300"/>
              </a:spcAft>
              <a:buFont typeface="Arial" panose="020B0604020202020204" pitchFamily="34" charset="0"/>
              <a:buChar char="•"/>
            </a:pPr>
            <a:r>
              <a:rPr sz="1200" b="0">
                <a:solidFill>
                  <a:srgbClr val="333333"/>
                </a:solidFill>
              </a:rPr>
              <a:t>Prior league → first Bundesliga season (end-years 2021–2025)</a:t>
            </a:r>
            <a:endParaRPr lang="en-US" sz="1200" b="0" dirty="0">
              <a:solidFill>
                <a:srgbClr val="333333"/>
              </a:solidFill>
            </a:endParaRPr>
          </a:p>
          <a:p>
            <a:r>
              <a:rPr sz="1200" b="0">
                <a:solidFill>
                  <a:srgbClr val="333333"/>
                </a:solidFill>
              </a:rPr>
              <a:t/>
            </a:r>
          </a:p>
          <a:p>
            <a:r>
              <a:rPr sz="1200" b="0">
                <a:solidFill>
                  <a:srgbClr val="333333"/>
                </a:solidFill>
              </a:rPr>
              <a:t>Paired N=329 · 19 leagues · minutes ≥300′ both sides</a:t>
            </a:r>
          </a:p>
          <a:p>
            <a:r>
              <a:rPr sz="1200" b="0">
                <a:solidFill>
                  <a:srgbClr val="333333"/>
                </a:solidFill>
              </a:rPr>
              <a:t/>
            </a:r>
          </a:p>
          <a:p>
            <a:r>
              <a:rPr sz="1200" b="0">
                <a:solidFill>
                  <a:srgbClr val="333333"/>
                </a:solidFill>
              </a:rPr>
              <a:t>Category gates (not one global cut):</a:t>
            </a:r>
          </a:p>
          <a:p>
            <a:r>
              <a:rPr sz="1200" b="0">
                <a:solidFill>
                  <a:srgbClr val="333333"/>
                </a:solidFill>
              </a:rPr>
              <a:t>Attacking / Passing / Other · Pearson r ≥ 0.60</a:t>
            </a:r>
          </a:p>
          <a:p>
            <a:r>
              <a:rPr sz="1200" b="0">
                <a:solidFill>
                  <a:srgbClr val="333333"/>
                </a:solidFill>
              </a:rPr>
              <a:t>Defending / Carrying · Pearson r ≥ 0.50</a:t>
            </a:r>
          </a:p>
          <a:p>
            <a:r>
              <a:rPr sz="1200" b="0">
                <a:solidFill>
                  <a:srgbClr val="333333"/>
                </a:solidFill>
              </a:rPr>
              <a:t>43 of 105 metrics pass → redundancy next</a:t>
            </a:r>
          </a:p>
          <a:p>
            <a:r>
              <a:rPr sz="1200" b="0">
                <a:solidFill>
                  <a:srgbClr val="333333"/>
                </a:solidFill>
              </a:rPr>
              <a:t/>
            </a:r>
          </a:p>
          <a:p>
            <a:r>
              <a:rPr sz="1200" b="0">
                <a:solidFill>
                  <a:srgbClr val="333333"/>
                </a:solidFill>
              </a:rPr>
              <a:t>Metric codes: see Glossary slide.</a:t>
            </a:r>
          </a:p>
          <a:p>
            <a:r>
              <a:rPr sz="1200" b="0">
                <a:solidFill>
                  <a:srgbClr val="333333"/>
                </a:solidFill>
              </a:rPr>
              <a:t>Unstable metrics (the other 62) miss the floor — non-portable; listed in the inspector.</a:t>
            </a:r>
          </a:p>
        </p:txBody>
      </p:sp>
      <p:graphicFrame>
        <p:nvGraphicFramePr>
          <p:cNvPr id="6" name="Table 5"/>
          <p:cNvGraphicFramePr>
            <a:graphicFrameLocks noGrp="1"/>
          </p:cNvGraphicFramePr>
          <p:nvPr>
            <p:extLst>
              <p:ext uri="{D42A27DB-BD31-4B8C-83A1-F6EECF244321}">
                <p14:modId xmlns:p14="http://schemas.microsoft.com/office/powerpoint/2010/main" val="856127445"/>
              </p:ext>
            </p:extLst>
          </p:nvPr>
        </p:nvGraphicFramePr>
        <p:xfrm>
          <a:off x="3447759" y="658148"/>
          <a:ext cx="8321040" cy="512064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26422">
                <a:tc>
                  <a:txBody>
                    <a:bodyPr/>
                    <a:lstStyle/>
                    <a:p>
                      <a:r>
                        <a:t>Code</a:t>
                      </a:r>
                    </a:p>
                  </a:txBody>
                  <a:tcPr>
                    <a:solidFill>
                      <a:srgbClr val="1C1C1C"/>
                    </a:solidFill>
                  </a:tcPr>
                </a:tc>
                <a:tc>
                  <a:txBody>
                    <a:bodyPr/>
                    <a:lstStyle/>
                    <a:p>
                      <a:r>
                        <a:t>Metric (full name)</a:t>
                      </a:r>
                    </a:p>
                  </a:txBody>
                  <a:tcPr>
                    <a:solidFill>
                      <a:srgbClr val="1C1C1C"/>
                    </a:solidFill>
                  </a:tcPr>
                </a:tc>
                <a:tc>
                  <a:txBody>
                    <a:bodyPr/>
                    <a:lstStyle/>
                    <a:p>
                      <a:pPr>
                        <a:defRPr sz="1100" b="1">
                          <a:solidFill>
                            <a:srgbClr val="FFFFFF"/>
                          </a:solidFill>
                          <a:latin typeface="Calibri"/>
                        </a:defRPr>
                      </a:pPr>
                      <a:r>
                        <a:rPr sz="1000" b="1" dirty="0">
                          <a:solidFill>
                            <a:schemeClr val="bg1"/>
                          </a:solidFill>
                        </a:rPr>
                        <a:t>Category</a:t>
                      </a:r>
                    </a:p>
                  </a:txBody>
                  <a:tcPr>
                    <a:solidFill>
                      <a:srgbClr val="1C1C1C"/>
                    </a:solidFill>
                  </a:tcPr>
                </a:tc>
                <a:tc>
                  <a:txBody>
                    <a:bodyPr/>
                    <a:lstStyle/>
                    <a:p>
                      <a:pPr>
                        <a:defRPr sz="1100" b="1">
                          <a:solidFill>
                            <a:srgbClr val="FFFFFF"/>
                          </a:solidFill>
                          <a:latin typeface="Calibri"/>
                        </a:defRPr>
                      </a:pPr>
                      <a:r>
                        <a:rPr sz="1000" b="1" dirty="0">
                          <a:solidFill>
                            <a:schemeClr val="bg1"/>
                          </a:solidFill>
                        </a:rPr>
                        <a:t>r</a:t>
                      </a:r>
                    </a:p>
                  </a:txBody>
                  <a:tcPr>
                    <a:solidFill>
                      <a:srgbClr val="1C1C1C"/>
                    </a:solidFill>
                  </a:tcPr>
                </a:tc>
                <a:tc>
                  <a:txBody>
                    <a:bodyPr/>
                    <a:lstStyle/>
                    <a:p>
                      <a:pPr>
                        <a:defRPr sz="1100" b="1">
                          <a:solidFill>
                            <a:srgbClr val="FFFFFF"/>
                          </a:solidFill>
                          <a:latin typeface="Calibri"/>
                        </a:defRPr>
                      </a:pPr>
                      <a:r>
                        <a:rPr sz="1000" b="1" dirty="0">
                          <a:solidFill>
                            <a:schemeClr val="bg1"/>
                          </a:solidFill>
                        </a:rPr>
                        <a:t>N</a:t>
                      </a:r>
                    </a:p>
                  </a:txBody>
                  <a:tcPr>
                    <a:solidFill>
                      <a:srgbClr val="1C1C1C"/>
                    </a:solidFill>
                  </a:tcPr>
                </a:tc>
                <a:extLst>
                  <a:ext uri="{0D108BD9-81ED-4DB2-BD59-A6C34878D82A}">
                    <a16:rowId xmlns:a16="http://schemas.microsoft.com/office/drawing/2014/main" val="10000"/>
                  </a:ext>
                </a:extLst>
              </a:tr>
              <a:tr h="226422">
                <a:tc>
                  <a:txBody>
                    <a:bodyPr/>
                    <a:lstStyle/>
                    <a:p>
                      <a:pPr>
                        <a:defRPr sz="1100" b="0">
                          <a:solidFill>
                            <a:srgbClr val="1C1C1C"/>
                          </a:solidFill>
                          <a:latin typeface="Calibri"/>
                        </a:defRPr>
                      </a:pPr>
                      <a:r>
                        <a:rPr sz="1000">
                          <a:solidFill>
                            <a:srgbClr val="333333"/>
                          </a:solidFill>
                        </a:rPr>
                        <a:t>DEFPE</a:t>
                      </a:r>
                    </a:p>
                  </a:txBody>
                  <a:tcPr>
                    <a:solidFill>
                      <a:srgbClr val="F0FAF4"/>
                    </a:solidFill>
                  </a:tcPr>
                </a:tc>
                <a:tc>
                  <a:txBody>
                    <a:bodyPr/>
                    <a:lstStyle/>
                    <a:p>
                      <a:r>
                        <a:t>Defensive penalty-area touches</a:t>
                      </a:r>
                    </a:p>
                  </a:txBody>
                  <a:tcPr>
                    <a:solidFill>
                      <a:srgbClr val="F0FAF4"/>
                    </a:solidFill>
                  </a:tcPr>
                </a:tc>
                <a:tc>
                  <a:txBody>
                    <a:bodyPr/>
                    <a:lstStyle/>
                    <a:p>
                      <a:pPr>
                        <a:defRPr sz="1100" b="0">
                          <a:solidFill>
                            <a:srgbClr val="1C1C1C"/>
                          </a:solidFill>
                          <a:latin typeface="Calibri"/>
                        </a:defRPr>
                      </a:pPr>
                      <a:r>
                        <a:rPr sz="1000">
                          <a:solidFill>
                            <a:srgbClr val="333333"/>
                          </a:solidFill>
                        </a:rPr>
                        <a:t>Defending</a:t>
                      </a:r>
                    </a:p>
                  </a:txBody>
                  <a:tcPr>
                    <a:solidFill>
                      <a:srgbClr val="F0FAF4"/>
                    </a:solidFill>
                  </a:tcPr>
                </a:tc>
                <a:tc>
                  <a:txBody>
                    <a:bodyPr/>
                    <a:lstStyle/>
                    <a:p>
                      <a:pPr>
                        <a:defRPr sz="1100" b="1">
                          <a:solidFill>
                            <a:srgbClr val="1C1C1C"/>
                          </a:solidFill>
                          <a:latin typeface="Calibri"/>
                        </a:defRPr>
                      </a:pPr>
                      <a:r>
                        <a:rPr sz="1000">
                          <a:solidFill>
                            <a:srgbClr val="333333"/>
                          </a:solidFill>
                        </a:rPr>
                        <a:t>0.906</a:t>
                      </a:r>
                    </a:p>
                  </a:txBody>
                  <a:tcPr>
                    <a:solidFill>
                      <a:srgbClr val="F0FAF4"/>
                    </a:solidFill>
                  </a:tcPr>
                </a:tc>
                <a:tc>
                  <a:txBody>
                    <a:bodyPr/>
                    <a:lstStyle/>
                    <a:p>
                      <a:pPr>
                        <a:defRPr sz="1100" b="0">
                          <a:solidFill>
                            <a:srgbClr val="1C1C1C"/>
                          </a:solidFill>
                          <a:latin typeface="Calibri"/>
                        </a:defRPr>
                      </a:pPr>
                      <a:r>
                        <a:rPr sz="1000" dirty="0">
                          <a:solidFill>
                            <a:srgbClr val="333333"/>
                          </a:solidFill>
                        </a:rPr>
                        <a:t>95</a:t>
                      </a:r>
                    </a:p>
                  </a:txBody>
                  <a:tcPr>
                    <a:solidFill>
                      <a:srgbClr val="F0FAF4"/>
                    </a:solidFill>
                  </a:tcPr>
                </a:tc>
                <a:extLst>
                  <a:ext uri="{0D108BD9-81ED-4DB2-BD59-A6C34878D82A}">
                    <a16:rowId xmlns:a16="http://schemas.microsoft.com/office/drawing/2014/main" val="10001"/>
                  </a:ext>
                </a:extLst>
              </a:tr>
              <a:tr h="226422">
                <a:tc>
                  <a:txBody>
                    <a:bodyPr/>
                    <a:lstStyle/>
                    <a:p>
                      <a:pPr>
                        <a:defRPr sz="1100" b="0">
                          <a:solidFill>
                            <a:srgbClr val="1C1C1C"/>
                          </a:solidFill>
                          <a:latin typeface="Calibri"/>
                        </a:defRPr>
                      </a:pPr>
                      <a:r>
                        <a:rPr sz="1000">
                          <a:solidFill>
                            <a:srgbClr val="333333"/>
                          </a:solidFill>
                        </a:rPr>
                        <a:t>PRGC</a:t>
                      </a:r>
                    </a:p>
                  </a:txBody>
                  <a:tcPr>
                    <a:solidFill>
                      <a:srgbClr val="F0FAF4"/>
                    </a:solidFill>
                  </a:tcPr>
                </a:tc>
                <a:tc>
                  <a:txBody>
                    <a:bodyPr/>
                    <a:lstStyle/>
                    <a:p>
                      <a:r>
                        <a:t>Progressive carries</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0.805</a:t>
                      </a:r>
                    </a:p>
                  </a:txBody>
                  <a:tcPr>
                    <a:solidFill>
                      <a:srgbClr val="F0FAF4"/>
                    </a:solidFill>
                  </a:tcPr>
                </a:tc>
                <a:tc>
                  <a:txBody>
                    <a:bodyPr/>
                    <a:lstStyle/>
                    <a:p>
                      <a:pPr>
                        <a:defRPr sz="1100" b="0">
                          <a:solidFill>
                            <a:srgbClr val="1C1C1C"/>
                          </a:solidFill>
                          <a:latin typeface="Calibri"/>
                        </a:defRPr>
                      </a:pPr>
                      <a:r>
                        <a:rPr sz="1000" dirty="0">
                          <a:solidFill>
                            <a:srgbClr val="333333"/>
                          </a:solidFill>
                        </a:rPr>
                        <a:t>100</a:t>
                      </a:r>
                    </a:p>
                  </a:txBody>
                  <a:tcPr>
                    <a:solidFill>
                      <a:srgbClr val="F0FAF4"/>
                    </a:solidFill>
                  </a:tcPr>
                </a:tc>
                <a:extLst>
                  <a:ext uri="{0D108BD9-81ED-4DB2-BD59-A6C34878D82A}">
                    <a16:rowId xmlns:a16="http://schemas.microsoft.com/office/drawing/2014/main" val="10002"/>
                  </a:ext>
                </a:extLst>
              </a:tr>
              <a:tr h="226422">
                <a:tc>
                  <a:txBody>
                    <a:bodyPr/>
                    <a:lstStyle/>
                    <a:p>
                      <a:pPr>
                        <a:defRPr sz="1100" b="0">
                          <a:solidFill>
                            <a:srgbClr val="1C1C1C"/>
                          </a:solidFill>
                          <a:latin typeface="Calibri"/>
                        </a:defRPr>
                      </a:pPr>
                      <a:r>
                        <a:rPr sz="1000">
                          <a:solidFill>
                            <a:srgbClr val="333333"/>
                          </a:solidFill>
                        </a:rPr>
                        <a:t>XG</a:t>
                      </a:r>
                    </a:p>
                  </a:txBody>
                  <a:tcPr>
                    <a:solidFill>
                      <a:srgbClr val="F0FAF4"/>
                    </a:solidFill>
                  </a:tcPr>
                </a:tc>
                <a:tc>
                  <a:txBody>
                    <a:bodyPr/>
                    <a:lstStyle/>
                    <a:p>
                      <a:r>
                        <a:t>Expected goals (xG)</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0.797</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3"/>
                  </a:ext>
                </a:extLst>
              </a:tr>
              <a:tr h="226422">
                <a:tc>
                  <a:txBody>
                    <a:bodyPr/>
                    <a:lstStyle/>
                    <a:p>
                      <a:pPr>
                        <a:defRPr sz="1100" b="0">
                          <a:solidFill>
                            <a:srgbClr val="1C1C1C"/>
                          </a:solidFill>
                          <a:latin typeface="Calibri"/>
                        </a:defRPr>
                      </a:pPr>
                      <a:r>
                        <a:rPr sz="1000">
                          <a:solidFill>
                            <a:srgbClr val="333333"/>
                          </a:solidFill>
                        </a:rPr>
                        <a:t>NPXG</a:t>
                      </a:r>
                    </a:p>
                  </a:txBody>
                  <a:tcPr>
                    <a:solidFill>
                      <a:srgbClr val="F0FAF4"/>
                    </a:solidFill>
                  </a:tcPr>
                </a:tc>
                <a:tc>
                  <a:txBody>
                    <a:bodyPr/>
                    <a:lstStyle/>
                    <a:p>
                      <a:r>
                        <a:t>Non-penalty expected goals</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0.793</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4"/>
                  </a:ext>
                </a:extLst>
              </a:tr>
              <a:tr h="226422">
                <a:tc>
                  <a:txBody>
                    <a:bodyPr/>
                    <a:lstStyle/>
                    <a:p>
                      <a:pPr>
                        <a:defRPr sz="1100" b="0">
                          <a:solidFill>
                            <a:srgbClr val="1C1C1C"/>
                          </a:solidFill>
                          <a:latin typeface="Calibri"/>
                        </a:defRPr>
                      </a:pPr>
                      <a:r>
                        <a:rPr sz="1000">
                          <a:solidFill>
                            <a:srgbClr val="333333"/>
                          </a:solidFill>
                        </a:rPr>
                        <a:t>DEF3R</a:t>
                      </a:r>
                    </a:p>
                  </a:txBody>
                  <a:tcPr>
                    <a:solidFill>
                      <a:srgbClr val="F0FAF4"/>
                    </a:solidFill>
                  </a:tcPr>
                </a:tc>
                <a:tc>
                  <a:txBody>
                    <a:bodyPr/>
                    <a:lstStyle/>
                    <a:p>
                      <a:r>
                        <a:t>Defensive-third touches</a:t>
                      </a:r>
                    </a:p>
                  </a:txBody>
                  <a:tcPr>
                    <a:solidFill>
                      <a:srgbClr val="F0FAF4"/>
                    </a:solidFill>
                  </a:tcPr>
                </a:tc>
                <a:tc>
                  <a:txBody>
                    <a:bodyPr/>
                    <a:lstStyle/>
                    <a:p>
                      <a:pPr>
                        <a:defRPr sz="1100" b="0">
                          <a:solidFill>
                            <a:srgbClr val="1C1C1C"/>
                          </a:solidFill>
                          <a:latin typeface="Calibri"/>
                        </a:defRPr>
                      </a:pPr>
                      <a:r>
                        <a:rPr sz="1000">
                          <a:solidFill>
                            <a:srgbClr val="333333"/>
                          </a:solidFill>
                        </a:rPr>
                        <a:t>Defending</a:t>
                      </a:r>
                    </a:p>
                  </a:txBody>
                  <a:tcPr>
                    <a:solidFill>
                      <a:srgbClr val="F0FAF4"/>
                    </a:solidFill>
                  </a:tcPr>
                </a:tc>
                <a:tc>
                  <a:txBody>
                    <a:bodyPr/>
                    <a:lstStyle/>
                    <a:p>
                      <a:pPr>
                        <a:defRPr sz="1100" b="1">
                          <a:solidFill>
                            <a:srgbClr val="1C1C1C"/>
                          </a:solidFill>
                          <a:latin typeface="Calibri"/>
                        </a:defRPr>
                      </a:pPr>
                      <a:r>
                        <a:rPr sz="1000">
                          <a:solidFill>
                            <a:srgbClr val="333333"/>
                          </a:solidFill>
                        </a:rPr>
                        <a:t>0.789</a:t>
                      </a:r>
                    </a:p>
                  </a:txBody>
                  <a:tcPr>
                    <a:solidFill>
                      <a:srgbClr val="F0FAF4"/>
                    </a:solidFill>
                  </a:tcPr>
                </a:tc>
                <a:tc>
                  <a:txBody>
                    <a:bodyPr/>
                    <a:lstStyle/>
                    <a:p>
                      <a:pPr>
                        <a:defRPr sz="1100" b="0">
                          <a:solidFill>
                            <a:srgbClr val="1C1C1C"/>
                          </a:solidFill>
                          <a:latin typeface="Calibri"/>
                        </a:defRPr>
                      </a:pPr>
                      <a:r>
                        <a:rPr sz="1000">
                          <a:solidFill>
                            <a:srgbClr val="333333"/>
                          </a:solidFill>
                        </a:rPr>
                        <a:t>95</a:t>
                      </a:r>
                    </a:p>
                  </a:txBody>
                  <a:tcPr>
                    <a:solidFill>
                      <a:srgbClr val="F0FAF4"/>
                    </a:solidFill>
                  </a:tcPr>
                </a:tc>
                <a:extLst>
                  <a:ext uri="{0D108BD9-81ED-4DB2-BD59-A6C34878D82A}">
                    <a16:rowId xmlns:a16="http://schemas.microsoft.com/office/drawing/2014/main" val="10005"/>
                  </a:ext>
                </a:extLst>
              </a:tr>
              <a:tr h="226422">
                <a:tc>
                  <a:txBody>
                    <a:bodyPr/>
                    <a:lstStyle/>
                    <a:p>
                      <a:pPr>
                        <a:defRPr sz="1100" b="0">
                          <a:solidFill>
                            <a:srgbClr val="1C1C1C"/>
                          </a:solidFill>
                          <a:latin typeface="Calibri"/>
                        </a:defRPr>
                      </a:pPr>
                      <a:r>
                        <a:rPr sz="1000">
                          <a:solidFill>
                            <a:srgbClr val="333333"/>
                          </a:solidFill>
                        </a:rPr>
                        <a:t>PRGDI</a:t>
                      </a:r>
                    </a:p>
                  </a:txBody>
                  <a:tcPr>
                    <a:solidFill>
                      <a:srgbClr val="F0FAF4"/>
                    </a:solidFill>
                  </a:tcPr>
                </a:tc>
                <a:tc>
                  <a:txBody>
                    <a:bodyPr/>
                    <a:lstStyle/>
                    <a:p>
                      <a:r>
                        <a:t>Progressive carry distance</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0.789</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6"/>
                  </a:ext>
                </a:extLst>
              </a:tr>
              <a:tr h="226422">
                <a:tc>
                  <a:txBody>
                    <a:bodyPr/>
                    <a:lstStyle/>
                    <a:p>
                      <a:pPr>
                        <a:defRPr sz="1100" b="0">
                          <a:solidFill>
                            <a:srgbClr val="1C1C1C"/>
                          </a:solidFill>
                          <a:latin typeface="Calibri"/>
                        </a:defRPr>
                      </a:pPr>
                      <a:r>
                        <a:rPr sz="1000">
                          <a:solidFill>
                            <a:srgbClr val="333333"/>
                          </a:solidFill>
                        </a:rPr>
                        <a:t>SHPER</a:t>
                      </a:r>
                    </a:p>
                  </a:txBody>
                  <a:tcPr>
                    <a:solidFill>
                      <a:srgbClr val="F0FAF4"/>
                    </a:solidFill>
                  </a:tcPr>
                </a:tc>
                <a:tc>
                  <a:txBody>
                    <a:bodyPr/>
                    <a:lstStyle/>
                    <a:p>
                      <a:r>
                        <a:t>Shots per 90</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0.789</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07"/>
                  </a:ext>
                </a:extLst>
              </a:tr>
              <a:tr h="226422">
                <a:tc>
                  <a:txBody>
                    <a:bodyPr/>
                    <a:lstStyle/>
                    <a:p>
                      <a:pPr>
                        <a:defRPr sz="1100" b="0">
                          <a:solidFill>
                            <a:srgbClr val="1C1C1C"/>
                          </a:solidFill>
                          <a:latin typeface="Calibri"/>
                        </a:defRPr>
                      </a:pPr>
                      <a:r>
                        <a:rPr sz="1000">
                          <a:solidFill>
                            <a:srgbClr val="333333"/>
                          </a:solidFill>
                        </a:rPr>
                        <a:t>SH</a:t>
                      </a:r>
                    </a:p>
                  </a:txBody>
                  <a:tcPr>
                    <a:solidFill>
                      <a:srgbClr val="F0FAF4"/>
                    </a:solidFill>
                  </a:tcPr>
                </a:tc>
                <a:tc>
                  <a:txBody>
                    <a:bodyPr/>
                    <a:lstStyle/>
                    <a:p>
                      <a:r>
                        <a:t>Shot blocks</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0.788</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08"/>
                  </a:ext>
                </a:extLst>
              </a:tr>
              <a:tr h="226422">
                <a:tc>
                  <a:txBody>
                    <a:bodyPr/>
                    <a:lstStyle/>
                    <a:p>
                      <a:pPr>
                        <a:defRPr sz="1100" b="0">
                          <a:solidFill>
                            <a:srgbClr val="1C1C1C"/>
                          </a:solidFill>
                          <a:latin typeface="Calibri"/>
                        </a:defRPr>
                      </a:pPr>
                      <a:r>
                        <a:rPr sz="1000">
                          <a:solidFill>
                            <a:srgbClr val="333333"/>
                          </a:solidFill>
                        </a:rPr>
                        <a:t>NPXGP</a:t>
                      </a:r>
                    </a:p>
                  </a:txBody>
                  <a:tcPr>
                    <a:solidFill>
                      <a:srgbClr val="F0FAF4"/>
                    </a:solidFill>
                  </a:tcPr>
                </a:tc>
                <a:tc>
                  <a:txBody>
                    <a:bodyPr/>
                    <a:lstStyle/>
                    <a:p>
                      <a:r>
                        <a:t>Non-pen xG + xAG</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0.787</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9"/>
                  </a:ext>
                </a:extLst>
              </a:tr>
              <a:tr h="226422">
                <a:tc>
                  <a:txBody>
                    <a:bodyPr/>
                    <a:lstStyle/>
                    <a:p>
                      <a:pPr>
                        <a:defRPr sz="1100" b="0">
                          <a:solidFill>
                            <a:srgbClr val="1C1C1C"/>
                          </a:solidFill>
                          <a:latin typeface="Calibri"/>
                        </a:defRPr>
                      </a:pPr>
                      <a:r>
                        <a:rPr sz="1000">
                          <a:solidFill>
                            <a:srgbClr val="333333"/>
                          </a:solidFill>
                        </a:rPr>
                        <a:t>XGPLU</a:t>
                      </a:r>
                    </a:p>
                  </a:txBody>
                  <a:tcPr>
                    <a:solidFill>
                      <a:srgbClr val="F0FAF4"/>
                    </a:solidFill>
                  </a:tcPr>
                </a:tc>
                <a:tc>
                  <a:txBody>
                    <a:bodyPr/>
                    <a:lstStyle/>
                    <a:p>
                      <a:r>
                        <a:t>xG + xAG</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0.786</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0"/>
                  </a:ext>
                </a:extLst>
              </a:tr>
              <a:tr h="226422">
                <a:tc>
                  <a:txBody>
                    <a:bodyPr/>
                    <a:lstStyle/>
                    <a:p>
                      <a:pPr>
                        <a:defRPr sz="1100" b="0">
                          <a:solidFill>
                            <a:srgbClr val="1C1C1C"/>
                          </a:solidFill>
                          <a:latin typeface="Calibri"/>
                        </a:defRPr>
                      </a:pPr>
                      <a:r>
                        <a:rPr sz="1000">
                          <a:solidFill>
                            <a:srgbClr val="333333"/>
                          </a:solidFill>
                        </a:rPr>
                        <a:t>ATTLO</a:t>
                      </a:r>
                    </a:p>
                  </a:txBody>
                  <a:tcPr>
                    <a:solidFill>
                      <a:srgbClr val="F0FAF4"/>
                    </a:solidFill>
                  </a:tcPr>
                </a:tc>
                <a:tc>
                  <a:txBody>
                    <a:bodyPr/>
                    <a:lstStyle/>
                    <a:p>
                      <a:r>
                        <a:t>Long pass attempts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0.785</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1"/>
                  </a:ext>
                </a:extLst>
              </a:tr>
              <a:tr h="226422">
                <a:tc>
                  <a:txBody>
                    <a:bodyPr/>
                    <a:lstStyle/>
                    <a:p>
                      <a:pPr>
                        <a:defRPr sz="1100" b="0">
                          <a:solidFill>
                            <a:srgbClr val="1C1C1C"/>
                          </a:solidFill>
                          <a:latin typeface="Calibri"/>
                        </a:defRPr>
                      </a:pPr>
                      <a:r>
                        <a:rPr sz="1000">
                          <a:solidFill>
                            <a:srgbClr val="333333"/>
                          </a:solidFill>
                        </a:rPr>
                        <a:t>SOT</a:t>
                      </a:r>
                    </a:p>
                  </a:txBody>
                  <a:tcPr>
                    <a:solidFill>
                      <a:srgbClr val="F0FAF4"/>
                    </a:solidFill>
                  </a:tcPr>
                </a:tc>
                <a:tc>
                  <a:txBody>
                    <a:bodyPr/>
                    <a:lstStyle/>
                    <a:p>
                      <a:r>
                        <a:t>Shots on target</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0.775</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12"/>
                  </a:ext>
                </a:extLst>
              </a:tr>
              <a:tr h="226422">
                <a:tc>
                  <a:txBody>
                    <a:bodyPr/>
                    <a:lstStyle/>
                    <a:p>
                      <a:pPr>
                        <a:defRPr sz="1100" b="0">
                          <a:solidFill>
                            <a:srgbClr val="1C1C1C"/>
                          </a:solidFill>
                          <a:latin typeface="Calibri"/>
                        </a:defRPr>
                      </a:pPr>
                      <a:r>
                        <a:rPr sz="1000">
                          <a:solidFill>
                            <a:srgbClr val="333333"/>
                          </a:solidFill>
                        </a:rPr>
                        <a:t>SOTPE</a:t>
                      </a:r>
                    </a:p>
                  </a:txBody>
                  <a:tcPr>
                    <a:solidFill>
                      <a:srgbClr val="F0FAF4"/>
                    </a:solidFill>
                  </a:tcPr>
                </a:tc>
                <a:tc>
                  <a:txBody>
                    <a:bodyPr/>
                    <a:lstStyle/>
                    <a:p>
                      <a:r>
                        <a:t>Shots on target per 90</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0.774</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13"/>
                  </a:ext>
                </a:extLst>
              </a:tr>
              <a:tr h="226422">
                <a:tc>
                  <a:txBody>
                    <a:bodyPr/>
                    <a:lstStyle/>
                    <a:p>
                      <a:pPr>
                        <a:defRPr sz="1100" b="0">
                          <a:solidFill>
                            <a:srgbClr val="1C1C1C"/>
                          </a:solidFill>
                          <a:latin typeface="Calibri"/>
                        </a:defRPr>
                      </a:pPr>
                      <a:r>
                        <a:rPr sz="1000">
                          <a:solidFill>
                            <a:srgbClr val="333333"/>
                          </a:solidFill>
                        </a:rPr>
                        <a:t>CMPLO</a:t>
                      </a:r>
                    </a:p>
                  </a:txBody>
                  <a:tcPr>
                    <a:solidFill>
                      <a:srgbClr val="F0FAF4"/>
                    </a:solidFill>
                  </a:tcPr>
                </a:tc>
                <a:tc>
                  <a:txBody>
                    <a:bodyPr/>
                    <a:lstStyle/>
                    <a:p>
                      <a:r>
                        <a:t>Long pass completions</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0.767</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4"/>
                  </a:ext>
                </a:extLst>
              </a:tr>
              <a:tr h="226422">
                <a:tc>
                  <a:txBody>
                    <a:bodyPr/>
                    <a:lstStyle/>
                    <a:p>
                      <a:pPr>
                        <a:defRPr sz="1100" b="0">
                          <a:solidFill>
                            <a:srgbClr val="1C1C1C"/>
                          </a:solidFill>
                          <a:latin typeface="Calibri"/>
                        </a:defRPr>
                      </a:pPr>
                      <a:r>
                        <a:rPr sz="1000">
                          <a:solidFill>
                            <a:srgbClr val="333333"/>
                          </a:solidFill>
                        </a:rPr>
                        <a:t>CMPME</a:t>
                      </a:r>
                    </a:p>
                  </a:txBody>
                  <a:tcPr>
                    <a:solidFill>
                      <a:srgbClr val="F0FAF4"/>
                    </a:solidFill>
                  </a:tcPr>
                </a:tc>
                <a:tc>
                  <a:txBody>
                    <a:bodyPr/>
                    <a:lstStyle/>
                    <a:p>
                      <a:r>
                        <a:t>Medium pass completions</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0.730</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5"/>
                  </a:ext>
                </a:extLst>
              </a:tr>
              <a:tr h="226422">
                <a:tc>
                  <a:txBody>
                    <a:bodyPr/>
                    <a:lstStyle/>
                    <a:p>
                      <a:pPr>
                        <a:defRPr sz="1100" b="0">
                          <a:solidFill>
                            <a:srgbClr val="1C1C1C"/>
                          </a:solidFill>
                          <a:latin typeface="Calibri"/>
                        </a:defRPr>
                      </a:pPr>
                      <a:r>
                        <a:rPr sz="1000">
                          <a:solidFill>
                            <a:srgbClr val="333333"/>
                          </a:solidFill>
                        </a:rPr>
                        <a:t>ATTME</a:t>
                      </a:r>
                    </a:p>
                  </a:txBody>
                  <a:tcPr>
                    <a:solidFill>
                      <a:srgbClr val="F0FAF4"/>
                    </a:solidFill>
                  </a:tcPr>
                </a:tc>
                <a:tc>
                  <a:txBody>
                    <a:bodyPr/>
                    <a:lstStyle/>
                    <a:p>
                      <a:r>
                        <a:t>Medium pass attempts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0.724</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6"/>
                  </a:ext>
                </a:extLst>
              </a:tr>
              <a:tr h="226422">
                <a:tc>
                  <a:txBody>
                    <a:bodyPr/>
                    <a:lstStyle/>
                    <a:p>
                      <a:pPr>
                        <a:defRPr sz="1100" b="0">
                          <a:solidFill>
                            <a:srgbClr val="1C1C1C"/>
                          </a:solidFill>
                          <a:latin typeface="Calibri"/>
                        </a:defRPr>
                      </a:pPr>
                      <a:r>
                        <a:rPr sz="1000">
                          <a:solidFill>
                            <a:srgbClr val="333333"/>
                          </a:solidFill>
                        </a:rPr>
                        <a:t>TOTDI</a:t>
                      </a:r>
                    </a:p>
                  </a:txBody>
                  <a:tcPr>
                    <a:solidFill>
                      <a:srgbClr val="F0FAF4"/>
                    </a:solidFill>
                  </a:tcPr>
                </a:tc>
                <a:tc>
                  <a:txBody>
                    <a:bodyPr/>
                    <a:lstStyle/>
                    <a:p>
                      <a:r>
                        <a:t>Total pass distance</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0.720</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7"/>
                  </a:ext>
                </a:extLst>
              </a:tr>
              <a:tr h="226422">
                <a:tc>
                  <a:txBody>
                    <a:bodyPr/>
                    <a:lstStyle/>
                    <a:p>
                      <a:pPr>
                        <a:defRPr sz="1100" b="0">
                          <a:solidFill>
                            <a:srgbClr val="1C1C1C"/>
                          </a:solidFill>
                          <a:latin typeface="Calibri"/>
                        </a:defRPr>
                      </a:pPr>
                      <a:r>
                        <a:rPr sz="1000">
                          <a:solidFill>
                            <a:srgbClr val="333333"/>
                          </a:solidFill>
                        </a:rPr>
                        <a:t>PRGR</a:t>
                      </a:r>
                    </a:p>
                  </a:txBody>
                  <a:tcPr>
                    <a:solidFill>
                      <a:srgbClr val="F0FAF4"/>
                    </a:solidFill>
                  </a:tcPr>
                </a:tc>
                <a:tc>
                  <a:txBody>
                    <a:bodyPr/>
                    <a:lstStyle/>
                    <a:p>
                      <a:r>
                        <a:t>Progressive passes received (count)</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0.703</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8"/>
                  </a:ext>
                </a:extLst>
              </a:tr>
              <a:tr h="226422">
                <a:tc>
                  <a:txBody>
                    <a:bodyPr/>
                    <a:lstStyle/>
                    <a:p>
                      <a:pPr>
                        <a:defRPr sz="1100" b="0">
                          <a:solidFill>
                            <a:srgbClr val="1C1C1C"/>
                          </a:solidFill>
                          <a:latin typeface="Calibri"/>
                        </a:defRPr>
                      </a:pPr>
                      <a:r>
                        <a:rPr sz="1000">
                          <a:solidFill>
                            <a:srgbClr val="333333"/>
                          </a:solidFill>
                        </a:rPr>
                        <a:t>GPLUS</a:t>
                      </a:r>
                    </a:p>
                  </a:txBody>
                  <a:tcPr>
                    <a:solidFill>
                      <a:srgbClr val="F0FAF4"/>
                    </a:solidFill>
                  </a:tcPr>
                </a:tc>
                <a:tc>
                  <a:txBody>
                    <a:bodyPr/>
                    <a:lstStyle/>
                    <a:p>
                      <a:r>
                        <a:t>Goals + assists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0.702</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9"/>
                  </a:ext>
                </a:extLst>
              </a:tr>
              <a:tr h="226440">
                <a:tc>
                  <a:txBody>
                    <a:bodyPr/>
                    <a:lstStyle/>
                    <a:p>
                      <a:pPr>
                        <a:defRPr sz="1100" b="0">
                          <a:solidFill>
                            <a:srgbClr val="1C1C1C"/>
                          </a:solidFill>
                          <a:latin typeface="Calibri"/>
                        </a:defRPr>
                      </a:pPr>
                      <a:r>
                        <a:rPr sz="1000" dirty="0">
                          <a:solidFill>
                            <a:srgbClr val="333333"/>
                          </a:solidFill>
                        </a:rPr>
                        <a:t>FK</a:t>
                      </a:r>
                    </a:p>
                  </a:txBody>
                  <a:tcPr>
                    <a:solidFill>
                      <a:srgbClr val="F0FAF4"/>
                    </a:solidFill>
                  </a:tcPr>
                </a:tc>
                <a:tc>
                  <a:txBody>
                    <a:bodyPr/>
                    <a:lstStyle/>
                    <a:p>
                      <a:r>
                        <a:t>Free kicks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0.697</a:t>
                      </a:r>
                    </a:p>
                  </a:txBody>
                  <a:tcPr>
                    <a:solidFill>
                      <a:srgbClr val="F0FAF4"/>
                    </a:solidFill>
                  </a:tcPr>
                </a:tc>
                <a:tc>
                  <a:txBody>
                    <a:bodyPr/>
                    <a:lstStyle/>
                    <a:p>
                      <a:pPr>
                        <a:defRPr sz="1100" b="0">
                          <a:solidFill>
                            <a:srgbClr val="1C1C1C"/>
                          </a:solidFill>
                          <a:latin typeface="Calibri"/>
                        </a:defRPr>
                      </a:pPr>
                      <a:r>
                        <a:rPr sz="1000" dirty="0">
                          <a:solidFill>
                            <a:srgbClr val="333333"/>
                          </a:solidFill>
                        </a:rPr>
                        <a:t>100</a:t>
                      </a:r>
                    </a:p>
                  </a:txBody>
                  <a:tcPr>
                    <a:solidFill>
                      <a:srgbClr val="F0FAF4"/>
                    </a:solidFill>
                  </a:tcPr>
                </a:tc>
                <a:extLst>
                  <a:ext uri="{0D108BD9-81ED-4DB2-BD59-A6C34878D82A}">
                    <a16:rowId xmlns:a16="http://schemas.microsoft.com/office/drawing/2014/main" val="10020"/>
                  </a:ext>
                </a:extLst>
              </a:tr>
            </a:tbl>
          </a:graphicData>
        </a:graphic>
      </p:graphicFrame>
      <p:sp>
        <p:nvSpPr>
          <p:cNvPr id="7" name="TextBox 6">
            <a:hlinkClick r:id="rId2" action="ppaction://hlinksldjump"/>
          </p:cNvPr>
          <p:cNvSpPr txBox="1"/>
          <p:nvPr/>
        </p:nvSpPr>
        <p:spPr>
          <a:xfrm>
            <a:off x="9875520" y="137160"/>
            <a:ext cx="2011680" cy="320040"/>
          </a:xfrm>
          <a:prstGeom prst="rect">
            <a:avLst/>
          </a:prstGeom>
          <a:noFill/>
        </p:spPr>
        <p:txBody>
          <a:bodyPr wrap="square">
            <a:spAutoFit/>
          </a:bodyPr>
          <a:lstStyle/>
          <a:p>
            <a:r>
              <a:rPr sz="1200" b="1">
                <a:solidFill>
                  <a:srgbClr val="3D5A80"/>
                </a:solidFill>
              </a:rPr>
              <a:t>→ Glossary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0972800" cy="292388"/>
          </a:xfrm>
          <a:prstGeom prst="rect">
            <a:avLst/>
          </a:prstGeom>
          <a:noFill/>
        </p:spPr>
        <p:txBody>
          <a:bodyPr wrap="square">
            <a:spAutoFit/>
          </a:bodyPr>
          <a:lstStyle/>
          <a:p>
            <a:pPr algn="l"/>
            <a:r>
              <a:rPr sz="1300" b="1" dirty="0">
                <a:solidFill>
                  <a:srgbClr val="3D5A80"/>
                </a:solidFill>
                <a:latin typeface="Calibri"/>
              </a:rPr>
              <a:t>STABILITY (STATSBOMB)</a:t>
            </a:r>
          </a:p>
        </p:txBody>
      </p:sp>
      <p:sp>
        <p:nvSpPr>
          <p:cNvPr id="4" name="TextBox 3"/>
          <p:cNvSpPr txBox="1"/>
          <p:nvPr/>
        </p:nvSpPr>
        <p:spPr>
          <a:xfrm>
            <a:off x="411480" y="457200"/>
            <a:ext cx="10972800" cy="347472"/>
          </a:xfrm>
          <a:prstGeom prst="rect">
            <a:avLst/>
          </a:prstGeom>
          <a:noFill/>
        </p:spPr>
        <p:txBody>
          <a:bodyPr wrap="square">
            <a:spAutoFit/>
          </a:bodyPr>
          <a:lstStyle/>
          <a:p>
            <a:pPr algn="l">
              <a:spcAft>
                <a:spcPts val="300"/>
              </a:spcAft>
            </a:pPr>
            <a:r>
              <a:rPr sz="1600" b="0" dirty="0">
                <a:solidFill>
                  <a:srgbClr val="333333"/>
                </a:solidFill>
                <a:latin typeface="Calibri"/>
              </a:rPr>
              <a:t>Prior competition → Bundesliga Year 1 in Bundesliga · pass if r ≥ 0.40</a:t>
            </a:r>
          </a:p>
        </p:txBody>
      </p:sp>
      <p:sp>
        <p:nvSpPr>
          <p:cNvPr id="5" name="TextBox 4"/>
          <p:cNvSpPr txBox="1"/>
          <p:nvPr/>
        </p:nvSpPr>
        <p:spPr>
          <a:xfrm>
            <a:off x="411480" y="868680"/>
            <a:ext cx="10972800" cy="274320"/>
          </a:xfrm>
          <a:prstGeom prst="rect">
            <a:avLst/>
          </a:prstGeom>
          <a:noFill/>
        </p:spPr>
        <p:txBody>
          <a:bodyPr wrap="square">
            <a:spAutoFit/>
          </a:bodyPr>
          <a:lstStyle/>
          <a:p>
            <a:pPr algn="l">
              <a:spcAft>
                <a:spcPts val="300"/>
              </a:spcAft>
            </a:pPr>
            <a:r>
              <a:rPr sz="1100">
                <a:solidFill>
                  <a:srgbClr val="333333"/>
                </a:solidFill>
              </a:rPr>
              <a:t>Open Data · cohort N=96 · 7 of 16 pass (r≥0.40)</a:t>
            </a:r>
          </a:p>
          <a:p>
            <a:r>
              <a:rPr sz="1100">
                <a:solidFill>
                  <a:srgbClr val="333333"/>
                </a:solidFill>
              </a:rPr>
              <a:t/>
            </a:r>
          </a:p>
          <a:p>
            <a:r>
              <a:rPr sz="1100">
                <a:solidFill>
                  <a:srgbClr val="333333"/>
                </a:solidFill>
              </a:rPr>
              <a:t>✓  Progressive passes (~10m+ toward goal)  r=0.74</a:t>
            </a:r>
          </a:p>
          <a:p>
            <a:r>
              <a:rPr sz="1100">
                <a:solidFill>
                  <a:srgbClr val="333333"/>
                </a:solidFill>
              </a:rPr>
              <a:t>✓  Dispossessed (inverted)  r=0.59</a:t>
            </a:r>
          </a:p>
          <a:p>
            <a:r>
              <a:rPr sz="1100">
                <a:solidFill>
                  <a:srgbClr val="333333"/>
                </a:solidFill>
              </a:rPr>
              <a:t>✓  Pressures  r=0.51</a:t>
            </a:r>
          </a:p>
          <a:p>
            <a:r>
              <a:rPr sz="1100">
                <a:solidFill>
                  <a:srgbClr val="333333"/>
                </a:solidFill>
              </a:rPr>
              <a:t>✓  Pass volume  r=0.49</a:t>
            </a:r>
          </a:p>
          <a:p>
            <a:r>
              <a:rPr sz="1100">
                <a:solidFill>
                  <a:srgbClr val="333333"/>
                </a:solidFill>
              </a:rPr>
              <a:t>✓  Clearances  r=0.47</a:t>
            </a:r>
          </a:p>
          <a:p>
            <a:r>
              <a:rPr sz="1100">
                <a:solidFill>
                  <a:srgbClr val="333333"/>
                </a:solidFill>
              </a:rPr>
              <a:t>✓  Successful dribbles  r=0.46</a:t>
            </a:r>
          </a:p>
          <a:p>
            <a:r>
              <a:rPr sz="1100">
                <a:solidFill>
                  <a:srgbClr val="333333"/>
                </a:solidFill>
              </a:rPr>
              <a:t>✓  Passes into final third  r=0.42</a:t>
            </a:r>
          </a:p>
          <a:p>
            <a:r>
              <a:rPr sz="1100">
                <a:solidFill>
                  <a:srgbClr val="333333"/>
                </a:solidFill>
              </a:rPr>
              <a:t>·  Shots  r=0.40 (out)</a:t>
            </a:r>
          </a:p>
          <a:p>
            <a:r>
              <a:rPr sz="1100">
                <a:solidFill>
                  <a:srgbClr val="333333"/>
                </a:solidFill>
              </a:rPr>
              <a:t>·  Progressive carries  r=0.38 (out)</a:t>
            </a:r>
          </a:p>
          <a:p>
            <a:r>
              <a:rPr sz="1100">
                <a:solidFill>
                  <a:srgbClr val="333333"/>
                </a:solidFill>
              </a:rPr>
              <a:t>·  Carries  r=0.38 (out)</a:t>
            </a:r>
          </a:p>
          <a:p>
            <a:r>
              <a:rPr sz="1100">
                <a:solidFill>
                  <a:srgbClr val="333333"/>
                </a:solidFill>
              </a:rPr>
              <a:t>·  Tackles  r=0.34 · Non-pen xG  r=0.30 · Fouls won  r=0.27</a:t>
            </a:r>
          </a:p>
          <a:p>
            <a:r>
              <a:rPr sz="1100">
                <a:solidFill>
                  <a:srgbClr val="333333"/>
                </a:solidFill>
              </a:rPr>
              <a:t>·  Interceptions  r=0.20 · Expected assists  r=0.13 · Aerials won  r=0.12</a:t>
            </a:r>
          </a:p>
        </p:txBody>
      </p:sp>
      <p:graphicFrame>
        <p:nvGraphicFramePr>
          <p:cNvPr id="6" name="Table 5"/>
          <p:cNvGraphicFramePr>
            <a:graphicFrameLocks noGrp="1"/>
          </p:cNvGraphicFramePr>
          <p:nvPr>
            <p:extLst>
              <p:ext uri="{D42A27DB-BD31-4B8C-83A1-F6EECF244321}">
                <p14:modId xmlns:p14="http://schemas.microsoft.com/office/powerpoint/2010/main" val="2041602011"/>
              </p:ext>
            </p:extLst>
          </p:nvPr>
        </p:nvGraphicFramePr>
        <p:xfrm>
          <a:off x="386862" y="1234440"/>
          <a:ext cx="9168618" cy="4663440"/>
        </p:xfrm>
        <a:graphic>
          <a:graphicData uri="http://schemas.openxmlformats.org/drawingml/2006/table">
            <a:tbl>
              <a:tblPr firstRow="1" bandRow="1">
                <a:tableStyleId>{5C22544A-7EE6-4342-B048-85BDC9FD1C3A}</a:tableStyleId>
              </a:tblPr>
              <a:tblGrid>
                <a:gridCol w="1030458">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274320">
                <a:tc>
                  <a:txBody>
                    <a:bodyPr/>
                    <a:lstStyle/>
                    <a:p>
                      <a:r>
                        <a:t>Code</a:t>
                      </a:r>
                    </a:p>
                  </a:txBody>
                  <a:tcPr>
                    <a:solidFill>
                      <a:srgbClr val="1C1C1C"/>
                    </a:solidFill>
                  </a:tcPr>
                </a:tc>
                <a:tc>
                  <a:txBody>
                    <a:bodyPr/>
                    <a:lstStyle/>
                    <a:p>
                      <a:r>
                        <a:t>Metric (full name)</a:t>
                      </a:r>
                    </a:p>
                  </a:txBody>
                  <a:tcPr>
                    <a:solidFill>
                      <a:srgbClr val="1C1C1C"/>
                    </a:solidFill>
                  </a:tcPr>
                </a:tc>
                <a:tc>
                  <a:txBody>
                    <a:bodyPr/>
                    <a:lstStyle/>
                    <a:p>
                      <a:pPr>
                        <a:defRPr sz="1200" b="1">
                          <a:solidFill>
                            <a:srgbClr val="FFFFFF"/>
                          </a:solidFill>
                          <a:latin typeface="Calibri"/>
                        </a:defRPr>
                      </a:pPr>
                      <a:r>
                        <a:rPr sz="1000" b="1">
                          <a:solidFill>
                            <a:srgbClr val="333333"/>
                          </a:solidFill>
                        </a:rPr>
                        <a:t>Category</a:t>
                      </a:r>
                    </a:p>
                  </a:txBody>
                  <a:tcPr>
                    <a:solidFill>
                      <a:srgbClr val="1C1C1C"/>
                    </a:solidFill>
                  </a:tcPr>
                </a:tc>
                <a:tc>
                  <a:txBody>
                    <a:bodyPr/>
                    <a:lstStyle/>
                    <a:p>
                      <a:pPr>
                        <a:defRPr sz="1200" b="1">
                          <a:solidFill>
                            <a:srgbClr val="FFFFFF"/>
                          </a:solidFill>
                          <a:latin typeface="Calibri"/>
                        </a:defRPr>
                      </a:pPr>
                      <a:r>
                        <a:rPr sz="1000" b="1">
                          <a:solidFill>
                            <a:srgbClr val="333333"/>
                          </a:solidFill>
                        </a:rPr>
                        <a:t>r</a:t>
                      </a:r>
                    </a:p>
                  </a:txBody>
                  <a:tcPr>
                    <a:solidFill>
                      <a:srgbClr val="1C1C1C"/>
                    </a:solidFill>
                  </a:tcPr>
                </a:tc>
                <a:tc>
                  <a:txBody>
                    <a:bodyPr/>
                    <a:lstStyle/>
                    <a:p>
                      <a:pPr>
                        <a:defRPr sz="1200" b="1">
                          <a:solidFill>
                            <a:srgbClr val="FFFFFF"/>
                          </a:solidFill>
                          <a:latin typeface="Calibri"/>
                        </a:defRPr>
                      </a:pPr>
                      <a:r>
                        <a:rPr sz="1000" b="1" dirty="0">
                          <a:solidFill>
                            <a:srgbClr val="333333"/>
                          </a:solidFill>
                        </a:rPr>
                        <a:t>Gate</a:t>
                      </a:r>
                    </a:p>
                  </a:txBody>
                  <a:tcPr>
                    <a:solidFill>
                      <a:srgbClr val="1C1C1C"/>
                    </a:solidFill>
                  </a:tcPr>
                </a:tc>
                <a:extLst>
                  <a:ext uri="{0D108BD9-81ED-4DB2-BD59-A6C34878D82A}">
                    <a16:rowId xmlns:a16="http://schemas.microsoft.com/office/drawing/2014/main" val="10000"/>
                  </a:ext>
                </a:extLst>
              </a:tr>
              <a:tr h="274320">
                <a:tc>
                  <a:txBody>
                    <a:bodyPr/>
                    <a:lstStyle/>
                    <a:p>
                      <a:pPr>
                        <a:defRPr sz="1200" b="0">
                          <a:solidFill>
                            <a:srgbClr val="1C1C1C"/>
                          </a:solidFill>
                          <a:latin typeface="Calibri"/>
                        </a:defRPr>
                      </a:pPr>
                      <a:r>
                        <a:rPr sz="1000">
                          <a:solidFill>
                            <a:srgbClr val="333333"/>
                          </a:solidFill>
                        </a:rPr>
                        <a:t>PPC</a:t>
                      </a:r>
                    </a:p>
                  </a:txBody>
                  <a:tcPr>
                    <a:solidFill>
                      <a:srgbClr val="F0FAF4"/>
                    </a:solidFill>
                  </a:tcPr>
                </a:tc>
                <a:tc>
                  <a:txBody>
                    <a:bodyPr/>
                    <a:lstStyle/>
                    <a:p>
                      <a:r>
                        <a:t>Progressive passes</a:t>
                      </a:r>
                    </a:p>
                  </a:txBody>
                  <a:tcPr>
                    <a:solidFill>
                      <a:srgbClr val="F0FAF4"/>
                    </a:solidFill>
                  </a:tcPr>
                </a:tc>
                <a:tc>
                  <a:txBody>
                    <a:bodyPr/>
                    <a:lstStyle/>
                    <a:p>
                      <a:pPr>
                        <a:defRPr sz="1200" b="0">
                          <a:solidFill>
                            <a:srgbClr val="1C1C1C"/>
                          </a:solidFill>
                          <a:latin typeface="Calibri"/>
                        </a:defRPr>
                      </a:pPr>
                      <a:r>
                        <a:rPr sz="1000">
                          <a:solidFill>
                            <a:srgbClr val="333333"/>
                          </a:solidFill>
                        </a:rPr>
                        <a:t>Passing</a:t>
                      </a:r>
                    </a:p>
                  </a:txBody>
                  <a:tcPr>
                    <a:solidFill>
                      <a:srgbClr val="F0FAF4"/>
                    </a:solidFill>
                  </a:tcPr>
                </a:tc>
                <a:tc>
                  <a:txBody>
                    <a:bodyPr/>
                    <a:lstStyle/>
                    <a:p>
                      <a:pPr>
                        <a:defRPr sz="1200" b="1">
                          <a:solidFill>
                            <a:srgbClr val="1C1C1C"/>
                          </a:solidFill>
                          <a:latin typeface="Calibri"/>
                        </a:defRPr>
                      </a:pPr>
                      <a:r>
                        <a:rPr sz="1000">
                          <a:solidFill>
                            <a:srgbClr val="333333"/>
                          </a:solidFill>
                        </a:rPr>
                        <a:t>0.74</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1"/>
                  </a:ext>
                </a:extLst>
              </a:tr>
              <a:tr h="274320">
                <a:tc>
                  <a:txBody>
                    <a:bodyPr/>
                    <a:lstStyle/>
                    <a:p>
                      <a:pPr>
                        <a:defRPr sz="1200" b="0">
                          <a:solidFill>
                            <a:srgbClr val="1C1C1C"/>
                          </a:solidFill>
                          <a:latin typeface="Calibri"/>
                        </a:defRPr>
                      </a:pPr>
                      <a:r>
                        <a:rPr sz="1000">
                          <a:solidFill>
                            <a:srgbClr val="333333"/>
                          </a:solidFill>
                        </a:rPr>
                        <a:t>DIS</a:t>
                      </a:r>
                    </a:p>
                  </a:txBody>
                  <a:tcPr>
                    <a:solidFill>
                      <a:srgbClr val="F0FAF4"/>
                    </a:solidFill>
                  </a:tcPr>
                </a:tc>
                <a:tc>
                  <a:txBody>
                    <a:bodyPr/>
                    <a:lstStyle/>
                    <a:p>
                      <a:r>
                        <a:t>Dispossessed (inverted)</a:t>
                      </a:r>
                    </a:p>
                  </a:txBody>
                  <a:tcPr>
                    <a:solidFill>
                      <a:srgbClr val="F0FAF4"/>
                    </a:solidFill>
                  </a:tcPr>
                </a:tc>
                <a:tc>
                  <a:txBody>
                    <a:bodyPr/>
                    <a:lstStyle/>
                    <a:p>
                      <a:pPr>
                        <a:defRPr sz="1200" b="0">
                          <a:solidFill>
                            <a:srgbClr val="1C1C1C"/>
                          </a:solidFill>
                          <a:latin typeface="Calibri"/>
                        </a:defRPr>
                      </a:pPr>
                      <a:r>
                        <a:rPr sz="1000">
                          <a:solidFill>
                            <a:srgbClr val="333333"/>
                          </a:solidFill>
                        </a:rPr>
                        <a:t>Other</a:t>
                      </a:r>
                    </a:p>
                  </a:txBody>
                  <a:tcPr>
                    <a:solidFill>
                      <a:srgbClr val="F0FAF4"/>
                    </a:solidFill>
                  </a:tcPr>
                </a:tc>
                <a:tc>
                  <a:txBody>
                    <a:bodyPr/>
                    <a:lstStyle/>
                    <a:p>
                      <a:pPr>
                        <a:defRPr sz="1200" b="1">
                          <a:solidFill>
                            <a:srgbClr val="1C1C1C"/>
                          </a:solidFill>
                          <a:latin typeface="Calibri"/>
                        </a:defRPr>
                      </a:pPr>
                      <a:r>
                        <a:rPr sz="1000">
                          <a:solidFill>
                            <a:srgbClr val="333333"/>
                          </a:solidFill>
                        </a:rPr>
                        <a:t>0.59</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2"/>
                  </a:ext>
                </a:extLst>
              </a:tr>
              <a:tr h="274320">
                <a:tc>
                  <a:txBody>
                    <a:bodyPr/>
                    <a:lstStyle/>
                    <a:p>
                      <a:pPr>
                        <a:defRPr sz="1200" b="0">
                          <a:solidFill>
                            <a:srgbClr val="1C1C1C"/>
                          </a:solidFill>
                          <a:latin typeface="Calibri"/>
                        </a:defRPr>
                      </a:pPr>
                      <a:r>
                        <a:rPr sz="1000">
                          <a:solidFill>
                            <a:srgbClr val="333333"/>
                          </a:solidFill>
                        </a:rPr>
                        <a:t>PRS</a:t>
                      </a:r>
                    </a:p>
                  </a:txBody>
                  <a:tcPr>
                    <a:solidFill>
                      <a:srgbClr val="F0FAF4"/>
                    </a:solidFill>
                  </a:tcPr>
                </a:tc>
                <a:tc>
                  <a:txBody>
                    <a:bodyPr/>
                    <a:lstStyle/>
                    <a:p>
                      <a:r>
                        <a:t>Pressures</a:t>
                      </a:r>
                    </a:p>
                  </a:txBody>
                  <a:tcPr>
                    <a:solidFill>
                      <a:srgbClr val="F0FAF4"/>
                    </a:solidFill>
                  </a:tcPr>
                </a:tc>
                <a:tc>
                  <a:txBody>
                    <a:bodyPr/>
                    <a:lstStyle/>
                    <a:p>
                      <a:pPr>
                        <a:defRPr sz="1200" b="0">
                          <a:solidFill>
                            <a:srgbClr val="1C1C1C"/>
                          </a:solidFill>
                          <a:latin typeface="Calibri"/>
                        </a:defRPr>
                      </a:pPr>
                      <a:r>
                        <a:rPr sz="1000">
                          <a:solidFill>
                            <a:srgbClr val="333333"/>
                          </a:solidFill>
                        </a:rPr>
                        <a:t>Defending</a:t>
                      </a:r>
                    </a:p>
                  </a:txBody>
                  <a:tcPr>
                    <a:solidFill>
                      <a:srgbClr val="F0FAF4"/>
                    </a:solidFill>
                  </a:tcPr>
                </a:tc>
                <a:tc>
                  <a:txBody>
                    <a:bodyPr/>
                    <a:lstStyle/>
                    <a:p>
                      <a:pPr>
                        <a:defRPr sz="1200" b="1">
                          <a:solidFill>
                            <a:srgbClr val="1C1C1C"/>
                          </a:solidFill>
                          <a:latin typeface="Calibri"/>
                        </a:defRPr>
                      </a:pPr>
                      <a:r>
                        <a:rPr sz="1000">
                          <a:solidFill>
                            <a:srgbClr val="333333"/>
                          </a:solidFill>
                        </a:rPr>
                        <a:t>0.51</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3"/>
                  </a:ext>
                </a:extLst>
              </a:tr>
              <a:tr h="274320">
                <a:tc>
                  <a:txBody>
                    <a:bodyPr/>
                    <a:lstStyle/>
                    <a:p>
                      <a:pPr>
                        <a:defRPr sz="1200" b="0">
                          <a:solidFill>
                            <a:srgbClr val="1C1C1C"/>
                          </a:solidFill>
                          <a:latin typeface="Calibri"/>
                        </a:defRPr>
                      </a:pPr>
                      <a:r>
                        <a:rPr sz="1000">
                          <a:solidFill>
                            <a:srgbClr val="333333"/>
                          </a:solidFill>
                        </a:rPr>
                        <a:t>PAS</a:t>
                      </a:r>
                    </a:p>
                  </a:txBody>
                  <a:tcPr>
                    <a:solidFill>
                      <a:srgbClr val="F0FAF4"/>
                    </a:solidFill>
                  </a:tcPr>
                </a:tc>
                <a:tc>
                  <a:txBody>
                    <a:bodyPr/>
                    <a:lstStyle/>
                    <a:p>
                      <a:r>
                        <a:t>Pass volume</a:t>
                      </a:r>
                    </a:p>
                  </a:txBody>
                  <a:tcPr>
                    <a:solidFill>
                      <a:srgbClr val="F0FAF4"/>
                    </a:solidFill>
                  </a:tcPr>
                </a:tc>
                <a:tc>
                  <a:txBody>
                    <a:bodyPr/>
                    <a:lstStyle/>
                    <a:p>
                      <a:pPr>
                        <a:defRPr sz="1200" b="0">
                          <a:solidFill>
                            <a:srgbClr val="1C1C1C"/>
                          </a:solidFill>
                          <a:latin typeface="Calibri"/>
                        </a:defRPr>
                      </a:pPr>
                      <a:r>
                        <a:rPr sz="1000">
                          <a:solidFill>
                            <a:srgbClr val="333333"/>
                          </a:solidFill>
                        </a:rPr>
                        <a:t>Passing</a:t>
                      </a:r>
                    </a:p>
                  </a:txBody>
                  <a:tcPr>
                    <a:solidFill>
                      <a:srgbClr val="F0FAF4"/>
                    </a:solidFill>
                  </a:tcPr>
                </a:tc>
                <a:tc>
                  <a:txBody>
                    <a:bodyPr/>
                    <a:lstStyle/>
                    <a:p>
                      <a:pPr>
                        <a:defRPr sz="1200" b="1">
                          <a:solidFill>
                            <a:srgbClr val="1C1C1C"/>
                          </a:solidFill>
                          <a:latin typeface="Calibri"/>
                        </a:defRPr>
                      </a:pPr>
                      <a:r>
                        <a:rPr sz="1000">
                          <a:solidFill>
                            <a:srgbClr val="333333"/>
                          </a:solidFill>
                        </a:rPr>
                        <a:t>0.49</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4"/>
                  </a:ext>
                </a:extLst>
              </a:tr>
              <a:tr h="274320">
                <a:tc>
                  <a:txBody>
                    <a:bodyPr/>
                    <a:lstStyle/>
                    <a:p>
                      <a:pPr>
                        <a:defRPr sz="1200" b="0">
                          <a:solidFill>
                            <a:srgbClr val="1C1C1C"/>
                          </a:solidFill>
                          <a:latin typeface="Calibri"/>
                        </a:defRPr>
                      </a:pPr>
                      <a:r>
                        <a:rPr sz="1000">
                          <a:solidFill>
                            <a:srgbClr val="333333"/>
                          </a:solidFill>
                        </a:rPr>
                        <a:t>CLR</a:t>
                      </a:r>
                    </a:p>
                  </a:txBody>
                  <a:tcPr>
                    <a:solidFill>
                      <a:srgbClr val="F0FAF4"/>
                    </a:solidFill>
                  </a:tcPr>
                </a:tc>
                <a:tc>
                  <a:txBody>
                    <a:bodyPr/>
                    <a:lstStyle/>
                    <a:p>
                      <a:r>
                        <a:t>Clearances</a:t>
                      </a:r>
                    </a:p>
                  </a:txBody>
                  <a:tcPr>
                    <a:solidFill>
                      <a:srgbClr val="F0FAF4"/>
                    </a:solidFill>
                  </a:tcPr>
                </a:tc>
                <a:tc>
                  <a:txBody>
                    <a:bodyPr/>
                    <a:lstStyle/>
                    <a:p>
                      <a:pPr>
                        <a:defRPr sz="1200" b="0">
                          <a:solidFill>
                            <a:srgbClr val="1C1C1C"/>
                          </a:solidFill>
                          <a:latin typeface="Calibri"/>
                        </a:defRPr>
                      </a:pPr>
                      <a:r>
                        <a:rPr sz="1000">
                          <a:solidFill>
                            <a:srgbClr val="333333"/>
                          </a:solidFill>
                        </a:rPr>
                        <a:t>Defending</a:t>
                      </a:r>
                    </a:p>
                  </a:txBody>
                  <a:tcPr>
                    <a:solidFill>
                      <a:srgbClr val="F0FAF4"/>
                    </a:solidFill>
                  </a:tcPr>
                </a:tc>
                <a:tc>
                  <a:txBody>
                    <a:bodyPr/>
                    <a:lstStyle/>
                    <a:p>
                      <a:pPr>
                        <a:defRPr sz="1200" b="1">
                          <a:solidFill>
                            <a:srgbClr val="1C1C1C"/>
                          </a:solidFill>
                          <a:latin typeface="Calibri"/>
                        </a:defRPr>
                      </a:pPr>
                      <a:r>
                        <a:rPr sz="1000">
                          <a:solidFill>
                            <a:srgbClr val="333333"/>
                          </a:solidFill>
                        </a:rPr>
                        <a:t>0.47</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5"/>
                  </a:ext>
                </a:extLst>
              </a:tr>
              <a:tr h="274320">
                <a:tc>
                  <a:txBody>
                    <a:bodyPr/>
                    <a:lstStyle/>
                    <a:p>
                      <a:pPr>
                        <a:defRPr sz="1200" b="0">
                          <a:solidFill>
                            <a:srgbClr val="1C1C1C"/>
                          </a:solidFill>
                          <a:latin typeface="Calibri"/>
                        </a:defRPr>
                      </a:pPr>
                      <a:r>
                        <a:rPr sz="1000">
                          <a:solidFill>
                            <a:srgbClr val="333333"/>
                          </a:solidFill>
                        </a:rPr>
                        <a:t>DRB</a:t>
                      </a:r>
                    </a:p>
                  </a:txBody>
                  <a:tcPr>
                    <a:solidFill>
                      <a:srgbClr val="F0FAF4"/>
                    </a:solidFill>
                  </a:tcPr>
                </a:tc>
                <a:tc>
                  <a:txBody>
                    <a:bodyPr/>
                    <a:lstStyle/>
                    <a:p>
                      <a:r>
                        <a:t>Successful dribbles</a:t>
                      </a:r>
                    </a:p>
                  </a:txBody>
                  <a:tcPr>
                    <a:solidFill>
                      <a:srgbClr val="F0FAF4"/>
                    </a:solidFill>
                  </a:tcPr>
                </a:tc>
                <a:tc>
                  <a:txBody>
                    <a:bodyPr/>
                    <a:lstStyle/>
                    <a:p>
                      <a:pPr>
                        <a:defRPr sz="1200" b="0">
                          <a:solidFill>
                            <a:srgbClr val="1C1C1C"/>
                          </a:solidFill>
                          <a:latin typeface="Calibri"/>
                        </a:defRPr>
                      </a:pPr>
                      <a:r>
                        <a:rPr sz="1000">
                          <a:solidFill>
                            <a:srgbClr val="333333"/>
                          </a:solidFill>
                        </a:rPr>
                        <a:t>Carrying</a:t>
                      </a:r>
                    </a:p>
                  </a:txBody>
                  <a:tcPr>
                    <a:solidFill>
                      <a:srgbClr val="F0FAF4"/>
                    </a:solidFill>
                  </a:tcPr>
                </a:tc>
                <a:tc>
                  <a:txBody>
                    <a:bodyPr/>
                    <a:lstStyle/>
                    <a:p>
                      <a:pPr>
                        <a:defRPr sz="1200" b="1">
                          <a:solidFill>
                            <a:srgbClr val="1C1C1C"/>
                          </a:solidFill>
                          <a:latin typeface="Calibri"/>
                        </a:defRPr>
                      </a:pPr>
                      <a:r>
                        <a:rPr sz="1000">
                          <a:solidFill>
                            <a:srgbClr val="333333"/>
                          </a:solidFill>
                        </a:rPr>
                        <a:t>0.46</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6"/>
                  </a:ext>
                </a:extLst>
              </a:tr>
              <a:tr h="274320">
                <a:tc>
                  <a:txBody>
                    <a:bodyPr/>
                    <a:lstStyle/>
                    <a:p>
                      <a:pPr>
                        <a:defRPr sz="1200" b="0">
                          <a:solidFill>
                            <a:srgbClr val="1C1C1C"/>
                          </a:solidFill>
                          <a:latin typeface="Calibri"/>
                        </a:defRPr>
                      </a:pPr>
                      <a:r>
                        <a:rPr sz="1000">
                          <a:solidFill>
                            <a:srgbClr val="333333"/>
                          </a:solidFill>
                        </a:rPr>
                        <a:t>PATT</a:t>
                      </a:r>
                    </a:p>
                  </a:txBody>
                  <a:tcPr>
                    <a:solidFill>
                      <a:srgbClr val="F0FAF4"/>
                    </a:solidFill>
                  </a:tcPr>
                </a:tc>
                <a:tc>
                  <a:txBody>
                    <a:bodyPr/>
                    <a:lstStyle/>
                    <a:p>
                      <a:r>
                        <a:t>Passes into final third</a:t>
                      </a:r>
                    </a:p>
                  </a:txBody>
                  <a:tcPr>
                    <a:solidFill>
                      <a:srgbClr val="F0FAF4"/>
                    </a:solidFill>
                  </a:tcPr>
                </a:tc>
                <a:tc>
                  <a:txBody>
                    <a:bodyPr/>
                    <a:lstStyle/>
                    <a:p>
                      <a:pPr>
                        <a:defRPr sz="1200" b="0">
                          <a:solidFill>
                            <a:srgbClr val="1C1C1C"/>
                          </a:solidFill>
                          <a:latin typeface="Calibri"/>
                        </a:defRPr>
                      </a:pPr>
                      <a:r>
                        <a:rPr sz="1000">
                          <a:solidFill>
                            <a:srgbClr val="333333"/>
                          </a:solidFill>
                        </a:rPr>
                        <a:t>Passing</a:t>
                      </a:r>
                    </a:p>
                  </a:txBody>
                  <a:tcPr>
                    <a:solidFill>
                      <a:srgbClr val="F0FAF4"/>
                    </a:solidFill>
                  </a:tcPr>
                </a:tc>
                <a:tc>
                  <a:txBody>
                    <a:bodyPr/>
                    <a:lstStyle/>
                    <a:p>
                      <a:pPr>
                        <a:defRPr sz="1200" b="1">
                          <a:solidFill>
                            <a:srgbClr val="1C1C1C"/>
                          </a:solidFill>
                          <a:latin typeface="Calibri"/>
                        </a:defRPr>
                      </a:pPr>
                      <a:r>
                        <a:rPr sz="1000">
                          <a:solidFill>
                            <a:srgbClr val="333333"/>
                          </a:solidFill>
                        </a:rPr>
                        <a:t>0.42</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7"/>
                  </a:ext>
                </a:extLst>
              </a:tr>
              <a:tr h="274320">
                <a:tc>
                  <a:txBody>
                    <a:bodyPr/>
                    <a:lstStyle/>
                    <a:p>
                      <a:pPr>
                        <a:defRPr sz="1200" b="0">
                          <a:solidFill>
                            <a:srgbClr val="1C1C1C"/>
                          </a:solidFill>
                          <a:latin typeface="Calibri"/>
                        </a:defRPr>
                      </a:pPr>
                      <a:r>
                        <a:rPr sz="1000">
                          <a:solidFill>
                            <a:srgbClr val="333333"/>
                          </a:solidFill>
                        </a:rPr>
                        <a:t>SH</a:t>
                      </a:r>
                    </a:p>
                  </a:txBody>
                  <a:tcPr>
                    <a:solidFill>
                      <a:srgbClr val="F0FAF4"/>
                    </a:solidFill>
                  </a:tcPr>
                </a:tc>
                <a:tc>
                  <a:txBody>
                    <a:bodyPr/>
                    <a:lstStyle/>
                    <a:p>
                      <a:r>
                        <a:t>Shots</a:t>
                      </a:r>
                    </a:p>
                  </a:txBody>
                  <a:tcPr>
                    <a:solidFill>
                      <a:srgbClr val="F0FAF4"/>
                    </a:solidFill>
                  </a:tcPr>
                </a:tc>
                <a:tc>
                  <a:txBody>
                    <a:bodyPr/>
                    <a:lstStyle/>
                    <a:p>
                      <a:pPr>
                        <a:defRPr sz="1200" b="0">
                          <a:solidFill>
                            <a:srgbClr val="1C1C1C"/>
                          </a:solidFill>
                          <a:latin typeface="Calibri"/>
                        </a:defRPr>
                      </a:pPr>
                      <a:r>
                        <a:rPr sz="1000">
                          <a:solidFill>
                            <a:srgbClr val="333333"/>
                          </a:solidFill>
                        </a:rPr>
                        <a:t>Attacking</a:t>
                      </a:r>
                    </a:p>
                  </a:txBody>
                  <a:tcPr>
                    <a:solidFill>
                      <a:srgbClr val="F0FAF4"/>
                    </a:solidFill>
                  </a:tcPr>
                </a:tc>
                <a:tc>
                  <a:txBody>
                    <a:bodyPr/>
                    <a:lstStyle/>
                    <a:p>
                      <a:pPr>
                        <a:defRPr sz="1200" b="1">
                          <a:solidFill>
                            <a:srgbClr val="1C1C1C"/>
                          </a:solidFill>
                          <a:latin typeface="Calibri"/>
                        </a:defRPr>
                      </a:pPr>
                      <a:r>
                        <a:rPr sz="1000">
                          <a:solidFill>
                            <a:srgbClr val="333333"/>
                          </a:solidFill>
                        </a:rPr>
                        <a:t>0.40</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08"/>
                  </a:ext>
                </a:extLst>
              </a:tr>
              <a:tr h="274320">
                <a:tc>
                  <a:txBody>
                    <a:bodyPr/>
                    <a:lstStyle/>
                    <a:p>
                      <a:pPr>
                        <a:defRPr sz="1200" b="0">
                          <a:solidFill>
                            <a:srgbClr val="1C1C1C"/>
                          </a:solidFill>
                          <a:latin typeface="Calibri"/>
                        </a:defRPr>
                      </a:pPr>
                      <a:r>
                        <a:rPr sz="1000">
                          <a:solidFill>
                            <a:srgbClr val="333333"/>
                          </a:solidFill>
                        </a:rPr>
                        <a:t>CFGP</a:t>
                      </a:r>
                    </a:p>
                  </a:txBody>
                  <a:tcPr>
                    <a:solidFill>
                      <a:srgbClr val="F0FAF4"/>
                    </a:solidFill>
                  </a:tcPr>
                </a:tc>
                <a:tc>
                  <a:txBody>
                    <a:bodyPr/>
                    <a:lstStyle/>
                    <a:p>
                      <a:r>
                        <a:t>Progressive carries</a:t>
                      </a:r>
                    </a:p>
                  </a:txBody>
                  <a:tcPr>
                    <a:solidFill>
                      <a:srgbClr val="F0FAF4"/>
                    </a:solidFill>
                  </a:tcPr>
                </a:tc>
                <a:tc>
                  <a:txBody>
                    <a:bodyPr/>
                    <a:lstStyle/>
                    <a:p>
                      <a:pPr>
                        <a:defRPr sz="1200" b="0">
                          <a:solidFill>
                            <a:srgbClr val="1C1C1C"/>
                          </a:solidFill>
                          <a:latin typeface="Calibri"/>
                        </a:defRPr>
                      </a:pPr>
                      <a:r>
                        <a:rPr sz="1000">
                          <a:solidFill>
                            <a:srgbClr val="333333"/>
                          </a:solidFill>
                        </a:rPr>
                        <a:t>Carrying</a:t>
                      </a:r>
                    </a:p>
                  </a:txBody>
                  <a:tcPr>
                    <a:solidFill>
                      <a:srgbClr val="F0FAF4"/>
                    </a:solidFill>
                  </a:tcPr>
                </a:tc>
                <a:tc>
                  <a:txBody>
                    <a:bodyPr/>
                    <a:lstStyle/>
                    <a:p>
                      <a:pPr>
                        <a:defRPr sz="1200" b="1">
                          <a:solidFill>
                            <a:srgbClr val="1C1C1C"/>
                          </a:solidFill>
                          <a:latin typeface="Calibri"/>
                        </a:defRPr>
                      </a:pPr>
                      <a:r>
                        <a:rPr sz="1000">
                          <a:solidFill>
                            <a:srgbClr val="333333"/>
                          </a:solidFill>
                        </a:rPr>
                        <a:t>0.38</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09"/>
                  </a:ext>
                </a:extLst>
              </a:tr>
              <a:tr h="274320">
                <a:tc>
                  <a:txBody>
                    <a:bodyPr/>
                    <a:lstStyle/>
                    <a:p>
                      <a:pPr>
                        <a:defRPr sz="1200" b="0">
                          <a:solidFill>
                            <a:srgbClr val="1C1C1C"/>
                          </a:solidFill>
                          <a:latin typeface="Calibri"/>
                        </a:defRPr>
                      </a:pPr>
                      <a:r>
                        <a:rPr sz="1000">
                          <a:solidFill>
                            <a:srgbClr val="333333"/>
                          </a:solidFill>
                        </a:rPr>
                        <a:t>CRY</a:t>
                      </a:r>
                    </a:p>
                  </a:txBody>
                  <a:tcPr>
                    <a:solidFill>
                      <a:srgbClr val="F0FAF4"/>
                    </a:solidFill>
                  </a:tcPr>
                </a:tc>
                <a:tc>
                  <a:txBody>
                    <a:bodyPr/>
                    <a:lstStyle/>
                    <a:p>
                      <a:r>
                        <a:t>Carries</a:t>
                      </a:r>
                    </a:p>
                  </a:txBody>
                  <a:tcPr>
                    <a:solidFill>
                      <a:srgbClr val="F0FAF4"/>
                    </a:solidFill>
                  </a:tcPr>
                </a:tc>
                <a:tc>
                  <a:txBody>
                    <a:bodyPr/>
                    <a:lstStyle/>
                    <a:p>
                      <a:pPr>
                        <a:defRPr sz="1200" b="0">
                          <a:solidFill>
                            <a:srgbClr val="1C1C1C"/>
                          </a:solidFill>
                          <a:latin typeface="Calibri"/>
                        </a:defRPr>
                      </a:pPr>
                      <a:r>
                        <a:rPr sz="1000">
                          <a:solidFill>
                            <a:srgbClr val="333333"/>
                          </a:solidFill>
                        </a:rPr>
                        <a:t>Carrying</a:t>
                      </a:r>
                    </a:p>
                  </a:txBody>
                  <a:tcPr>
                    <a:solidFill>
                      <a:srgbClr val="F0FAF4"/>
                    </a:solidFill>
                  </a:tcPr>
                </a:tc>
                <a:tc>
                  <a:txBody>
                    <a:bodyPr/>
                    <a:lstStyle/>
                    <a:p>
                      <a:pPr>
                        <a:defRPr sz="1200" b="1">
                          <a:solidFill>
                            <a:srgbClr val="1C1C1C"/>
                          </a:solidFill>
                          <a:latin typeface="Calibri"/>
                        </a:defRPr>
                      </a:pPr>
                      <a:r>
                        <a:rPr sz="1000">
                          <a:solidFill>
                            <a:srgbClr val="333333"/>
                          </a:solidFill>
                        </a:rPr>
                        <a:t>0.38</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10"/>
                  </a:ext>
                </a:extLst>
              </a:tr>
              <a:tr h="274320">
                <a:tc>
                  <a:txBody>
                    <a:bodyPr/>
                    <a:lstStyle/>
                    <a:p>
                      <a:pPr>
                        <a:defRPr sz="1200" b="0">
                          <a:solidFill>
                            <a:srgbClr val="1C1C1C"/>
                          </a:solidFill>
                          <a:latin typeface="Calibri"/>
                        </a:defRPr>
                      </a:pPr>
                      <a:r>
                        <a:rPr sz="1000">
                          <a:solidFill>
                            <a:srgbClr val="333333"/>
                          </a:solidFill>
                        </a:rPr>
                        <a:t>TAC</a:t>
                      </a:r>
                    </a:p>
                  </a:txBody>
                  <a:tcPr>
                    <a:solidFill>
                      <a:srgbClr val="F0FAF4"/>
                    </a:solidFill>
                  </a:tcPr>
                </a:tc>
                <a:tc>
                  <a:txBody>
                    <a:bodyPr/>
                    <a:lstStyle/>
                    <a:p>
                      <a:r>
                        <a:t>Tackles</a:t>
                      </a:r>
                    </a:p>
                  </a:txBody>
                  <a:tcPr>
                    <a:solidFill>
                      <a:srgbClr val="F0FAF4"/>
                    </a:solidFill>
                  </a:tcPr>
                </a:tc>
                <a:tc>
                  <a:txBody>
                    <a:bodyPr/>
                    <a:lstStyle/>
                    <a:p>
                      <a:pPr>
                        <a:defRPr sz="1200" b="0">
                          <a:solidFill>
                            <a:srgbClr val="1C1C1C"/>
                          </a:solidFill>
                          <a:latin typeface="Calibri"/>
                        </a:defRPr>
                      </a:pPr>
                      <a:r>
                        <a:rPr sz="1000">
                          <a:solidFill>
                            <a:srgbClr val="333333"/>
                          </a:solidFill>
                        </a:rPr>
                        <a:t>Defending</a:t>
                      </a:r>
                    </a:p>
                  </a:txBody>
                  <a:tcPr>
                    <a:solidFill>
                      <a:srgbClr val="F0FAF4"/>
                    </a:solidFill>
                  </a:tcPr>
                </a:tc>
                <a:tc>
                  <a:txBody>
                    <a:bodyPr/>
                    <a:lstStyle/>
                    <a:p>
                      <a:pPr>
                        <a:defRPr sz="1200" b="1">
                          <a:solidFill>
                            <a:srgbClr val="1C1C1C"/>
                          </a:solidFill>
                          <a:latin typeface="Calibri"/>
                        </a:defRPr>
                      </a:pPr>
                      <a:r>
                        <a:rPr sz="1000">
                          <a:solidFill>
                            <a:srgbClr val="333333"/>
                          </a:solidFill>
                        </a:rPr>
                        <a:t>0.34</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11"/>
                  </a:ext>
                </a:extLst>
              </a:tr>
              <a:tr h="274320">
                <a:tc>
                  <a:txBody>
                    <a:bodyPr/>
                    <a:lstStyle/>
                    <a:p>
                      <a:pPr>
                        <a:defRPr sz="1200" b="0">
                          <a:solidFill>
                            <a:srgbClr val="1C1C1C"/>
                          </a:solidFill>
                          <a:latin typeface="Calibri"/>
                        </a:defRPr>
                      </a:pPr>
                      <a:r>
                        <a:rPr sz="1000">
                          <a:solidFill>
                            <a:srgbClr val="333333"/>
                          </a:solidFill>
                        </a:rPr>
                        <a:t>XG</a:t>
                      </a:r>
                    </a:p>
                  </a:txBody>
                  <a:tcPr>
                    <a:solidFill>
                      <a:srgbClr val="FFFFFF"/>
                    </a:solidFill>
                  </a:tcPr>
                </a:tc>
                <a:tc>
                  <a:txBody>
                    <a:bodyPr/>
                    <a:lstStyle/>
                    <a:p>
                      <a:r>
                        <a:t>Non-penalty expected goals</a:t>
                      </a:r>
                    </a:p>
                  </a:txBody>
                  <a:tcPr>
                    <a:solidFill>
                      <a:srgbClr val="FFFFFF"/>
                    </a:solidFill>
                  </a:tcPr>
                </a:tc>
                <a:tc>
                  <a:txBody>
                    <a:bodyPr/>
                    <a:lstStyle/>
                    <a:p>
                      <a:pPr>
                        <a:defRPr sz="1200" b="0">
                          <a:solidFill>
                            <a:srgbClr val="1C1C1C"/>
                          </a:solidFill>
                          <a:latin typeface="Calibri"/>
                        </a:defRPr>
                      </a:pPr>
                      <a:r>
                        <a:rPr sz="1000">
                          <a:solidFill>
                            <a:srgbClr val="333333"/>
                          </a:solidFill>
                        </a:rPr>
                        <a:t>Attacking</a:t>
                      </a:r>
                    </a:p>
                  </a:txBody>
                  <a:tcPr>
                    <a:solidFill>
                      <a:srgbClr val="FFFFFF"/>
                    </a:solidFill>
                  </a:tcPr>
                </a:tc>
                <a:tc>
                  <a:txBody>
                    <a:bodyPr/>
                    <a:lstStyle/>
                    <a:p>
                      <a:pPr>
                        <a:defRPr sz="1200" b="1">
                          <a:solidFill>
                            <a:srgbClr val="1C1C1C"/>
                          </a:solidFill>
                          <a:latin typeface="Calibri"/>
                        </a:defRPr>
                      </a:pPr>
                      <a:r>
                        <a:rPr sz="1000">
                          <a:solidFill>
                            <a:srgbClr val="333333"/>
                          </a:solidFill>
                        </a:rPr>
                        <a:t>0.30</a:t>
                      </a:r>
                    </a:p>
                  </a:txBody>
                  <a:tcPr>
                    <a:solidFill>
                      <a:srgbClr val="FFFFFF"/>
                    </a:solidFill>
                  </a:tcPr>
                </a:tc>
                <a:tc>
                  <a:txBody>
                    <a:bodyPr/>
                    <a:lstStyle/>
                    <a:p>
                      <a:pPr>
                        <a:defRPr sz="1200" b="0">
                          <a:solidFill>
                            <a:srgbClr val="1C1C1C"/>
                          </a:solidFill>
                          <a:latin typeface="Calibri"/>
                        </a:defRPr>
                      </a:pPr>
                      <a:r>
                        <a:rPr sz="1000">
                          <a:solidFill>
                            <a:srgbClr val="333333"/>
                          </a:solidFill>
                        </a:rPr>
                        <a:t>out</a:t>
                      </a:r>
                    </a:p>
                  </a:txBody>
                  <a:tcPr>
                    <a:solidFill>
                      <a:srgbClr val="FFFFFF"/>
                    </a:solidFill>
                  </a:tcPr>
                </a:tc>
                <a:extLst>
                  <a:ext uri="{0D108BD9-81ED-4DB2-BD59-A6C34878D82A}">
                    <a16:rowId xmlns:a16="http://schemas.microsoft.com/office/drawing/2014/main" val="10012"/>
                  </a:ext>
                </a:extLst>
              </a:tr>
              <a:tr h="274320">
                <a:tc>
                  <a:txBody>
                    <a:bodyPr/>
                    <a:lstStyle/>
                    <a:p>
                      <a:pPr>
                        <a:defRPr sz="1200" b="0">
                          <a:solidFill>
                            <a:srgbClr val="1C1C1C"/>
                          </a:solidFill>
                          <a:latin typeface="Calibri"/>
                        </a:defRPr>
                      </a:pPr>
                      <a:r>
                        <a:rPr sz="1000">
                          <a:solidFill>
                            <a:srgbClr val="333333"/>
                          </a:solidFill>
                        </a:rPr>
                        <a:t>FLW</a:t>
                      </a:r>
                    </a:p>
                  </a:txBody>
                  <a:tcPr>
                    <a:solidFill>
                      <a:srgbClr val="F7F8FA"/>
                    </a:solidFill>
                  </a:tcPr>
                </a:tc>
                <a:tc>
                  <a:txBody>
                    <a:bodyPr/>
                    <a:lstStyle/>
                    <a:p>
                      <a:r>
                        <a:t>Fouls won</a:t>
                      </a:r>
                    </a:p>
                  </a:txBody>
                  <a:tcPr>
                    <a:solidFill>
                      <a:srgbClr val="F7F8FA"/>
                    </a:solidFill>
                  </a:tcPr>
                </a:tc>
                <a:tc>
                  <a:txBody>
                    <a:bodyPr/>
                    <a:lstStyle/>
                    <a:p>
                      <a:pPr>
                        <a:defRPr sz="1200" b="0">
                          <a:solidFill>
                            <a:srgbClr val="1C1C1C"/>
                          </a:solidFill>
                          <a:latin typeface="Calibri"/>
                        </a:defRPr>
                      </a:pPr>
                      <a:r>
                        <a:rPr sz="1000">
                          <a:solidFill>
                            <a:srgbClr val="333333"/>
                          </a:solidFill>
                        </a:rPr>
                        <a:t>Other</a:t>
                      </a:r>
                    </a:p>
                  </a:txBody>
                  <a:tcPr>
                    <a:solidFill>
                      <a:srgbClr val="F7F8FA"/>
                    </a:solidFill>
                  </a:tcPr>
                </a:tc>
                <a:tc>
                  <a:txBody>
                    <a:bodyPr/>
                    <a:lstStyle/>
                    <a:p>
                      <a:pPr>
                        <a:defRPr sz="1200" b="1">
                          <a:solidFill>
                            <a:srgbClr val="1C1C1C"/>
                          </a:solidFill>
                          <a:latin typeface="Calibri"/>
                        </a:defRPr>
                      </a:pPr>
                      <a:r>
                        <a:rPr sz="1000">
                          <a:solidFill>
                            <a:srgbClr val="333333"/>
                          </a:solidFill>
                        </a:rPr>
                        <a:t>0.27</a:t>
                      </a:r>
                    </a:p>
                  </a:txBody>
                  <a:tcPr>
                    <a:solidFill>
                      <a:srgbClr val="F7F8FA"/>
                    </a:solidFill>
                  </a:tcPr>
                </a:tc>
                <a:tc>
                  <a:txBody>
                    <a:bodyPr/>
                    <a:lstStyle/>
                    <a:p>
                      <a:pPr>
                        <a:defRPr sz="1200" b="0">
                          <a:solidFill>
                            <a:srgbClr val="1C1C1C"/>
                          </a:solidFill>
                          <a:latin typeface="Calibri"/>
                        </a:defRPr>
                      </a:pPr>
                      <a:r>
                        <a:rPr sz="1000">
                          <a:solidFill>
                            <a:srgbClr val="333333"/>
                          </a:solidFill>
                        </a:rPr>
                        <a:t>out</a:t>
                      </a:r>
                    </a:p>
                  </a:txBody>
                  <a:tcPr>
                    <a:solidFill>
                      <a:srgbClr val="F7F8FA"/>
                    </a:solidFill>
                  </a:tcPr>
                </a:tc>
                <a:extLst>
                  <a:ext uri="{0D108BD9-81ED-4DB2-BD59-A6C34878D82A}">
                    <a16:rowId xmlns:a16="http://schemas.microsoft.com/office/drawing/2014/main" val="10013"/>
                  </a:ext>
                </a:extLst>
              </a:tr>
              <a:tr h="274320">
                <a:tc>
                  <a:txBody>
                    <a:bodyPr/>
                    <a:lstStyle/>
                    <a:p>
                      <a:pPr>
                        <a:defRPr sz="1200" b="0">
                          <a:solidFill>
                            <a:srgbClr val="1C1C1C"/>
                          </a:solidFill>
                          <a:latin typeface="Calibri"/>
                        </a:defRPr>
                      </a:pPr>
                      <a:r>
                        <a:rPr sz="1000">
                          <a:solidFill>
                            <a:srgbClr val="333333"/>
                          </a:solidFill>
                        </a:rPr>
                        <a:t>INT</a:t>
                      </a:r>
                    </a:p>
                  </a:txBody>
                  <a:tcPr>
                    <a:solidFill>
                      <a:srgbClr val="FFFFFF"/>
                    </a:solidFill>
                  </a:tcPr>
                </a:tc>
                <a:tc>
                  <a:txBody>
                    <a:bodyPr/>
                    <a:lstStyle/>
                    <a:p>
                      <a:r>
                        <a:t>Interceptions</a:t>
                      </a:r>
                    </a:p>
                  </a:txBody>
                  <a:tcPr>
                    <a:solidFill>
                      <a:srgbClr val="FFFFFF"/>
                    </a:solidFill>
                  </a:tcPr>
                </a:tc>
                <a:tc>
                  <a:txBody>
                    <a:bodyPr/>
                    <a:lstStyle/>
                    <a:p>
                      <a:pPr>
                        <a:defRPr sz="1200" b="0">
                          <a:solidFill>
                            <a:srgbClr val="1C1C1C"/>
                          </a:solidFill>
                          <a:latin typeface="Calibri"/>
                        </a:defRPr>
                      </a:pPr>
                      <a:r>
                        <a:rPr sz="1000">
                          <a:solidFill>
                            <a:srgbClr val="333333"/>
                          </a:solidFill>
                        </a:rPr>
                        <a:t>Defending</a:t>
                      </a:r>
                    </a:p>
                  </a:txBody>
                  <a:tcPr>
                    <a:solidFill>
                      <a:srgbClr val="FFFFFF"/>
                    </a:solidFill>
                  </a:tcPr>
                </a:tc>
                <a:tc>
                  <a:txBody>
                    <a:bodyPr/>
                    <a:lstStyle/>
                    <a:p>
                      <a:pPr>
                        <a:defRPr sz="1200" b="1">
                          <a:solidFill>
                            <a:srgbClr val="1C1C1C"/>
                          </a:solidFill>
                          <a:latin typeface="Calibri"/>
                        </a:defRPr>
                      </a:pPr>
                      <a:r>
                        <a:rPr sz="1000">
                          <a:solidFill>
                            <a:srgbClr val="333333"/>
                          </a:solidFill>
                        </a:rPr>
                        <a:t>0.20</a:t>
                      </a:r>
                    </a:p>
                  </a:txBody>
                  <a:tcPr>
                    <a:solidFill>
                      <a:srgbClr val="FFFFFF"/>
                    </a:solidFill>
                  </a:tcPr>
                </a:tc>
                <a:tc>
                  <a:txBody>
                    <a:bodyPr/>
                    <a:lstStyle/>
                    <a:p>
                      <a:pPr>
                        <a:defRPr sz="1200" b="0">
                          <a:solidFill>
                            <a:srgbClr val="1C1C1C"/>
                          </a:solidFill>
                          <a:latin typeface="Calibri"/>
                        </a:defRPr>
                      </a:pPr>
                      <a:r>
                        <a:rPr sz="1000">
                          <a:solidFill>
                            <a:srgbClr val="333333"/>
                          </a:solidFill>
                        </a:rPr>
                        <a:t>out</a:t>
                      </a:r>
                    </a:p>
                  </a:txBody>
                  <a:tcPr>
                    <a:solidFill>
                      <a:srgbClr val="FFFFFF"/>
                    </a:solidFill>
                  </a:tcPr>
                </a:tc>
                <a:extLst>
                  <a:ext uri="{0D108BD9-81ED-4DB2-BD59-A6C34878D82A}">
                    <a16:rowId xmlns:a16="http://schemas.microsoft.com/office/drawing/2014/main" val="10014"/>
                  </a:ext>
                </a:extLst>
              </a:tr>
              <a:tr h="274320">
                <a:tc>
                  <a:txBody>
                    <a:bodyPr/>
                    <a:lstStyle/>
                    <a:p>
                      <a:pPr>
                        <a:defRPr sz="1200" b="0">
                          <a:solidFill>
                            <a:srgbClr val="1C1C1C"/>
                          </a:solidFill>
                          <a:latin typeface="Calibri"/>
                        </a:defRPr>
                      </a:pPr>
                      <a:r>
                        <a:rPr sz="1000">
                          <a:solidFill>
                            <a:srgbClr val="333333"/>
                          </a:solidFill>
                        </a:rPr>
                        <a:t>XA</a:t>
                      </a:r>
                    </a:p>
                  </a:txBody>
                  <a:tcPr>
                    <a:solidFill>
                      <a:srgbClr val="F7F8FA"/>
                    </a:solidFill>
                  </a:tcPr>
                </a:tc>
                <a:tc>
                  <a:txBody>
                    <a:bodyPr/>
                    <a:lstStyle/>
                    <a:p>
                      <a:r>
                        <a:t>Expected assists</a:t>
                      </a:r>
                    </a:p>
                  </a:txBody>
                  <a:tcPr>
                    <a:solidFill>
                      <a:srgbClr val="F7F8FA"/>
                    </a:solidFill>
                  </a:tcPr>
                </a:tc>
                <a:tc>
                  <a:txBody>
                    <a:bodyPr/>
                    <a:lstStyle/>
                    <a:p>
                      <a:pPr>
                        <a:defRPr sz="1200" b="0">
                          <a:solidFill>
                            <a:srgbClr val="1C1C1C"/>
                          </a:solidFill>
                          <a:latin typeface="Calibri"/>
                        </a:defRPr>
                      </a:pPr>
                      <a:r>
                        <a:rPr sz="1000">
                          <a:solidFill>
                            <a:srgbClr val="333333"/>
                          </a:solidFill>
                        </a:rPr>
                        <a:t>Attacking</a:t>
                      </a:r>
                    </a:p>
                  </a:txBody>
                  <a:tcPr>
                    <a:solidFill>
                      <a:srgbClr val="F7F8FA"/>
                    </a:solidFill>
                  </a:tcPr>
                </a:tc>
                <a:tc>
                  <a:txBody>
                    <a:bodyPr/>
                    <a:lstStyle/>
                    <a:p>
                      <a:pPr>
                        <a:defRPr sz="1200" b="1">
                          <a:solidFill>
                            <a:srgbClr val="1C1C1C"/>
                          </a:solidFill>
                          <a:latin typeface="Calibri"/>
                        </a:defRPr>
                      </a:pPr>
                      <a:r>
                        <a:rPr sz="1000">
                          <a:solidFill>
                            <a:srgbClr val="333333"/>
                          </a:solidFill>
                        </a:rPr>
                        <a:t>0.13</a:t>
                      </a:r>
                    </a:p>
                  </a:txBody>
                  <a:tcPr>
                    <a:solidFill>
                      <a:srgbClr val="F7F8FA"/>
                    </a:solidFill>
                  </a:tcPr>
                </a:tc>
                <a:tc>
                  <a:txBody>
                    <a:bodyPr/>
                    <a:lstStyle/>
                    <a:p>
                      <a:pPr>
                        <a:defRPr sz="1200" b="0">
                          <a:solidFill>
                            <a:srgbClr val="1C1C1C"/>
                          </a:solidFill>
                          <a:latin typeface="Calibri"/>
                        </a:defRPr>
                      </a:pPr>
                      <a:r>
                        <a:rPr sz="1000">
                          <a:solidFill>
                            <a:srgbClr val="333333"/>
                          </a:solidFill>
                        </a:rPr>
                        <a:t>out</a:t>
                      </a:r>
                    </a:p>
                  </a:txBody>
                  <a:tcPr>
                    <a:solidFill>
                      <a:srgbClr val="F7F8FA"/>
                    </a:solidFill>
                  </a:tcPr>
                </a:tc>
                <a:extLst>
                  <a:ext uri="{0D108BD9-81ED-4DB2-BD59-A6C34878D82A}">
                    <a16:rowId xmlns:a16="http://schemas.microsoft.com/office/drawing/2014/main" val="10015"/>
                  </a:ext>
                </a:extLst>
              </a:tr>
              <a:tr h="274320">
                <a:tc>
                  <a:txBody>
                    <a:bodyPr/>
                    <a:lstStyle/>
                    <a:p>
                      <a:pPr>
                        <a:defRPr sz="1200" b="0">
                          <a:solidFill>
                            <a:srgbClr val="1C1C1C"/>
                          </a:solidFill>
                          <a:latin typeface="Calibri"/>
                        </a:defRPr>
                      </a:pPr>
                      <a:r>
                        <a:rPr sz="1000">
                          <a:solidFill>
                            <a:srgbClr val="333333"/>
                          </a:solidFill>
                        </a:rPr>
                        <a:t>AER</a:t>
                      </a:r>
                    </a:p>
                  </a:txBody>
                  <a:tcPr>
                    <a:solidFill>
                      <a:srgbClr val="FFFFFF"/>
                    </a:solidFill>
                  </a:tcPr>
                </a:tc>
                <a:tc>
                  <a:txBody>
                    <a:bodyPr/>
                    <a:lstStyle/>
                    <a:p>
                      <a:r>
                        <a:t>Aerials won</a:t>
                      </a:r>
                    </a:p>
                  </a:txBody>
                  <a:tcPr>
                    <a:solidFill>
                      <a:srgbClr val="FFFFFF"/>
                    </a:solidFill>
                  </a:tcPr>
                </a:tc>
                <a:tc>
                  <a:txBody>
                    <a:bodyPr/>
                    <a:lstStyle/>
                    <a:p>
                      <a:pPr>
                        <a:defRPr sz="1200" b="0">
                          <a:solidFill>
                            <a:srgbClr val="1C1C1C"/>
                          </a:solidFill>
                          <a:latin typeface="Calibri"/>
                        </a:defRPr>
                      </a:pPr>
                      <a:r>
                        <a:rPr sz="1000">
                          <a:solidFill>
                            <a:srgbClr val="333333"/>
                          </a:solidFill>
                        </a:rPr>
                        <a:t>Defending</a:t>
                      </a:r>
                    </a:p>
                  </a:txBody>
                  <a:tcPr>
                    <a:solidFill>
                      <a:srgbClr val="FFFFFF"/>
                    </a:solidFill>
                  </a:tcPr>
                </a:tc>
                <a:tc>
                  <a:txBody>
                    <a:bodyPr/>
                    <a:lstStyle/>
                    <a:p>
                      <a:pPr>
                        <a:defRPr sz="1200" b="1">
                          <a:solidFill>
                            <a:srgbClr val="1C1C1C"/>
                          </a:solidFill>
                          <a:latin typeface="Calibri"/>
                        </a:defRPr>
                      </a:pPr>
                      <a:r>
                        <a:rPr sz="1000">
                          <a:solidFill>
                            <a:srgbClr val="333333"/>
                          </a:solidFill>
                        </a:rPr>
                        <a:t>0.12</a:t>
                      </a:r>
                    </a:p>
                  </a:txBody>
                  <a:tcPr>
                    <a:solidFill>
                      <a:srgbClr val="FFFFFF"/>
                    </a:solidFill>
                  </a:tcPr>
                </a:tc>
                <a:tc>
                  <a:txBody>
                    <a:bodyPr/>
                    <a:lstStyle/>
                    <a:p>
                      <a:pPr>
                        <a:defRPr sz="1200" b="0">
                          <a:solidFill>
                            <a:srgbClr val="1C1C1C"/>
                          </a:solidFill>
                          <a:latin typeface="Calibri"/>
                        </a:defRPr>
                      </a:pPr>
                      <a:r>
                        <a:rPr sz="1000" dirty="0">
                          <a:solidFill>
                            <a:srgbClr val="333333"/>
                          </a:solidFill>
                        </a:rPr>
                        <a:t>out</a:t>
                      </a:r>
                    </a:p>
                  </a:txBody>
                  <a:tcPr>
                    <a:solidFill>
                      <a:srgbClr val="FFFFFF"/>
                    </a:solidFill>
                  </a:tcPr>
                </a:tc>
                <a:extLst>
                  <a:ext uri="{0D108BD9-81ED-4DB2-BD59-A6C34878D82A}">
                    <a16:rowId xmlns:a16="http://schemas.microsoft.com/office/drawing/2014/main" val="10016"/>
                  </a:ext>
                </a:extLst>
              </a:tr>
            </a:tbl>
          </a:graphicData>
        </a:graphic>
      </p:graphicFrame>
      <p:sp>
        <p:nvSpPr>
          <p:cNvPr id="7" name="TextBox 6"/>
          <p:cNvSpPr txBox="1"/>
          <p:nvPr/>
        </p:nvSpPr>
        <p:spPr>
          <a:xfrm>
            <a:off x="411480" y="6263640"/>
            <a:ext cx="10972800" cy="274320"/>
          </a:xfrm>
          <a:prstGeom prst="rect">
            <a:avLst/>
          </a:prstGeom>
          <a:noFill/>
        </p:spPr>
        <p:txBody>
          <a:bodyPr wrap="square">
            <a:spAutoFit/>
          </a:bodyPr>
          <a:lstStyle/>
          <a:p>
            <a:pPr algn="l">
              <a:spcAft>
                <a:spcPts val="300"/>
              </a:spcAft>
            </a:pPr>
            <a:r>
              <a:rPr sz="1100" b="0">
                <a:solidFill>
                  <a:srgbClr val="333333"/>
                </a:solidFill>
              </a:rPr>
              <a:t>Next: redundancy at Pearson |r|≥0.85 — only near-dupes cut; passes kept with progressive passes.</a:t>
            </a:r>
          </a:p>
          <a:p>
            <a:r>
              <a:rPr sz="1100" b="0">
                <a:solidFill>
                  <a:srgbClr val="333333"/>
                </a:solidFill>
              </a:rPr>
              <a:t>Metric codes: see Glossary slide (PPC, DIS, PRS, …).</a:t>
            </a:r>
          </a:p>
          <a:p>
            <a:r>
              <a:rPr sz="1100" b="0">
                <a:solidFill>
                  <a:srgbClr val="333333"/>
                </a:solidFill>
              </a:rPr>
              <a:t/>
            </a:r>
          </a:p>
          <a:p>
            <a:r>
              <a:rPr sz="1100" b="0">
                <a:solidFill>
                  <a:srgbClr val="333333"/>
                </a:solidFill>
              </a:rPr>
              <a:t>Position changes: we use broad position groups for peer ranks. We do not model "CB became FB" as the main story — role switches can add noise to stability, but this project is about which rate traits travel, not which players changed position.</a:t>
            </a:r>
          </a:p>
        </p:txBody>
      </p:sp>
      <p:sp>
        <p:nvSpPr>
          <p:cNvPr id="8" name="TextBox 7">
            <a:hlinkClick r:id="rId2" action="ppaction://hlinksldjump"/>
          </p:cNvPr>
          <p:cNvSpPr txBox="1"/>
          <p:nvPr/>
        </p:nvSpPr>
        <p:spPr>
          <a:xfrm>
            <a:off x="9875520" y="137160"/>
            <a:ext cx="2011680" cy="320040"/>
          </a:xfrm>
          <a:prstGeom prst="rect">
            <a:avLst/>
          </a:prstGeom>
          <a:noFill/>
        </p:spPr>
        <p:txBody>
          <a:bodyPr wrap="square">
            <a:spAutoFit/>
          </a:bodyPr>
          <a:lstStyle/>
          <a:p>
            <a:r>
              <a:rPr sz="1200" b="1">
                <a:solidFill>
                  <a:srgbClr val="3D5A80"/>
                </a:solidFill>
              </a:rPr>
              <a:t>→ Glossary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TextBox 2"/>
          <p:cNvSpPr txBox="1"/>
          <p:nvPr/>
        </p:nvSpPr>
        <p:spPr>
          <a:xfrm>
            <a:off x="411480" y="201168"/>
            <a:ext cx="10972800" cy="292388"/>
          </a:xfrm>
          <a:prstGeom prst="rect">
            <a:avLst/>
          </a:prstGeom>
          <a:noFill/>
        </p:spPr>
        <p:txBody>
          <a:bodyPr wrap="square">
            <a:spAutoFit/>
          </a:bodyPr>
          <a:lstStyle/>
          <a:p>
            <a:pPr algn="l"/>
            <a:r>
              <a:rPr sz="1300" b="1" dirty="0">
                <a:solidFill>
                  <a:srgbClr val="3D5A80"/>
                </a:solidFill>
                <a:latin typeface="Calibri"/>
              </a:rPr>
              <a:t>REDUNDANCY PICKS</a:t>
            </a:r>
          </a:p>
        </p:txBody>
      </p:sp>
      <p:sp>
        <p:nvSpPr>
          <p:cNvPr id="4" name="TextBox 3"/>
          <p:cNvSpPr txBox="1"/>
          <p:nvPr/>
        </p:nvSpPr>
        <p:spPr>
          <a:xfrm>
            <a:off x="411480" y="457200"/>
            <a:ext cx="10972800" cy="430887"/>
          </a:xfrm>
          <a:prstGeom prst="rect">
            <a:avLst/>
          </a:prstGeom>
          <a:noFill/>
        </p:spPr>
        <p:txBody>
          <a:bodyPr wrap="square">
            <a:spAutoFit/>
          </a:bodyPr>
          <a:lstStyle/>
          <a:p>
            <a:pPr algn="l"/>
            <a:r>
              <a:rPr sz="1800" b="1">
                <a:solidFill>
                  <a:srgbClr val="3D5A80"/>
                </a:solidFill>
              </a:rPr>
              <a:t>Drop near-duplicate metrics</a:t>
            </a:r>
            <a:endParaRPr sz="2200" b="1" dirty="0">
              <a:solidFill>
                <a:srgbClr val="1C1C1C"/>
              </a:solidFill>
              <a:latin typeface="Georgia"/>
            </a:endParaRPr>
          </a:p>
          <a:p>
            <a:r>
              <a:rPr sz="1200">
                <a:solidFill>
                  <a:srgbClr val="555555"/>
                </a:solidFill>
              </a:rPr>
              <a:t>(metrics that move together — same information twice)</a:t>
            </a:r>
          </a:p>
        </p:txBody>
      </p:sp>
      <p:sp>
        <p:nvSpPr>
          <p:cNvPr id="5" name="Rounded Rectangle 4"/>
          <p:cNvSpPr/>
          <p:nvPr/>
        </p:nvSpPr>
        <p:spPr>
          <a:xfrm>
            <a:off x="411480" y="960120"/>
            <a:ext cx="5440680" cy="534924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1803" y="1413801"/>
            <a:ext cx="4937760" cy="320040"/>
          </a:xfrm>
          <a:prstGeom prst="rect">
            <a:avLst/>
          </a:prstGeom>
          <a:noFill/>
        </p:spPr>
        <p:txBody>
          <a:bodyPr wrap="square">
            <a:spAutoFit/>
          </a:bodyPr>
          <a:lstStyle/>
          <a:p>
            <a:pPr algn="l">
              <a:spcAft>
                <a:spcPts val="300"/>
              </a:spcAft>
            </a:pPr>
            <a:r>
              <a:rPr sz="1100">
                <a:solidFill>
                  <a:srgbClr val="333333"/>
                </a:solidFill>
              </a:rPr>
              <a:t>StatsBomb shortlist (7)</a:t>
            </a:r>
          </a:p>
          <a:p>
            <a:r>
              <a:rPr sz="1100">
                <a:solidFill>
                  <a:srgbClr val="333333"/>
                </a:solidFill>
              </a:rPr>
              <a:t>Stability r≥0.40 · redundancy |r|≥0.85 (passes kept)</a:t>
            </a:r>
          </a:p>
          <a:p>
            <a:r>
              <a:rPr sz="1100">
                <a:solidFill>
                  <a:srgbClr val="333333"/>
                </a:solidFill>
              </a:rPr>
              <a:t/>
            </a:r>
          </a:p>
          <a:p>
            <a:r>
              <a:rPr sz="1100">
                <a:solidFill>
                  <a:srgbClr val="333333"/>
                </a:solidFill>
              </a:rPr>
              <a:t>Progressive passes  r=0.74</a:t>
            </a:r>
          </a:p>
          <a:p>
            <a:r>
              <a:rPr sz="1100">
                <a:solidFill>
                  <a:srgbClr val="333333"/>
                </a:solidFill>
              </a:rPr>
              <a:t>Dispossessed (inverted)  r=0.59</a:t>
            </a:r>
          </a:p>
          <a:p>
            <a:r>
              <a:rPr sz="1100">
                <a:solidFill>
                  <a:srgbClr val="333333"/>
                </a:solidFill>
              </a:rPr>
              <a:t>Pressures  r=0.51</a:t>
            </a:r>
          </a:p>
          <a:p>
            <a:r>
              <a:rPr sz="1100">
                <a:solidFill>
                  <a:srgbClr val="333333"/>
                </a:solidFill>
              </a:rPr>
              <a:t>Pass volume  r=0.49</a:t>
            </a:r>
          </a:p>
          <a:p>
            <a:r>
              <a:rPr sz="1100">
                <a:solidFill>
                  <a:srgbClr val="333333"/>
                </a:solidFill>
              </a:rPr>
              <a:t>Clearances  r=0.47</a:t>
            </a:r>
          </a:p>
          <a:p>
            <a:r>
              <a:rPr sz="1100">
                <a:solidFill>
                  <a:srgbClr val="333333"/>
                </a:solidFill>
              </a:rPr>
              <a:t>Successful dribbles  r=0.46</a:t>
            </a:r>
          </a:p>
          <a:p>
            <a:r>
              <a:rPr sz="1100">
                <a:solidFill>
                  <a:srgbClr val="333333"/>
                </a:solidFill>
              </a:rPr>
              <a:t>Passes into final third  r=0.42</a:t>
            </a:r>
          </a:p>
        </p:txBody>
      </p:sp>
      <p:sp>
        <p:nvSpPr>
          <p:cNvPr id="7" name="TextBox 6"/>
          <p:cNvSpPr txBox="1"/>
          <p:nvPr/>
        </p:nvSpPr>
        <p:spPr>
          <a:xfrm>
            <a:off x="651803" y="5279955"/>
            <a:ext cx="4937760" cy="461665"/>
          </a:xfrm>
          <a:prstGeom prst="rect">
            <a:avLst/>
          </a:prstGeom>
          <a:noFill/>
        </p:spPr>
        <p:txBody>
          <a:bodyPr wrap="square">
            <a:spAutoFit/>
          </a:bodyPr>
          <a:lstStyle/>
          <a:p>
            <a:pPr>
              <a:spcAft>
                <a:spcPts val="500"/>
              </a:spcAft>
            </a:pPr>
            <a:r>
              <a:rPr sz="1200" b="0" dirty="0">
                <a:solidFill>
                  <a:srgbClr val="333333"/>
                </a:solidFill>
                <a:latin typeface="Calibri"/>
              </a:rPr>
              <a:t>SB: |r|≥0.85 — no cuts; passes kept with progressive passes</a:t>
            </a:r>
            <a:r>
              <a:rPr lang="en-US" sz="1200" b="0" dirty="0">
                <a:solidFill>
                  <a:srgbClr val="333333"/>
                </a:solidFill>
                <a:latin typeface="Calibri"/>
              </a:rPr>
              <a:t> due to fundamental difference in definition</a:t>
            </a:r>
            <a:r>
              <a:rPr sz="1200" b="0" dirty="0">
                <a:solidFill>
                  <a:srgbClr val="333333"/>
                </a:solidFill>
                <a:latin typeface="Calibri"/>
              </a:rPr>
              <a:t>.</a:t>
            </a:r>
          </a:p>
        </p:txBody>
      </p:sp>
      <p:sp>
        <p:nvSpPr>
          <p:cNvPr id="17" name="Rounded Rectangle 16"/>
          <p:cNvSpPr/>
          <p:nvPr/>
        </p:nvSpPr>
        <p:spPr>
          <a:xfrm>
            <a:off x="6080760" y="960120"/>
            <a:ext cx="5623560" cy="534924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21083" y="1413801"/>
            <a:ext cx="5212080" cy="1405513"/>
          </a:xfrm>
          <a:prstGeom prst="rect">
            <a:avLst/>
          </a:prstGeom>
          <a:noFill/>
        </p:spPr>
        <p:txBody>
          <a:bodyPr wrap="square">
            <a:spAutoFit/>
          </a:bodyPr>
          <a:lstStyle/>
          <a:p>
            <a:pPr algn="l">
              <a:spcAft>
                <a:spcPts val="200"/>
              </a:spcAft>
            </a:pPr>
            <a:r>
              <a:rPr sz="1100">
                <a:solidFill>
                  <a:srgbClr val="333333"/>
                </a:solidFill>
              </a:rPr>
              <a:t>FBref: 43 cleared stability → 32 kept</a:t>
            </a:r>
          </a:p>
          <a:p>
            <a:r>
              <a:rPr sz="1100">
                <a:solidFill>
                  <a:srgbClr val="333333"/>
                </a:solidFill>
              </a:rPr>
              <a:t>105 tested · category gates → 43 · Pearson |r|≥0.95 → drop near-duplicates → 32</a:t>
            </a:r>
          </a:p>
          <a:p>
            <a:r>
              <a:rPr sz="1100">
                <a:solidFill>
                  <a:srgbClr val="333333"/>
                </a:solidFill>
              </a:rPr>
              <a:t>Near-duplicate = two metrics that almost always move together (same information twice).</a:t>
            </a:r>
          </a:p>
          <a:p>
            <a:r>
              <a:rPr sz="1100">
                <a:solidFill>
                  <a:srgbClr val="333333"/>
                </a:solidFill>
              </a:rPr>
              <a:t>Pick order when choosing which to keep: higher stability → larger N → prefer rate/contextual</a:t>
            </a:r>
          </a:p>
          <a:p>
            <a:r>
              <a:rPr sz="1100">
                <a:solidFill>
                  <a:srgbClr val="333333"/>
                </a:solidFill>
              </a:rPr>
              <a:t>Top stability examples: Defensive penalty-area touches (0.91) · Progressive carries (0.81) · Expected goals (0.80)</a:t>
            </a:r>
          </a:p>
        </p:txBody>
      </p:sp>
      <p:sp>
        <p:nvSpPr>
          <p:cNvPr id="20" name="TextBox 19"/>
          <p:cNvSpPr txBox="1"/>
          <p:nvPr/>
        </p:nvSpPr>
        <p:spPr>
          <a:xfrm>
            <a:off x="6318504" y="2304288"/>
            <a:ext cx="5212080" cy="237744"/>
          </a:xfrm>
          <a:prstGeom prst="rect">
            <a:avLst/>
          </a:prstGeom>
          <a:noFill/>
        </p:spPr>
        <p:txBody>
          <a:bodyPr wrap="square">
            <a:spAutoFit/>
          </a:bodyPr>
          <a:lstStyle/>
          <a:p>
            <a:pPr algn="l"/>
            <a:r>
              <a:rPr sz="1300" b="1">
                <a:solidFill>
                  <a:srgbClr val="222222"/>
                </a:solidFill>
              </a:rPr>
              <a:t>Attacking (3)</a:t>
            </a:r>
          </a:p>
        </p:txBody>
      </p:sp>
      <p:sp>
        <p:nvSpPr>
          <p:cNvPr id="22" name="TextBox 21"/>
          <p:cNvSpPr txBox="1"/>
          <p:nvPr/>
        </p:nvSpPr>
        <p:spPr>
          <a:xfrm>
            <a:off x="6318504" y="2926080"/>
            <a:ext cx="5212080" cy="237744"/>
          </a:xfrm>
          <a:prstGeom prst="rect">
            <a:avLst/>
          </a:prstGeom>
          <a:noFill/>
        </p:spPr>
        <p:txBody>
          <a:bodyPr wrap="square">
            <a:spAutoFit/>
          </a:bodyPr>
          <a:lstStyle/>
          <a:p>
            <a:pPr algn="l"/>
            <a:r>
              <a:rPr sz="1300" b="1">
                <a:solidFill>
                  <a:srgbClr val="222222"/>
                </a:solidFill>
              </a:rPr>
              <a:t>Passing (7)</a:t>
            </a:r>
          </a:p>
        </p:txBody>
      </p:sp>
      <p:sp>
        <p:nvSpPr>
          <p:cNvPr id="23" name="TextBox 22"/>
          <p:cNvSpPr txBox="1"/>
          <p:nvPr/>
        </p:nvSpPr>
        <p:spPr>
          <a:xfrm>
            <a:off x="6318504" y="2542032"/>
            <a:ext cx="5394960" cy="365760"/>
          </a:xfrm>
          <a:prstGeom prst="rect">
            <a:avLst/>
          </a:prstGeom>
          <a:noFill/>
        </p:spPr>
        <p:txBody>
          <a:bodyPr wrap="square">
            <a:spAutoFit/>
          </a:bodyPr>
          <a:lstStyle/>
          <a:p>
            <a:pPr algn="l"/>
            <a:r>
              <a:rPr sz="1000">
                <a:solidFill>
                  <a:srgbClr val="333333"/>
                </a:solidFill>
              </a:rPr>
              <a:t>Expected goals (0.80) · Goals (0.66) · Shots on target (0.56)</a:t>
            </a:r>
          </a:p>
        </p:txBody>
      </p:sp>
      <p:sp>
        <p:nvSpPr>
          <p:cNvPr id="24" name="TextBox 23"/>
          <p:cNvSpPr txBox="1"/>
          <p:nvPr/>
        </p:nvSpPr>
        <p:spPr>
          <a:xfrm>
            <a:off x="6318504" y="3611880"/>
            <a:ext cx="5212080" cy="237744"/>
          </a:xfrm>
          <a:prstGeom prst="rect">
            <a:avLst/>
          </a:prstGeom>
          <a:noFill/>
        </p:spPr>
        <p:txBody>
          <a:bodyPr wrap="square">
            <a:spAutoFit/>
          </a:bodyPr>
          <a:lstStyle/>
          <a:p>
            <a:pPr algn="l"/>
            <a:r>
              <a:rPr sz="1300" b="1">
                <a:solidFill>
                  <a:srgbClr val="222222"/>
                </a:solidFill>
              </a:rPr>
              <a:t>Carrying (4)</a:t>
            </a:r>
          </a:p>
        </p:txBody>
      </p:sp>
      <p:sp>
        <p:nvSpPr>
          <p:cNvPr id="25" name="TextBox 24"/>
          <p:cNvSpPr txBox="1"/>
          <p:nvPr/>
        </p:nvSpPr>
        <p:spPr>
          <a:xfrm>
            <a:off x="6318504" y="3163824"/>
            <a:ext cx="5394960" cy="365760"/>
          </a:xfrm>
          <a:prstGeom prst="rect">
            <a:avLst/>
          </a:prstGeom>
          <a:noFill/>
        </p:spPr>
        <p:txBody>
          <a:bodyPr wrap="square">
            <a:spAutoFit/>
          </a:bodyPr>
          <a:lstStyle/>
          <a:p>
            <a:pPr algn="l"/>
            <a:r>
              <a:rPr sz="900">
                <a:solidFill>
                  <a:srgbClr val="333333"/>
                </a:solidFill>
              </a:rPr>
              <a:t>Progressive carries (0.81) · Progressive carry distance (0.79) · Key passes (0.65) · Final-third passes (0.62) · Medium completion % (0.64) · Crosses into box (0.59) · Crosses (0.68)</a:t>
            </a:r>
          </a:p>
        </p:txBody>
      </p:sp>
      <p:sp>
        <p:nvSpPr>
          <p:cNvPr id="26" name="TextBox 25"/>
          <p:cNvSpPr txBox="1"/>
          <p:nvPr/>
        </p:nvSpPr>
        <p:spPr>
          <a:xfrm>
            <a:off x="6318504" y="4297680"/>
            <a:ext cx="5212080" cy="237744"/>
          </a:xfrm>
          <a:prstGeom prst="rect">
            <a:avLst/>
          </a:prstGeom>
          <a:noFill/>
        </p:spPr>
        <p:txBody>
          <a:bodyPr wrap="square">
            <a:spAutoFit/>
          </a:bodyPr>
          <a:lstStyle/>
          <a:p>
            <a:pPr algn="l"/>
            <a:r>
              <a:rPr sz="1300" b="1">
                <a:solidFill>
                  <a:srgbClr val="222222"/>
                </a:solidFill>
              </a:rPr>
              <a:t>Defending (11)</a:t>
            </a:r>
          </a:p>
        </p:txBody>
      </p:sp>
      <p:sp>
        <p:nvSpPr>
          <p:cNvPr id="27" name="TextBox 26"/>
          <p:cNvSpPr txBox="1"/>
          <p:nvPr/>
        </p:nvSpPr>
        <p:spPr>
          <a:xfrm>
            <a:off x="6318504" y="3849624"/>
            <a:ext cx="5394960" cy="365760"/>
          </a:xfrm>
          <a:prstGeom prst="rect">
            <a:avLst/>
          </a:prstGeom>
          <a:noFill/>
        </p:spPr>
        <p:txBody>
          <a:bodyPr wrap="square">
            <a:spAutoFit/>
          </a:bodyPr>
          <a:lstStyle/>
          <a:p>
            <a:pPr algn="l"/>
            <a:r>
              <a:rPr sz="900">
                <a:solidFill>
                  <a:srgbClr val="333333"/>
                </a:solidFill>
              </a:rPr>
              <a:t>Progressive receives (0.60) · Attacking-third touches (0.54) · Successful take-ons (0.65) · Miscontrols (0.37)</a:t>
            </a:r>
          </a:p>
        </p:txBody>
      </p:sp>
      <p:sp>
        <p:nvSpPr>
          <p:cNvPr id="28" name="TextBox 27"/>
          <p:cNvSpPr txBox="1"/>
          <p:nvPr/>
        </p:nvSpPr>
        <p:spPr>
          <a:xfrm>
            <a:off x="6318504" y="5074920"/>
            <a:ext cx="5212080" cy="237744"/>
          </a:xfrm>
          <a:prstGeom prst="rect">
            <a:avLst/>
          </a:prstGeom>
          <a:noFill/>
        </p:spPr>
        <p:txBody>
          <a:bodyPr wrap="square">
            <a:spAutoFit/>
          </a:bodyPr>
          <a:lstStyle/>
          <a:p>
            <a:pPr algn="l"/>
            <a:r>
              <a:rPr sz="1300" b="1">
                <a:solidFill>
                  <a:srgbClr val="222222"/>
                </a:solidFill>
              </a:rPr>
              <a:t>Other (1)</a:t>
            </a:r>
          </a:p>
        </p:txBody>
      </p:sp>
      <p:sp>
        <p:nvSpPr>
          <p:cNvPr id="29" name="TextBox 28"/>
          <p:cNvSpPr txBox="1"/>
          <p:nvPr/>
        </p:nvSpPr>
        <p:spPr>
          <a:xfrm>
            <a:off x="6318504" y="4535424"/>
            <a:ext cx="5394960" cy="502920"/>
          </a:xfrm>
          <a:prstGeom prst="rect">
            <a:avLst/>
          </a:prstGeom>
          <a:noFill/>
        </p:spPr>
        <p:txBody>
          <a:bodyPr wrap="square">
            <a:spAutoFit/>
          </a:bodyPr>
          <a:lstStyle/>
          <a:p>
            <a:pPr algn="l"/>
            <a:r>
              <a:rPr sz="900">
                <a:solidFill>
                  <a:srgbClr val="333333"/>
                </a:solidFill>
              </a:rPr>
              <a:t>Defensive box touches (0.91) · Clearances (0.67) · Tackled take-ons (0.59) · Aerials won (0.42) · Shot blocks (0.79) · Interceptions (0.57) · Aerials lost (0.42) · Aerial win % (0.50) · Defensive-third touches (0.79) · Tackle % (0.31) · Recoveries (0.40)</a:t>
            </a:r>
          </a:p>
        </p:txBody>
      </p:sp>
      <p:sp>
        <p:nvSpPr>
          <p:cNvPr id="30" name="TextBox 29"/>
          <p:cNvSpPr txBox="1"/>
          <p:nvPr/>
        </p:nvSpPr>
        <p:spPr>
          <a:xfrm>
            <a:off x="6318504" y="5312664"/>
            <a:ext cx="5394960" cy="365760"/>
          </a:xfrm>
          <a:prstGeom prst="rect">
            <a:avLst/>
          </a:prstGeom>
          <a:noFill/>
        </p:spPr>
        <p:txBody>
          <a:bodyPr wrap="square">
            <a:spAutoFit/>
          </a:bodyPr>
          <a:lstStyle/>
          <a:p>
            <a:r>
              <a:rPr sz="1000">
                <a:solidFill>
                  <a:srgbClr val="333333"/>
                </a:solidFill>
              </a:rPr>
              <a:t>Fouls drawn (0.53)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972800" cy="292388"/>
          </a:xfrm>
          <a:prstGeom prst="rect">
            <a:avLst/>
          </a:prstGeom>
          <a:noFill/>
        </p:spPr>
        <p:txBody>
          <a:bodyPr wrap="square">
            <a:spAutoFit/>
          </a:bodyPr>
          <a:lstStyle/>
          <a:p>
            <a:pPr algn="l"/>
            <a:r>
              <a:rPr sz="2000" b="1">
                <a:solidFill>
                  <a:srgbClr val="222222"/>
                </a:solidFill>
              </a:rPr>
              <a:t>OUTPUT · SCOUT PIZZA CHART (Based on charts used by RBNY)</a:t>
            </a:r>
            <a:endParaRPr sz="1300" b="1" dirty="0">
              <a:solidFill>
                <a:srgbClr val="3D5A80"/>
              </a:solidFill>
              <a:latin typeface="Calibri"/>
            </a:endParaRPr>
          </a:p>
        </p:txBody>
      </p:sp>
      <p:sp>
        <p:nvSpPr>
          <p:cNvPr id="4" name="TextBox 3"/>
          <p:cNvSpPr txBox="1"/>
          <p:nvPr/>
        </p:nvSpPr>
        <p:spPr>
          <a:xfrm>
            <a:off x="411480" y="475488"/>
            <a:ext cx="7315200" cy="365760"/>
          </a:xfrm>
          <a:prstGeom prst="rect">
            <a:avLst/>
          </a:prstGeom>
          <a:noFill/>
        </p:spPr>
        <p:txBody>
          <a:bodyPr wrap="square">
            <a:spAutoFit/>
          </a:bodyPr>
          <a:lstStyle/>
          <a:p>
            <a:pPr algn="l"/>
            <a:r>
              <a:rPr sz="2200" b="1">
                <a:solidFill>
                  <a:srgbClr val="1C1C1C"/>
                </a:solidFill>
                <a:latin typeface="Georgia"/>
              </a:rPr>
              <a:t>Example player profile</a:t>
            </a:r>
          </a:p>
        </p:txBody>
      </p:sp>
      <p:sp>
        <p:nvSpPr>
          <p:cNvPr id="5" name="TextBox 4"/>
          <p:cNvSpPr txBox="1"/>
          <p:nvPr/>
        </p:nvSpPr>
        <p:spPr>
          <a:xfrm>
            <a:off x="411480" y="868680"/>
            <a:ext cx="6400800" cy="365760"/>
          </a:xfrm>
          <a:prstGeom prst="rect">
            <a:avLst/>
          </a:prstGeom>
          <a:noFill/>
        </p:spPr>
        <p:txBody>
          <a:bodyPr wrap="square">
            <a:spAutoFit/>
          </a:bodyPr>
          <a:lstStyle/>
          <a:p>
            <a:pPr algn="l">
              <a:spcAft>
                <a:spcPts val="400"/>
              </a:spcAft>
            </a:pPr>
            <a:r>
              <a:rPr sz="1300" b="0">
                <a:solidFill>
                  <a:srgbClr val="555555"/>
                </a:solidFill>
                <a:latin typeface="Calibri"/>
              </a:rPr>
              <a:t>Built from shortlisted traits. Explorer HTML combines FBref + StatsBomb with category slices.</a:t>
            </a:r>
          </a:p>
        </p:txBody>
      </p:sp>
      <p:pic>
        <p:nvPicPr>
          <p:cNvPr id="6" name="Picture 5" descr="mock_pizza_bundesliga.png"/>
          <p:cNvPicPr>
            <a:picLocks noChangeAspect="1"/>
          </p:cNvPicPr>
          <p:nvPr/>
        </p:nvPicPr>
        <p:blipFill>
          <a:blip r:embed="rId2"/>
          <a:stretch>
            <a:fillRect/>
          </a:stretch>
        </p:blipFill>
        <p:spPr>
          <a:xfrm>
            <a:off x="320040" y="1325880"/>
            <a:ext cx="5639438" cy="5029200"/>
          </a:xfrm>
          <a:prstGeom prst="rect">
            <a:avLst/>
          </a:prstGeom>
        </p:spPr>
      </p:pic>
      <p:sp>
        <p:nvSpPr>
          <p:cNvPr id="7" name="Rounded Rectangle 6"/>
          <p:cNvSpPr/>
          <p:nvPr/>
        </p:nvSpPr>
        <p:spPr>
          <a:xfrm>
            <a:off x="6583680" y="1325880"/>
            <a:ext cx="5120640" cy="49377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12280" y="1508760"/>
            <a:ext cx="4663440" cy="320040"/>
          </a:xfrm>
          <a:prstGeom prst="rect">
            <a:avLst/>
          </a:prstGeom>
          <a:noFill/>
        </p:spPr>
        <p:txBody>
          <a:bodyPr wrap="square">
            <a:spAutoFit/>
          </a:bodyPr>
          <a:lstStyle/>
          <a:p>
            <a:pPr algn="l"/>
            <a:r>
              <a:rPr sz="1200" b="0">
                <a:solidFill>
                  <a:srgbClr val="333333"/>
                </a:solidFill>
              </a:rPr>
              <a:t>How to read</a:t>
            </a:r>
          </a:p>
          <a:p>
            <a:r>
              <a:rPr sz="1200" b="0">
                <a:solidFill>
                  <a:srgbClr val="333333"/>
                </a:solidFill>
              </a:rPr>
              <a:t>Blue = Year 1 in Bundesliga · red dotted = prior · dashed = 50th-percentile Bundesliga peer · grey = 90th-percentile Bundesliga peer.</a:t>
            </a:r>
          </a:p>
          <a:p>
            <a:r>
              <a:rPr sz="1200" b="0">
                <a:solidFill>
                  <a:srgbClr val="333333"/>
                </a:solidFill>
              </a:rPr>
              <a:t>Numbers are percentiles 0–100 vs position peers.</a:t>
            </a:r>
          </a:p>
          <a:p>
            <a:endParaRPr sz="1200" b="0">
              <a:solidFill>
                <a:srgbClr val="333333"/>
              </a:solidFill>
            </a:endParaRPr>
          </a:p>
          <a:p>
            <a:r>
              <a:rPr sz="1200" b="0">
                <a:solidFill>
                  <a:srgbClr val="333333"/>
                </a:solidFill>
              </a:rPr>
              <a:t>Explorer: StatsBomb N=96 · 7 traits · FBref N=329 · 32 traits.</a:t>
            </a:r>
          </a:p>
          <a:p>
            <a:r>
              <a:rPr sz="1200" b="0">
                <a:solidFill>
                  <a:srgbClr val="333333"/>
                </a:solidFill>
              </a:rPr>
              <a:t>Metric abbreviations: see Glossary slide (click codes on stability/success slides where linked).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0972800" cy="274320"/>
          </a:xfrm>
          <a:prstGeom prst="rect">
            <a:avLst/>
          </a:prstGeom>
          <a:noFill/>
        </p:spPr>
        <p:txBody>
          <a:bodyPr wrap="square">
            <a:spAutoFit/>
          </a:bodyPr>
          <a:lstStyle/>
          <a:p>
            <a:r>
              <a:rPr sz="1300" b="1">
                <a:solidFill>
                  <a:srgbClr val="3D5A80"/>
                </a:solidFill>
                <a:latin typeface="Calibri"/>
              </a:rPr>
              <a:t>DEFINITION</a:t>
            </a:r>
          </a:p>
        </p:txBody>
      </p:sp>
      <p:sp>
        <p:nvSpPr>
          <p:cNvPr id="4" name="TextBox 3"/>
          <p:cNvSpPr txBox="1"/>
          <p:nvPr/>
        </p:nvSpPr>
        <p:spPr>
          <a:xfrm>
            <a:off x="502920" y="548640"/>
            <a:ext cx="10972800" cy="411480"/>
          </a:xfrm>
          <a:prstGeom prst="rect">
            <a:avLst/>
          </a:prstGeom>
          <a:noFill/>
        </p:spPr>
        <p:txBody>
          <a:bodyPr wrap="square">
            <a:spAutoFit/>
          </a:bodyPr>
          <a:lstStyle/>
          <a:p>
            <a:r>
              <a:rPr sz="1300" b="0">
                <a:solidFill>
                  <a:srgbClr val="333333"/>
                </a:solidFill>
              </a:rPr>
              <a:t>What “stable-trait score” means</a:t>
            </a:r>
          </a:p>
          <a:p>
            <a:r>
              <a:rPr sz="1300" b="0">
                <a:solidFill>
                  <a:srgbClr val="333333"/>
                </a:solidFill>
              </a:rPr>
              <a:t/>
            </a:r>
          </a:p>
          <a:p>
            <a:r>
              <a:rPr sz="1300" b="0">
                <a:solidFill>
                  <a:srgbClr val="333333"/>
                </a:solidFill>
              </a:rPr>
              <a:t>One number that answers: in Year 1 in Bundesliga, how strong is this player on the portable (shortlisted) traits — vs peers at their position?</a:t>
            </a:r>
          </a:p>
          <a:p>
            <a:r>
              <a:rPr sz="1300" b="0">
                <a:solidFill>
                  <a:srgbClr val="333333"/>
                </a:solidFill>
              </a:rPr>
              <a:t/>
            </a:r>
          </a:p>
          <a:p>
            <a:r>
              <a:rPr sz="1300" b="0">
                <a:solidFill>
                  <a:srgbClr val="333333"/>
                </a:solidFill>
              </a:rPr>
              <a:t>Phase 2 note: this is a secondary success outcome (alongside Year 1 minutes and minutes percentile) — a profile-fit score, not the primary playing-time marker.</a:t>
            </a:r>
          </a:p>
        </p:txBody>
      </p:sp>
      <p:sp>
        <p:nvSpPr>
          <p:cNvPr id="5" name="TextBox 4"/>
          <p:cNvSpPr txBox="1"/>
          <p:nvPr/>
        </p:nvSpPr>
        <p:spPr>
          <a:xfrm>
            <a:off x="502920" y="1051560"/>
            <a:ext cx="10972800" cy="548640"/>
          </a:xfrm>
          <a:prstGeom prst="rect">
            <a:avLst/>
          </a:prstGeom>
          <a:noFill/>
        </p:spPr>
        <p:txBody>
          <a:bodyPr wrap="square">
            <a:spAutoFit/>
          </a:bodyPr>
          <a:lstStyle/>
          <a:p>
            <a:pPr>
              <a:spcAft>
                <a:spcPts val="600"/>
              </a:spcAft>
            </a:pPr>
            <a:r>
              <a:rPr sz="1500">
                <a:solidFill>
                  <a:srgbClr val="1C1C1C"/>
                </a:solidFill>
                <a:latin typeface="Calibri"/>
              </a:rPr>
              <a:t>One number that answers: in Year 1 in Bundesliga, how strong is this player on the portable (shortlisted) traits — vs peers at their position?</a:t>
            </a:r>
          </a:p>
        </p:txBody>
      </p:sp>
      <p:sp>
        <p:nvSpPr>
          <p:cNvPr id="6" name="Rounded Rectangle 5"/>
          <p:cNvSpPr/>
          <p:nvPr/>
        </p:nvSpPr>
        <p:spPr>
          <a:xfrm>
            <a:off x="502920" y="1737360"/>
            <a:ext cx="3657600" cy="411480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737360"/>
            <a:ext cx="73152" cy="411480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874519"/>
            <a:ext cx="3291840" cy="320040"/>
          </a:xfrm>
          <a:prstGeom prst="rect">
            <a:avLst/>
          </a:prstGeom>
          <a:noFill/>
        </p:spPr>
        <p:txBody>
          <a:bodyPr wrap="square">
            <a:spAutoFit/>
          </a:bodyPr>
          <a:lstStyle/>
          <a:p>
            <a:r>
              <a:rPr sz="1500" b="1">
                <a:solidFill>
                  <a:srgbClr val="1C1C1C"/>
                </a:solidFill>
                <a:latin typeface="Georgia"/>
              </a:rPr>
              <a:t>1 · Pick the traits</a:t>
            </a:r>
          </a:p>
        </p:txBody>
      </p:sp>
      <p:sp>
        <p:nvSpPr>
          <p:cNvPr id="9" name="TextBox 8"/>
          <p:cNvSpPr txBox="1"/>
          <p:nvPr/>
        </p:nvSpPr>
        <p:spPr>
          <a:xfrm>
            <a:off x="704088" y="2240280"/>
            <a:ext cx="3291840" cy="3474720"/>
          </a:xfrm>
          <a:prstGeom prst="rect">
            <a:avLst/>
          </a:prstGeom>
          <a:noFill/>
        </p:spPr>
        <p:txBody>
          <a:bodyPr wrap="square">
            <a:spAutoFit/>
          </a:bodyPr>
          <a:lstStyle/>
          <a:p>
            <a:pPr>
              <a:spcAft>
                <a:spcPts val="600"/>
              </a:spcAft>
            </a:pPr>
            <a:r>
              <a:rPr sz="1300" b="0">
                <a:solidFill>
                  <a:srgbClr val="333333"/>
                </a:solidFill>
                <a:latin typeface="Calibri"/>
              </a:rPr>
              <a:t>1 · Pick the traits</a:t>
            </a:r>
          </a:p>
          <a:p>
            <a:r>
              <a:rPr sz="1300" b="0">
                <a:solidFill>
                  <a:srgbClr val="333333"/>
                </a:solidFill>
              </a:rPr>
              <a:t>Shortlist only (SB 7 · FBref 32). Dropped metrics stay out.</a:t>
            </a:r>
          </a:p>
        </p:txBody>
      </p:sp>
      <p:sp>
        <p:nvSpPr>
          <p:cNvPr id="10" name="Rounded Rectangle 9"/>
          <p:cNvSpPr/>
          <p:nvPr/>
        </p:nvSpPr>
        <p:spPr>
          <a:xfrm>
            <a:off x="4343400" y="1737360"/>
            <a:ext cx="3657600" cy="411480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43400" y="1737360"/>
            <a:ext cx="73152" cy="4114800"/>
          </a:xfrm>
          <a:prstGeom prst="rect">
            <a:avLst/>
          </a:prstGeom>
          <a:solidFill>
            <a:srgbClr val="2F9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1874519"/>
            <a:ext cx="3291840" cy="320040"/>
          </a:xfrm>
          <a:prstGeom prst="rect">
            <a:avLst/>
          </a:prstGeom>
          <a:noFill/>
        </p:spPr>
        <p:txBody>
          <a:bodyPr wrap="square">
            <a:spAutoFit/>
          </a:bodyPr>
          <a:lstStyle/>
          <a:p>
            <a:r>
              <a:rPr sz="1500" b="1">
                <a:solidFill>
                  <a:srgbClr val="1C1C1C"/>
                </a:solidFill>
                <a:latin typeface="Georgia"/>
              </a:rPr>
              <a:t>2 · Turn each into a percentile</a:t>
            </a:r>
          </a:p>
        </p:txBody>
      </p:sp>
      <p:sp>
        <p:nvSpPr>
          <p:cNvPr id="13" name="TextBox 12"/>
          <p:cNvSpPr txBox="1"/>
          <p:nvPr/>
        </p:nvSpPr>
        <p:spPr>
          <a:xfrm>
            <a:off x="4544568" y="2240280"/>
            <a:ext cx="3291840" cy="3474720"/>
          </a:xfrm>
          <a:prstGeom prst="rect">
            <a:avLst/>
          </a:prstGeom>
          <a:noFill/>
        </p:spPr>
        <p:txBody>
          <a:bodyPr wrap="square">
            <a:spAutoFit/>
          </a:bodyPr>
          <a:lstStyle/>
          <a:p>
            <a:pPr>
              <a:spcAft>
                <a:spcPts val="600"/>
              </a:spcAft>
            </a:pPr>
            <a:r>
              <a:rPr sz="1300">
                <a:solidFill>
                  <a:srgbClr val="555555"/>
                </a:solidFill>
                <a:latin typeface="Calibri"/>
              </a:rPr>
              <a:t>For each shortlist trait, take the player’s Bundesliga Year 1 in Bundesliga per-90 value.</a:t>
            </a:r>
          </a:p>
          <a:p>
            <a:pPr>
              <a:spcAft>
                <a:spcPts val="600"/>
              </a:spcAft>
            </a:pPr>
            <a:r>
              <a:rPr sz="1300">
                <a:solidFill>
                  <a:srgbClr val="555555"/>
                </a:solidFill>
                <a:latin typeface="Calibri"/>
              </a:rPr>
              <a:t>Rank it vs all Bundesliga peers in the same broad position.</a:t>
            </a:r>
          </a:p>
          <a:p>
            <a:pPr>
              <a:spcAft>
                <a:spcPts val="600"/>
              </a:spcAft>
            </a:pPr>
            <a:r>
              <a:rPr sz="1300">
                <a:solidFill>
                  <a:srgbClr val="555555"/>
                </a:solidFill>
                <a:latin typeface="Calibri"/>
              </a:rPr>
              <a:t>0 = worst peer · 50 = average · 100 = best peer.</a:t>
            </a:r>
          </a:p>
        </p:txBody>
      </p:sp>
      <p:sp>
        <p:nvSpPr>
          <p:cNvPr id="14" name="Rounded Rectangle 13"/>
          <p:cNvSpPr/>
          <p:nvPr/>
        </p:nvSpPr>
        <p:spPr>
          <a:xfrm>
            <a:off x="8183879" y="1737360"/>
            <a:ext cx="3474720" cy="411480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83879" y="1737360"/>
            <a:ext cx="73152" cy="4114800"/>
          </a:xfrm>
          <a:prstGeom prst="rect">
            <a:avLst/>
          </a:prstGeom>
          <a:solidFill>
            <a:srgbClr val="BC4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85048" y="1874519"/>
            <a:ext cx="3108960" cy="320040"/>
          </a:xfrm>
          <a:prstGeom prst="rect">
            <a:avLst/>
          </a:prstGeom>
          <a:noFill/>
        </p:spPr>
        <p:txBody>
          <a:bodyPr wrap="square">
            <a:spAutoFit/>
          </a:bodyPr>
          <a:lstStyle/>
          <a:p>
            <a:r>
              <a:rPr sz="1500" b="1">
                <a:solidFill>
                  <a:srgbClr val="1C1C1C"/>
                </a:solidFill>
                <a:latin typeface="Georgia"/>
              </a:rPr>
              <a:t>3 · Average them</a:t>
            </a:r>
          </a:p>
        </p:txBody>
      </p:sp>
      <p:sp>
        <p:nvSpPr>
          <p:cNvPr id="17" name="TextBox 16"/>
          <p:cNvSpPr txBox="1"/>
          <p:nvPr/>
        </p:nvSpPr>
        <p:spPr>
          <a:xfrm>
            <a:off x="8385048" y="2240280"/>
            <a:ext cx="3108960" cy="3474720"/>
          </a:xfrm>
          <a:prstGeom prst="rect">
            <a:avLst/>
          </a:prstGeom>
          <a:noFill/>
        </p:spPr>
        <p:txBody>
          <a:bodyPr wrap="square">
            <a:spAutoFit/>
          </a:bodyPr>
          <a:lstStyle/>
          <a:p>
            <a:pPr>
              <a:spcAft>
                <a:spcPts val="600"/>
              </a:spcAft>
            </a:pPr>
            <a:r>
              <a:rPr sz="1300">
                <a:solidFill>
                  <a:srgbClr val="555555"/>
                </a:solidFill>
                <a:latin typeface="Calibri"/>
              </a:rPr>
              <a:t>Stable-trait score = mean of those Year 1 in Bundesliga percentiles across the shortlist.</a:t>
            </a:r>
          </a:p>
          <a:p>
            <a:pPr>
              <a:spcAft>
                <a:spcPts val="600"/>
              </a:spcAft>
            </a:pPr>
            <a:r>
              <a:rPr sz="1300">
                <a:solidFill>
                  <a:srgbClr val="555555"/>
                </a:solidFill>
                <a:latin typeface="Calibri"/>
              </a:rPr>
              <a:t>Example: if a CB is 70th / 60th / 80th on three traits → score ≈ 70.</a:t>
            </a:r>
          </a:p>
          <a:p>
            <a:pPr>
              <a:spcAft>
                <a:spcPts val="600"/>
              </a:spcAft>
            </a:pPr>
            <a:r>
              <a:rPr sz="1300">
                <a:solidFill>
                  <a:srgbClr val="555555"/>
                </a:solidFill>
                <a:latin typeface="Calibri"/>
              </a:rPr>
              <a:t>Higher = better Year 1 in Bundesliga profile on traits that travel.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0972800" cy="292388"/>
          </a:xfrm>
          <a:prstGeom prst="rect">
            <a:avLst/>
          </a:prstGeom>
          <a:noFill/>
        </p:spPr>
        <p:txBody>
          <a:bodyPr wrap="square">
            <a:spAutoFit/>
          </a:bodyPr>
          <a:lstStyle/>
          <a:p>
            <a:pPr algn="l"/>
            <a:r>
              <a:rPr sz="1300" b="1" dirty="0">
                <a:solidFill>
                  <a:srgbClr val="3D5A80"/>
                </a:solidFill>
                <a:latin typeface="Calibri"/>
              </a:rPr>
              <a:t>HOW TO USE THE EXPLORER</a:t>
            </a:r>
          </a:p>
        </p:txBody>
      </p:sp>
      <p:sp>
        <p:nvSpPr>
          <p:cNvPr id="4" name="TextBox 3"/>
          <p:cNvSpPr txBox="1"/>
          <p:nvPr/>
        </p:nvSpPr>
        <p:spPr>
          <a:xfrm>
            <a:off x="502920" y="548640"/>
            <a:ext cx="10972800" cy="365760"/>
          </a:xfrm>
          <a:prstGeom prst="rect">
            <a:avLst/>
          </a:prstGeom>
          <a:noFill/>
        </p:spPr>
        <p:txBody>
          <a:bodyPr wrap="square">
            <a:spAutoFit/>
          </a:bodyPr>
          <a:lstStyle/>
          <a:p>
            <a:pPr algn="l"/>
            <a:r>
              <a:rPr sz="2600" b="1">
                <a:solidFill>
                  <a:srgbClr val="1C1C1C"/>
                </a:solidFill>
                <a:latin typeface="Georgia"/>
              </a:rPr>
              <a:t>interactive_player_explorer.html</a:t>
            </a:r>
          </a:p>
        </p:txBody>
      </p:sp>
      <p:sp>
        <p:nvSpPr>
          <p:cNvPr id="5" name="Oval 4"/>
          <p:cNvSpPr/>
          <p:nvPr/>
        </p:nvSpPr>
        <p:spPr>
          <a:xfrm>
            <a:off x="640080" y="1280160"/>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353312"/>
            <a:ext cx="502920" cy="365760"/>
          </a:xfrm>
          <a:prstGeom prst="rect">
            <a:avLst/>
          </a:prstGeom>
          <a:noFill/>
        </p:spPr>
        <p:txBody>
          <a:bodyPr wrap="square">
            <a:spAutoFit/>
          </a:bodyPr>
          <a:lstStyle/>
          <a:p>
            <a:pPr algn="ctr"/>
            <a:r>
              <a:rPr sz="1800" b="1">
                <a:solidFill>
                  <a:srgbClr val="3D5A80"/>
                </a:solidFill>
                <a:latin typeface="Calibri"/>
              </a:rPr>
              <a:t>1</a:t>
            </a:r>
          </a:p>
        </p:txBody>
      </p:sp>
      <p:sp>
        <p:nvSpPr>
          <p:cNvPr id="7" name="Rounded Rectangle 6"/>
          <p:cNvSpPr/>
          <p:nvPr/>
        </p:nvSpPr>
        <p:spPr>
          <a:xfrm>
            <a:off x="1371600" y="1234439"/>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 y="1463039"/>
            <a:ext cx="9601200" cy="338554"/>
          </a:xfrm>
          <a:prstGeom prst="rect">
            <a:avLst/>
          </a:prstGeom>
          <a:noFill/>
        </p:spPr>
        <p:txBody>
          <a:bodyPr wrap="square">
            <a:spAutoFit/>
          </a:bodyPr>
          <a:lstStyle/>
          <a:p>
            <a:pPr algn="l">
              <a:spcAft>
                <a:spcPts val="300"/>
              </a:spcAft>
            </a:pPr>
            <a:r>
              <a:rPr sz="1600" b="0" dirty="0">
                <a:solidFill>
                  <a:srgbClr val="333333"/>
                </a:solidFill>
                <a:latin typeface="Calibri"/>
              </a:rPr>
              <a:t>Open </a:t>
            </a:r>
            <a:r>
              <a:rPr sz="1600" b="0" dirty="0" err="1">
                <a:solidFill>
                  <a:srgbClr val="333333"/>
                </a:solidFill>
                <a:latin typeface="Calibri"/>
              </a:rPr>
              <a:t>interactive_player_explorer.html</a:t>
            </a:r>
            <a:r>
              <a:rPr sz="1600" b="0" dirty="0">
                <a:solidFill>
                  <a:srgbClr val="333333"/>
                </a:solidFill>
                <a:latin typeface="Calibri"/>
              </a:rPr>
              <a:t> in a browser.</a:t>
            </a:r>
          </a:p>
        </p:txBody>
      </p:sp>
      <p:sp>
        <p:nvSpPr>
          <p:cNvPr id="9" name="Oval 8"/>
          <p:cNvSpPr/>
          <p:nvPr/>
        </p:nvSpPr>
        <p:spPr>
          <a:xfrm>
            <a:off x="640080" y="2377439"/>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2450591"/>
            <a:ext cx="502920" cy="365760"/>
          </a:xfrm>
          <a:prstGeom prst="rect">
            <a:avLst/>
          </a:prstGeom>
          <a:noFill/>
        </p:spPr>
        <p:txBody>
          <a:bodyPr wrap="square">
            <a:spAutoFit/>
          </a:bodyPr>
          <a:lstStyle/>
          <a:p>
            <a:pPr algn="ctr"/>
            <a:r>
              <a:rPr sz="1800" b="1">
                <a:solidFill>
                  <a:srgbClr val="3D5A80"/>
                </a:solidFill>
                <a:latin typeface="Calibri"/>
              </a:rPr>
              <a:t>2</a:t>
            </a:r>
          </a:p>
        </p:txBody>
      </p:sp>
      <p:sp>
        <p:nvSpPr>
          <p:cNvPr id="11" name="Rounded Rectangle 10"/>
          <p:cNvSpPr/>
          <p:nvPr/>
        </p:nvSpPr>
        <p:spPr>
          <a:xfrm>
            <a:off x="1371600" y="2331720"/>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600200" y="2501705"/>
            <a:ext cx="9601200" cy="623248"/>
          </a:xfrm>
          <a:prstGeom prst="rect">
            <a:avLst/>
          </a:prstGeom>
          <a:noFill/>
        </p:spPr>
        <p:txBody>
          <a:bodyPr wrap="square">
            <a:spAutoFit/>
          </a:bodyPr>
          <a:lstStyle/>
          <a:p>
            <a:pPr algn="l">
              <a:spcAft>
                <a:spcPts val="300"/>
              </a:spcAft>
            </a:pPr>
            <a:r>
              <a:rPr sz="1600" b="0" dirty="0">
                <a:solidFill>
                  <a:srgbClr val="333333"/>
                </a:solidFill>
                <a:latin typeface="Calibri"/>
              </a:rPr>
              <a:t>Switch </a:t>
            </a:r>
            <a:r>
              <a:rPr sz="1600" b="0" dirty="0" err="1">
                <a:solidFill>
                  <a:srgbClr val="333333"/>
                </a:solidFill>
                <a:latin typeface="Calibri"/>
              </a:rPr>
              <a:t>StatsBomb</a:t>
            </a:r>
            <a:r>
              <a:rPr sz="1600" b="0" dirty="0">
                <a:solidFill>
                  <a:srgbClr val="333333"/>
                </a:solidFill>
                <a:latin typeface="Calibri"/>
              </a:rPr>
              <a:t> (N=96 · 7 traits) ↔ </a:t>
            </a:r>
            <a:r>
              <a:rPr sz="1600" b="0" dirty="0" err="1">
                <a:solidFill>
                  <a:srgbClr val="333333"/>
                </a:solidFill>
                <a:latin typeface="Calibri"/>
              </a:rPr>
              <a:t>FBref</a:t>
            </a:r>
            <a:r>
              <a:rPr sz="1600" b="0" dirty="0">
                <a:solidFill>
                  <a:srgbClr val="333333"/>
                </a:solidFill>
                <a:latin typeface="Calibri"/>
              </a:rPr>
              <a:t> (N=329 · 32 traits).</a:t>
            </a:r>
          </a:p>
          <a:p>
            <a:pPr>
              <a:spcAft>
                <a:spcPts val="300"/>
              </a:spcAft>
            </a:pPr>
            <a:r>
              <a:rPr sz="1600" b="0" dirty="0">
                <a:solidFill>
                  <a:srgbClr val="333333"/>
                </a:solidFill>
                <a:latin typeface="Calibri"/>
              </a:rPr>
              <a:t>Dropdowns: league → position → player.</a:t>
            </a:r>
          </a:p>
        </p:txBody>
      </p:sp>
      <p:sp>
        <p:nvSpPr>
          <p:cNvPr id="13" name="Oval 12"/>
          <p:cNvSpPr/>
          <p:nvPr/>
        </p:nvSpPr>
        <p:spPr>
          <a:xfrm>
            <a:off x="640080" y="3474720"/>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547872"/>
            <a:ext cx="502920" cy="365760"/>
          </a:xfrm>
          <a:prstGeom prst="rect">
            <a:avLst/>
          </a:prstGeom>
          <a:noFill/>
        </p:spPr>
        <p:txBody>
          <a:bodyPr wrap="square">
            <a:spAutoFit/>
          </a:bodyPr>
          <a:lstStyle/>
          <a:p>
            <a:pPr algn="ctr"/>
            <a:r>
              <a:rPr sz="1800" b="1">
                <a:solidFill>
                  <a:srgbClr val="3D5A80"/>
                </a:solidFill>
                <a:latin typeface="Calibri"/>
              </a:rPr>
              <a:t>3</a:t>
            </a:r>
          </a:p>
        </p:txBody>
      </p:sp>
      <p:sp>
        <p:nvSpPr>
          <p:cNvPr id="15" name="Rounded Rectangle 14"/>
          <p:cNvSpPr/>
          <p:nvPr/>
        </p:nvSpPr>
        <p:spPr>
          <a:xfrm>
            <a:off x="1371600" y="3429000"/>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600200" y="3657600"/>
            <a:ext cx="9601200" cy="457200"/>
          </a:xfrm>
          <a:prstGeom prst="rect">
            <a:avLst/>
          </a:prstGeom>
          <a:noFill/>
        </p:spPr>
        <p:txBody>
          <a:bodyPr wrap="square">
            <a:spAutoFit/>
          </a:bodyPr>
          <a:lstStyle/>
          <a:p>
            <a:pPr algn="l"/>
            <a:r>
              <a:rPr sz="1600" b="0" dirty="0">
                <a:solidFill>
                  <a:srgbClr val="1C1C1C"/>
                </a:solidFill>
                <a:latin typeface="Calibri"/>
              </a:rPr>
              <a:t>Radar slices = style categories (attack/pass/carry/defend). Each slice averages that group’s percentiles.</a:t>
            </a:r>
          </a:p>
        </p:txBody>
      </p:sp>
      <p:sp>
        <p:nvSpPr>
          <p:cNvPr id="17" name="Oval 16"/>
          <p:cNvSpPr/>
          <p:nvPr/>
        </p:nvSpPr>
        <p:spPr>
          <a:xfrm>
            <a:off x="640080" y="4572000"/>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 y="4645152"/>
            <a:ext cx="502920" cy="365760"/>
          </a:xfrm>
          <a:prstGeom prst="rect">
            <a:avLst/>
          </a:prstGeom>
          <a:noFill/>
        </p:spPr>
        <p:txBody>
          <a:bodyPr wrap="square">
            <a:spAutoFit/>
          </a:bodyPr>
          <a:lstStyle/>
          <a:p>
            <a:pPr algn="ctr"/>
            <a:r>
              <a:rPr sz="1800" b="1">
                <a:solidFill>
                  <a:srgbClr val="3D5A80"/>
                </a:solidFill>
                <a:latin typeface="Calibri"/>
              </a:rPr>
              <a:t>4</a:t>
            </a:r>
          </a:p>
        </p:txBody>
      </p:sp>
      <p:sp>
        <p:nvSpPr>
          <p:cNvPr id="19" name="Rounded Rectangle 18"/>
          <p:cNvSpPr/>
          <p:nvPr/>
        </p:nvSpPr>
        <p:spPr>
          <a:xfrm>
            <a:off x="1371600" y="4526280"/>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00200" y="4754880"/>
            <a:ext cx="9601200" cy="457200"/>
          </a:xfrm>
          <a:prstGeom prst="rect">
            <a:avLst/>
          </a:prstGeom>
          <a:noFill/>
        </p:spPr>
        <p:txBody>
          <a:bodyPr wrap="square">
            <a:spAutoFit/>
          </a:bodyPr>
          <a:lstStyle/>
          <a:p>
            <a:pPr algn="l"/>
            <a:r>
              <a:rPr sz="1600" b="0">
                <a:solidFill>
                  <a:srgbClr val="1C1C1C"/>
                </a:solidFill>
                <a:latin typeface="Calibri"/>
              </a:rPr>
              <a:t>Same explorer combines both sources — pick FBref or StatsBomb in the data-source dropdown.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2880"/>
            <a:ext cx="10972800" cy="256032"/>
          </a:xfrm>
          <a:prstGeom prst="rect">
            <a:avLst/>
          </a:prstGeom>
          <a:noFill/>
        </p:spPr>
        <p:txBody>
          <a:bodyPr wrap="square">
            <a:spAutoFit/>
          </a:bodyPr>
          <a:lstStyle/>
          <a:p>
            <a:r>
              <a:rPr sz="1300" b="1">
                <a:solidFill>
                  <a:srgbClr val="3D5A80"/>
                </a:solidFill>
                <a:latin typeface="Calibri"/>
              </a:rPr>
              <a:t>RESULTS  ·  SUCCESS INDICATORS</a:t>
            </a:r>
          </a:p>
        </p:txBody>
      </p:sp>
      <p:sp>
        <p:nvSpPr>
          <p:cNvPr id="4" name="TextBox 3"/>
          <p:cNvSpPr txBox="1"/>
          <p:nvPr/>
        </p:nvSpPr>
        <p:spPr>
          <a:xfrm>
            <a:off x="411480" y="438912"/>
            <a:ext cx="10972800" cy="347472"/>
          </a:xfrm>
          <a:prstGeom prst="rect">
            <a:avLst/>
          </a:prstGeom>
          <a:noFill/>
        </p:spPr>
        <p:txBody>
          <a:bodyPr wrap="square">
            <a:spAutoFit/>
          </a:bodyPr>
          <a:lstStyle/>
          <a:p>
            <a:r>
              <a:rPr sz="2200" b="1">
                <a:solidFill>
                  <a:srgbClr val="1C1C1C"/>
                </a:solidFill>
                <a:latin typeface="Georgia"/>
              </a:rPr>
              <a:t>Which prior traits &amp; leagues line up with Year 1 in Bundesliga success?</a:t>
            </a:r>
          </a:p>
        </p:txBody>
      </p:sp>
      <p:sp>
        <p:nvSpPr>
          <p:cNvPr id="5" name="Rounded Rectangle 4"/>
          <p:cNvSpPr/>
          <p:nvPr/>
        </p:nvSpPr>
        <p:spPr>
          <a:xfrm>
            <a:off x="411480" y="914400"/>
            <a:ext cx="11338560" cy="1170432"/>
          </a:xfrm>
          <a:prstGeom prst="roundRect">
            <a:avLst/>
          </a:prstGeom>
          <a:solidFill>
            <a:srgbClr val="EEF3F8"/>
          </a:solidFill>
          <a:ln>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51560"/>
            <a:ext cx="10881360" cy="748923"/>
          </a:xfrm>
          <a:prstGeom prst="rect">
            <a:avLst/>
          </a:prstGeom>
          <a:noFill/>
        </p:spPr>
        <p:txBody>
          <a:bodyPr wrap="square">
            <a:spAutoFit/>
          </a:bodyPr>
          <a:lstStyle/>
          <a:p>
            <a:pPr>
              <a:spcAft>
                <a:spcPts val="400"/>
              </a:spcAft>
            </a:pPr>
            <a:r>
              <a:rPr sz="1100">
                <a:solidFill>
                  <a:srgbClr val="333333"/>
                </a:solidFill>
              </a:rPr>
              <a:t>Phase 2: after shortlisting, test what lines up with Bundesliga success.</a:t>
            </a:r>
          </a:p>
          <a:p>
            <a:r>
              <a:rPr sz="1100">
                <a:solidFill>
                  <a:srgbClr val="333333"/>
                </a:solidFill>
              </a:rPr>
              <a:t/>
            </a:r>
          </a:p>
          <a:p>
            <a:r>
              <a:rPr sz="1100">
                <a:solidFill>
                  <a:srgbClr val="333333"/>
                </a:solidFill>
              </a:rPr>
              <a:t>Success = Year 1 in Bundesliga minutes (more minutes = more playing time).</a:t>
            </a:r>
          </a:p>
          <a:p>
            <a:r>
              <a:rPr sz="1100">
                <a:solidFill>
                  <a:srgbClr val="333333"/>
                </a:solidFill>
              </a:rPr>
              <a:t>Also reported: Year 1 minutes percentile · stable-trait score (secondary).</a:t>
            </a:r>
          </a:p>
          <a:p>
            <a:r>
              <a:rPr sz="1100">
                <a:solidFill>
                  <a:srgbClr val="333333"/>
                </a:solidFill>
              </a:rPr>
              <a:t/>
            </a:r>
          </a:p>
          <a:p>
            <a:r>
              <a:rPr sz="1100">
                <a:solidFill>
                  <a:srgbClr val="333333"/>
                </a:solidFill>
              </a:rPr>
              <a:t>Spearman ρ: sort players from high to low on a prior trait, sort them from high to low on Year 1 minutes, and measure how often those two orderings agree. A positive link means players who ranked higher on that trait before the move also tended to play more in their first Bundesliga season.</a:t>
            </a:r>
          </a:p>
          <a:p>
            <a:r>
              <a:rPr sz="1100">
                <a:solidFill>
                  <a:srgbClr val="333333"/>
                </a:solidFill>
              </a:rPr>
              <a:t/>
            </a:r>
          </a:p>
          <a:p>
            <a:r>
              <a:rPr sz="1100">
                <a:solidFill>
                  <a:srgbClr val="333333"/>
                </a:solidFill>
              </a:rPr>
              <a:t>Playing time still depends on the roster, injuries, and coaching choices — we use minutes as an observable open-data stand-in for “the club gave this player a real role,” not as proof that the player deserved those minutes.</a:t>
            </a:r>
          </a:p>
          <a:p>
            <a:r>
              <a:rPr sz="1100">
                <a:solidFill>
                  <a:srgbClr val="333333"/>
                </a:solidFill>
              </a:rPr>
              <a:t/>
            </a:r>
          </a:p>
          <a:p>
            <a:r>
              <a:rPr sz="1100">
                <a:solidFill>
                  <a:srgbClr val="333333"/>
                </a:solidFill>
              </a:rPr>
              <a:t>Then: feeder-league averages + exploratory OLS.</a:t>
            </a:r>
          </a:p>
        </p:txBody>
      </p:sp>
      <p:sp>
        <p:nvSpPr>
          <p:cNvPr id="7" name="Rounded Rectangle 6"/>
          <p:cNvSpPr/>
          <p:nvPr/>
        </p:nvSpPr>
        <p:spPr>
          <a:xfrm>
            <a:off x="411480" y="2148840"/>
            <a:ext cx="3566160" cy="20116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2148840"/>
            <a:ext cx="64008" cy="201168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2258568"/>
            <a:ext cx="3291840" cy="274320"/>
          </a:xfrm>
          <a:prstGeom prst="rect">
            <a:avLst/>
          </a:prstGeom>
          <a:noFill/>
        </p:spPr>
        <p:txBody>
          <a:bodyPr wrap="square">
            <a:spAutoFit/>
          </a:bodyPr>
          <a:lstStyle/>
          <a:p>
            <a:r>
              <a:rPr sz="1400" b="1" dirty="0" err="1">
                <a:solidFill>
                  <a:srgbClr val="1C1C1C"/>
                </a:solidFill>
                <a:latin typeface="Georgia"/>
              </a:rPr>
              <a:t>StatsBomb</a:t>
            </a:r>
            <a:endParaRPr sz="1400" b="1" dirty="0">
              <a:solidFill>
                <a:srgbClr val="1C1C1C"/>
              </a:solidFill>
              <a:latin typeface="Georgia"/>
            </a:endParaRPr>
          </a:p>
        </p:txBody>
      </p:sp>
      <p:sp>
        <p:nvSpPr>
          <p:cNvPr id="10" name="TextBox 9"/>
          <p:cNvSpPr txBox="1"/>
          <p:nvPr/>
        </p:nvSpPr>
        <p:spPr>
          <a:xfrm>
            <a:off x="594360" y="2587752"/>
            <a:ext cx="3246120" cy="1508760"/>
          </a:xfrm>
          <a:prstGeom prst="rect">
            <a:avLst/>
          </a:prstGeom>
          <a:noFill/>
        </p:spPr>
        <p:txBody>
          <a:bodyPr wrap="square">
            <a:spAutoFit/>
          </a:bodyPr>
          <a:lstStyle/>
          <a:p>
            <a:pPr>
              <a:spcAft>
                <a:spcPts val="400"/>
              </a:spcAft>
            </a:pPr>
            <a:r>
              <a:rPr sz="1200">
                <a:solidFill>
                  <a:srgbClr val="555555"/>
                </a:solidFill>
                <a:latin typeface="Calibri"/>
              </a:rPr>
              <a:t>N=96 open-data cohort</a:t>
            </a:r>
          </a:p>
          <a:p>
            <a:pPr>
              <a:spcAft>
                <a:spcPts val="400"/>
              </a:spcAft>
            </a:pPr>
            <a:r>
              <a:rPr sz="1200">
                <a:solidFill>
                  <a:srgbClr val="555555"/>
                </a:solidFill>
                <a:latin typeface="Calibri"/>
              </a:rPr>
              <a:t>Primary priors often intl comps</a:t>
            </a:r>
          </a:p>
          <a:p>
            <a:pPr>
              <a:spcAft>
                <a:spcPts val="400"/>
              </a:spcAft>
            </a:pPr>
            <a:r>
              <a:rPr sz="1200">
                <a:solidFill>
                  <a:srgbClr val="555555"/>
                </a:solidFill>
                <a:latin typeface="Calibri"/>
              </a:rPr>
              <a:t>Weaker league signal · use for traits</a:t>
            </a:r>
          </a:p>
        </p:txBody>
      </p:sp>
      <p:sp>
        <p:nvSpPr>
          <p:cNvPr id="11" name="Rounded Rectangle 10"/>
          <p:cNvSpPr/>
          <p:nvPr/>
        </p:nvSpPr>
        <p:spPr>
          <a:xfrm>
            <a:off x="4160520" y="2148840"/>
            <a:ext cx="3566160" cy="20116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160520" y="2148840"/>
            <a:ext cx="64008" cy="2011680"/>
          </a:xfrm>
          <a:prstGeom prst="rect">
            <a:avLst/>
          </a:prstGeom>
          <a:solidFill>
            <a:srgbClr val="1B7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43400" y="2258568"/>
            <a:ext cx="3291840" cy="746358"/>
          </a:xfrm>
          <a:prstGeom prst="rect">
            <a:avLst/>
          </a:prstGeom>
          <a:noFill/>
        </p:spPr>
        <p:txBody>
          <a:bodyPr wrap="square">
            <a:spAutoFit/>
          </a:bodyPr>
          <a:lstStyle/>
          <a:p>
            <a:pPr>
              <a:spcAft>
                <a:spcPts val="300"/>
              </a:spcAft>
            </a:pPr>
            <a:r>
              <a:rPr sz="1400" b="1" dirty="0" err="1">
                <a:solidFill>
                  <a:srgbClr val="333333"/>
                </a:solidFill>
                <a:latin typeface="Georgia" panose="02040502050405020303" pitchFamily="18" charset="0"/>
              </a:rPr>
              <a:t>FBref</a:t>
            </a:r>
            <a:endParaRPr sz="1400" b="1" dirty="0">
              <a:solidFill>
                <a:srgbClr val="3D5A80"/>
              </a:solidFill>
              <a:latin typeface="Georgia" panose="02040502050405020303" pitchFamily="18" charset="0"/>
            </a:endParaRPr>
          </a:p>
          <a:p>
            <a:r>
              <a:rPr sz="1300" b="0" dirty="0">
                <a:solidFill>
                  <a:srgbClr val="333333"/>
                </a:solidFill>
              </a:rPr>
              <a:t>N=329 · 19 leagues</a:t>
            </a:r>
          </a:p>
          <a:p>
            <a:r>
              <a:rPr sz="1300" b="0" dirty="0">
                <a:solidFill>
                  <a:srgbClr val="333333"/>
                </a:solidFill>
              </a:rPr>
              <a:t>Success = Year 1 in Bundesliga minutes</a:t>
            </a:r>
          </a:p>
        </p:txBody>
      </p:sp>
      <p:sp>
        <p:nvSpPr>
          <p:cNvPr id="15" name="Rounded Rectangle 14"/>
          <p:cNvSpPr/>
          <p:nvPr/>
        </p:nvSpPr>
        <p:spPr>
          <a:xfrm>
            <a:off x="7909560" y="2148840"/>
            <a:ext cx="3840480" cy="20116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909560" y="2148840"/>
            <a:ext cx="64008" cy="201168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92440" y="2258568"/>
            <a:ext cx="3566160" cy="307777"/>
          </a:xfrm>
          <a:prstGeom prst="rect">
            <a:avLst/>
          </a:prstGeom>
          <a:noFill/>
        </p:spPr>
        <p:txBody>
          <a:bodyPr wrap="square">
            <a:spAutoFit/>
          </a:bodyPr>
          <a:lstStyle/>
          <a:p>
            <a:r>
              <a:rPr lang="en-US" sz="1400" b="1" dirty="0">
                <a:solidFill>
                  <a:srgbClr val="1C1C1C"/>
                </a:solidFill>
                <a:latin typeface="Georgia"/>
              </a:rPr>
              <a:t>Weak </a:t>
            </a:r>
            <a:r>
              <a:rPr lang="en-US" sz="1400" b="1" dirty="0" err="1">
                <a:solidFill>
                  <a:srgbClr val="1C1C1C"/>
                </a:solidFill>
                <a:latin typeface="Georgia"/>
              </a:rPr>
              <a:t>Signalling</a:t>
            </a:r>
            <a:endParaRPr sz="1400" b="1" dirty="0">
              <a:solidFill>
                <a:srgbClr val="1C1C1C"/>
              </a:solidFill>
              <a:latin typeface="Georgia"/>
            </a:endParaRPr>
          </a:p>
        </p:txBody>
      </p:sp>
      <p:sp>
        <p:nvSpPr>
          <p:cNvPr id="18" name="TextBox 17"/>
          <p:cNvSpPr txBox="1"/>
          <p:nvPr/>
        </p:nvSpPr>
        <p:spPr>
          <a:xfrm>
            <a:off x="8092440" y="2587752"/>
            <a:ext cx="3520440" cy="933589"/>
          </a:xfrm>
          <a:prstGeom prst="rect">
            <a:avLst/>
          </a:prstGeom>
          <a:noFill/>
        </p:spPr>
        <p:txBody>
          <a:bodyPr wrap="square">
            <a:spAutoFit/>
          </a:bodyPr>
          <a:lstStyle/>
          <a:p>
            <a:pPr>
              <a:spcAft>
                <a:spcPts val="400"/>
              </a:spcAft>
            </a:pPr>
            <a:r>
              <a:rPr sz="1200" dirty="0">
                <a:solidFill>
                  <a:srgbClr val="555555"/>
                </a:solidFill>
                <a:latin typeface="Calibri"/>
              </a:rPr>
              <a:t>Supports scouting weights</a:t>
            </a:r>
          </a:p>
          <a:p>
            <a:pPr>
              <a:spcAft>
                <a:spcPts val="400"/>
              </a:spcAft>
            </a:pPr>
            <a:r>
              <a:rPr sz="1200" dirty="0">
                <a:solidFill>
                  <a:srgbClr val="555555"/>
                </a:solidFill>
                <a:latin typeface="Calibri"/>
              </a:rPr>
              <a:t>Does not predict every transfer</a:t>
            </a:r>
          </a:p>
          <a:p>
            <a:pPr>
              <a:spcAft>
                <a:spcPts val="400"/>
              </a:spcAft>
            </a:pPr>
            <a:r>
              <a:rPr lang="en-US" sz="1200" dirty="0"/>
              <a:t>Full interactive tables: </a:t>
            </a:r>
            <a:r>
              <a:rPr lang="en-US" sz="1200" dirty="0" err="1"/>
              <a:t>interactive_player_explorer.html</a:t>
            </a:r>
            <a:r>
              <a:rPr lang="en-US" sz="1200" dirty="0"/>
              <a:t> · </a:t>
            </a:r>
            <a:r>
              <a:rPr lang="en-US" sz="1200" dirty="0" err="1"/>
              <a:t>README.md</a:t>
            </a:r>
            <a:endParaRPr sz="1200" dirty="0">
              <a:solidFill>
                <a:srgbClr val="555555"/>
              </a:solidFill>
              <a:latin typeface="Calibri"/>
            </a:endParaRPr>
          </a:p>
        </p:txBody>
      </p:sp>
      <p:sp>
        <p:nvSpPr>
          <p:cNvPr id="19" name="TextBox 18"/>
          <p:cNvSpPr txBox="1"/>
          <p:nvPr/>
        </p:nvSpPr>
        <p:spPr>
          <a:xfrm>
            <a:off x="411480" y="4434840"/>
            <a:ext cx="10972800" cy="743793"/>
          </a:xfrm>
          <a:prstGeom prst="rect">
            <a:avLst/>
          </a:prstGeom>
          <a:noFill/>
        </p:spPr>
        <p:txBody>
          <a:bodyPr wrap="square">
            <a:spAutoFit/>
          </a:bodyPr>
          <a:lstStyle/>
          <a:p>
            <a:pPr>
              <a:spcAft>
                <a:spcPts val="400"/>
              </a:spcAft>
            </a:pPr>
            <a:r>
              <a:rPr sz="1300" dirty="0">
                <a:solidFill>
                  <a:srgbClr val="555555"/>
                </a:solidFill>
                <a:latin typeface="Calibri"/>
              </a:rPr>
              <a:t>Interpretation: positive ρ = arriving with a higher prior percentile on that trait tends to coincide with more Year 1 in Bundesliga minutes / higher trait score.</a:t>
            </a:r>
          </a:p>
          <a:p>
            <a:pPr>
              <a:spcAft>
                <a:spcPts val="400"/>
              </a:spcAft>
            </a:pPr>
            <a:r>
              <a:rPr sz="1300" dirty="0">
                <a:solidFill>
                  <a:srgbClr val="555555"/>
                </a:solidFill>
                <a:latin typeface="Calibri"/>
              </a:rPr>
              <a:t>Negative </a:t>
            </a:r>
            <a:r>
              <a:rPr sz="1300" dirty="0" err="1">
                <a:solidFill>
                  <a:srgbClr val="555555"/>
                </a:solidFill>
                <a:latin typeface="Calibri"/>
              </a:rPr>
              <a:t>ρ</a:t>
            </a:r>
            <a:r>
              <a:rPr sz="1300" dirty="0">
                <a:solidFill>
                  <a:srgbClr val="555555"/>
                </a:solidFill>
                <a:latin typeface="Calibri"/>
              </a:rPr>
              <a:t> on inverted metrics (e.g. dispossessed) can still be informative — read label + sign together</a:t>
            </a:r>
            <a:r>
              <a:rPr lang="en-US" sz="1300" dirty="0">
                <a:solidFill>
                  <a:srgbClr val="555555"/>
                </a:solidFill>
                <a:latin typeface="Calibri"/>
              </a:rPr>
              <a:t> since lower dispossessed score means better player performance</a:t>
            </a:r>
            <a:endParaRPr sz="1300" dirty="0">
              <a:solidFill>
                <a:srgbClr val="555555"/>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594360"/>
          </a:xfrm>
          <a:prstGeom prst="rect">
            <a:avLst/>
          </a:prstGeom>
          <a:noFill/>
        </p:spPr>
        <p:txBody>
          <a:bodyPr wrap="square">
            <a:spAutoFit/>
          </a:bodyPr>
          <a:lstStyle/>
          <a:p>
            <a:r>
              <a:rPr sz="2800" b="1">
                <a:solidFill>
                  <a:srgbClr val="3D5A80"/>
                </a:solidFill>
                <a:latin typeface="Georgia"/>
              </a:rPr>
              <a:t>SUCCESS DEFINITION  ·  YEAR-1 MINUTES</a:t>
            </a:r>
          </a:p>
        </p:txBody>
      </p:sp>
      <p:sp>
        <p:nvSpPr>
          <p:cNvPr id="4" name="TextBox 3"/>
          <p:cNvSpPr txBox="1"/>
          <p:nvPr/>
        </p:nvSpPr>
        <p:spPr>
          <a:xfrm>
            <a:off x="548640" y="960120"/>
            <a:ext cx="10972800" cy="411480"/>
          </a:xfrm>
          <a:prstGeom prst="rect">
            <a:avLst/>
          </a:prstGeom>
          <a:noFill/>
        </p:spPr>
        <p:txBody>
          <a:bodyPr wrap="square">
            <a:spAutoFit/>
          </a:bodyPr>
          <a:lstStyle/>
          <a:p>
            <a:r>
              <a:rPr sz="1500" b="0">
                <a:solidFill>
                  <a:srgbClr val="555555"/>
                </a:solidFill>
                <a:latin typeface="Georgia"/>
              </a:rPr>
              <a:t>How we operationalize “Bundesliga success” in Phase 2 with open data.</a:t>
            </a:r>
          </a:p>
        </p:txBody>
      </p:sp>
      <p:sp>
        <p:nvSpPr>
          <p:cNvPr id="5" name="TextBox 4"/>
          <p:cNvSpPr txBox="1"/>
          <p:nvPr/>
        </p:nvSpPr>
        <p:spPr>
          <a:xfrm>
            <a:off x="685800" y="1417320"/>
            <a:ext cx="5394960" cy="4389120"/>
          </a:xfrm>
          <a:prstGeom prst="rect">
            <a:avLst/>
          </a:prstGeom>
          <a:noFill/>
        </p:spPr>
        <p:txBody>
          <a:bodyPr wrap="square">
            <a:spAutoFit/>
          </a:bodyPr>
          <a:lstStyle/>
          <a:p>
            <a:pPr>
              <a:spcAft>
                <a:spcPts val="600"/>
              </a:spcAft>
            </a:pPr>
            <a:r>
              <a:rPr sz="1200">
                <a:solidFill>
                  <a:srgbClr val="333333"/>
                </a:solidFill>
              </a:rPr>
              <a:t>Primary success marker: minutes played in the player’s first Bundesliga season (“Year 1 in Bundesliga minutes”).</a:t>
            </a:r>
          </a:p>
          <a:p>
            <a:r>
              <a:rPr sz="1200">
                <a:solidFill>
                  <a:srgbClr val="333333"/>
                </a:solidFill>
              </a:rPr>
              <a:t/>
            </a:r>
          </a:p>
          <a:p>
            <a:r>
              <a:rPr sz="1200">
                <a:solidFill>
                  <a:srgbClr val="333333"/>
                </a:solidFill>
              </a:rPr>
              <a:t>Success means the club gave the inbound player playing time — not goals scored and not market value.</a:t>
            </a:r>
          </a:p>
          <a:p>
            <a:r>
              <a:rPr sz="1200">
                <a:solidFill>
                  <a:srgbClr val="333333"/>
                </a:solidFill>
              </a:rPr>
              <a:t/>
            </a:r>
          </a:p>
          <a:p>
            <a:r>
              <a:rPr sz="1200">
                <a:solidFill>
                  <a:srgbClr val="333333"/>
                </a:solidFill>
              </a:rPr>
              <a:t>Also reported (secondary):</a:t>
            </a:r>
          </a:p>
          <a:p>
            <a:r>
              <a:rPr sz="1200">
                <a:solidFill>
                  <a:srgbClr val="333333"/>
                </a:solidFill>
              </a:rPr>
              <a:t>• Year 1 minutes percentile — where that player’s minutes rank among peers in the study</a:t>
            </a:r>
          </a:p>
          <a:p>
            <a:r>
              <a:rPr sz="1200">
                <a:solidFill>
                  <a:srgbClr val="333333"/>
                </a:solidFill>
              </a:rPr>
              <a:t>• Stable-trait score — how strong the Year 1 profile looks on the portable traits</a:t>
            </a:r>
          </a:p>
          <a:p>
            <a:r>
              <a:rPr sz="1200">
                <a:solidFill>
                  <a:srgbClr val="333333"/>
                </a:solidFill>
              </a:rPr>
              <a:t/>
            </a:r>
          </a:p>
          <a:p>
            <a:r>
              <a:rPr sz="1200">
                <a:solidFill>
                  <a:srgbClr val="333333"/>
                </a:solidFill>
              </a:rPr>
              <a:t>Trait and league tests ask: which prior signals line up with more Year 1 minutes?</a:t>
            </a:r>
          </a:p>
          <a:p>
            <a:r>
              <a:rPr sz="1200">
                <a:solidFill>
                  <a:srgbClr val="333333"/>
                </a:solidFill>
              </a:rPr>
              <a:t/>
            </a:r>
          </a:p>
          <a:p>
            <a:r>
              <a:rPr sz="1200">
                <a:solidFill>
                  <a:srgbClr val="333333"/>
                </a:solidFill>
              </a:rPr>
              <a:t>Regression Δ Year 1 minutes = estimated extra first-season minutes versus a reference league (Serie A), holding other controls fixed.</a:t>
            </a:r>
          </a:p>
        </p:txBody>
      </p:sp>
      <p:sp>
        <p:nvSpPr>
          <p:cNvPr id="6" name="Rounded Rectangle 5"/>
          <p:cNvSpPr/>
          <p:nvPr/>
        </p:nvSpPr>
        <p:spPr>
          <a:xfrm>
            <a:off x="7104183" y="1417320"/>
            <a:ext cx="4193345" cy="3222674"/>
          </a:xfrm>
          <a:prstGeom prst="roundRect">
            <a:avLst/>
          </a:prstGeom>
          <a:solidFill>
            <a:srgbClr val="EEF3F8"/>
          </a:solidFill>
          <a:ln>
            <a:solidFill>
              <a:srgbClr val="D0D4D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dirty="0">
                <a:solidFill>
                  <a:srgbClr val="3D5A80"/>
                </a:solidFill>
                <a:latin typeface="Georgia"/>
              </a:rPr>
              <a:t>Why minutes?</a:t>
            </a:r>
          </a:p>
          <a:p>
            <a:endParaRPr sz="1600" b="1" dirty="0">
              <a:solidFill>
                <a:srgbClr val="3D5A80"/>
              </a:solidFill>
              <a:latin typeface="Georgia"/>
            </a:endParaRPr>
          </a:p>
          <a:p>
            <a:r>
              <a:rPr sz="1300" dirty="0">
                <a:solidFill>
                  <a:srgbClr val="1C1C1C"/>
                </a:solidFill>
                <a:latin typeface="Arial"/>
              </a:rPr>
              <a:t>Observable in </a:t>
            </a:r>
            <a:r>
              <a:rPr sz="1300" dirty="0" err="1">
                <a:solidFill>
                  <a:srgbClr val="1C1C1C"/>
                </a:solidFill>
                <a:latin typeface="Arial"/>
              </a:rPr>
              <a:t>FBref</a:t>
            </a:r>
            <a:r>
              <a:rPr sz="1300" dirty="0">
                <a:solidFill>
                  <a:srgbClr val="1C1C1C"/>
                </a:solidFill>
                <a:latin typeface="Arial"/>
              </a:rPr>
              <a:t> / </a:t>
            </a:r>
            <a:r>
              <a:rPr sz="1300" dirty="0" err="1">
                <a:solidFill>
                  <a:srgbClr val="1C1C1C"/>
                </a:solidFill>
                <a:latin typeface="Arial"/>
              </a:rPr>
              <a:t>StatsBomb</a:t>
            </a:r>
            <a:r>
              <a:rPr sz="1300" dirty="0">
                <a:solidFill>
                  <a:srgbClr val="1C1C1C"/>
                </a:solidFill>
                <a:latin typeface="Arial"/>
              </a:rPr>
              <a:t> cohorts</a:t>
            </a:r>
          </a:p>
          <a:p>
            <a:endParaRPr sz="1300" dirty="0">
              <a:solidFill>
                <a:srgbClr val="1C1C1C"/>
              </a:solidFill>
              <a:latin typeface="Arial"/>
            </a:endParaRPr>
          </a:p>
          <a:p>
            <a:r>
              <a:rPr sz="1300" dirty="0">
                <a:solidFill>
                  <a:srgbClr val="1C1C1C"/>
                </a:solidFill>
                <a:latin typeface="Arial"/>
              </a:rPr>
              <a:t>Directly measures opportunity &amp; role</a:t>
            </a:r>
          </a:p>
          <a:p>
            <a:endParaRPr sz="1300" dirty="0">
              <a:solidFill>
                <a:srgbClr val="1C1C1C"/>
              </a:solidFill>
              <a:latin typeface="Arial"/>
            </a:endParaRPr>
          </a:p>
          <a:p>
            <a:r>
              <a:rPr sz="1300" dirty="0">
                <a:solidFill>
                  <a:srgbClr val="1C1C1C"/>
                </a:solidFill>
                <a:latin typeface="Arial"/>
              </a:rPr>
              <a:t>Not the same as goals, </a:t>
            </a:r>
            <a:r>
              <a:rPr sz="1300" dirty="0" err="1">
                <a:solidFill>
                  <a:srgbClr val="1C1C1C"/>
                </a:solidFill>
                <a:latin typeface="Arial"/>
              </a:rPr>
              <a:t>xG</a:t>
            </a:r>
            <a:r>
              <a:rPr sz="1300" dirty="0">
                <a:solidFill>
                  <a:srgbClr val="1C1C1C"/>
                </a:solidFill>
                <a:latin typeface="Arial"/>
              </a:rPr>
              <a:t>, or team points</a:t>
            </a:r>
          </a:p>
          <a:p>
            <a:endParaRPr sz="1300" dirty="0">
              <a:solidFill>
                <a:srgbClr val="1C1C1C"/>
              </a:solidFill>
              <a:latin typeface="Arial"/>
            </a:endParaRPr>
          </a:p>
          <a:p>
            <a:r>
              <a:rPr lang="en-US" sz="1300" dirty="0">
                <a:solidFill>
                  <a:srgbClr val="1C1C1C"/>
                </a:solidFill>
                <a:latin typeface="Arial"/>
              </a:rPr>
              <a:t>S</a:t>
            </a:r>
            <a:r>
              <a:rPr sz="1300" dirty="0">
                <a:solidFill>
                  <a:srgbClr val="1C1C1C"/>
                </a:solidFill>
                <a:latin typeface="Arial"/>
              </a:rPr>
              <a:t>cope: associative scouting weights, not a forecast model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2880"/>
            <a:ext cx="10972800" cy="256032"/>
          </a:xfrm>
          <a:prstGeom prst="rect">
            <a:avLst/>
          </a:prstGeom>
          <a:noFill/>
        </p:spPr>
        <p:txBody>
          <a:bodyPr wrap="square">
            <a:spAutoFit/>
          </a:bodyPr>
          <a:lstStyle/>
          <a:p>
            <a:r>
              <a:rPr sz="2000" b="1">
                <a:solidFill>
                  <a:srgbClr val="3D5A80"/>
                </a:solidFill>
                <a:latin typeface="Calibri"/>
              </a:rPr>
              <a:t>RESULTS  ·  TRAITS → BUNDESLIGA SUCCESS</a:t>
            </a:r>
          </a:p>
        </p:txBody>
      </p:sp>
      <p:sp>
        <p:nvSpPr>
          <p:cNvPr id="4" name="TextBox 3"/>
          <p:cNvSpPr txBox="1"/>
          <p:nvPr/>
        </p:nvSpPr>
        <p:spPr>
          <a:xfrm>
            <a:off x="411480" y="438912"/>
            <a:ext cx="10972800" cy="2677656"/>
          </a:xfrm>
          <a:prstGeom prst="rect">
            <a:avLst/>
          </a:prstGeom>
          <a:noFill/>
        </p:spPr>
        <p:txBody>
          <a:bodyPr wrap="square">
            <a:spAutoFit/>
          </a:bodyPr>
          <a:lstStyle/>
          <a:p>
            <a:pPr>
              <a:spcAft>
                <a:spcPts val="300"/>
              </a:spcAft>
            </a:pPr>
            <a:r>
              <a:rPr sz="1100">
                <a:solidFill>
                  <a:srgbClr val="333333"/>
                </a:solidFill>
              </a:rPr>
              <a:t>StatsBomb (N=96)</a:t>
            </a:r>
          </a:p>
          <a:p>
            <a:r>
              <a:rPr sz="1100">
                <a:solidFill>
                  <a:srgbClr val="333333"/>
                </a:solidFill>
              </a:rPr>
              <a:t>prior percentile → Year 1 in Bundesliga minutes</a:t>
            </a:r>
          </a:p>
          <a:p>
            <a:r>
              <a:rPr sz="1100">
                <a:solidFill>
                  <a:srgbClr val="333333"/>
                </a:solidFill>
              </a:rPr>
              <a:t/>
            </a:r>
          </a:p>
          <a:p>
            <a:r>
              <a:rPr sz="1100">
                <a:solidFill>
                  <a:srgbClr val="333333"/>
                </a:solidFill>
              </a:rPr>
              <a:t>Pressures  ρ=-0.28  p=0.006</a:t>
            </a:r>
          </a:p>
          <a:p>
            <a:r>
              <a:rPr sz="1100">
                <a:solidFill>
                  <a:srgbClr val="333333"/>
                </a:solidFill>
              </a:rPr>
              <a:t>Successful dribbles  ρ=-0.17  p=0.090</a:t>
            </a:r>
          </a:p>
          <a:p>
            <a:r>
              <a:rPr sz="1100">
                <a:solidFill>
                  <a:srgbClr val="333333"/>
                </a:solidFill>
              </a:rPr>
              <a:t>Progressive passes  ρ=+0.16  p=0.112</a:t>
            </a:r>
          </a:p>
          <a:p>
            <a:r>
              <a:rPr sz="1100">
                <a:solidFill>
                  <a:srgbClr val="333333"/>
                </a:solidFill>
              </a:rPr>
              <a:t>Dispossessed (inverted)  ρ=+0.14  p=0.185</a:t>
            </a:r>
          </a:p>
          <a:p>
            <a:r>
              <a:rPr sz="1100">
                <a:solidFill>
                  <a:srgbClr val="333333"/>
                </a:solidFill>
              </a:rPr>
              <a:t>Passes into final third  ρ=-0.11  p=0.280</a:t>
            </a:r>
          </a:p>
          <a:p>
            <a:r>
              <a:rPr sz="1100">
                <a:solidFill>
                  <a:srgbClr val="333333"/>
                </a:solidFill>
              </a:rPr>
              <a:t>Clearances  ρ=-0.07  p=0.473</a:t>
            </a:r>
          </a:p>
          <a:p>
            <a:r>
              <a:rPr sz="1100">
                <a:solidFill>
                  <a:srgbClr val="333333"/>
                </a:solidFill>
              </a:rPr>
              <a:t>Pass volume  ρ=+0.00  p=0.980</a:t>
            </a:r>
          </a:p>
        </p:txBody>
      </p:sp>
      <p:graphicFrame>
        <p:nvGraphicFramePr>
          <p:cNvPr id="6" name="Table 5"/>
          <p:cNvGraphicFramePr>
            <a:graphicFrameLocks noGrp="1"/>
          </p:cNvGraphicFramePr>
          <p:nvPr>
            <p:extLst>
              <p:ext uri="{D42A27DB-BD31-4B8C-83A1-F6EECF244321}">
                <p14:modId xmlns:p14="http://schemas.microsoft.com/office/powerpoint/2010/main" val="1912777490"/>
              </p:ext>
            </p:extLst>
          </p:nvPr>
        </p:nvGraphicFramePr>
        <p:xfrm>
          <a:off x="411479" y="1097279"/>
          <a:ext cx="4652888" cy="2954217"/>
        </p:xfrm>
        <a:graphic>
          <a:graphicData uri="http://schemas.openxmlformats.org/drawingml/2006/table">
            <a:tbl>
              <a:tblPr firstRow="1" bandRow="1">
                <a:tableStyleId>{5C22544A-7EE6-4342-B048-85BDC9FD1C3A}</a:tableStyleId>
              </a:tblPr>
              <a:tblGrid>
                <a:gridCol w="3236792">
                  <a:extLst>
                    <a:ext uri="{9D8B030D-6E8A-4147-A177-3AD203B41FA5}">
                      <a16:colId xmlns:a16="http://schemas.microsoft.com/office/drawing/2014/main" val="20000"/>
                    </a:ext>
                  </a:extLst>
                </a:gridCol>
                <a:gridCol w="708048">
                  <a:extLst>
                    <a:ext uri="{9D8B030D-6E8A-4147-A177-3AD203B41FA5}">
                      <a16:colId xmlns:a16="http://schemas.microsoft.com/office/drawing/2014/main" val="20001"/>
                    </a:ext>
                  </a:extLst>
                </a:gridCol>
                <a:gridCol w="708048">
                  <a:extLst>
                    <a:ext uri="{9D8B030D-6E8A-4147-A177-3AD203B41FA5}">
                      <a16:colId xmlns:a16="http://schemas.microsoft.com/office/drawing/2014/main" val="20002"/>
                    </a:ext>
                  </a:extLst>
                </a:gridCol>
              </a:tblGrid>
              <a:tr h="422031">
                <a:tc>
                  <a:txBody>
                    <a:bodyPr/>
                    <a:lstStyle/>
                    <a:p>
                      <a:pPr>
                        <a:defRPr sz="1000" b="1">
                          <a:solidFill>
                            <a:srgbClr val="FFFFFF"/>
                          </a:solidFill>
                          <a:latin typeface="Calibri"/>
                        </a:defRPr>
                      </a:pPr>
                      <a:r>
                        <a:rPr sz="1000" b="1">
                          <a:solidFill>
                            <a:schemeClr val="bg1"/>
                          </a:solidFill>
                        </a:rPr>
                        <a:t>Trait</a:t>
                      </a:r>
                    </a:p>
                  </a:txBody>
                  <a:tcPr>
                    <a:solidFill>
                      <a:srgbClr val="1C1C1C"/>
                    </a:solidFill>
                  </a:tcPr>
                </a:tc>
                <a:tc>
                  <a:txBody>
                    <a:bodyPr/>
                    <a:lstStyle/>
                    <a:p>
                      <a:pPr>
                        <a:defRPr sz="1000" b="1">
                          <a:solidFill>
                            <a:srgbClr val="FFFFFF"/>
                          </a:solidFill>
                          <a:latin typeface="Calibri"/>
                        </a:defRPr>
                      </a:pPr>
                      <a:r>
                        <a:rPr sz="1000" b="1">
                          <a:solidFill>
                            <a:schemeClr val="bg1"/>
                          </a:solidFill>
                        </a:rPr>
                        <a:t>ρ</a:t>
                      </a:r>
                    </a:p>
                  </a:txBody>
                  <a:tcPr>
                    <a:solidFill>
                      <a:srgbClr val="1C1C1C"/>
                    </a:solidFill>
                  </a:tcPr>
                </a:tc>
                <a:tc>
                  <a:txBody>
                    <a:bodyPr/>
                    <a:lstStyle/>
                    <a:p>
                      <a:pPr>
                        <a:defRPr sz="1000" b="1">
                          <a:solidFill>
                            <a:srgbClr val="FFFFFF"/>
                          </a:solidFill>
                          <a:latin typeface="Calibri"/>
                        </a:defRPr>
                      </a:pPr>
                      <a:r>
                        <a:rPr sz="1000" b="1" dirty="0">
                          <a:solidFill>
                            <a:schemeClr val="bg1"/>
                          </a:solidFill>
                        </a:rPr>
                        <a:t>p</a:t>
                      </a:r>
                    </a:p>
                  </a:txBody>
                  <a:tcPr>
                    <a:solidFill>
                      <a:srgbClr val="1C1C1C"/>
                    </a:solidFill>
                  </a:tcPr>
                </a:tc>
                <a:extLst>
                  <a:ext uri="{0D108BD9-81ED-4DB2-BD59-A6C34878D82A}">
                    <a16:rowId xmlns:a16="http://schemas.microsoft.com/office/drawing/2014/main" val="10000"/>
                  </a:ext>
                </a:extLst>
              </a:tr>
              <a:tr h="422031">
                <a:tc>
                  <a:txBody>
                    <a:bodyPr/>
                    <a:lstStyle/>
                    <a:p>
                      <a:r>
                        <a:t>Pressures</a:t>
                      </a:r>
                    </a:p>
                  </a:txBody>
                  <a:tcPr>
                    <a:solidFill>
                      <a:srgbClr val="F0FAF4"/>
                    </a:solidFill>
                  </a:tcPr>
                </a:tc>
                <a:tc>
                  <a:txBody>
                    <a:bodyPr/>
                    <a:lstStyle/>
                    <a:p>
                      <a:pPr>
                        <a:defRPr sz="1000" b="0">
                          <a:solidFill>
                            <a:srgbClr val="1C1C1C"/>
                          </a:solidFill>
                          <a:latin typeface="Calibri"/>
                        </a:defRPr>
                      </a:pPr>
                      <a:r>
                        <a:rPr sz="1000">
                          <a:solidFill>
                            <a:srgbClr val="333333"/>
                          </a:solidFill>
                        </a:rPr>
                        <a:t>-0.28</a:t>
                      </a:r>
                    </a:p>
                  </a:txBody>
                  <a:tcPr>
                    <a:solidFill>
                      <a:srgbClr val="F0FAF4"/>
                    </a:solidFill>
                  </a:tcPr>
                </a:tc>
                <a:tc>
                  <a:txBody>
                    <a:bodyPr/>
                    <a:lstStyle/>
                    <a:p>
                      <a:pPr>
                        <a:defRPr sz="1000" b="0">
                          <a:solidFill>
                            <a:srgbClr val="1C1C1C"/>
                          </a:solidFill>
                          <a:latin typeface="Calibri"/>
                        </a:defRPr>
                      </a:pPr>
                      <a:r>
                        <a:rPr sz="1000">
                          <a:solidFill>
                            <a:srgbClr val="333333"/>
                          </a:solidFill>
                        </a:rPr>
                        <a:t>0.006</a:t>
                      </a:r>
                    </a:p>
                  </a:txBody>
                  <a:tcPr>
                    <a:solidFill>
                      <a:srgbClr val="F0FAF4"/>
                    </a:solidFill>
                  </a:tcPr>
                </a:tc>
                <a:extLst>
                  <a:ext uri="{0D108BD9-81ED-4DB2-BD59-A6C34878D82A}">
                    <a16:rowId xmlns:a16="http://schemas.microsoft.com/office/drawing/2014/main" val="10001"/>
                  </a:ext>
                </a:extLst>
              </a:tr>
              <a:tr h="422031">
                <a:tc>
                  <a:txBody>
                    <a:bodyPr/>
                    <a:lstStyle/>
                    <a:p>
                      <a:r>
                        <a:t>Successful dribbles</a:t>
                      </a:r>
                    </a:p>
                  </a:txBody>
                  <a:tcPr>
                    <a:solidFill>
                      <a:srgbClr val="FFFFFF"/>
                    </a:solidFill>
                  </a:tcPr>
                </a:tc>
                <a:tc>
                  <a:txBody>
                    <a:bodyPr/>
                    <a:lstStyle/>
                    <a:p>
                      <a:pPr>
                        <a:defRPr sz="1000" b="0">
                          <a:solidFill>
                            <a:srgbClr val="1C1C1C"/>
                          </a:solidFill>
                          <a:latin typeface="Calibri"/>
                        </a:defRPr>
                      </a:pPr>
                      <a:r>
                        <a:rPr sz="1000">
                          <a:solidFill>
                            <a:srgbClr val="333333"/>
                          </a:solidFill>
                        </a:rPr>
                        <a:t>-0.17</a:t>
                      </a:r>
                    </a:p>
                  </a:txBody>
                  <a:tcPr>
                    <a:solidFill>
                      <a:srgbClr val="FFFFFF"/>
                    </a:solidFill>
                  </a:tcPr>
                </a:tc>
                <a:tc>
                  <a:txBody>
                    <a:bodyPr/>
                    <a:lstStyle/>
                    <a:p>
                      <a:pPr>
                        <a:defRPr sz="1000" b="0">
                          <a:solidFill>
                            <a:srgbClr val="1C1C1C"/>
                          </a:solidFill>
                          <a:latin typeface="Calibri"/>
                        </a:defRPr>
                      </a:pPr>
                      <a:r>
                        <a:rPr sz="1000">
                          <a:solidFill>
                            <a:srgbClr val="333333"/>
                          </a:solidFill>
                        </a:rPr>
                        <a:t>0.090</a:t>
                      </a:r>
                    </a:p>
                  </a:txBody>
                  <a:tcPr>
                    <a:solidFill>
                      <a:srgbClr val="FFFFFF"/>
                    </a:solidFill>
                  </a:tcPr>
                </a:tc>
                <a:extLst>
                  <a:ext uri="{0D108BD9-81ED-4DB2-BD59-A6C34878D82A}">
                    <a16:rowId xmlns:a16="http://schemas.microsoft.com/office/drawing/2014/main" val="10002"/>
                  </a:ext>
                </a:extLst>
              </a:tr>
              <a:tr h="422031">
                <a:tc>
                  <a:txBody>
                    <a:bodyPr/>
                    <a:lstStyle/>
                    <a:p>
                      <a:r>
                        <a:t>Progressive passes</a:t>
                      </a:r>
                    </a:p>
                  </a:txBody>
                  <a:tcPr>
                    <a:solidFill>
                      <a:srgbClr val="F0FAF4"/>
                    </a:solidFill>
                  </a:tcPr>
                </a:tc>
                <a:tc>
                  <a:txBody>
                    <a:bodyPr/>
                    <a:lstStyle/>
                    <a:p>
                      <a:pPr>
                        <a:defRPr sz="1000" b="0">
                          <a:solidFill>
                            <a:srgbClr val="1C1C1C"/>
                          </a:solidFill>
                          <a:latin typeface="Calibri"/>
                        </a:defRPr>
                      </a:pPr>
                      <a:r>
                        <a:rPr sz="1000">
                          <a:solidFill>
                            <a:srgbClr val="333333"/>
                          </a:solidFill>
                        </a:rPr>
                        <a:t>+0.16</a:t>
                      </a:r>
                    </a:p>
                  </a:txBody>
                  <a:tcPr>
                    <a:solidFill>
                      <a:srgbClr val="F0FAF4"/>
                    </a:solidFill>
                  </a:tcPr>
                </a:tc>
                <a:tc>
                  <a:txBody>
                    <a:bodyPr/>
                    <a:lstStyle/>
                    <a:p>
                      <a:pPr>
                        <a:defRPr sz="1000" b="0">
                          <a:solidFill>
                            <a:srgbClr val="1C1C1C"/>
                          </a:solidFill>
                          <a:latin typeface="Calibri"/>
                        </a:defRPr>
                      </a:pPr>
                      <a:r>
                        <a:rPr sz="1000">
                          <a:solidFill>
                            <a:srgbClr val="333333"/>
                          </a:solidFill>
                        </a:rPr>
                        <a:t>0.112</a:t>
                      </a:r>
                    </a:p>
                  </a:txBody>
                  <a:tcPr>
                    <a:solidFill>
                      <a:srgbClr val="F0FAF4"/>
                    </a:solidFill>
                  </a:tcPr>
                </a:tc>
                <a:extLst>
                  <a:ext uri="{0D108BD9-81ED-4DB2-BD59-A6C34878D82A}">
                    <a16:rowId xmlns:a16="http://schemas.microsoft.com/office/drawing/2014/main" val="10003"/>
                  </a:ext>
                </a:extLst>
              </a:tr>
              <a:tr h="422031">
                <a:tc>
                  <a:txBody>
                    <a:bodyPr/>
                    <a:lstStyle/>
                    <a:p>
                      <a:r>
                        <a:t>Dispossessed (inverted)</a:t>
                      </a:r>
                    </a:p>
                  </a:txBody>
                  <a:tcPr>
                    <a:solidFill>
                      <a:srgbClr val="FFFFFF"/>
                    </a:solidFill>
                  </a:tcPr>
                </a:tc>
                <a:tc>
                  <a:txBody>
                    <a:bodyPr/>
                    <a:lstStyle/>
                    <a:p>
                      <a:pPr>
                        <a:defRPr sz="1000" b="0">
                          <a:solidFill>
                            <a:srgbClr val="1C1C1C"/>
                          </a:solidFill>
                          <a:latin typeface="Calibri"/>
                        </a:defRPr>
                      </a:pPr>
                      <a:r>
                        <a:rPr sz="1000" dirty="0">
                          <a:solidFill>
                            <a:srgbClr val="333333"/>
                          </a:solidFill>
                        </a:rPr>
                        <a:t>+0.14</a:t>
                      </a:r>
                    </a:p>
                  </a:txBody>
                  <a:tcPr>
                    <a:solidFill>
                      <a:srgbClr val="FFFFFF"/>
                    </a:solidFill>
                  </a:tcPr>
                </a:tc>
                <a:tc>
                  <a:txBody>
                    <a:bodyPr/>
                    <a:lstStyle/>
                    <a:p>
                      <a:pPr>
                        <a:defRPr sz="1000" b="0">
                          <a:solidFill>
                            <a:srgbClr val="1C1C1C"/>
                          </a:solidFill>
                          <a:latin typeface="Calibri"/>
                        </a:defRPr>
                      </a:pPr>
                      <a:r>
                        <a:rPr sz="1000">
                          <a:solidFill>
                            <a:srgbClr val="333333"/>
                          </a:solidFill>
                        </a:rPr>
                        <a:t>0.185</a:t>
                      </a:r>
                    </a:p>
                  </a:txBody>
                  <a:tcPr>
                    <a:solidFill>
                      <a:srgbClr val="FFFFFF"/>
                    </a:solidFill>
                  </a:tcPr>
                </a:tc>
                <a:extLst>
                  <a:ext uri="{0D108BD9-81ED-4DB2-BD59-A6C34878D82A}">
                    <a16:rowId xmlns:a16="http://schemas.microsoft.com/office/drawing/2014/main" val="10004"/>
                  </a:ext>
                </a:extLst>
              </a:tr>
              <a:tr h="422031">
                <a:tc>
                  <a:txBody>
                    <a:bodyPr/>
                    <a:lstStyle/>
                    <a:p>
                      <a:r>
                        <a:t>Passes into final third</a:t>
                      </a:r>
                    </a:p>
                  </a:txBody>
                  <a:tcPr>
                    <a:solidFill>
                      <a:srgbClr val="F0FAF4"/>
                    </a:solidFill>
                  </a:tcPr>
                </a:tc>
                <a:tc>
                  <a:txBody>
                    <a:bodyPr/>
                    <a:lstStyle/>
                    <a:p>
                      <a:pPr>
                        <a:defRPr sz="1000" b="0">
                          <a:solidFill>
                            <a:srgbClr val="1C1C1C"/>
                          </a:solidFill>
                          <a:latin typeface="Calibri"/>
                        </a:defRPr>
                      </a:pPr>
                      <a:r>
                        <a:rPr sz="1000">
                          <a:solidFill>
                            <a:srgbClr val="333333"/>
                          </a:solidFill>
                        </a:rPr>
                        <a:t>-0.11</a:t>
                      </a:r>
                    </a:p>
                  </a:txBody>
                  <a:tcPr>
                    <a:solidFill>
                      <a:srgbClr val="F0FAF4"/>
                    </a:solidFill>
                  </a:tcPr>
                </a:tc>
                <a:tc>
                  <a:txBody>
                    <a:bodyPr/>
                    <a:lstStyle/>
                    <a:p>
                      <a:pPr>
                        <a:defRPr sz="1000" b="0">
                          <a:solidFill>
                            <a:srgbClr val="1C1C1C"/>
                          </a:solidFill>
                          <a:latin typeface="Calibri"/>
                        </a:defRPr>
                      </a:pPr>
                      <a:r>
                        <a:rPr sz="1000">
                          <a:solidFill>
                            <a:srgbClr val="333333"/>
                          </a:solidFill>
                        </a:rPr>
                        <a:t>0.280</a:t>
                      </a:r>
                    </a:p>
                  </a:txBody>
                  <a:tcPr>
                    <a:solidFill>
                      <a:srgbClr val="F0FAF4"/>
                    </a:solidFill>
                  </a:tcPr>
                </a:tc>
                <a:extLst>
                  <a:ext uri="{0D108BD9-81ED-4DB2-BD59-A6C34878D82A}">
                    <a16:rowId xmlns:a16="http://schemas.microsoft.com/office/drawing/2014/main" val="10005"/>
                  </a:ext>
                </a:extLst>
              </a:tr>
              <a:tr h="422031">
                <a:tc>
                  <a:txBody>
                    <a:bodyPr/>
                    <a:lstStyle/>
                    <a:p>
                      <a:r>
                        <a:t>Clearances</a:t>
                      </a:r>
                    </a:p>
                  </a:txBody>
                  <a:tcPr>
                    <a:solidFill>
                      <a:srgbClr val="FFFFFF"/>
                    </a:solidFill>
                  </a:tcPr>
                </a:tc>
                <a:tc>
                  <a:txBody>
                    <a:bodyPr/>
                    <a:lstStyle/>
                    <a:p>
                      <a:pPr>
                        <a:defRPr sz="1000" b="0">
                          <a:solidFill>
                            <a:srgbClr val="1C1C1C"/>
                          </a:solidFill>
                          <a:latin typeface="Calibri"/>
                        </a:defRPr>
                      </a:pPr>
                      <a:r>
                        <a:rPr sz="1000">
                          <a:solidFill>
                            <a:srgbClr val="333333"/>
                          </a:solidFill>
                        </a:rPr>
                        <a:t>-0.07</a:t>
                      </a:r>
                    </a:p>
                  </a:txBody>
                  <a:tcPr>
                    <a:solidFill>
                      <a:srgbClr val="FFFFFF"/>
                    </a:solidFill>
                  </a:tcPr>
                </a:tc>
                <a:tc>
                  <a:txBody>
                    <a:bodyPr/>
                    <a:lstStyle/>
                    <a:p>
                      <a:pPr>
                        <a:defRPr sz="1000" b="0">
                          <a:solidFill>
                            <a:srgbClr val="1C1C1C"/>
                          </a:solidFill>
                          <a:latin typeface="Calibri"/>
                        </a:defRPr>
                      </a:pPr>
                      <a:r>
                        <a:rPr sz="1000" dirty="0">
                          <a:solidFill>
                            <a:srgbClr val="333333"/>
                          </a:solidFill>
                        </a:rPr>
                        <a:t>0.473</a:t>
                      </a:r>
                    </a:p>
                  </a:txBody>
                  <a:tcPr>
                    <a:solidFill>
                      <a:srgbClr val="FFFFFF"/>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126480" y="804672"/>
            <a:ext cx="5486400" cy="274320"/>
          </a:xfrm>
          <a:prstGeom prst="rect">
            <a:avLst/>
          </a:prstGeom>
          <a:noFill/>
        </p:spPr>
        <p:txBody>
          <a:bodyPr wrap="square">
            <a:spAutoFit/>
          </a:bodyPr>
          <a:lstStyle/>
          <a:p>
            <a:pPr>
              <a:spcAft>
                <a:spcPts val="300"/>
              </a:spcAft>
            </a:pPr>
            <a:r>
              <a:rPr sz="1100">
                <a:solidFill>
                  <a:srgbClr val="333333"/>
                </a:solidFill>
              </a:rPr>
              <a:t>FBref (N=329)</a:t>
            </a:r>
          </a:p>
          <a:p>
            <a:r>
              <a:rPr sz="1100">
                <a:solidFill>
                  <a:srgbClr val="333333"/>
                </a:solidFill>
              </a:rPr>
              <a:t>prior percentile → Year 1 in Bundesliga minutes</a:t>
            </a:r>
          </a:p>
          <a:p>
            <a:r>
              <a:rPr sz="1100">
                <a:solidFill>
                  <a:srgbClr val="333333"/>
                </a:solidFill>
              </a:rPr>
              <a:t/>
            </a:r>
          </a:p>
          <a:p>
            <a:r>
              <a:rPr sz="1100">
                <a:solidFill>
                  <a:srgbClr val="333333"/>
                </a:solidFill>
              </a:rPr>
              <a:t>Final-third passes  ρ=+0.30  p=0.005 *</a:t>
            </a:r>
          </a:p>
          <a:p>
            <a:r>
              <a:rPr sz="1100">
                <a:solidFill>
                  <a:srgbClr val="333333"/>
                </a:solidFill>
              </a:rPr>
              <a:t>Shot blocks  ρ=+0.27  p=0.011 *</a:t>
            </a:r>
          </a:p>
          <a:p>
            <a:r>
              <a:rPr sz="1100">
                <a:solidFill>
                  <a:srgbClr val="333333"/>
                </a:solidFill>
              </a:rPr>
              <a:t>Progressive carry distance  ρ=+0.24  p=0.025 *</a:t>
            </a:r>
          </a:p>
          <a:p>
            <a:r>
              <a:rPr sz="1100">
                <a:solidFill>
                  <a:srgbClr val="333333"/>
                </a:solidFill>
              </a:rPr>
              <a:t>Tackled take-ons  ρ=+0.23  p=0.030 *</a:t>
            </a:r>
          </a:p>
          <a:p>
            <a:r>
              <a:rPr sz="1100">
                <a:solidFill>
                  <a:srgbClr val="333333"/>
                </a:solidFill>
              </a:rPr>
              <a:t>Long pass attempts  ρ=+0.22  p=0.036 *</a:t>
            </a:r>
          </a:p>
          <a:p>
            <a:r>
              <a:rPr sz="1100">
                <a:solidFill>
                  <a:srgbClr val="333333"/>
                </a:solidFill>
              </a:rPr>
              <a:t>Defensive-third touches  ρ=+0.22  p=0.039 *</a:t>
            </a:r>
          </a:p>
          <a:p>
            <a:r>
              <a:rPr sz="1100">
                <a:solidFill>
                  <a:srgbClr val="333333"/>
                </a:solidFill>
              </a:rPr>
              <a:t/>
            </a:r>
          </a:p>
          <a:p>
            <a:r>
              <a:rPr sz="1100">
                <a:solidFill>
                  <a:srgbClr val="333333"/>
                </a:solidFill>
              </a:rPr>
              <a:t>* p&lt;0.05  ·  Final-third passes, shot blocks, progressive carry distance lead.</a:t>
            </a:r>
          </a:p>
        </p:txBody>
      </p:sp>
      <p:graphicFrame>
        <p:nvGraphicFramePr>
          <p:cNvPr id="8" name="Table 7"/>
          <p:cNvGraphicFramePr>
            <a:graphicFrameLocks noGrp="1"/>
          </p:cNvGraphicFramePr>
          <p:nvPr>
            <p:extLst>
              <p:ext uri="{D42A27DB-BD31-4B8C-83A1-F6EECF244321}">
                <p14:modId xmlns:p14="http://schemas.microsoft.com/office/powerpoint/2010/main" val="4283249453"/>
              </p:ext>
            </p:extLst>
          </p:nvPr>
        </p:nvGraphicFramePr>
        <p:xfrm>
          <a:off x="6126479" y="1097279"/>
          <a:ext cx="4349439" cy="3798279"/>
        </p:xfrm>
        <a:graphic>
          <a:graphicData uri="http://schemas.openxmlformats.org/drawingml/2006/table">
            <a:tbl>
              <a:tblPr firstRow="1" bandRow="1">
                <a:tableStyleId>{5C22544A-7EE6-4342-B048-85BDC9FD1C3A}</a:tableStyleId>
              </a:tblPr>
              <a:tblGrid>
                <a:gridCol w="3034493">
                  <a:extLst>
                    <a:ext uri="{9D8B030D-6E8A-4147-A177-3AD203B41FA5}">
                      <a16:colId xmlns:a16="http://schemas.microsoft.com/office/drawing/2014/main" val="20000"/>
                    </a:ext>
                  </a:extLst>
                </a:gridCol>
                <a:gridCol w="657473">
                  <a:extLst>
                    <a:ext uri="{9D8B030D-6E8A-4147-A177-3AD203B41FA5}">
                      <a16:colId xmlns:a16="http://schemas.microsoft.com/office/drawing/2014/main" val="20001"/>
                    </a:ext>
                  </a:extLst>
                </a:gridCol>
                <a:gridCol w="657473">
                  <a:extLst>
                    <a:ext uri="{9D8B030D-6E8A-4147-A177-3AD203B41FA5}">
                      <a16:colId xmlns:a16="http://schemas.microsoft.com/office/drawing/2014/main" val="20002"/>
                    </a:ext>
                  </a:extLst>
                </a:gridCol>
              </a:tblGrid>
              <a:tr h="422031">
                <a:tc>
                  <a:txBody>
                    <a:bodyPr/>
                    <a:lstStyle/>
                    <a:p>
                      <a:pPr>
                        <a:defRPr sz="1000" b="1">
                          <a:solidFill>
                            <a:srgbClr val="FFFFFF"/>
                          </a:solidFill>
                          <a:latin typeface="Calibri"/>
                        </a:defRPr>
                      </a:pPr>
                      <a:r>
                        <a:rPr sz="1000" b="1">
                          <a:solidFill>
                            <a:schemeClr val="bg1"/>
                          </a:solidFill>
                        </a:rPr>
                        <a:t>Trait</a:t>
                      </a:r>
                    </a:p>
                  </a:txBody>
                  <a:tcPr>
                    <a:solidFill>
                      <a:srgbClr val="1C1C1C"/>
                    </a:solidFill>
                  </a:tcPr>
                </a:tc>
                <a:tc>
                  <a:txBody>
                    <a:bodyPr/>
                    <a:lstStyle/>
                    <a:p>
                      <a:pPr>
                        <a:defRPr sz="1000" b="1">
                          <a:solidFill>
                            <a:srgbClr val="FFFFFF"/>
                          </a:solidFill>
                          <a:latin typeface="Calibri"/>
                        </a:defRPr>
                      </a:pPr>
                      <a:r>
                        <a:rPr sz="1000" b="1">
                          <a:solidFill>
                            <a:schemeClr val="bg1"/>
                          </a:solidFill>
                        </a:rPr>
                        <a:t>ρ</a:t>
                      </a:r>
                    </a:p>
                  </a:txBody>
                  <a:tcPr>
                    <a:solidFill>
                      <a:srgbClr val="1C1C1C"/>
                    </a:solidFill>
                  </a:tcPr>
                </a:tc>
                <a:tc>
                  <a:txBody>
                    <a:bodyPr/>
                    <a:lstStyle/>
                    <a:p>
                      <a:pPr>
                        <a:defRPr sz="1000" b="1">
                          <a:solidFill>
                            <a:srgbClr val="FFFFFF"/>
                          </a:solidFill>
                          <a:latin typeface="Calibri"/>
                        </a:defRPr>
                      </a:pPr>
                      <a:r>
                        <a:rPr sz="1000" b="1" dirty="0">
                          <a:solidFill>
                            <a:schemeClr val="bg1"/>
                          </a:solidFill>
                        </a:rPr>
                        <a:t>p</a:t>
                      </a:r>
                    </a:p>
                  </a:txBody>
                  <a:tcPr>
                    <a:solidFill>
                      <a:srgbClr val="1C1C1C"/>
                    </a:solidFill>
                  </a:tcPr>
                </a:tc>
                <a:extLst>
                  <a:ext uri="{0D108BD9-81ED-4DB2-BD59-A6C34878D82A}">
                    <a16:rowId xmlns:a16="http://schemas.microsoft.com/office/drawing/2014/main" val="10000"/>
                  </a:ext>
                </a:extLst>
              </a:tr>
              <a:tr h="422031">
                <a:tc>
                  <a:txBody>
                    <a:bodyPr/>
                    <a:lstStyle/>
                    <a:p>
                      <a:r>
                        <a:t>Final-third passes*</a:t>
                      </a:r>
                    </a:p>
                  </a:txBody>
                  <a:tcPr>
                    <a:solidFill>
                      <a:srgbClr val="F0FAF4"/>
                    </a:solidFill>
                  </a:tcPr>
                </a:tc>
                <a:tc>
                  <a:txBody>
                    <a:bodyPr/>
                    <a:lstStyle/>
                    <a:p>
                      <a:pPr>
                        <a:defRPr sz="1000" b="0">
                          <a:solidFill>
                            <a:srgbClr val="1C1C1C"/>
                          </a:solidFill>
                          <a:latin typeface="Calibri"/>
                        </a:defRPr>
                      </a:pPr>
                      <a:r>
                        <a:rPr sz="1000">
                          <a:solidFill>
                            <a:srgbClr val="333333"/>
                          </a:solidFill>
                        </a:rPr>
                        <a:t>+0.30</a:t>
                      </a:r>
                    </a:p>
                  </a:txBody>
                  <a:tcPr>
                    <a:solidFill>
                      <a:srgbClr val="F0FAF4"/>
                    </a:solidFill>
                  </a:tcPr>
                </a:tc>
                <a:tc>
                  <a:txBody>
                    <a:bodyPr/>
                    <a:lstStyle/>
                    <a:p>
                      <a:pPr>
                        <a:defRPr sz="1000" b="0">
                          <a:solidFill>
                            <a:srgbClr val="1C1C1C"/>
                          </a:solidFill>
                          <a:latin typeface="Calibri"/>
                        </a:defRPr>
                      </a:pPr>
                      <a:r>
                        <a:rPr sz="1000">
                          <a:solidFill>
                            <a:srgbClr val="333333"/>
                          </a:solidFill>
                        </a:rPr>
                        <a:t>0.005</a:t>
                      </a:r>
                    </a:p>
                  </a:txBody>
                  <a:tcPr>
                    <a:solidFill>
                      <a:srgbClr val="F0FAF4"/>
                    </a:solidFill>
                  </a:tcPr>
                </a:tc>
                <a:extLst>
                  <a:ext uri="{0D108BD9-81ED-4DB2-BD59-A6C34878D82A}">
                    <a16:rowId xmlns:a16="http://schemas.microsoft.com/office/drawing/2014/main" val="10001"/>
                  </a:ext>
                </a:extLst>
              </a:tr>
              <a:tr h="422031">
                <a:tc>
                  <a:txBody>
                    <a:bodyPr/>
                    <a:lstStyle/>
                    <a:p>
                      <a:r>
                        <a:t>Shot blocks*</a:t>
                      </a:r>
                    </a:p>
                  </a:txBody>
                  <a:tcPr>
                    <a:solidFill>
                      <a:srgbClr val="FFFFFF"/>
                    </a:solidFill>
                  </a:tcPr>
                </a:tc>
                <a:tc>
                  <a:txBody>
                    <a:bodyPr/>
                    <a:lstStyle/>
                    <a:p>
                      <a:pPr>
                        <a:defRPr sz="1000" b="0">
                          <a:solidFill>
                            <a:srgbClr val="1C1C1C"/>
                          </a:solidFill>
                          <a:latin typeface="Calibri"/>
                        </a:defRPr>
                      </a:pPr>
                      <a:r>
                        <a:rPr sz="1000">
                          <a:solidFill>
                            <a:srgbClr val="333333"/>
                          </a:solidFill>
                        </a:rPr>
                        <a:t>+0.27</a:t>
                      </a:r>
                    </a:p>
                  </a:txBody>
                  <a:tcPr>
                    <a:solidFill>
                      <a:srgbClr val="FFFFFF"/>
                    </a:solidFill>
                  </a:tcPr>
                </a:tc>
                <a:tc>
                  <a:txBody>
                    <a:bodyPr/>
                    <a:lstStyle/>
                    <a:p>
                      <a:pPr>
                        <a:defRPr sz="1000" b="0">
                          <a:solidFill>
                            <a:srgbClr val="1C1C1C"/>
                          </a:solidFill>
                          <a:latin typeface="Calibri"/>
                        </a:defRPr>
                      </a:pPr>
                      <a:r>
                        <a:rPr sz="1000">
                          <a:solidFill>
                            <a:srgbClr val="333333"/>
                          </a:solidFill>
                        </a:rPr>
                        <a:t>0.011</a:t>
                      </a:r>
                    </a:p>
                  </a:txBody>
                  <a:tcPr>
                    <a:solidFill>
                      <a:srgbClr val="FFFFFF"/>
                    </a:solidFill>
                  </a:tcPr>
                </a:tc>
                <a:extLst>
                  <a:ext uri="{0D108BD9-81ED-4DB2-BD59-A6C34878D82A}">
                    <a16:rowId xmlns:a16="http://schemas.microsoft.com/office/drawing/2014/main" val="10002"/>
                  </a:ext>
                </a:extLst>
              </a:tr>
              <a:tr h="422031">
                <a:tc>
                  <a:txBody>
                    <a:bodyPr/>
                    <a:lstStyle/>
                    <a:p>
                      <a:r>
                        <a:t>Progressive carry distance*</a:t>
                      </a:r>
                    </a:p>
                  </a:txBody>
                  <a:tcPr>
                    <a:solidFill>
                      <a:srgbClr val="F0FAF4"/>
                    </a:solidFill>
                  </a:tcPr>
                </a:tc>
                <a:tc>
                  <a:txBody>
                    <a:bodyPr/>
                    <a:lstStyle/>
                    <a:p>
                      <a:pPr>
                        <a:defRPr sz="1000" b="0">
                          <a:solidFill>
                            <a:srgbClr val="1C1C1C"/>
                          </a:solidFill>
                          <a:latin typeface="Calibri"/>
                        </a:defRPr>
                      </a:pPr>
                      <a:r>
                        <a:rPr sz="1000">
                          <a:solidFill>
                            <a:srgbClr val="333333"/>
                          </a:solidFill>
                        </a:rPr>
                        <a:t>+0.24</a:t>
                      </a:r>
                    </a:p>
                  </a:txBody>
                  <a:tcPr>
                    <a:solidFill>
                      <a:srgbClr val="F0FAF4"/>
                    </a:solidFill>
                  </a:tcPr>
                </a:tc>
                <a:tc>
                  <a:txBody>
                    <a:bodyPr/>
                    <a:lstStyle/>
                    <a:p>
                      <a:pPr>
                        <a:defRPr sz="1000" b="0">
                          <a:solidFill>
                            <a:srgbClr val="1C1C1C"/>
                          </a:solidFill>
                          <a:latin typeface="Calibri"/>
                        </a:defRPr>
                      </a:pPr>
                      <a:r>
                        <a:rPr sz="1000">
                          <a:solidFill>
                            <a:srgbClr val="333333"/>
                          </a:solidFill>
                        </a:rPr>
                        <a:t>0.025</a:t>
                      </a:r>
                    </a:p>
                  </a:txBody>
                  <a:tcPr>
                    <a:solidFill>
                      <a:srgbClr val="F0FAF4"/>
                    </a:solidFill>
                  </a:tcPr>
                </a:tc>
                <a:extLst>
                  <a:ext uri="{0D108BD9-81ED-4DB2-BD59-A6C34878D82A}">
                    <a16:rowId xmlns:a16="http://schemas.microsoft.com/office/drawing/2014/main" val="10003"/>
                  </a:ext>
                </a:extLst>
              </a:tr>
              <a:tr h="422031">
                <a:tc>
                  <a:txBody>
                    <a:bodyPr/>
                    <a:lstStyle/>
                    <a:p>
                      <a:r>
                        <a:t>Tackled take-ons*</a:t>
                      </a:r>
                    </a:p>
                  </a:txBody>
                  <a:tcPr>
                    <a:solidFill>
                      <a:srgbClr val="FFFFFF"/>
                    </a:solidFill>
                  </a:tcPr>
                </a:tc>
                <a:tc>
                  <a:txBody>
                    <a:bodyPr/>
                    <a:lstStyle/>
                    <a:p>
                      <a:pPr>
                        <a:defRPr sz="1000" b="0">
                          <a:solidFill>
                            <a:srgbClr val="1C1C1C"/>
                          </a:solidFill>
                          <a:latin typeface="Calibri"/>
                        </a:defRPr>
                      </a:pPr>
                      <a:r>
                        <a:rPr sz="1000">
                          <a:solidFill>
                            <a:srgbClr val="333333"/>
                          </a:solidFill>
                        </a:rPr>
                        <a:t>+0.23</a:t>
                      </a:r>
                    </a:p>
                  </a:txBody>
                  <a:tcPr>
                    <a:solidFill>
                      <a:srgbClr val="FFFFFF"/>
                    </a:solidFill>
                  </a:tcPr>
                </a:tc>
                <a:tc>
                  <a:txBody>
                    <a:bodyPr/>
                    <a:lstStyle/>
                    <a:p>
                      <a:pPr>
                        <a:defRPr sz="1000" b="0">
                          <a:solidFill>
                            <a:srgbClr val="1C1C1C"/>
                          </a:solidFill>
                          <a:latin typeface="Calibri"/>
                        </a:defRPr>
                      </a:pPr>
                      <a:r>
                        <a:rPr sz="1000">
                          <a:solidFill>
                            <a:srgbClr val="333333"/>
                          </a:solidFill>
                        </a:rPr>
                        <a:t>0.030</a:t>
                      </a:r>
                    </a:p>
                  </a:txBody>
                  <a:tcPr>
                    <a:solidFill>
                      <a:srgbClr val="FFFFFF"/>
                    </a:solidFill>
                  </a:tcPr>
                </a:tc>
                <a:extLst>
                  <a:ext uri="{0D108BD9-81ED-4DB2-BD59-A6C34878D82A}">
                    <a16:rowId xmlns:a16="http://schemas.microsoft.com/office/drawing/2014/main" val="10004"/>
                  </a:ext>
                </a:extLst>
              </a:tr>
              <a:tr h="422031">
                <a:tc>
                  <a:txBody>
                    <a:bodyPr/>
                    <a:lstStyle/>
                    <a:p>
                      <a:r>
                        <a:t>Long pass attempts*</a:t>
                      </a:r>
                    </a:p>
                  </a:txBody>
                  <a:tcPr>
                    <a:solidFill>
                      <a:srgbClr val="F0FAF4"/>
                    </a:solidFill>
                  </a:tcPr>
                </a:tc>
                <a:tc>
                  <a:txBody>
                    <a:bodyPr/>
                    <a:lstStyle/>
                    <a:p>
                      <a:pPr>
                        <a:defRPr sz="1000" b="0">
                          <a:solidFill>
                            <a:srgbClr val="1C1C1C"/>
                          </a:solidFill>
                          <a:latin typeface="Calibri"/>
                        </a:defRPr>
                      </a:pPr>
                      <a:r>
                        <a:rPr sz="1000">
                          <a:solidFill>
                            <a:srgbClr val="333333"/>
                          </a:solidFill>
                        </a:rPr>
                        <a:t>+0.22</a:t>
                      </a:r>
                    </a:p>
                  </a:txBody>
                  <a:tcPr>
                    <a:solidFill>
                      <a:srgbClr val="F0FAF4"/>
                    </a:solidFill>
                  </a:tcPr>
                </a:tc>
                <a:tc>
                  <a:txBody>
                    <a:bodyPr/>
                    <a:lstStyle/>
                    <a:p>
                      <a:pPr>
                        <a:defRPr sz="1000" b="0">
                          <a:solidFill>
                            <a:srgbClr val="1C1C1C"/>
                          </a:solidFill>
                          <a:latin typeface="Calibri"/>
                        </a:defRPr>
                      </a:pPr>
                      <a:r>
                        <a:rPr sz="1000">
                          <a:solidFill>
                            <a:srgbClr val="333333"/>
                          </a:solidFill>
                        </a:rPr>
                        <a:t>0.036</a:t>
                      </a:r>
                    </a:p>
                  </a:txBody>
                  <a:tcPr>
                    <a:solidFill>
                      <a:srgbClr val="F0FAF4"/>
                    </a:solidFill>
                  </a:tcPr>
                </a:tc>
                <a:extLst>
                  <a:ext uri="{0D108BD9-81ED-4DB2-BD59-A6C34878D82A}">
                    <a16:rowId xmlns:a16="http://schemas.microsoft.com/office/drawing/2014/main" val="10005"/>
                  </a:ext>
                </a:extLst>
              </a:tr>
              <a:tr h="422031">
                <a:tc>
                  <a:txBody>
                    <a:bodyPr/>
                    <a:lstStyle/>
                    <a:p>
                      <a:r>
                        <a:t>Defensive-third touches*</a:t>
                      </a:r>
                    </a:p>
                  </a:txBody>
                  <a:tcPr>
                    <a:solidFill>
                      <a:srgbClr val="FFFFFF"/>
                    </a:solidFill>
                  </a:tcPr>
                </a:tc>
                <a:tc>
                  <a:txBody>
                    <a:bodyPr/>
                    <a:lstStyle/>
                    <a:p>
                      <a:pPr>
                        <a:defRPr sz="1000" b="0">
                          <a:solidFill>
                            <a:srgbClr val="1C1C1C"/>
                          </a:solidFill>
                          <a:latin typeface="Calibri"/>
                        </a:defRPr>
                      </a:pPr>
                      <a:r>
                        <a:rPr sz="1000">
                          <a:solidFill>
                            <a:srgbClr val="333333"/>
                          </a:solidFill>
                        </a:rPr>
                        <a:t>+0.22</a:t>
                      </a:r>
                    </a:p>
                  </a:txBody>
                  <a:tcPr>
                    <a:solidFill>
                      <a:srgbClr val="FFFFFF"/>
                    </a:solidFill>
                  </a:tcPr>
                </a:tc>
                <a:tc>
                  <a:txBody>
                    <a:bodyPr/>
                    <a:lstStyle/>
                    <a:p>
                      <a:pPr>
                        <a:defRPr sz="1000" b="0">
                          <a:solidFill>
                            <a:srgbClr val="1C1C1C"/>
                          </a:solidFill>
                          <a:latin typeface="Calibri"/>
                        </a:defRPr>
                      </a:pPr>
                      <a:r>
                        <a:rPr sz="1000">
                          <a:solidFill>
                            <a:srgbClr val="333333"/>
                          </a:solidFill>
                        </a:rPr>
                        <a:t>0.039</a:t>
                      </a:r>
                    </a:p>
                  </a:txBody>
                  <a:tcPr>
                    <a:solidFill>
                      <a:srgbClr val="FFFFFF"/>
                    </a:solidFill>
                  </a:tcPr>
                </a:tc>
                <a:extLst>
                  <a:ext uri="{0D108BD9-81ED-4DB2-BD59-A6C34878D82A}">
                    <a16:rowId xmlns:a16="http://schemas.microsoft.com/office/drawing/2014/main" val="10006"/>
                  </a:ext>
                </a:extLst>
              </a:tr>
              <a:tr h="422031">
                <a:tc>
                  <a:txBody>
                    <a:bodyPr/>
                    <a:lstStyle/>
                    <a:p>
                      <a:r>
                        <a:t>Miscontrols (carries)</a:t>
                      </a:r>
                    </a:p>
                  </a:txBody>
                  <a:tcPr>
                    <a:solidFill>
                      <a:srgbClr val="F0FAF4"/>
                    </a:solidFill>
                  </a:tcPr>
                </a:tc>
                <a:tc>
                  <a:txBody>
                    <a:bodyPr/>
                    <a:lstStyle/>
                    <a:p>
                      <a:pPr>
                        <a:defRPr sz="1000" b="0">
                          <a:solidFill>
                            <a:srgbClr val="1C1C1C"/>
                          </a:solidFill>
                          <a:latin typeface="Calibri"/>
                        </a:defRPr>
                      </a:pPr>
                      <a:r>
                        <a:t>0.16</a:t>
                      </a:r>
                    </a:p>
                  </a:txBody>
                  <a:tcPr>
                    <a:solidFill>
                      <a:srgbClr val="F0FAF4"/>
                    </a:solidFill>
                  </a:tcPr>
                </a:tc>
                <a:tc>
                  <a:txBody>
                    <a:bodyPr/>
                    <a:lstStyle/>
                    <a:p>
                      <a:pPr>
                        <a:defRPr sz="1000" b="0">
                          <a:solidFill>
                            <a:srgbClr val="1C1C1C"/>
                          </a:solidFill>
                          <a:latin typeface="Calibri"/>
                        </a:defRPr>
                      </a:pPr>
                      <a:r>
                        <a:t>0.078</a:t>
                      </a:r>
                    </a:p>
                  </a:txBody>
                  <a:tcPr>
                    <a:solidFill>
                      <a:srgbClr val="F0FAF4"/>
                    </a:solidFill>
                  </a:tcPr>
                </a:tc>
                <a:extLst>
                  <a:ext uri="{0D108BD9-81ED-4DB2-BD59-A6C34878D82A}">
                    <a16:rowId xmlns:a16="http://schemas.microsoft.com/office/drawing/2014/main" val="10007"/>
                  </a:ext>
                </a:extLst>
              </a:tr>
              <a:tr h="422031">
                <a:tc>
                  <a:txBody>
                    <a:bodyPr/>
                    <a:lstStyle/>
                    <a:p>
                      <a:r>
                        <a:t>Clearances</a:t>
                      </a:r>
                    </a:p>
                  </a:txBody>
                  <a:tcPr>
                    <a:solidFill>
                      <a:srgbClr val="FFFFFF"/>
                    </a:solidFill>
                  </a:tcPr>
                </a:tc>
                <a:tc>
                  <a:txBody>
                    <a:bodyPr/>
                    <a:lstStyle/>
                    <a:p>
                      <a:pPr>
                        <a:defRPr sz="1000" b="0">
                          <a:solidFill>
                            <a:srgbClr val="1C1C1C"/>
                          </a:solidFill>
                          <a:latin typeface="Calibri"/>
                        </a:defRPr>
                      </a:pPr>
                      <a:r>
                        <a:t>0.13</a:t>
                      </a:r>
                    </a:p>
                  </a:txBody>
                  <a:tcPr>
                    <a:solidFill>
                      <a:srgbClr val="FFFFFF"/>
                    </a:solidFill>
                  </a:tcPr>
                </a:tc>
                <a:tc>
                  <a:txBody>
                    <a:bodyPr/>
                    <a:lstStyle/>
                    <a:p>
                      <a:pPr>
                        <a:defRPr sz="1000" b="0">
                          <a:solidFill>
                            <a:srgbClr val="1C1C1C"/>
                          </a:solidFill>
                          <a:latin typeface="Calibri"/>
                        </a:defRPr>
                      </a:pPr>
                      <a:r>
                        <a:rPr dirty="0"/>
                        <a:t>0.162</a:t>
                      </a:r>
                    </a:p>
                  </a:txBody>
                  <a:tcPr>
                    <a:solidFill>
                      <a:srgbClr val="FFFFFF"/>
                    </a:solidFill>
                  </a:tcPr>
                </a:tc>
                <a:extLst>
                  <a:ext uri="{0D108BD9-81ED-4DB2-BD59-A6C34878D82A}">
                    <a16:rowId xmlns:a16="http://schemas.microsoft.com/office/drawing/2014/main" val="10008"/>
                  </a:ext>
                </a:extLst>
              </a:tr>
            </a:tbl>
          </a:graphicData>
        </a:graphic>
      </p:graphicFrame>
      <p:sp>
        <p:nvSpPr>
          <p:cNvPr id="9" name="TextBox 8">
            <a:hlinkClick r:id="rId2" action="ppaction://hlinksldjump"/>
          </p:cNvPr>
          <p:cNvSpPr txBox="1"/>
          <p:nvPr/>
        </p:nvSpPr>
        <p:spPr>
          <a:xfrm>
            <a:off x="9875520" y="137160"/>
            <a:ext cx="2011680" cy="320040"/>
          </a:xfrm>
          <a:prstGeom prst="rect">
            <a:avLst/>
          </a:prstGeom>
          <a:noFill/>
        </p:spPr>
        <p:txBody>
          <a:bodyPr wrap="square">
            <a:spAutoFit/>
          </a:bodyPr>
          <a:lstStyle/>
          <a:p>
            <a:r>
              <a:rPr sz="1200" b="1">
                <a:solidFill>
                  <a:srgbClr val="3D5A80"/>
                </a:solidFill>
              </a:rPr>
              <a:t>→ Glossary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2880"/>
            <a:ext cx="10972800" cy="256032"/>
          </a:xfrm>
          <a:prstGeom prst="rect">
            <a:avLst/>
          </a:prstGeom>
          <a:noFill/>
        </p:spPr>
        <p:txBody>
          <a:bodyPr wrap="square">
            <a:spAutoFit/>
          </a:bodyPr>
          <a:lstStyle/>
          <a:p>
            <a:r>
              <a:rPr sz="2000" b="1">
                <a:solidFill>
                  <a:srgbClr val="3D5A80"/>
                </a:solidFill>
                <a:latin typeface="Calibri"/>
              </a:rPr>
              <a:t>RESULTS  ·  FEEDER LEAGUES → BUNDESLIGA SUCCESS</a:t>
            </a:r>
          </a:p>
        </p:txBody>
      </p:sp>
      <p:sp>
        <p:nvSpPr>
          <p:cNvPr id="4" name="TextBox 3"/>
          <p:cNvSpPr txBox="1"/>
          <p:nvPr/>
        </p:nvSpPr>
        <p:spPr>
          <a:xfrm>
            <a:off x="411480" y="438912"/>
            <a:ext cx="10972800" cy="320040"/>
          </a:xfrm>
          <a:prstGeom prst="rect">
            <a:avLst/>
          </a:prstGeom>
          <a:noFill/>
        </p:spPr>
        <p:txBody>
          <a:bodyPr wrap="square">
            <a:spAutoFit/>
          </a:bodyPr>
          <a:lstStyle/>
          <a:p>
            <a:r>
              <a:rPr sz="2000" b="1">
                <a:solidFill>
                  <a:srgbClr val="1C1C1C"/>
                </a:solidFill>
                <a:latin typeface="Georgia"/>
              </a:rPr>
              <a:t>Which source leagues produce the strongest Year 1 in Bundesliga outcomes?</a:t>
            </a:r>
          </a:p>
        </p:txBody>
      </p:sp>
      <p:graphicFrame>
        <p:nvGraphicFramePr>
          <p:cNvPr id="6" name="Table 5"/>
          <p:cNvGraphicFramePr>
            <a:graphicFrameLocks noGrp="1"/>
          </p:cNvGraphicFramePr>
          <p:nvPr>
            <p:extLst>
              <p:ext uri="{D42A27DB-BD31-4B8C-83A1-F6EECF244321}">
                <p14:modId xmlns:p14="http://schemas.microsoft.com/office/powerpoint/2010/main" val="3524262344"/>
              </p:ext>
            </p:extLst>
          </p:nvPr>
        </p:nvGraphicFramePr>
        <p:xfrm>
          <a:off x="411480" y="1179576"/>
          <a:ext cx="5669280" cy="2444496"/>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8244">
                <a:tc>
                  <a:txBody>
                    <a:bodyPr/>
                    <a:lstStyle/>
                    <a:p>
                      <a:pPr>
                        <a:defRPr sz="1200" b="1">
                          <a:solidFill>
                            <a:srgbClr val="FFFFFF"/>
                          </a:solidFill>
                          <a:latin typeface="Calibri"/>
                        </a:defRPr>
                      </a:pPr>
                      <a:r>
                        <a:rPr sz="1000" b="1">
                          <a:solidFill>
                            <a:schemeClr val="bg1"/>
                          </a:solidFill>
                        </a:rPr>
                        <a:t>League</a:t>
                      </a:r>
                    </a:p>
                  </a:txBody>
                  <a:tcPr>
                    <a:solidFill>
                      <a:srgbClr val="1C1C1C"/>
                    </a:solidFill>
                  </a:tcPr>
                </a:tc>
                <a:tc>
                  <a:txBody>
                    <a:bodyPr/>
                    <a:lstStyle/>
                    <a:p>
                      <a:pPr>
                        <a:defRPr sz="1200" b="1">
                          <a:solidFill>
                            <a:srgbClr val="FFFFFF"/>
                          </a:solidFill>
                          <a:latin typeface="Calibri"/>
                        </a:defRPr>
                      </a:pPr>
                      <a:r>
                        <a:rPr sz="1000" b="1">
                          <a:solidFill>
                            <a:schemeClr val="bg1"/>
                          </a:solidFill>
                        </a:rPr>
                        <a:t>N</a:t>
                      </a:r>
                    </a:p>
                  </a:txBody>
                  <a:tcPr>
                    <a:solidFill>
                      <a:srgbClr val="1C1C1C"/>
                    </a:solidFill>
                  </a:tcPr>
                </a:tc>
                <a:tc>
                  <a:txBody>
                    <a:bodyPr/>
                    <a:lstStyle/>
                    <a:p>
                      <a:pPr>
                        <a:defRPr sz="1200" b="1">
                          <a:solidFill>
                            <a:srgbClr val="FFFFFF"/>
                          </a:solidFill>
                          <a:latin typeface="Calibri"/>
                        </a:defRPr>
                      </a:pPr>
                      <a:r>
                        <a:rPr sz="1000" b="1">
                          <a:solidFill>
                            <a:schemeClr val="bg1"/>
                          </a:solidFill>
                        </a:rPr>
                        <a:t>Mean Year 1 in Bundesliga min</a:t>
                      </a:r>
                    </a:p>
                  </a:txBody>
                  <a:tcPr>
                    <a:solidFill>
                      <a:srgbClr val="1C1C1C"/>
                    </a:solidFill>
                  </a:tcPr>
                </a:tc>
                <a:tc>
                  <a:txBody>
                    <a:bodyPr/>
                    <a:lstStyle/>
                    <a:p>
                      <a:pPr>
                        <a:defRPr sz="1200" b="1">
                          <a:solidFill>
                            <a:srgbClr val="FFFFFF"/>
                          </a:solidFill>
                          <a:latin typeface="Calibri"/>
                        </a:defRPr>
                      </a:pPr>
                      <a:r>
                        <a:rPr sz="1000" b="1">
                          <a:solidFill>
                            <a:schemeClr val="bg1"/>
                          </a:solidFill>
                        </a:rPr>
                        <a:t>Median Year 1 in Bundesliga min</a:t>
                      </a:r>
                    </a:p>
                  </a:txBody>
                  <a:tcPr>
                    <a:solidFill>
                      <a:srgbClr val="1C1C1C"/>
                    </a:solidFill>
                  </a:tcPr>
                </a:tc>
                <a:tc>
                  <a:txBody>
                    <a:bodyPr/>
                    <a:lstStyle/>
                    <a:p>
                      <a:pPr>
                        <a:defRPr sz="1200" b="1">
                          <a:solidFill>
                            <a:srgbClr val="FFFFFF"/>
                          </a:solidFill>
                          <a:latin typeface="Calibri"/>
                        </a:defRPr>
                      </a:pPr>
                      <a:r>
                        <a:rPr sz="1000" b="1" dirty="0">
                          <a:solidFill>
                            <a:schemeClr val="bg1"/>
                          </a:solidFill>
                        </a:rPr>
                        <a:t>Trait score</a:t>
                      </a:r>
                    </a:p>
                  </a:txBody>
                  <a:tcPr>
                    <a:solidFill>
                      <a:srgbClr val="1C1C1C"/>
                    </a:solidFill>
                  </a:tcPr>
                </a:tc>
                <a:extLst>
                  <a:ext uri="{0D108BD9-81ED-4DB2-BD59-A6C34878D82A}">
                    <a16:rowId xmlns:a16="http://schemas.microsoft.com/office/drawing/2014/main" val="10000"/>
                  </a:ext>
                </a:extLst>
              </a:tr>
              <a:tr h="256032">
                <a:tc>
                  <a:txBody>
                    <a:bodyPr/>
                    <a:lstStyle/>
                    <a:p>
                      <a:pPr>
                        <a:defRPr sz="1200" b="0">
                          <a:solidFill>
                            <a:srgbClr val="1C1C1C"/>
                          </a:solidFill>
                          <a:latin typeface="Calibri"/>
                        </a:defRPr>
                      </a:pPr>
                      <a:r>
                        <a:rPr sz="1000" b="0" dirty="0">
                          <a:solidFill>
                            <a:srgbClr val="333333"/>
                          </a:solidFill>
                        </a:rPr>
                        <a:t>DEN Superliga</a:t>
                      </a:r>
                    </a:p>
                  </a:txBody>
                  <a:tcPr>
                    <a:solidFill>
                      <a:srgbClr val="F0FAF4"/>
                    </a:solidFill>
                  </a:tcPr>
                </a:tc>
                <a:tc>
                  <a:txBody>
                    <a:bodyPr/>
                    <a:lstStyle/>
                    <a:p>
                      <a:pPr>
                        <a:defRPr sz="1200" b="0">
                          <a:solidFill>
                            <a:srgbClr val="1C1C1C"/>
                          </a:solidFill>
                          <a:latin typeface="Calibri"/>
                        </a:defRPr>
                      </a:pPr>
                      <a:r>
                        <a:rPr sz="1000" b="0">
                          <a:solidFill>
                            <a:srgbClr val="333333"/>
                          </a:solidFill>
                        </a:rPr>
                        <a:t>9</a:t>
                      </a:r>
                    </a:p>
                  </a:txBody>
                  <a:tcPr>
                    <a:solidFill>
                      <a:srgbClr val="F0FAF4"/>
                    </a:solidFill>
                  </a:tcPr>
                </a:tc>
                <a:tc>
                  <a:txBody>
                    <a:bodyPr/>
                    <a:lstStyle/>
                    <a:p>
                      <a:pPr>
                        <a:defRPr sz="1200" b="0">
                          <a:solidFill>
                            <a:srgbClr val="1C1C1C"/>
                          </a:solidFill>
                          <a:latin typeface="Calibri"/>
                        </a:defRPr>
                      </a:pPr>
                      <a:r>
                        <a:rPr sz="1000" b="0">
                          <a:solidFill>
                            <a:srgbClr val="333333"/>
                          </a:solidFill>
                        </a:rPr>
                        <a:t>1864</a:t>
                      </a:r>
                    </a:p>
                  </a:txBody>
                  <a:tcPr>
                    <a:solidFill>
                      <a:srgbClr val="F0FAF4"/>
                    </a:solidFill>
                  </a:tcPr>
                </a:tc>
                <a:tc>
                  <a:txBody>
                    <a:bodyPr/>
                    <a:lstStyle/>
                    <a:p>
                      <a:pPr>
                        <a:defRPr sz="1200" b="0">
                          <a:solidFill>
                            <a:srgbClr val="1C1C1C"/>
                          </a:solidFill>
                          <a:latin typeface="Calibri"/>
                        </a:defRPr>
                      </a:pPr>
                      <a:r>
                        <a:rPr sz="1000" b="0">
                          <a:solidFill>
                            <a:srgbClr val="333333"/>
                          </a:solidFill>
                        </a:rPr>
                        <a:t>1855</a:t>
                      </a:r>
                    </a:p>
                  </a:txBody>
                  <a:tcPr>
                    <a:solidFill>
                      <a:srgbClr val="F0FAF4"/>
                    </a:solidFill>
                  </a:tcPr>
                </a:tc>
                <a:tc>
                  <a:txBody>
                    <a:bodyPr/>
                    <a:lstStyle/>
                    <a:p>
                      <a:pPr>
                        <a:defRPr sz="1200" b="0">
                          <a:solidFill>
                            <a:srgbClr val="1C1C1C"/>
                          </a:solidFill>
                          <a:latin typeface="Calibri"/>
                        </a:defRPr>
                      </a:pPr>
                      <a:r>
                        <a:rPr sz="1000" b="0">
                          <a:solidFill>
                            <a:srgbClr val="333333"/>
                          </a:solidFill>
                        </a:rPr>
                        <a:t>48.0</a:t>
                      </a:r>
                    </a:p>
                  </a:txBody>
                  <a:tcPr>
                    <a:solidFill>
                      <a:srgbClr val="F0FAF4"/>
                    </a:solidFill>
                  </a:tcPr>
                </a:tc>
                <a:extLst>
                  <a:ext uri="{0D108BD9-81ED-4DB2-BD59-A6C34878D82A}">
                    <a16:rowId xmlns:a16="http://schemas.microsoft.com/office/drawing/2014/main" val="10001"/>
                  </a:ext>
                </a:extLst>
              </a:tr>
              <a:tr h="256032">
                <a:tc>
                  <a:txBody>
                    <a:bodyPr/>
                    <a:lstStyle/>
                    <a:p>
                      <a:pPr>
                        <a:defRPr sz="1200" b="0">
                          <a:solidFill>
                            <a:srgbClr val="1C1C1C"/>
                          </a:solidFill>
                          <a:latin typeface="Calibri"/>
                        </a:defRPr>
                      </a:pPr>
                      <a:r>
                        <a:rPr sz="1000" b="0" dirty="0">
                          <a:solidFill>
                            <a:srgbClr val="333333"/>
                          </a:solidFill>
                        </a:rPr>
                        <a:t>Premier League</a:t>
                      </a:r>
                    </a:p>
                  </a:txBody>
                  <a:tcPr>
                    <a:solidFill>
                      <a:srgbClr val="FFFFFF"/>
                    </a:solidFill>
                  </a:tcPr>
                </a:tc>
                <a:tc>
                  <a:txBody>
                    <a:bodyPr/>
                    <a:lstStyle/>
                    <a:p>
                      <a:pPr>
                        <a:defRPr sz="1200" b="0">
                          <a:solidFill>
                            <a:srgbClr val="1C1C1C"/>
                          </a:solidFill>
                          <a:latin typeface="Calibri"/>
                        </a:defRPr>
                      </a:pPr>
                      <a:r>
                        <a:rPr sz="1000" b="0">
                          <a:solidFill>
                            <a:srgbClr val="333333"/>
                          </a:solidFill>
                        </a:rPr>
                        <a:t>24</a:t>
                      </a:r>
                    </a:p>
                  </a:txBody>
                  <a:tcPr>
                    <a:solidFill>
                      <a:srgbClr val="FFFFFF"/>
                    </a:solidFill>
                  </a:tcPr>
                </a:tc>
                <a:tc>
                  <a:txBody>
                    <a:bodyPr/>
                    <a:lstStyle/>
                    <a:p>
                      <a:pPr>
                        <a:defRPr sz="1200" b="0">
                          <a:solidFill>
                            <a:srgbClr val="1C1C1C"/>
                          </a:solidFill>
                          <a:latin typeface="Calibri"/>
                        </a:defRPr>
                      </a:pPr>
                      <a:r>
                        <a:rPr sz="1000" b="0">
                          <a:solidFill>
                            <a:srgbClr val="333333"/>
                          </a:solidFill>
                        </a:rPr>
                        <a:t>1424</a:t>
                      </a:r>
                    </a:p>
                  </a:txBody>
                  <a:tcPr>
                    <a:solidFill>
                      <a:srgbClr val="FFFFFF"/>
                    </a:solidFill>
                  </a:tcPr>
                </a:tc>
                <a:tc>
                  <a:txBody>
                    <a:bodyPr/>
                    <a:lstStyle/>
                    <a:p>
                      <a:pPr>
                        <a:defRPr sz="1200" b="0">
                          <a:solidFill>
                            <a:srgbClr val="1C1C1C"/>
                          </a:solidFill>
                          <a:latin typeface="Calibri"/>
                        </a:defRPr>
                      </a:pPr>
                      <a:r>
                        <a:rPr sz="1000" b="0">
                          <a:solidFill>
                            <a:srgbClr val="333333"/>
                          </a:solidFill>
                        </a:rPr>
                        <a:t>1391</a:t>
                      </a:r>
                    </a:p>
                  </a:txBody>
                  <a:tcPr>
                    <a:solidFill>
                      <a:srgbClr val="FFFFFF"/>
                    </a:solidFill>
                  </a:tcPr>
                </a:tc>
                <a:tc>
                  <a:txBody>
                    <a:bodyPr/>
                    <a:lstStyle/>
                    <a:p>
                      <a:pPr>
                        <a:defRPr sz="1200" b="0">
                          <a:solidFill>
                            <a:srgbClr val="1C1C1C"/>
                          </a:solidFill>
                          <a:latin typeface="Calibri"/>
                        </a:defRPr>
                      </a:pPr>
                      <a:r>
                        <a:rPr sz="1000" b="0">
                          <a:solidFill>
                            <a:srgbClr val="333333"/>
                          </a:solidFill>
                        </a:rPr>
                        <a:t>60.1</a:t>
                      </a:r>
                    </a:p>
                  </a:txBody>
                  <a:tcPr>
                    <a:solidFill>
                      <a:srgbClr val="FFFFFF"/>
                    </a:solidFill>
                  </a:tcPr>
                </a:tc>
                <a:extLst>
                  <a:ext uri="{0D108BD9-81ED-4DB2-BD59-A6C34878D82A}">
                    <a16:rowId xmlns:a16="http://schemas.microsoft.com/office/drawing/2014/main" val="10002"/>
                  </a:ext>
                </a:extLst>
              </a:tr>
              <a:tr h="256032">
                <a:tc>
                  <a:txBody>
                    <a:bodyPr/>
                    <a:lstStyle/>
                    <a:p>
                      <a:pPr>
                        <a:defRPr sz="1200" b="0">
                          <a:solidFill>
                            <a:srgbClr val="1C1C1C"/>
                          </a:solidFill>
                          <a:latin typeface="Calibri"/>
                        </a:defRPr>
                      </a:pPr>
                      <a:r>
                        <a:rPr sz="1000" b="0">
                          <a:solidFill>
                            <a:srgbClr val="333333"/>
                          </a:solidFill>
                        </a:rPr>
                        <a:t>Eredivisie</a:t>
                      </a:r>
                    </a:p>
                  </a:txBody>
                  <a:tcPr>
                    <a:solidFill>
                      <a:srgbClr val="F0FAF4"/>
                    </a:solidFill>
                  </a:tcPr>
                </a:tc>
                <a:tc>
                  <a:txBody>
                    <a:bodyPr/>
                    <a:lstStyle/>
                    <a:p>
                      <a:pPr>
                        <a:defRPr sz="1200" b="0">
                          <a:solidFill>
                            <a:srgbClr val="1C1C1C"/>
                          </a:solidFill>
                          <a:latin typeface="Calibri"/>
                        </a:defRPr>
                      </a:pPr>
                      <a:r>
                        <a:rPr sz="1000" b="0">
                          <a:solidFill>
                            <a:srgbClr val="333333"/>
                          </a:solidFill>
                        </a:rPr>
                        <a:t>20</a:t>
                      </a:r>
                    </a:p>
                  </a:txBody>
                  <a:tcPr>
                    <a:solidFill>
                      <a:srgbClr val="F0FAF4"/>
                    </a:solidFill>
                  </a:tcPr>
                </a:tc>
                <a:tc>
                  <a:txBody>
                    <a:bodyPr/>
                    <a:lstStyle/>
                    <a:p>
                      <a:pPr>
                        <a:defRPr sz="1200" b="0">
                          <a:solidFill>
                            <a:srgbClr val="1C1C1C"/>
                          </a:solidFill>
                          <a:latin typeface="Calibri"/>
                        </a:defRPr>
                      </a:pPr>
                      <a:r>
                        <a:rPr sz="1000" b="0">
                          <a:solidFill>
                            <a:srgbClr val="333333"/>
                          </a:solidFill>
                        </a:rPr>
                        <a:t>1401</a:t>
                      </a:r>
                    </a:p>
                  </a:txBody>
                  <a:tcPr>
                    <a:solidFill>
                      <a:srgbClr val="F0FAF4"/>
                    </a:solidFill>
                  </a:tcPr>
                </a:tc>
                <a:tc>
                  <a:txBody>
                    <a:bodyPr/>
                    <a:lstStyle/>
                    <a:p>
                      <a:pPr>
                        <a:defRPr sz="1200" b="0">
                          <a:solidFill>
                            <a:srgbClr val="1C1C1C"/>
                          </a:solidFill>
                          <a:latin typeface="Calibri"/>
                        </a:defRPr>
                      </a:pPr>
                      <a:r>
                        <a:rPr sz="1000" b="0">
                          <a:solidFill>
                            <a:srgbClr val="333333"/>
                          </a:solidFill>
                        </a:rPr>
                        <a:t>1154</a:t>
                      </a:r>
                    </a:p>
                  </a:txBody>
                  <a:tcPr>
                    <a:solidFill>
                      <a:srgbClr val="F0FAF4"/>
                    </a:solidFill>
                  </a:tcPr>
                </a:tc>
                <a:tc>
                  <a:txBody>
                    <a:bodyPr/>
                    <a:lstStyle/>
                    <a:p>
                      <a:pPr>
                        <a:defRPr sz="1200" b="0">
                          <a:solidFill>
                            <a:srgbClr val="1C1C1C"/>
                          </a:solidFill>
                          <a:latin typeface="Calibri"/>
                        </a:defRPr>
                      </a:pPr>
                      <a:r>
                        <a:rPr sz="1000" b="0">
                          <a:solidFill>
                            <a:srgbClr val="333333"/>
                          </a:solidFill>
                        </a:rPr>
                        <a:t>53.4</a:t>
                      </a:r>
                    </a:p>
                  </a:txBody>
                  <a:tcPr>
                    <a:solidFill>
                      <a:srgbClr val="F0FAF4"/>
                    </a:solidFill>
                  </a:tcPr>
                </a:tc>
                <a:extLst>
                  <a:ext uri="{0D108BD9-81ED-4DB2-BD59-A6C34878D82A}">
                    <a16:rowId xmlns:a16="http://schemas.microsoft.com/office/drawing/2014/main" val="10003"/>
                  </a:ext>
                </a:extLst>
              </a:tr>
              <a:tr h="256032">
                <a:tc>
                  <a:txBody>
                    <a:bodyPr/>
                    <a:lstStyle/>
                    <a:p>
                      <a:pPr>
                        <a:defRPr sz="1200" b="0">
                          <a:solidFill>
                            <a:srgbClr val="1C1C1C"/>
                          </a:solidFill>
                          <a:latin typeface="Calibri"/>
                        </a:defRPr>
                      </a:pPr>
                      <a:r>
                        <a:rPr sz="1000" b="0" dirty="0">
                          <a:solidFill>
                            <a:srgbClr val="333333"/>
                          </a:solidFill>
                        </a:rPr>
                        <a:t>Ligue 1</a:t>
                      </a:r>
                    </a:p>
                  </a:txBody>
                  <a:tcPr>
                    <a:solidFill>
                      <a:srgbClr val="FFFFFF"/>
                    </a:solidFill>
                  </a:tcPr>
                </a:tc>
                <a:tc>
                  <a:txBody>
                    <a:bodyPr/>
                    <a:lstStyle/>
                    <a:p>
                      <a:pPr>
                        <a:defRPr sz="1200" b="0">
                          <a:solidFill>
                            <a:srgbClr val="1C1C1C"/>
                          </a:solidFill>
                          <a:latin typeface="Calibri"/>
                        </a:defRPr>
                      </a:pPr>
                      <a:r>
                        <a:rPr sz="1000" b="0">
                          <a:solidFill>
                            <a:srgbClr val="333333"/>
                          </a:solidFill>
                        </a:rPr>
                        <a:t>40</a:t>
                      </a:r>
                    </a:p>
                  </a:txBody>
                  <a:tcPr>
                    <a:solidFill>
                      <a:srgbClr val="FFFFFF"/>
                    </a:solidFill>
                  </a:tcPr>
                </a:tc>
                <a:tc>
                  <a:txBody>
                    <a:bodyPr/>
                    <a:lstStyle/>
                    <a:p>
                      <a:pPr>
                        <a:defRPr sz="1200" b="0">
                          <a:solidFill>
                            <a:srgbClr val="1C1C1C"/>
                          </a:solidFill>
                          <a:latin typeface="Calibri"/>
                        </a:defRPr>
                      </a:pPr>
                      <a:r>
                        <a:rPr sz="1000" b="0">
                          <a:solidFill>
                            <a:srgbClr val="333333"/>
                          </a:solidFill>
                        </a:rPr>
                        <a:t>1401</a:t>
                      </a:r>
                    </a:p>
                  </a:txBody>
                  <a:tcPr>
                    <a:solidFill>
                      <a:srgbClr val="FFFFFF"/>
                    </a:solidFill>
                  </a:tcPr>
                </a:tc>
                <a:tc>
                  <a:txBody>
                    <a:bodyPr/>
                    <a:lstStyle/>
                    <a:p>
                      <a:pPr>
                        <a:defRPr sz="1200" b="0">
                          <a:solidFill>
                            <a:srgbClr val="1C1C1C"/>
                          </a:solidFill>
                          <a:latin typeface="Calibri"/>
                        </a:defRPr>
                      </a:pPr>
                      <a:r>
                        <a:rPr sz="1000" b="0">
                          <a:solidFill>
                            <a:srgbClr val="333333"/>
                          </a:solidFill>
                        </a:rPr>
                        <a:t>1251</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53.5</a:t>
                      </a:r>
                    </a:p>
                  </a:txBody>
                  <a:tcPr>
                    <a:solidFill>
                      <a:srgbClr val="FFFFFF"/>
                    </a:solidFill>
                  </a:tcPr>
                </a:tc>
                <a:extLst>
                  <a:ext uri="{0D108BD9-81ED-4DB2-BD59-A6C34878D82A}">
                    <a16:rowId xmlns:a16="http://schemas.microsoft.com/office/drawing/2014/main" val="10004"/>
                  </a:ext>
                </a:extLst>
              </a:tr>
              <a:tr h="256032">
                <a:tc>
                  <a:txBody>
                    <a:bodyPr/>
                    <a:lstStyle/>
                    <a:p>
                      <a:pPr>
                        <a:defRPr sz="1200" b="0">
                          <a:solidFill>
                            <a:srgbClr val="1C1C1C"/>
                          </a:solidFill>
                          <a:latin typeface="Calibri"/>
                        </a:defRPr>
                      </a:pPr>
                      <a:r>
                        <a:rPr sz="1000" b="0" dirty="0">
                          <a:solidFill>
                            <a:srgbClr val="333333"/>
                          </a:solidFill>
                        </a:rPr>
                        <a:t>Serie A</a:t>
                      </a:r>
                    </a:p>
                  </a:txBody>
                  <a:tcPr>
                    <a:solidFill>
                      <a:srgbClr val="FFFFFF"/>
                    </a:solidFill>
                  </a:tcPr>
                </a:tc>
                <a:tc>
                  <a:txBody>
                    <a:bodyPr/>
                    <a:lstStyle/>
                    <a:p>
                      <a:pPr>
                        <a:defRPr sz="1200" b="0">
                          <a:solidFill>
                            <a:srgbClr val="1C1C1C"/>
                          </a:solidFill>
                          <a:latin typeface="Calibri"/>
                        </a:defRPr>
                      </a:pPr>
                      <a:r>
                        <a:rPr sz="1000" b="0">
                          <a:solidFill>
                            <a:srgbClr val="333333"/>
                          </a:solidFill>
                        </a:rPr>
                        <a:t>21</a:t>
                      </a:r>
                    </a:p>
                  </a:txBody>
                  <a:tcPr>
                    <a:solidFill>
                      <a:srgbClr val="FFFFFF"/>
                    </a:solidFill>
                  </a:tcPr>
                </a:tc>
                <a:tc>
                  <a:txBody>
                    <a:bodyPr/>
                    <a:lstStyle/>
                    <a:p>
                      <a:pPr>
                        <a:defRPr sz="1200" b="0">
                          <a:solidFill>
                            <a:srgbClr val="1C1C1C"/>
                          </a:solidFill>
                          <a:latin typeface="Calibri"/>
                        </a:defRPr>
                      </a:pPr>
                      <a:r>
                        <a:rPr sz="1000" b="0">
                          <a:solidFill>
                            <a:srgbClr val="333333"/>
                          </a:solidFill>
                        </a:rPr>
                        <a:t>1366</a:t>
                      </a:r>
                    </a:p>
                  </a:txBody>
                  <a:tcPr>
                    <a:solidFill>
                      <a:srgbClr val="FFFFFF"/>
                    </a:solidFill>
                  </a:tcPr>
                </a:tc>
                <a:tc>
                  <a:txBody>
                    <a:bodyPr/>
                    <a:lstStyle/>
                    <a:p>
                      <a:pPr>
                        <a:defRPr sz="1200" b="0">
                          <a:solidFill>
                            <a:srgbClr val="1C1C1C"/>
                          </a:solidFill>
                          <a:latin typeface="Calibri"/>
                        </a:defRPr>
                      </a:pPr>
                      <a:r>
                        <a:rPr sz="1000" b="0">
                          <a:solidFill>
                            <a:srgbClr val="333333"/>
                          </a:solidFill>
                        </a:rPr>
                        <a:t>1040</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56.7</a:t>
                      </a:r>
                    </a:p>
                  </a:txBody>
                  <a:tcPr>
                    <a:solidFill>
                      <a:srgbClr val="FFFFFF"/>
                    </a:solidFill>
                  </a:tcPr>
                </a:tc>
                <a:extLst>
                  <a:ext uri="{0D108BD9-81ED-4DB2-BD59-A6C34878D82A}">
                    <a16:rowId xmlns:a16="http://schemas.microsoft.com/office/drawing/2014/main" val="1952154708"/>
                  </a:ext>
                </a:extLst>
              </a:tr>
              <a:tr h="256032">
                <a:tc>
                  <a:txBody>
                    <a:bodyPr/>
                    <a:lstStyle/>
                    <a:p>
                      <a:pPr>
                        <a:defRPr sz="1200" b="0">
                          <a:solidFill>
                            <a:srgbClr val="1C1C1C"/>
                          </a:solidFill>
                          <a:latin typeface="Calibri"/>
                        </a:defRPr>
                      </a:pPr>
                      <a:r>
                        <a:rPr sz="1000" b="0" dirty="0">
                          <a:solidFill>
                            <a:srgbClr val="333333"/>
                          </a:solidFill>
                        </a:rPr>
                        <a:t>2. Bundesliga</a:t>
                      </a:r>
                    </a:p>
                  </a:txBody>
                  <a:tcPr>
                    <a:solidFill>
                      <a:srgbClr val="FFFFFF"/>
                    </a:solidFill>
                  </a:tcPr>
                </a:tc>
                <a:tc>
                  <a:txBody>
                    <a:bodyPr/>
                    <a:lstStyle/>
                    <a:p>
                      <a:pPr>
                        <a:defRPr sz="1200" b="0">
                          <a:solidFill>
                            <a:srgbClr val="1C1C1C"/>
                          </a:solidFill>
                          <a:latin typeface="Calibri"/>
                        </a:defRPr>
                      </a:pPr>
                      <a:r>
                        <a:rPr sz="1000" b="0">
                          <a:solidFill>
                            <a:srgbClr val="333333"/>
                          </a:solidFill>
                        </a:rPr>
                        <a:t>84</a:t>
                      </a:r>
                    </a:p>
                  </a:txBody>
                  <a:tcPr>
                    <a:solidFill>
                      <a:srgbClr val="FFFFFF"/>
                    </a:solidFill>
                  </a:tcPr>
                </a:tc>
                <a:tc>
                  <a:txBody>
                    <a:bodyPr/>
                    <a:lstStyle/>
                    <a:p>
                      <a:pPr>
                        <a:defRPr sz="1200" b="0">
                          <a:solidFill>
                            <a:srgbClr val="1C1C1C"/>
                          </a:solidFill>
                          <a:latin typeface="Calibri"/>
                        </a:defRPr>
                      </a:pPr>
                      <a:r>
                        <a:rPr sz="1000" b="0">
                          <a:solidFill>
                            <a:srgbClr val="333333"/>
                          </a:solidFill>
                        </a:rPr>
                        <a:t>1361</a:t>
                      </a:r>
                    </a:p>
                  </a:txBody>
                  <a:tcPr>
                    <a:solidFill>
                      <a:srgbClr val="FFFFFF"/>
                    </a:solidFill>
                  </a:tcPr>
                </a:tc>
                <a:tc>
                  <a:txBody>
                    <a:bodyPr/>
                    <a:lstStyle/>
                    <a:p>
                      <a:pPr>
                        <a:defRPr sz="1200" b="0">
                          <a:solidFill>
                            <a:srgbClr val="1C1C1C"/>
                          </a:solidFill>
                          <a:latin typeface="Calibri"/>
                        </a:defRPr>
                      </a:pPr>
                      <a:r>
                        <a:rPr sz="1000" b="0">
                          <a:solidFill>
                            <a:srgbClr val="333333"/>
                          </a:solidFill>
                        </a:rPr>
                        <a:t>1111</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49.6</a:t>
                      </a:r>
                    </a:p>
                  </a:txBody>
                  <a:tcPr>
                    <a:solidFill>
                      <a:srgbClr val="FFFFFF"/>
                    </a:solidFill>
                  </a:tcPr>
                </a:tc>
                <a:extLst>
                  <a:ext uri="{0D108BD9-81ED-4DB2-BD59-A6C34878D82A}">
                    <a16:rowId xmlns:a16="http://schemas.microsoft.com/office/drawing/2014/main" val="256267834"/>
                  </a:ext>
                </a:extLst>
              </a:tr>
              <a:tr h="256032">
                <a:tc>
                  <a:txBody>
                    <a:bodyPr/>
                    <a:lstStyle/>
                    <a:p>
                      <a:pPr>
                        <a:defRPr sz="1200" b="0">
                          <a:solidFill>
                            <a:srgbClr val="1C1C1C"/>
                          </a:solidFill>
                          <a:latin typeface="Calibri"/>
                        </a:defRPr>
                      </a:pPr>
                      <a:r>
                        <a:rPr sz="1000" b="0" dirty="0">
                          <a:solidFill>
                            <a:srgbClr val="333333"/>
                          </a:solidFill>
                        </a:rPr>
                        <a:t>Belgian Pro League</a:t>
                      </a:r>
                    </a:p>
                  </a:txBody>
                  <a:tcPr>
                    <a:solidFill>
                      <a:srgbClr val="FFFFFF"/>
                    </a:solidFill>
                  </a:tcPr>
                </a:tc>
                <a:tc>
                  <a:txBody>
                    <a:bodyPr/>
                    <a:lstStyle/>
                    <a:p>
                      <a:pPr>
                        <a:defRPr sz="1200" b="0">
                          <a:solidFill>
                            <a:srgbClr val="1C1C1C"/>
                          </a:solidFill>
                          <a:latin typeface="Calibri"/>
                        </a:defRPr>
                      </a:pPr>
                      <a:r>
                        <a:rPr sz="1000" b="0">
                          <a:solidFill>
                            <a:srgbClr val="333333"/>
                          </a:solidFill>
                        </a:rPr>
                        <a:t>16</a:t>
                      </a:r>
                    </a:p>
                  </a:txBody>
                  <a:tcPr>
                    <a:solidFill>
                      <a:srgbClr val="FFFFFF"/>
                    </a:solidFill>
                  </a:tcPr>
                </a:tc>
                <a:tc>
                  <a:txBody>
                    <a:bodyPr/>
                    <a:lstStyle/>
                    <a:p>
                      <a:pPr>
                        <a:defRPr sz="1200" b="0">
                          <a:solidFill>
                            <a:srgbClr val="1C1C1C"/>
                          </a:solidFill>
                          <a:latin typeface="Calibri"/>
                        </a:defRPr>
                      </a:pPr>
                      <a:r>
                        <a:rPr sz="1000" b="0">
                          <a:solidFill>
                            <a:srgbClr val="333333"/>
                          </a:solidFill>
                        </a:rPr>
                        <a:t>1325</a:t>
                      </a:r>
                    </a:p>
                  </a:txBody>
                  <a:tcPr>
                    <a:solidFill>
                      <a:srgbClr val="FFFFFF"/>
                    </a:solidFill>
                  </a:tcPr>
                </a:tc>
                <a:tc>
                  <a:txBody>
                    <a:bodyPr/>
                    <a:lstStyle/>
                    <a:p>
                      <a:pPr>
                        <a:defRPr sz="1200" b="0">
                          <a:solidFill>
                            <a:srgbClr val="1C1C1C"/>
                          </a:solidFill>
                          <a:latin typeface="Calibri"/>
                        </a:defRPr>
                      </a:pPr>
                      <a:r>
                        <a:rPr sz="1000" b="0">
                          <a:solidFill>
                            <a:srgbClr val="333333"/>
                          </a:solidFill>
                        </a:rPr>
                        <a:t>1342</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53.1</a:t>
                      </a:r>
                    </a:p>
                  </a:txBody>
                  <a:tcPr>
                    <a:solidFill>
                      <a:srgbClr val="FFFFFF"/>
                    </a:solidFill>
                  </a:tcPr>
                </a:tc>
                <a:extLst>
                  <a:ext uri="{0D108BD9-81ED-4DB2-BD59-A6C34878D82A}">
                    <a16:rowId xmlns:a16="http://schemas.microsoft.com/office/drawing/2014/main" val="1344981553"/>
                  </a:ext>
                </a:extLst>
              </a:tr>
              <a:tr h="256032">
                <a:tc>
                  <a:txBody>
                    <a:bodyPr/>
                    <a:lstStyle/>
                    <a:p>
                      <a:pPr>
                        <a:defRPr sz="1200" b="0">
                          <a:solidFill>
                            <a:srgbClr val="1C1C1C"/>
                          </a:solidFill>
                          <a:latin typeface="Calibri"/>
                        </a:defRPr>
                      </a:pPr>
                      <a:r>
                        <a:rPr sz="1000" b="0" dirty="0">
                          <a:solidFill>
                            <a:srgbClr val="333333"/>
                          </a:solidFill>
                        </a:rPr>
                        <a:t>Austrian Bundesliga</a:t>
                      </a:r>
                    </a:p>
                  </a:txBody>
                  <a:tcPr>
                    <a:solidFill>
                      <a:srgbClr val="FFFFFF"/>
                    </a:solidFill>
                  </a:tcPr>
                </a:tc>
                <a:tc>
                  <a:txBody>
                    <a:bodyPr/>
                    <a:lstStyle/>
                    <a:p>
                      <a:pPr>
                        <a:defRPr sz="1200" b="0">
                          <a:solidFill>
                            <a:srgbClr val="1C1C1C"/>
                          </a:solidFill>
                          <a:latin typeface="Calibri"/>
                        </a:defRPr>
                      </a:pPr>
                      <a:r>
                        <a:rPr sz="1000" b="0">
                          <a:solidFill>
                            <a:srgbClr val="333333"/>
                          </a:solidFill>
                        </a:rPr>
                        <a:t>10</a:t>
                      </a:r>
                    </a:p>
                  </a:txBody>
                  <a:tcPr>
                    <a:solidFill>
                      <a:srgbClr val="FFFFFF"/>
                    </a:solidFill>
                  </a:tcPr>
                </a:tc>
                <a:tc>
                  <a:txBody>
                    <a:bodyPr/>
                    <a:lstStyle/>
                    <a:p>
                      <a:pPr>
                        <a:defRPr sz="1200" b="0">
                          <a:solidFill>
                            <a:srgbClr val="1C1C1C"/>
                          </a:solidFill>
                          <a:latin typeface="Calibri"/>
                        </a:defRPr>
                      </a:pPr>
                      <a:r>
                        <a:rPr sz="1000" b="0">
                          <a:solidFill>
                            <a:srgbClr val="333333"/>
                          </a:solidFill>
                        </a:rPr>
                        <a:t>1152</a:t>
                      </a:r>
                    </a:p>
                  </a:txBody>
                  <a:tcPr>
                    <a:solidFill>
                      <a:srgbClr val="FFFFFF"/>
                    </a:solidFill>
                  </a:tcPr>
                </a:tc>
                <a:tc>
                  <a:txBody>
                    <a:bodyPr/>
                    <a:lstStyle/>
                    <a:p>
                      <a:pPr>
                        <a:defRPr sz="1200" b="0">
                          <a:solidFill>
                            <a:srgbClr val="1C1C1C"/>
                          </a:solidFill>
                          <a:latin typeface="Calibri"/>
                        </a:defRPr>
                      </a:pPr>
                      <a:r>
                        <a:rPr sz="1000" b="0">
                          <a:solidFill>
                            <a:srgbClr val="333333"/>
                          </a:solidFill>
                        </a:rPr>
                        <a:t>1284</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49.6</a:t>
                      </a:r>
                    </a:p>
                  </a:txBody>
                  <a:tcPr>
                    <a:solidFill>
                      <a:srgbClr val="FFFFFF"/>
                    </a:solidFill>
                  </a:tcPr>
                </a:tc>
                <a:extLst>
                  <a:ext uri="{0D108BD9-81ED-4DB2-BD59-A6C34878D82A}">
                    <a16:rowId xmlns:a16="http://schemas.microsoft.com/office/drawing/2014/main" val="8861733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064765181"/>
              </p:ext>
            </p:extLst>
          </p:nvPr>
        </p:nvGraphicFramePr>
        <p:xfrm>
          <a:off x="411480" y="3738486"/>
          <a:ext cx="4846320" cy="1676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56032">
                <a:tc>
                  <a:txBody>
                    <a:bodyPr/>
                    <a:lstStyle/>
                    <a:p>
                      <a:pPr>
                        <a:defRPr sz="1100" b="1">
                          <a:solidFill>
                            <a:srgbClr val="FFFFFF"/>
                          </a:solidFill>
                          <a:latin typeface="Calibri"/>
                        </a:defRPr>
                      </a:pPr>
                      <a:r>
                        <a:rPr sz="1000" b="1" dirty="0">
                          <a:solidFill>
                            <a:schemeClr val="bg1"/>
                          </a:solidFill>
                        </a:rPr>
                        <a:t>League</a:t>
                      </a:r>
                    </a:p>
                  </a:txBody>
                  <a:tcPr>
                    <a:solidFill>
                      <a:srgbClr val="1C1C1C"/>
                    </a:solidFill>
                  </a:tcPr>
                </a:tc>
                <a:tc>
                  <a:txBody>
                    <a:bodyPr/>
                    <a:lstStyle/>
                    <a:p>
                      <a:pPr>
                        <a:defRPr sz="1100" b="1">
                          <a:solidFill>
                            <a:srgbClr val="FFFFFF"/>
                          </a:solidFill>
                          <a:latin typeface="Calibri"/>
                        </a:defRPr>
                      </a:pPr>
                      <a:r>
                        <a:rPr sz="1000" b="1">
                          <a:solidFill>
                            <a:schemeClr val="bg1"/>
                          </a:solidFill>
                        </a:rPr>
                        <a:t>N</a:t>
                      </a:r>
                    </a:p>
                  </a:txBody>
                  <a:tcPr>
                    <a:solidFill>
                      <a:srgbClr val="1C1C1C"/>
                    </a:solidFill>
                  </a:tcPr>
                </a:tc>
                <a:tc>
                  <a:txBody>
                    <a:bodyPr/>
                    <a:lstStyle/>
                    <a:p>
                      <a:pPr>
                        <a:defRPr sz="1100" b="1">
                          <a:solidFill>
                            <a:srgbClr val="FFFFFF"/>
                          </a:solidFill>
                          <a:latin typeface="Calibri"/>
                        </a:defRPr>
                      </a:pPr>
                      <a:r>
                        <a:rPr sz="1000" b="1">
                          <a:solidFill>
                            <a:schemeClr val="bg1"/>
                          </a:solidFill>
                        </a:rPr>
                        <a:t>Mean Year 1 in Bundesliga min</a:t>
                      </a:r>
                    </a:p>
                  </a:txBody>
                  <a:tcPr>
                    <a:solidFill>
                      <a:srgbClr val="1C1C1C"/>
                    </a:solidFill>
                  </a:tcPr>
                </a:tc>
                <a:tc>
                  <a:txBody>
                    <a:bodyPr/>
                    <a:lstStyle/>
                    <a:p>
                      <a:pPr>
                        <a:defRPr sz="1100" b="1">
                          <a:solidFill>
                            <a:srgbClr val="FFFFFF"/>
                          </a:solidFill>
                          <a:latin typeface="Calibri"/>
                        </a:defRPr>
                      </a:pPr>
                      <a:r>
                        <a:rPr sz="1000" b="1" dirty="0">
                          <a:solidFill>
                            <a:schemeClr val="bg1"/>
                          </a:solidFill>
                        </a:rPr>
                        <a:t>Trait score</a:t>
                      </a:r>
                    </a:p>
                  </a:txBody>
                  <a:tcPr>
                    <a:solidFill>
                      <a:srgbClr val="1C1C1C"/>
                    </a:solidFill>
                  </a:tcPr>
                </a:tc>
                <a:extLst>
                  <a:ext uri="{0D108BD9-81ED-4DB2-BD59-A6C34878D82A}">
                    <a16:rowId xmlns:a16="http://schemas.microsoft.com/office/drawing/2014/main" val="10000"/>
                  </a:ext>
                </a:extLst>
              </a:tr>
              <a:tr h="256032">
                <a:tc>
                  <a:txBody>
                    <a:bodyPr/>
                    <a:lstStyle/>
                    <a:p>
                      <a:pPr>
                        <a:defRPr sz="1100" b="0">
                          <a:solidFill>
                            <a:srgbClr val="1C1C1C"/>
                          </a:solidFill>
                          <a:latin typeface="Calibri"/>
                        </a:defRPr>
                      </a:pPr>
                      <a:r>
                        <a:rPr sz="1000">
                          <a:solidFill>
                            <a:srgbClr val="333333"/>
                          </a:solidFill>
                        </a:rPr>
                        <a:t>FIFA World Cup</a:t>
                      </a:r>
                    </a:p>
                  </a:txBody>
                  <a:tcPr>
                    <a:solidFill>
                      <a:srgbClr val="F0FAF4"/>
                    </a:solidFill>
                  </a:tcPr>
                </a:tc>
                <a:tc>
                  <a:txBody>
                    <a:bodyPr/>
                    <a:lstStyle/>
                    <a:p>
                      <a:pPr>
                        <a:defRPr sz="1100" b="0">
                          <a:solidFill>
                            <a:srgbClr val="1C1C1C"/>
                          </a:solidFill>
                          <a:latin typeface="Calibri"/>
                        </a:defRPr>
                      </a:pPr>
                      <a:r>
                        <a:rPr sz="1000">
                          <a:solidFill>
                            <a:srgbClr val="333333"/>
                          </a:solidFill>
                        </a:rPr>
                        <a:t>27</a:t>
                      </a:r>
                    </a:p>
                  </a:txBody>
                  <a:tcPr>
                    <a:solidFill>
                      <a:srgbClr val="F0FAF4"/>
                    </a:solidFill>
                  </a:tcPr>
                </a:tc>
                <a:tc>
                  <a:txBody>
                    <a:bodyPr/>
                    <a:lstStyle/>
                    <a:p>
                      <a:pPr>
                        <a:defRPr sz="1100" b="0">
                          <a:solidFill>
                            <a:srgbClr val="1C1C1C"/>
                          </a:solidFill>
                          <a:latin typeface="Calibri"/>
                        </a:defRPr>
                      </a:pPr>
                      <a:r>
                        <a:rPr sz="1000">
                          <a:solidFill>
                            <a:srgbClr val="333333"/>
                          </a:solidFill>
                        </a:rPr>
                        <a:t>288</a:t>
                      </a:r>
                    </a:p>
                  </a:txBody>
                  <a:tcPr>
                    <a:solidFill>
                      <a:srgbClr val="F0FAF4"/>
                    </a:solidFill>
                  </a:tcPr>
                </a:tc>
                <a:tc>
                  <a:txBody>
                    <a:bodyPr/>
                    <a:lstStyle/>
                    <a:p>
                      <a:pPr>
                        <a:defRPr sz="1100" b="0">
                          <a:solidFill>
                            <a:srgbClr val="1C1C1C"/>
                          </a:solidFill>
                          <a:latin typeface="Calibri"/>
                        </a:defRPr>
                      </a:pPr>
                      <a:r>
                        <a:rPr sz="1000">
                          <a:solidFill>
                            <a:srgbClr val="333333"/>
                          </a:solidFill>
                        </a:rPr>
                        <a:t>57.3</a:t>
                      </a:r>
                    </a:p>
                  </a:txBody>
                  <a:tcPr>
                    <a:solidFill>
                      <a:srgbClr val="F0FAF4"/>
                    </a:solidFill>
                  </a:tcPr>
                </a:tc>
                <a:extLst>
                  <a:ext uri="{0D108BD9-81ED-4DB2-BD59-A6C34878D82A}">
                    <a16:rowId xmlns:a16="http://schemas.microsoft.com/office/drawing/2014/main" val="10001"/>
                  </a:ext>
                </a:extLst>
              </a:tr>
              <a:tr h="256032">
                <a:tc>
                  <a:txBody>
                    <a:bodyPr/>
                    <a:lstStyle/>
                    <a:p>
                      <a:pPr>
                        <a:defRPr sz="1100" b="0">
                          <a:solidFill>
                            <a:srgbClr val="1C1C1C"/>
                          </a:solidFill>
                          <a:latin typeface="Calibri"/>
                        </a:defRPr>
                      </a:pPr>
                      <a:r>
                        <a:rPr sz="1000">
                          <a:solidFill>
                            <a:srgbClr val="333333"/>
                          </a:solidFill>
                        </a:rPr>
                        <a:t>Champions League</a:t>
                      </a:r>
                    </a:p>
                  </a:txBody>
                  <a:tcPr>
                    <a:solidFill>
                      <a:srgbClr val="FFFFFF"/>
                    </a:solidFill>
                  </a:tcPr>
                </a:tc>
                <a:tc>
                  <a:txBody>
                    <a:bodyPr/>
                    <a:lstStyle/>
                    <a:p>
                      <a:pPr>
                        <a:defRPr sz="1100" b="0">
                          <a:solidFill>
                            <a:srgbClr val="1C1C1C"/>
                          </a:solidFill>
                          <a:latin typeface="Calibri"/>
                        </a:defRPr>
                      </a:pPr>
                      <a:r>
                        <a:rPr sz="1000">
                          <a:solidFill>
                            <a:srgbClr val="333333"/>
                          </a:solidFill>
                        </a:rPr>
                        <a:t>17</a:t>
                      </a:r>
                    </a:p>
                  </a:txBody>
                  <a:tcPr>
                    <a:solidFill>
                      <a:srgbClr val="FFFFFF"/>
                    </a:solidFill>
                  </a:tcPr>
                </a:tc>
                <a:tc>
                  <a:txBody>
                    <a:bodyPr/>
                    <a:lstStyle/>
                    <a:p>
                      <a:pPr>
                        <a:defRPr sz="1100" b="0">
                          <a:solidFill>
                            <a:srgbClr val="1C1C1C"/>
                          </a:solidFill>
                          <a:latin typeface="Calibri"/>
                        </a:defRPr>
                      </a:pPr>
                      <a:r>
                        <a:rPr sz="1000">
                          <a:solidFill>
                            <a:srgbClr val="333333"/>
                          </a:solidFill>
                        </a:rPr>
                        <a:t>257</a:t>
                      </a:r>
                    </a:p>
                  </a:txBody>
                  <a:tcPr>
                    <a:solidFill>
                      <a:srgbClr val="FFFFFF"/>
                    </a:solidFill>
                  </a:tcPr>
                </a:tc>
                <a:tc>
                  <a:txBody>
                    <a:bodyPr/>
                    <a:lstStyle/>
                    <a:p>
                      <a:pPr>
                        <a:defRPr sz="1100" b="0">
                          <a:solidFill>
                            <a:srgbClr val="1C1C1C"/>
                          </a:solidFill>
                          <a:latin typeface="Calibri"/>
                        </a:defRPr>
                      </a:pPr>
                      <a:r>
                        <a:rPr sz="1000">
                          <a:solidFill>
                            <a:srgbClr val="333333"/>
                          </a:solidFill>
                        </a:rPr>
                        <a:t>57.8</a:t>
                      </a:r>
                    </a:p>
                  </a:txBody>
                  <a:tcPr>
                    <a:solidFill>
                      <a:srgbClr val="FFFFFF"/>
                    </a:solidFill>
                  </a:tcPr>
                </a:tc>
                <a:extLst>
                  <a:ext uri="{0D108BD9-81ED-4DB2-BD59-A6C34878D82A}">
                    <a16:rowId xmlns:a16="http://schemas.microsoft.com/office/drawing/2014/main" val="10002"/>
                  </a:ext>
                </a:extLst>
              </a:tr>
              <a:tr h="256032">
                <a:tc>
                  <a:txBody>
                    <a:bodyPr/>
                    <a:lstStyle/>
                    <a:p>
                      <a:pPr>
                        <a:defRPr sz="1100" b="0">
                          <a:solidFill>
                            <a:srgbClr val="1C1C1C"/>
                          </a:solidFill>
                          <a:latin typeface="Calibri"/>
                        </a:defRPr>
                      </a:pPr>
                      <a:r>
                        <a:rPr sz="1000">
                          <a:solidFill>
                            <a:srgbClr val="333333"/>
                          </a:solidFill>
                        </a:rPr>
                        <a:t>UEFA Euro</a:t>
                      </a:r>
                    </a:p>
                  </a:txBody>
                  <a:tcPr>
                    <a:solidFill>
                      <a:srgbClr val="F0FAF4"/>
                    </a:solidFill>
                  </a:tcPr>
                </a:tc>
                <a:tc>
                  <a:txBody>
                    <a:bodyPr/>
                    <a:lstStyle/>
                    <a:p>
                      <a:pPr>
                        <a:defRPr sz="1100" b="0">
                          <a:solidFill>
                            <a:srgbClr val="1C1C1C"/>
                          </a:solidFill>
                          <a:latin typeface="Calibri"/>
                        </a:defRPr>
                      </a:pPr>
                      <a:r>
                        <a:rPr sz="1000">
                          <a:solidFill>
                            <a:srgbClr val="333333"/>
                          </a:solidFill>
                        </a:rPr>
                        <a:t>17</a:t>
                      </a:r>
                    </a:p>
                  </a:txBody>
                  <a:tcPr>
                    <a:solidFill>
                      <a:srgbClr val="F0FAF4"/>
                    </a:solidFill>
                  </a:tcPr>
                </a:tc>
                <a:tc>
                  <a:txBody>
                    <a:bodyPr/>
                    <a:lstStyle/>
                    <a:p>
                      <a:pPr>
                        <a:defRPr sz="1100" b="0">
                          <a:solidFill>
                            <a:srgbClr val="1C1C1C"/>
                          </a:solidFill>
                          <a:latin typeface="Calibri"/>
                        </a:defRPr>
                      </a:pPr>
                      <a:r>
                        <a:rPr sz="1000">
                          <a:solidFill>
                            <a:srgbClr val="333333"/>
                          </a:solidFill>
                        </a:rPr>
                        <a:t>193</a:t>
                      </a:r>
                    </a:p>
                  </a:txBody>
                  <a:tcPr>
                    <a:solidFill>
                      <a:srgbClr val="F0FAF4"/>
                    </a:solidFill>
                  </a:tcPr>
                </a:tc>
                <a:tc>
                  <a:txBody>
                    <a:bodyPr/>
                    <a:lstStyle/>
                    <a:p>
                      <a:pPr>
                        <a:defRPr sz="1100" b="0">
                          <a:solidFill>
                            <a:srgbClr val="1C1C1C"/>
                          </a:solidFill>
                          <a:latin typeface="Calibri"/>
                        </a:defRPr>
                      </a:pPr>
                      <a:r>
                        <a:rPr sz="1000">
                          <a:solidFill>
                            <a:srgbClr val="333333"/>
                          </a:solidFill>
                        </a:rPr>
                        <a:t>45.9</a:t>
                      </a:r>
                    </a:p>
                  </a:txBody>
                  <a:tcPr>
                    <a:solidFill>
                      <a:srgbClr val="F0FAF4"/>
                    </a:solidFill>
                  </a:tcPr>
                </a:tc>
                <a:extLst>
                  <a:ext uri="{0D108BD9-81ED-4DB2-BD59-A6C34878D82A}">
                    <a16:rowId xmlns:a16="http://schemas.microsoft.com/office/drawing/2014/main" val="10003"/>
                  </a:ext>
                </a:extLst>
              </a:tr>
              <a:tr h="256032">
                <a:tc>
                  <a:txBody>
                    <a:bodyPr/>
                    <a:lstStyle/>
                    <a:p>
                      <a:pPr>
                        <a:defRPr sz="1100" b="0">
                          <a:solidFill>
                            <a:srgbClr val="1C1C1C"/>
                          </a:solidFill>
                          <a:latin typeface="Calibri"/>
                        </a:defRPr>
                      </a:pPr>
                      <a:r>
                        <a:rPr sz="1000">
                          <a:solidFill>
                            <a:srgbClr val="333333"/>
                          </a:solidFill>
                        </a:rPr>
                        <a:t>Premier League</a:t>
                      </a:r>
                    </a:p>
                  </a:txBody>
                  <a:tcPr>
                    <a:solidFill>
                      <a:srgbClr val="FFFFFF"/>
                    </a:solidFill>
                  </a:tcPr>
                </a:tc>
                <a:tc>
                  <a:txBody>
                    <a:bodyPr/>
                    <a:lstStyle/>
                    <a:p>
                      <a:pPr>
                        <a:defRPr sz="1100" b="0">
                          <a:solidFill>
                            <a:srgbClr val="1C1C1C"/>
                          </a:solidFill>
                          <a:latin typeface="Calibri"/>
                        </a:defRPr>
                      </a:pPr>
                      <a:r>
                        <a:rPr sz="1000">
                          <a:solidFill>
                            <a:srgbClr val="333333"/>
                          </a:solidFill>
                        </a:rPr>
                        <a:t>3</a:t>
                      </a:r>
                    </a:p>
                  </a:txBody>
                  <a:tcPr>
                    <a:solidFill>
                      <a:srgbClr val="FFFFFF"/>
                    </a:solidFill>
                  </a:tcPr>
                </a:tc>
                <a:tc>
                  <a:txBody>
                    <a:bodyPr/>
                    <a:lstStyle/>
                    <a:p>
                      <a:pPr>
                        <a:defRPr sz="1100" b="0">
                          <a:solidFill>
                            <a:srgbClr val="1C1C1C"/>
                          </a:solidFill>
                          <a:latin typeface="Calibri"/>
                        </a:defRPr>
                      </a:pPr>
                      <a:r>
                        <a:rPr sz="1000">
                          <a:solidFill>
                            <a:srgbClr val="333333"/>
                          </a:solidFill>
                        </a:rPr>
                        <a:t>146</a:t>
                      </a:r>
                    </a:p>
                  </a:txBody>
                  <a:tcPr>
                    <a:solidFill>
                      <a:srgbClr val="FFFFFF"/>
                    </a:solidFill>
                  </a:tcPr>
                </a:tc>
                <a:tc>
                  <a:txBody>
                    <a:bodyPr/>
                    <a:lstStyle/>
                    <a:p>
                      <a:pPr>
                        <a:defRPr sz="1100" b="0">
                          <a:solidFill>
                            <a:srgbClr val="1C1C1C"/>
                          </a:solidFill>
                          <a:latin typeface="Calibri"/>
                        </a:defRPr>
                      </a:pPr>
                      <a:r>
                        <a:rPr sz="1000">
                          <a:solidFill>
                            <a:srgbClr val="333333"/>
                          </a:solidFill>
                        </a:rPr>
                        <a:t>53.7</a:t>
                      </a:r>
                    </a:p>
                  </a:txBody>
                  <a:tcPr>
                    <a:solidFill>
                      <a:srgbClr val="FFFFFF"/>
                    </a:solidFill>
                  </a:tcPr>
                </a:tc>
                <a:extLst>
                  <a:ext uri="{0D108BD9-81ED-4DB2-BD59-A6C34878D82A}">
                    <a16:rowId xmlns:a16="http://schemas.microsoft.com/office/drawing/2014/main" val="10004"/>
                  </a:ext>
                </a:extLst>
              </a:tr>
              <a:tr h="256032">
                <a:tc>
                  <a:txBody>
                    <a:bodyPr/>
                    <a:lstStyle/>
                    <a:p>
                      <a:pPr>
                        <a:defRPr sz="1100" b="0">
                          <a:solidFill>
                            <a:srgbClr val="1C1C1C"/>
                          </a:solidFill>
                          <a:latin typeface="Calibri"/>
                        </a:defRPr>
                      </a:pPr>
                      <a:r>
                        <a:rPr sz="1000">
                          <a:solidFill>
                            <a:srgbClr val="333333"/>
                          </a:solidFill>
                        </a:rPr>
                        <a:t>La Liga</a:t>
                      </a:r>
                    </a:p>
                  </a:txBody>
                  <a:tcPr>
                    <a:solidFill>
                      <a:srgbClr val="F0FAF4"/>
                    </a:solidFill>
                  </a:tcPr>
                </a:tc>
                <a:tc>
                  <a:txBody>
                    <a:bodyPr/>
                    <a:lstStyle/>
                    <a:p>
                      <a:pPr>
                        <a:defRPr sz="1100" b="0">
                          <a:solidFill>
                            <a:srgbClr val="1C1C1C"/>
                          </a:solidFill>
                          <a:latin typeface="Calibri"/>
                        </a:defRPr>
                      </a:pPr>
                      <a:r>
                        <a:rPr sz="1000">
                          <a:solidFill>
                            <a:srgbClr val="333333"/>
                          </a:solidFill>
                        </a:rPr>
                        <a:t>13</a:t>
                      </a:r>
                    </a:p>
                  </a:txBody>
                  <a:tcPr>
                    <a:solidFill>
                      <a:srgbClr val="F0FAF4"/>
                    </a:solidFill>
                  </a:tcPr>
                </a:tc>
                <a:tc>
                  <a:txBody>
                    <a:bodyPr/>
                    <a:lstStyle/>
                    <a:p>
                      <a:pPr>
                        <a:defRPr sz="1100" b="0">
                          <a:solidFill>
                            <a:srgbClr val="1C1C1C"/>
                          </a:solidFill>
                          <a:latin typeface="Calibri"/>
                        </a:defRPr>
                      </a:pPr>
                      <a:r>
                        <a:rPr sz="1000">
                          <a:solidFill>
                            <a:srgbClr val="333333"/>
                          </a:solidFill>
                        </a:rPr>
                        <a:t>133</a:t>
                      </a:r>
                    </a:p>
                  </a:txBody>
                  <a:tcPr>
                    <a:solidFill>
                      <a:srgbClr val="F0FAF4"/>
                    </a:solidFill>
                  </a:tcPr>
                </a:tc>
                <a:tc>
                  <a:txBody>
                    <a:bodyPr/>
                    <a:lstStyle/>
                    <a:p>
                      <a:pPr>
                        <a:defRPr sz="1100" b="0">
                          <a:solidFill>
                            <a:srgbClr val="1C1C1C"/>
                          </a:solidFill>
                          <a:latin typeface="Calibri"/>
                        </a:defRPr>
                      </a:pPr>
                      <a:r>
                        <a:rPr sz="1000" dirty="0">
                          <a:solidFill>
                            <a:srgbClr val="333333"/>
                          </a:solidFill>
                        </a:rPr>
                        <a:t>55.2</a:t>
                      </a:r>
                    </a:p>
                  </a:txBody>
                  <a:tcPr>
                    <a:solidFill>
                      <a:srgbClr val="F0FAF4"/>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411480" y="5521566"/>
            <a:ext cx="11155680" cy="743793"/>
          </a:xfrm>
          <a:prstGeom prst="rect">
            <a:avLst/>
          </a:prstGeom>
          <a:noFill/>
        </p:spPr>
        <p:txBody>
          <a:bodyPr wrap="square">
            <a:spAutoFit/>
          </a:bodyPr>
          <a:lstStyle/>
          <a:p>
            <a:pPr>
              <a:spcAft>
                <a:spcPts val="400"/>
              </a:spcAft>
            </a:pPr>
            <a:r>
              <a:rPr sz="1100">
                <a:solidFill>
                  <a:srgbClr val="333333"/>
                </a:solidFill>
              </a:rPr>
              <a:t>FBref N=329 (only leagues with ≥8 players shown). StatsBomb N=96 — international priors are directional only.</a:t>
            </a:r>
          </a:p>
          <a:p>
            <a:r>
              <a:rPr sz="1100">
                <a:solidFill>
                  <a:srgbClr val="333333"/>
                </a:solidFill>
              </a:rPr>
              <a:t/>
            </a:r>
          </a:p>
          <a:p>
            <a:r>
              <a:rPr sz="1100">
                <a:solidFill>
                  <a:srgbClr val="333333"/>
                </a:solidFill>
              </a:rPr>
              <a:t>How to read these averages: each row is players who already moved from that competition into the Bundesliga. Clubs chose whom to sign, so this is not a random sample of everyone in that league.</a:t>
            </a:r>
          </a:p>
          <a:p>
            <a:r>
              <a:rPr sz="1100">
                <a:solidFill>
                  <a:srgbClr val="333333"/>
                </a:solidFill>
              </a:rPr>
              <a:t/>
            </a:r>
          </a:p>
          <a:p>
            <a:r>
              <a:rPr sz="1100">
                <a:solidFill>
                  <a:srgbClr val="333333"/>
                </a:solidFill>
              </a:rPr>
              <a:t>Short version: relative feeder averages are a useful scouting description of arrivals. They are not a causal claim that “coming from league X causes more minutes” or proves that league produces better transferable talent — that would need separating the league label from who gets signed and where they land. (The exploratory OLS later holds prior minutes / position / traits fixed and finds league gaps are modest.)</a:t>
            </a:r>
          </a:p>
          <a:p>
            <a:r>
              <a:rPr sz="1100">
                <a:solidFill>
                  <a:srgbClr val="333333"/>
                </a:solidFill>
              </a:rPr>
              <a:t/>
            </a:r>
          </a:p>
          <a:p>
            <a:r>
              <a:rPr sz="1100">
                <a:solidFill>
                  <a:srgbClr val="333333"/>
                </a:solidFill>
              </a:rPr>
              <a:t>Tables also in the explorer Success tab · README.md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400110"/>
          </a:xfrm>
          <a:prstGeom prst="rect">
            <a:avLst/>
          </a:prstGeom>
          <a:noFill/>
        </p:spPr>
        <p:txBody>
          <a:bodyPr wrap="square">
            <a:spAutoFit/>
          </a:bodyPr>
          <a:lstStyle/>
          <a:p>
            <a:pPr algn="l"/>
            <a:r>
              <a:rPr sz="2000" b="1" dirty="0">
                <a:solidFill>
                  <a:srgbClr val="3D5A80"/>
                </a:solidFill>
                <a:latin typeface="Georgia"/>
              </a:rPr>
              <a:t>PHASE 2 · FEEDER REGRESSION (EXPLORATORY)</a:t>
            </a:r>
          </a:p>
        </p:txBody>
      </p:sp>
      <p:sp>
        <p:nvSpPr>
          <p:cNvPr id="4" name="TextBox 3"/>
          <p:cNvSpPr txBox="1"/>
          <p:nvPr/>
        </p:nvSpPr>
        <p:spPr>
          <a:xfrm>
            <a:off x="548640" y="960120"/>
            <a:ext cx="10972800" cy="369332"/>
          </a:xfrm>
          <a:prstGeom prst="rect">
            <a:avLst/>
          </a:prstGeom>
          <a:noFill/>
        </p:spPr>
        <p:txBody>
          <a:bodyPr wrap="square">
            <a:spAutoFit/>
          </a:bodyPr>
          <a:lstStyle/>
          <a:p>
            <a:pPr algn="l"/>
            <a:r>
              <a:rPr sz="1300" b="0">
                <a:solidFill>
                  <a:srgbClr val="333333"/>
                </a:solidFill>
              </a:rPr>
              <a:t>Descriptive “best feeder league” averages are not enough — ordinary least squares (OLS) regression asks whether league gaps remain after controls.</a:t>
            </a:r>
          </a:p>
        </p:txBody>
      </p:sp>
      <p:sp>
        <p:nvSpPr>
          <p:cNvPr id="5" name="TextBox 4"/>
          <p:cNvSpPr txBox="1"/>
          <p:nvPr/>
        </p:nvSpPr>
        <p:spPr>
          <a:xfrm>
            <a:off x="685800" y="1417320"/>
            <a:ext cx="5303520" cy="3970318"/>
          </a:xfrm>
          <a:prstGeom prst="rect">
            <a:avLst/>
          </a:prstGeom>
          <a:noFill/>
          <a:ln w="19050">
            <a:solidFill>
              <a:srgbClr val="002060"/>
            </a:solidFill>
          </a:ln>
        </p:spPr>
        <p:txBody>
          <a:bodyPr wrap="square">
            <a:spAutoFit/>
          </a:bodyPr>
          <a:lstStyle/>
          <a:p>
            <a:br>
              <a:rPr lang="en-US" dirty="0"/>
            </a:br>
            <a:r>
              <a:rPr sz="1200" b="0">
                <a:solidFill>
                  <a:srgbClr val="333333"/>
                </a:solidFill>
              </a:rPr>
              <a:t>Model 1 — league only (with basic controls)</a:t>
            </a:r>
          </a:p>
          <a:p>
            <a:r>
              <a:rPr sz="1200" b="0">
                <a:solidFill>
                  <a:srgbClr val="333333"/>
                </a:solidFill>
              </a:rPr>
              <a:t>Year 1 minutes = prior league (PL / La Liga / Ligue 1 vs Serie A baseline)</a:t>
            </a:r>
          </a:p>
          <a:p>
            <a:r>
              <a:rPr sz="1200" b="0">
                <a:solidFill>
                  <a:srgbClr val="333333"/>
                </a:solidFill>
              </a:rPr>
              <a:t>                 + prior minutes + position</a:t>
            </a:r>
          </a:p>
          <a:p>
            <a:r>
              <a:rPr sz="1200" b="0">
                <a:solidFill>
                  <a:srgbClr val="333333"/>
                </a:solidFill>
              </a:rPr>
              <a:t>Question: after that, does league still matter?</a:t>
            </a:r>
          </a:p>
          <a:p>
            <a:r>
              <a:rPr sz="1200" b="0">
                <a:solidFill>
                  <a:srgbClr val="333333"/>
                </a:solidFill>
              </a:rPr>
              <a:t/>
            </a:r>
          </a:p>
          <a:p>
            <a:r>
              <a:rPr sz="1200" b="0">
                <a:solidFill>
                  <a:srgbClr val="333333"/>
                </a:solidFill>
              </a:rPr>
              <a:t>Model 2 — league + traits</a:t>
            </a:r>
          </a:p>
          <a:p>
            <a:r>
              <a:rPr sz="1200" b="0">
                <a:solidFill>
                  <a:srgbClr val="333333"/>
                </a:solidFill>
              </a:rPr>
              <a:t>Year 1 minutes = Model 1 + prior trait percentiles</a:t>
            </a:r>
          </a:p>
          <a:p>
            <a:r>
              <a:rPr sz="1200" b="0">
                <a:solidFill>
                  <a:srgbClr val="333333"/>
                </a:solidFill>
              </a:rPr>
              <a:t>                 (e.g. Final Third, Def Pen Touches, …)</a:t>
            </a:r>
          </a:p>
          <a:p>
            <a:r>
              <a:rPr sz="1200" b="0">
                <a:solidFill>
                  <a:srgbClr val="333333"/>
                </a:solidFill>
              </a:rPr>
              <a:t>Question: once you know the prior profile, do league gaps shrink?</a:t>
            </a:r>
          </a:p>
          <a:p>
            <a:r>
              <a:rPr sz="1200" b="0">
                <a:solidFill>
                  <a:srgbClr val="333333"/>
                </a:solidFill>
              </a:rPr>
              <a:t/>
            </a:r>
          </a:p>
          <a:p>
            <a:r>
              <a:rPr sz="1200" b="0">
                <a:solidFill>
                  <a:srgbClr val="333333"/>
                </a:solidFill>
              </a:rPr>
              <a:t>Model 3 — holdout check</a:t>
            </a:r>
          </a:p>
          <a:p>
            <a:r>
              <a:rPr sz="1200" b="0">
                <a:solidFill>
                  <a:srgbClr val="333333"/>
                </a:solidFill>
              </a:rPr>
              <a:t>Fit Model 2 on 80% of players; correlate predicted vs actual Year 1 minutes on the other 20%.</a:t>
            </a:r>
          </a:p>
          <a:p>
            <a:r>
              <a:rPr sz="1200" b="0">
                <a:solidFill>
                  <a:srgbClr val="333333"/>
                </a:solidFill>
              </a:rPr>
              <a:t>Question: is the fit just memorizing this sample?</a:t>
            </a:r>
          </a:p>
          <a:p>
            <a:r>
              <a:rPr sz="1200" b="0">
                <a:solidFill>
                  <a:srgbClr val="333333"/>
                </a:solidFill>
              </a:rPr>
              <a:t/>
            </a:r>
          </a:p>
          <a:p>
            <a:r>
              <a:rPr sz="1200" b="0">
                <a:solidFill>
                  <a:srgbClr val="333333"/>
                </a:solidFill>
              </a:rPr>
              <a:t>Serie A = baseline (lowest average Year 1 minutes among Big-5 feeders in this subset).</a:t>
            </a:r>
          </a:p>
          <a:p>
            <a:r>
              <a:rPr sz="1200" b="0">
                <a:solidFill>
                  <a:srgbClr val="333333"/>
                </a:solidFill>
              </a:rPr>
              <a:t>Big-5 FBref subset N=117. Associative / exploratory — not a validated forecast.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548640"/>
          </a:xfrm>
          <a:prstGeom prst="rect">
            <a:avLst/>
          </a:prstGeom>
          <a:noFill/>
        </p:spPr>
        <p:txBody>
          <a:bodyPr wrap="square">
            <a:spAutoFit/>
          </a:bodyPr>
          <a:lstStyle/>
          <a:p>
            <a:pPr algn="l"/>
            <a:r>
              <a:rPr sz="2600" b="1" dirty="0">
                <a:solidFill>
                  <a:srgbClr val="3D5A80"/>
                </a:solidFill>
                <a:latin typeface="Georgia"/>
              </a:rPr>
              <a:t>RESULTS  ·  REGRESSION — WHY LIGUE 1 LOOKS BEST</a:t>
            </a:r>
          </a:p>
        </p:txBody>
      </p:sp>
      <p:sp>
        <p:nvSpPr>
          <p:cNvPr id="4" name="TextBox 3"/>
          <p:cNvSpPr txBox="1"/>
          <p:nvPr/>
        </p:nvSpPr>
        <p:spPr>
          <a:xfrm>
            <a:off x="548640" y="914400"/>
            <a:ext cx="8046720" cy="646331"/>
          </a:xfrm>
          <a:prstGeom prst="rect">
            <a:avLst/>
          </a:prstGeom>
          <a:noFill/>
        </p:spPr>
        <p:txBody>
          <a:bodyPr wrap="square">
            <a:spAutoFit/>
          </a:bodyPr>
          <a:lstStyle/>
          <a:p>
            <a:r>
              <a:rPr sz="1200" b="0">
                <a:solidFill>
                  <a:srgbClr val="333333"/>
                </a:solidFill>
              </a:rPr>
              <a:t>Model 1 R²=0.086 → Model 2 R²=0.215 when traits added · Model 3 holdout correlation r=0.35 (exploratory)</a:t>
            </a:r>
            <a:endParaRPr lang="en-US" sz="1200" b="0" dirty="0">
              <a:solidFill>
                <a:srgbClr val="333333"/>
              </a:solidFill>
            </a:endParaRPr>
          </a:p>
          <a:p>
            <a:r>
              <a:rPr sz="1200" b="0">
                <a:solidFill>
                  <a:srgbClr val="333333"/>
                </a:solidFill>
              </a:rPr>
              <a:t>Left table = Model 1 league gaps · Right table = Model 2 trait effects · Model 3 = holdout check only (no third chart)</a:t>
            </a:r>
          </a:p>
        </p:txBody>
      </p:sp>
      <p:graphicFrame>
        <p:nvGraphicFramePr>
          <p:cNvPr id="5" name="Table 4"/>
          <p:cNvGraphicFramePr>
            <a:graphicFrameLocks noGrp="1"/>
          </p:cNvGraphicFramePr>
          <p:nvPr>
            <p:extLst>
              <p:ext uri="{D42A27DB-BD31-4B8C-83A1-F6EECF244321}">
                <p14:modId xmlns:p14="http://schemas.microsoft.com/office/powerpoint/2010/main" val="2603676595"/>
              </p:ext>
            </p:extLst>
          </p:nvPr>
        </p:nvGraphicFramePr>
        <p:xfrm>
          <a:off x="548640" y="1786128"/>
          <a:ext cx="3657600" cy="1472184"/>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0">
                <a:tc>
                  <a:txBody>
                    <a:bodyPr/>
                    <a:lstStyle/>
                    <a:p>
                      <a:pPr algn="ctr"/>
                      <a:r>
                        <a:rPr sz="1100" b="1">
                          <a:solidFill>
                            <a:srgbClr val="1C1C1C"/>
                          </a:solidFill>
                          <a:latin typeface="Arial"/>
                        </a:rPr>
                        <a:t>League vs Serie A</a:t>
                      </a:r>
                    </a:p>
                  </a:txBody>
                  <a:tcPr>
                    <a:solidFill>
                      <a:srgbClr val="EEF3F8"/>
                    </a:solidFill>
                  </a:tcPr>
                </a:tc>
                <a:tc>
                  <a:txBody>
                    <a:bodyPr/>
                    <a:lstStyle/>
                    <a:p>
                      <a:pPr algn="ctr"/>
                      <a:r>
                        <a:rPr sz="1100" b="1">
                          <a:solidFill>
                            <a:srgbClr val="1C1C1C"/>
                          </a:solidFill>
                          <a:latin typeface="Arial"/>
                        </a:rPr>
                        <a:t>Δ Year 1 in Bundesliga min</a:t>
                      </a:r>
                    </a:p>
                  </a:txBody>
                  <a:tcPr>
                    <a:solidFill>
                      <a:srgbClr val="EEF3F8"/>
                    </a:solidFill>
                  </a:tcPr>
                </a:tc>
                <a:tc>
                  <a:txBody>
                    <a:bodyPr/>
                    <a:lstStyle/>
                    <a:p>
                      <a:pPr algn="ctr"/>
                      <a:r>
                        <a:rPr sz="1100" b="1">
                          <a:solidFill>
                            <a:srgbClr val="1C1C1C"/>
                          </a:solidFill>
                          <a:latin typeface="Arial"/>
                        </a:rPr>
                        <a:t>p</a:t>
                      </a:r>
                    </a:p>
                  </a:txBody>
                  <a:tcPr>
                    <a:solidFill>
                      <a:srgbClr val="EEF3F8"/>
                    </a:solidFill>
                  </a:tcPr>
                </a:tc>
                <a:extLst>
                  <a:ext uri="{0D108BD9-81ED-4DB2-BD59-A6C34878D82A}">
                    <a16:rowId xmlns:a16="http://schemas.microsoft.com/office/drawing/2014/main" val="10000"/>
                  </a:ext>
                </a:extLst>
              </a:tr>
              <a:tr h="292608">
                <a:tc>
                  <a:txBody>
                    <a:bodyPr/>
                    <a:lstStyle/>
                    <a:p>
                      <a:pPr algn="ctr"/>
                      <a:r>
                        <a:rPr sz="1100" b="0">
                          <a:solidFill>
                            <a:srgbClr val="1C1C1C"/>
                          </a:solidFill>
                          <a:latin typeface="Arial"/>
                        </a:rPr>
                        <a:t>La Liga</a:t>
                      </a:r>
                    </a:p>
                  </a:txBody>
                  <a:tcPr/>
                </a:tc>
                <a:tc>
                  <a:txBody>
                    <a:bodyPr/>
                    <a:lstStyle/>
                    <a:p>
                      <a:pPr algn="ctr"/>
                      <a:r>
                        <a:rPr sz="1100" b="0">
                          <a:solidFill>
                            <a:srgbClr val="1C1C1C"/>
                          </a:solidFill>
                          <a:latin typeface="Arial"/>
                        </a:rPr>
                        <a:t>+48</a:t>
                      </a:r>
                    </a:p>
                  </a:txBody>
                  <a:tcPr/>
                </a:tc>
                <a:tc>
                  <a:txBody>
                    <a:bodyPr/>
                    <a:lstStyle/>
                    <a:p>
                      <a:pPr algn="ctr"/>
                      <a:r>
                        <a:rPr sz="1100" b="0">
                          <a:solidFill>
                            <a:srgbClr val="1C1C1C"/>
                          </a:solidFill>
                          <a:latin typeface="Arial"/>
                        </a:rPr>
                        <a:t>0.856</a:t>
                      </a:r>
                    </a:p>
                  </a:txBody>
                  <a:tcPr/>
                </a:tc>
                <a:extLst>
                  <a:ext uri="{0D108BD9-81ED-4DB2-BD59-A6C34878D82A}">
                    <a16:rowId xmlns:a16="http://schemas.microsoft.com/office/drawing/2014/main" val="10001"/>
                  </a:ext>
                </a:extLst>
              </a:tr>
              <a:tr h="292608">
                <a:tc>
                  <a:txBody>
                    <a:bodyPr/>
                    <a:lstStyle/>
                    <a:p>
                      <a:pPr algn="ctr"/>
                      <a:r>
                        <a:rPr sz="1100" b="0">
                          <a:solidFill>
                            <a:srgbClr val="1C1C1C"/>
                          </a:solidFill>
                          <a:latin typeface="Arial"/>
                        </a:rPr>
                        <a:t>Ligue 1</a:t>
                      </a:r>
                    </a:p>
                  </a:txBody>
                  <a:tcPr/>
                </a:tc>
                <a:tc>
                  <a:txBody>
                    <a:bodyPr/>
                    <a:lstStyle/>
                    <a:p>
                      <a:pPr algn="ctr"/>
                      <a:r>
                        <a:rPr sz="1100" b="0">
                          <a:solidFill>
                            <a:srgbClr val="1C1C1C"/>
                          </a:solidFill>
                          <a:latin typeface="Arial"/>
                        </a:rPr>
                        <a:t>+163</a:t>
                      </a:r>
                    </a:p>
                  </a:txBody>
                  <a:tcPr/>
                </a:tc>
                <a:tc>
                  <a:txBody>
                    <a:bodyPr/>
                    <a:lstStyle/>
                    <a:p>
                      <a:pPr algn="ctr"/>
                      <a:r>
                        <a:rPr sz="1100" b="0">
                          <a:solidFill>
                            <a:srgbClr val="1C1C1C"/>
                          </a:solidFill>
                          <a:latin typeface="Arial"/>
                        </a:rPr>
                        <a:t>0.375</a:t>
                      </a:r>
                    </a:p>
                  </a:txBody>
                  <a:tcPr/>
                </a:tc>
                <a:extLst>
                  <a:ext uri="{0D108BD9-81ED-4DB2-BD59-A6C34878D82A}">
                    <a16:rowId xmlns:a16="http://schemas.microsoft.com/office/drawing/2014/main" val="10002"/>
                  </a:ext>
                </a:extLst>
              </a:tr>
              <a:tr h="292608">
                <a:tc>
                  <a:txBody>
                    <a:bodyPr/>
                    <a:lstStyle/>
                    <a:p>
                      <a:pPr algn="ctr"/>
                      <a:r>
                        <a:rPr sz="1100" b="0">
                          <a:solidFill>
                            <a:srgbClr val="1C1C1C"/>
                          </a:solidFill>
                          <a:latin typeface="Arial"/>
                        </a:rPr>
                        <a:t>Premier League</a:t>
                      </a:r>
                    </a:p>
                  </a:txBody>
                  <a:tcPr/>
                </a:tc>
                <a:tc>
                  <a:txBody>
                    <a:bodyPr/>
                    <a:lstStyle/>
                    <a:p>
                      <a:pPr algn="ctr"/>
                      <a:r>
                        <a:rPr sz="1100" b="0">
                          <a:solidFill>
                            <a:srgbClr val="1C1C1C"/>
                          </a:solidFill>
                          <a:latin typeface="Arial"/>
                        </a:rPr>
                        <a:t>+88</a:t>
                      </a:r>
                    </a:p>
                  </a:txBody>
                  <a:tcPr/>
                </a:tc>
                <a:tc>
                  <a:txBody>
                    <a:bodyPr/>
                    <a:lstStyle/>
                    <a:p>
                      <a:pPr algn="ctr"/>
                      <a:r>
                        <a:rPr sz="1100" b="0" dirty="0">
                          <a:solidFill>
                            <a:srgbClr val="1C1C1C"/>
                          </a:solidFill>
                          <a:latin typeface="Arial"/>
                        </a:rPr>
                        <a:t>0.661</a:t>
                      </a:r>
                    </a:p>
                  </a:txBody>
                  <a:tcPr/>
                </a:tc>
                <a:extLst>
                  <a:ext uri="{0D108BD9-81ED-4DB2-BD59-A6C34878D82A}">
                    <a16:rowId xmlns:a16="http://schemas.microsoft.com/office/drawing/2014/main" val="1000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913298479"/>
              </p:ext>
            </p:extLst>
          </p:nvPr>
        </p:nvGraphicFramePr>
        <p:xfrm>
          <a:off x="4663440" y="1786128"/>
          <a:ext cx="3657600" cy="20574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0">
                <a:tc>
                  <a:txBody>
                    <a:bodyPr/>
                    <a:lstStyle/>
                    <a:p>
                      <a:pPr algn="ctr"/>
                      <a:r>
                        <a:rPr sz="1100" b="1">
                          <a:solidFill>
                            <a:srgbClr val="1C1C1C"/>
                          </a:solidFill>
                          <a:latin typeface="Arial"/>
                        </a:rPr>
                        <a:t>Prior trait pct</a:t>
                      </a:r>
                    </a:p>
                  </a:txBody>
                  <a:tcPr>
                    <a:solidFill>
                      <a:srgbClr val="EEF3F8"/>
                    </a:solidFill>
                  </a:tcPr>
                </a:tc>
                <a:tc>
                  <a:txBody>
                    <a:bodyPr/>
                    <a:lstStyle/>
                    <a:p>
                      <a:pPr algn="ctr"/>
                      <a:r>
                        <a:rPr sz="1100" b="1">
                          <a:solidFill>
                            <a:srgbClr val="1C1C1C"/>
                          </a:solidFill>
                          <a:latin typeface="Arial"/>
                        </a:rPr>
                        <a:t>Δ Year 1 in Bundesliga min</a:t>
                      </a:r>
                    </a:p>
                  </a:txBody>
                  <a:tcPr>
                    <a:solidFill>
                      <a:srgbClr val="EEF3F8"/>
                    </a:solidFill>
                  </a:tcPr>
                </a:tc>
                <a:tc>
                  <a:txBody>
                    <a:bodyPr/>
                    <a:lstStyle/>
                    <a:p>
                      <a:pPr algn="ctr"/>
                      <a:r>
                        <a:rPr sz="1100" b="1">
                          <a:solidFill>
                            <a:srgbClr val="1C1C1C"/>
                          </a:solidFill>
                          <a:latin typeface="Arial"/>
                        </a:rPr>
                        <a:t>p</a:t>
                      </a:r>
                    </a:p>
                  </a:txBody>
                  <a:tcPr>
                    <a:solidFill>
                      <a:srgbClr val="EEF3F8"/>
                    </a:solidFill>
                  </a:tcPr>
                </a:tc>
                <a:extLst>
                  <a:ext uri="{0D108BD9-81ED-4DB2-BD59-A6C34878D82A}">
                    <a16:rowId xmlns:a16="http://schemas.microsoft.com/office/drawing/2014/main" val="10000"/>
                  </a:ext>
                </a:extLst>
              </a:tr>
              <a:tr h="292608">
                <a:tc>
                  <a:txBody>
                    <a:bodyPr/>
                    <a:lstStyle/>
                    <a:p>
                      <a:r>
                        <a:t>Aerials lost (fewer = better)*</a:t>
                      </a:r>
                    </a:p>
                  </a:txBody>
                  <a:tcPr/>
                </a:tc>
                <a:tc>
                  <a:txBody>
                    <a:bodyPr/>
                    <a:lstStyle/>
                    <a:p>
                      <a:pPr algn="ctr"/>
                      <a:r>
                        <a:rPr sz="1100" b="0">
                          <a:solidFill>
                            <a:srgbClr val="1C1C1C"/>
                          </a:solidFill>
                          <a:latin typeface="Arial"/>
                        </a:rPr>
                        <a:t>+9</a:t>
                      </a:r>
                    </a:p>
                  </a:txBody>
                  <a:tcPr/>
                </a:tc>
                <a:tc>
                  <a:txBody>
                    <a:bodyPr/>
                    <a:lstStyle/>
                    <a:p>
                      <a:pPr algn="ctr"/>
                      <a:r>
                        <a:rPr sz="1100" b="0">
                          <a:solidFill>
                            <a:srgbClr val="1C1C1C"/>
                          </a:solidFill>
                          <a:latin typeface="Arial"/>
                        </a:rPr>
                        <a:t>0.002</a:t>
                      </a:r>
                    </a:p>
                  </a:txBody>
                  <a:tcPr/>
                </a:tc>
                <a:extLst>
                  <a:ext uri="{0D108BD9-81ED-4DB2-BD59-A6C34878D82A}">
                    <a16:rowId xmlns:a16="http://schemas.microsoft.com/office/drawing/2014/main" val="10001"/>
                  </a:ext>
                </a:extLst>
              </a:tr>
              <a:tr h="292608">
                <a:tc>
                  <a:txBody>
                    <a:bodyPr/>
                    <a:lstStyle/>
                    <a:p>
                      <a:r>
                        <a:t>Final-third passes</a:t>
                      </a:r>
                    </a:p>
                  </a:txBody>
                  <a:tcPr/>
                </a:tc>
                <a:tc>
                  <a:txBody>
                    <a:bodyPr/>
                    <a:lstStyle/>
                    <a:p>
                      <a:pPr algn="ctr"/>
                      <a:r>
                        <a:rPr sz="1100" b="0">
                          <a:solidFill>
                            <a:srgbClr val="1C1C1C"/>
                          </a:solidFill>
                          <a:latin typeface="Arial"/>
                        </a:rPr>
                        <a:t>+5</a:t>
                      </a:r>
                    </a:p>
                  </a:txBody>
                  <a:tcPr/>
                </a:tc>
                <a:tc>
                  <a:txBody>
                    <a:bodyPr/>
                    <a:lstStyle/>
                    <a:p>
                      <a:pPr algn="ctr"/>
                      <a:r>
                        <a:rPr sz="1100" b="0">
                          <a:solidFill>
                            <a:srgbClr val="1C1C1C"/>
                          </a:solidFill>
                          <a:latin typeface="Arial"/>
                        </a:rPr>
                        <a:t>0.158</a:t>
                      </a:r>
                    </a:p>
                  </a:txBody>
                  <a:tcPr/>
                </a:tc>
                <a:extLst>
                  <a:ext uri="{0D108BD9-81ED-4DB2-BD59-A6C34878D82A}">
                    <a16:rowId xmlns:a16="http://schemas.microsoft.com/office/drawing/2014/main" val="10002"/>
                  </a:ext>
                </a:extLst>
              </a:tr>
              <a:tr h="292608">
                <a:tc>
                  <a:txBody>
                    <a:bodyPr/>
                    <a:lstStyle/>
                    <a:p>
                      <a:r>
                        <a:t>Defensive penalty-area touches</a:t>
                      </a:r>
                    </a:p>
                  </a:txBody>
                  <a:tcPr/>
                </a:tc>
                <a:tc>
                  <a:txBody>
                    <a:bodyPr/>
                    <a:lstStyle/>
                    <a:p>
                      <a:pPr algn="ctr"/>
                      <a:r>
                        <a:rPr sz="1100" b="0">
                          <a:solidFill>
                            <a:srgbClr val="1C1C1C"/>
                          </a:solidFill>
                          <a:latin typeface="Arial"/>
                        </a:rPr>
                        <a:t>+5</a:t>
                      </a:r>
                    </a:p>
                  </a:txBody>
                  <a:tcPr/>
                </a:tc>
                <a:tc>
                  <a:txBody>
                    <a:bodyPr/>
                    <a:lstStyle/>
                    <a:p>
                      <a:pPr algn="ctr"/>
                      <a:r>
                        <a:rPr sz="1100" b="0">
                          <a:solidFill>
                            <a:srgbClr val="1C1C1C"/>
                          </a:solidFill>
                          <a:latin typeface="Arial"/>
                        </a:rPr>
                        <a:t>0.189</a:t>
                      </a:r>
                    </a:p>
                  </a:txBody>
                  <a:tcPr/>
                </a:tc>
                <a:extLst>
                  <a:ext uri="{0D108BD9-81ED-4DB2-BD59-A6C34878D82A}">
                    <a16:rowId xmlns:a16="http://schemas.microsoft.com/office/drawing/2014/main" val="10003"/>
                  </a:ext>
                </a:extLst>
              </a:tr>
              <a:tr h="292608">
                <a:tc>
                  <a:txBody>
                    <a:bodyPr/>
                    <a:lstStyle/>
                    <a:p>
                      <a:r>
                        <a:t>Progressive carry distance</a:t>
                      </a:r>
                    </a:p>
                  </a:txBody>
                  <a:tcPr/>
                </a:tc>
                <a:tc>
                  <a:txBody>
                    <a:bodyPr/>
                    <a:lstStyle/>
                    <a:p>
                      <a:pPr algn="ctr"/>
                      <a:r>
                        <a:rPr sz="1100" b="0">
                          <a:solidFill>
                            <a:srgbClr val="1C1C1C"/>
                          </a:solidFill>
                          <a:latin typeface="Arial"/>
                        </a:rPr>
                        <a:t>-4</a:t>
                      </a:r>
                    </a:p>
                  </a:txBody>
                  <a:tcPr/>
                </a:tc>
                <a:tc>
                  <a:txBody>
                    <a:bodyPr/>
                    <a:lstStyle/>
                    <a:p>
                      <a:pPr algn="ctr"/>
                      <a:r>
                        <a:rPr sz="1100" b="0">
                          <a:solidFill>
                            <a:srgbClr val="1C1C1C"/>
                          </a:solidFill>
                          <a:latin typeface="Arial"/>
                        </a:rPr>
                        <a:t>0.249</a:t>
                      </a:r>
                    </a:p>
                  </a:txBody>
                  <a:tcPr/>
                </a:tc>
                <a:extLst>
                  <a:ext uri="{0D108BD9-81ED-4DB2-BD59-A6C34878D82A}">
                    <a16:rowId xmlns:a16="http://schemas.microsoft.com/office/drawing/2014/main" val="10004"/>
                  </a:ext>
                </a:extLst>
              </a:tr>
              <a:tr h="292608">
                <a:tc>
                  <a:txBody>
                    <a:bodyPr/>
                    <a:lstStyle/>
                    <a:p>
                      <a:r>
                        <a:t>Expected goals (xG)</a:t>
                      </a:r>
                    </a:p>
                  </a:txBody>
                  <a:tcPr/>
                </a:tc>
                <a:tc>
                  <a:txBody>
                    <a:bodyPr/>
                    <a:lstStyle/>
                    <a:p>
                      <a:pPr algn="ctr"/>
                      <a:r>
                        <a:rPr sz="1100" b="0" dirty="0">
                          <a:solidFill>
                            <a:srgbClr val="1C1C1C"/>
                          </a:solidFill>
                          <a:latin typeface="Arial"/>
                        </a:rPr>
                        <a:t>+2</a:t>
                      </a:r>
                    </a:p>
                  </a:txBody>
                  <a:tcPr/>
                </a:tc>
                <a:tc>
                  <a:txBody>
                    <a:bodyPr/>
                    <a:lstStyle/>
                    <a:p>
                      <a:pPr algn="ctr"/>
                      <a:r>
                        <a:rPr sz="1100" b="0" dirty="0">
                          <a:solidFill>
                            <a:srgbClr val="1C1C1C"/>
                          </a:solidFill>
                          <a:latin typeface="Arial"/>
                        </a:rPr>
                        <a:t>0.430</a:t>
                      </a:r>
                    </a:p>
                  </a:txBody>
                  <a:tcPr/>
                </a:tc>
                <a:extLst>
                  <a:ext uri="{0D108BD9-81ED-4DB2-BD59-A6C34878D82A}">
                    <a16:rowId xmlns:a16="http://schemas.microsoft.com/office/drawing/2014/main" val="10005"/>
                  </a:ext>
                </a:extLst>
              </a:tr>
            </a:tbl>
          </a:graphicData>
        </a:graphic>
      </p:graphicFrame>
      <p:sp>
        <p:nvSpPr>
          <p:cNvPr id="7" name="TextBox 6"/>
          <p:cNvSpPr txBox="1"/>
          <p:nvPr/>
        </p:nvSpPr>
        <p:spPr>
          <a:xfrm>
            <a:off x="8595360" y="1325880"/>
            <a:ext cx="3108960" cy="2108269"/>
          </a:xfrm>
          <a:prstGeom prst="rect">
            <a:avLst/>
          </a:prstGeom>
          <a:noFill/>
        </p:spPr>
        <p:txBody>
          <a:bodyPr wrap="square">
            <a:spAutoFit/>
          </a:bodyPr>
          <a:lstStyle/>
          <a:p>
            <a:pPr>
              <a:spcAft>
                <a:spcPts val="600"/>
              </a:spcAft>
            </a:pPr>
            <a:r>
              <a:rPr sz="1100">
                <a:solidFill>
                  <a:srgbClr val="333333"/>
                </a:solidFill>
              </a:rPr>
              <a:t>Does the Ligue 1 result make sense?</a:t>
            </a:r>
          </a:p>
          <a:p>
            <a:r>
              <a:rPr sz="1100">
                <a:solidFill>
                  <a:srgbClr val="333333"/>
                </a:solidFill>
              </a:rPr>
              <a:t/>
            </a:r>
          </a:p>
          <a:p>
            <a:r>
              <a:rPr sz="1100">
                <a:solidFill>
                  <a:srgbClr val="333333"/>
                </a:solidFill>
              </a:rPr>
              <a:t>The table shows Ligue 1 arrivals with about +163 Year 1 minutes versus Serie A. That gap looks large, but p≈0.38 with N=117 — under usual standards it is not distinguishable from chance. In plain terms: we do not have clear evidence that Ligue 1 labels alone buy more first-season playing time once prior minutes and position are held fixed.</a:t>
            </a:r>
          </a:p>
          <a:p>
            <a:r>
              <a:rPr sz="1100">
                <a:solidFill>
                  <a:srgbClr val="333333"/>
                </a:solidFill>
              </a:rPr>
              <a:t/>
            </a:r>
          </a:p>
          <a:p>
            <a:r>
              <a:rPr sz="1100">
                <a:solidFill>
                  <a:srgbClr val="333333"/>
                </a:solidFill>
              </a:rPr>
              <a:t>What does look clearer: adding prior trait percentiles raises R² from about 0.09 to 0.22, so the player’s prior profile explains Year 1 minutes better than the league name. The holdout check (correlation ≈0.35) is only moderate — useful as exploration, not a strong forecast.</a:t>
            </a:r>
          </a:p>
          <a:p>
            <a:r>
              <a:rPr sz="1100">
                <a:solidFill>
                  <a:srgbClr val="333333"/>
                </a:solidFill>
              </a:rPr>
              <a:t/>
            </a:r>
          </a:p>
          <a:p>
            <a:r>
              <a:rPr sz="1100">
                <a:solidFill>
                  <a:srgbClr val="333333"/>
                </a:solidFill>
              </a:rPr>
              <a:t>Takeaway: prioritize portable traits and Year 1 minutes; treat feeder-league labels as a weak leftover signal.</a:t>
            </a:r>
          </a:p>
          <a:p>
            <a:r>
              <a:rPr sz="1100">
                <a:solidFill>
                  <a:srgbClr val="333333"/>
                </a:solidFill>
              </a:rPr>
              <a:t/>
            </a:r>
          </a:p>
          <a:p>
            <a:r>
              <a:rPr sz="1100">
                <a:solidFill>
                  <a:srgbClr val="333333"/>
                </a:solidFill>
              </a:rPr>
              <a:t>Serie A = baseline (lowest mean Year 1 minutes among Big-5 feeders in this subset).</a:t>
            </a:r>
          </a:p>
        </p:txBody>
      </p:sp>
      <p:sp>
        <p:nvSpPr>
          <p:cNvPr id="8" name="TextBox 7"/>
          <p:cNvSpPr txBox="1"/>
          <p:nvPr/>
        </p:nvSpPr>
        <p:spPr>
          <a:xfrm>
            <a:off x="548640" y="5349240"/>
            <a:ext cx="10972800" cy="261610"/>
          </a:xfrm>
          <a:prstGeom prst="rect">
            <a:avLst/>
          </a:prstGeom>
          <a:noFill/>
        </p:spPr>
        <p:txBody>
          <a:bodyPr wrap="square">
            <a:spAutoFit/>
          </a:bodyPr>
          <a:lstStyle/>
          <a:p>
            <a:pPr algn="l"/>
            <a:r>
              <a:rPr sz="1200" b="0" dirty="0">
                <a:solidFill>
                  <a:srgbClr val="555555"/>
                </a:solidFill>
                <a:latin typeface="Georgia"/>
              </a:rPr>
              <a:t>* p&lt;0.05. Full tables: README.md (Exploratory feeder regression).</a:t>
            </a:r>
            <a:endParaRPr sz="1100" b="0" dirty="0">
              <a:solidFill>
                <a:srgbClr val="555555"/>
              </a:solidFill>
              <a:latin typeface="Georgi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BFDC249-A5FD-8DEF-D331-6AC779D7AD09}"/>
              </a:ext>
            </a:extLst>
          </p:cNvPr>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60120"/>
            <a:ext cx="11064240" cy="5200000"/>
          </a:xfrm>
          <a:prstGeom prst="rect">
            <a:avLst/>
          </a:prstGeom>
          <a:noFill/>
        </p:spPr>
        <p:txBody>
          <a:bodyPr wrap="square">
            <a:spAutoFit/>
          </a:bodyPr>
          <a:lstStyle/>
          <a:p>
            <a:pPr>
              <a:spcAft>
                <a:spcPts val="300"/>
              </a:spcAft>
            </a:pPr>
            <a:r>
              <a:rPr sz="1400" b="0">
                <a:solidFill>
                  <a:srgbClr val="333333"/>
                </a:solidFill>
              </a:rPr>
              <a:t>• StatsBomb N=96 with messy open-data priors (World Cup / Euro / Champions League mix rather than clean league seasons — larger sample, less consistent prior context)</a:t>
            </a:r>
            <a:endParaRPr sz="2600" b="1" dirty="0">
              <a:solidFill>
                <a:srgbClr val="3D5A80"/>
              </a:solidFill>
              <a:latin typeface="Georgia" panose="02040502050405020303" pitchFamily="18" charset="0"/>
            </a:endParaRPr>
          </a:p>
          <a:p>
            <a:r>
              <a:rPr sz="1400" b="0">
                <a:solidFill>
                  <a:srgbClr val="333333"/>
                </a:solidFill>
              </a:rPr>
              <a:t>• FBref N=329 helps, but many advanced metrics only have ~90–100 complete pairs</a:t>
            </a:r>
          </a:p>
          <a:p>
            <a:r>
              <a:rPr sz="1400" b="0">
                <a:solidFill>
                  <a:srgbClr val="333333"/>
                </a:solidFill>
              </a:rPr>
              <a:t>• Multiple traits tested — treat Phase 2 as associative, not a forecast</a:t>
            </a:r>
          </a:p>
          <a:p>
            <a:endParaRPr sz="1400" b="0">
              <a:solidFill>
                <a:srgbClr val="333333"/>
              </a:solidFill>
            </a:endParaRPr>
          </a:p>
          <a:p>
            <a:r>
              <a:rPr sz="1400" b="1">
                <a:solidFill>
                  <a:srgbClr val="333333"/>
                </a:solidFill>
              </a:rPr>
              <a:t>What hardened the sample</a:t>
            </a:r>
          </a:p>
          <a:p>
            <a:endParaRPr sz="1400" b="1">
              <a:solidFill>
                <a:srgbClr val="333333"/>
              </a:solidFill>
            </a:endParaRPr>
          </a:p>
          <a:p>
            <a:r>
              <a:rPr sz="1400" b="0">
                <a:solidFill>
                  <a:srgbClr val="333333"/>
                </a:solidFill>
              </a:rPr>
              <a:t>• 19 leagues · first BL seasons 2021–2025 · prior / Year 1 in Bundesliga ≥300′ → N=329</a:t>
            </a:r>
          </a:p>
          <a:p>
            <a:r>
              <a:rPr sz="1400" b="0">
                <a:solidFill>
                  <a:srgbClr val="333333"/>
                </a:solidFill>
              </a:rPr>
              <a:t>• Category stability gates + light redundancy (|r|≥0.95) → 32 traits</a:t>
            </a:r>
          </a:p>
          <a:p>
            <a:r>
              <a:rPr sz="1400" b="0">
                <a:solidFill>
                  <a:srgbClr val="333333"/>
                </a:solidFill>
              </a:rPr>
              <a:t>• StatsBomb kept as event deep dive (r≥0.40 · 7 traits), not league ranking</a:t>
            </a:r>
          </a:p>
        </p:txBody>
      </p:sp>
      <p:sp>
        <p:nvSpPr>
          <p:cNvPr id="4" name="TextBox 3"/>
          <p:cNvSpPr txBox="1"/>
          <p:nvPr/>
        </p:nvSpPr>
        <p:spPr>
          <a:xfrm>
            <a:off x="548640" y="411480"/>
            <a:ext cx="10972800" cy="548640"/>
          </a:xfrm>
          <a:prstGeom prst="rect">
            <a:avLst/>
          </a:prstGeom>
          <a:noFill/>
        </p:spPr>
        <p:txBody>
          <a:bodyPr wrap="none">
            <a:spAutoFit/>
          </a:bodyPr>
          <a:lstStyle/>
          <a:p>
            <a:r>
              <a:rPr sz="2600" b="1">
                <a:solidFill>
                  <a:srgbClr val="3D5A80"/>
                </a:solidFill>
                <a:latin typeface="Georgia"/>
              </a:rPr>
              <a:t>WHY P-VALUES STAY MODEST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40DF8E9-F5CF-8327-48D0-70D97E7B353A}"/>
              </a:ext>
            </a:extLst>
          </p:cNvPr>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7932" y="960120"/>
            <a:ext cx="10972800" cy="4000000"/>
          </a:xfrm>
          <a:prstGeom prst="rect">
            <a:avLst/>
          </a:prstGeom>
          <a:noFill/>
        </p:spPr>
        <p:txBody>
          <a:bodyPr wrap="square">
            <a:spAutoFit/>
          </a:bodyPr>
          <a:lstStyle/>
          <a:p>
            <a:pPr>
              <a:spcAft>
                <a:spcPts val="300"/>
              </a:spcAft>
            </a:pPr>
            <a:r>
              <a:rPr sz="1400" b="0">
                <a:solidFill>
                  <a:srgbClr val="333333"/>
                </a:solidFill>
              </a:rPr>
              <a:t>• Portable shortlists: FBref 105 metrics tested → 43 met stability floor → 32 met redundancy floor · StatsBomb 16 metrics tested → 7 met stability floor (all 7 kept after redundancy)</a:t>
            </a:r>
            <a:endParaRPr lang="en-US" sz="2400" b="1" dirty="0">
              <a:solidFill>
                <a:srgbClr val="3D5A80"/>
              </a:solidFill>
              <a:latin typeface="Calibri"/>
            </a:endParaRPr>
          </a:p>
          <a:p>
            <a:endParaRPr lang="en-US" sz="2400" b="1" dirty="0">
              <a:solidFill>
                <a:srgbClr val="3D5A80"/>
              </a:solidFill>
              <a:latin typeface="Calibri"/>
            </a:endParaRPr>
          </a:p>
          <a:p>
            <a:r>
              <a:rPr sz="1400" b="0">
                <a:solidFill>
                  <a:srgbClr val="333333"/>
                </a:solidFill>
              </a:rPr>
              <a:t>• FBref traits most linked to Year 1 in Bundesliga minutes (p&lt;0.05): final-third passing, shot blocks, progressive distance, box defending</a:t>
            </a:r>
          </a:p>
          <a:p>
            <a:endParaRPr sz="1400" b="0">
              <a:solidFill>
                <a:srgbClr val="333333"/>
              </a:solidFill>
            </a:endParaRPr>
          </a:p>
          <a:p>
            <a:r>
              <a:rPr sz="1400" b="0">
                <a:solidFill>
                  <a:srgbClr val="333333"/>
                </a:solidFill>
              </a:rPr>
              <a:t>• Feeder-league gaps are modest; exploratory OLS (N=117) — traits matter more than league label</a:t>
            </a:r>
          </a:p>
          <a:p>
            <a:endParaRPr sz="1400" b="0">
              <a:solidFill>
                <a:srgbClr val="333333"/>
              </a:solidFill>
            </a:endParaRPr>
          </a:p>
          <a:p>
            <a:r>
              <a:rPr sz="1400" b="0">
                <a:solidFill>
                  <a:srgbClr val="333333"/>
                </a:solidFill>
              </a:rPr>
              <a:t>• Scout metrics that travel league-to-league. Year 1 in Bundesliga minutes = open-data success proxy</a:t>
            </a:r>
          </a:p>
          <a:p>
            <a:endParaRPr sz="1400" b="0">
              <a:solidFill>
                <a:srgbClr val="333333"/>
              </a:solidFill>
            </a:endParaRPr>
          </a:p>
          <a:p>
            <a:r>
              <a:rPr sz="1400" b="0">
                <a:solidFill>
                  <a:srgbClr val="333333"/>
                </a:solidFill>
              </a:rPr>
              <a:t>• Future work: Δ Transfermarkt market value (next slide) as the club-grade outcome</a:t>
            </a:r>
          </a:p>
        </p:txBody>
      </p:sp>
      <p:sp>
        <p:nvSpPr>
          <p:cNvPr id="4" name="TextBox 3"/>
          <p:cNvSpPr txBox="1"/>
          <p:nvPr/>
        </p:nvSpPr>
        <p:spPr>
          <a:xfrm>
            <a:off x="548640" y="411480"/>
            <a:ext cx="10972800" cy="548640"/>
          </a:xfrm>
          <a:prstGeom prst="rect">
            <a:avLst/>
          </a:prstGeom>
          <a:noFill/>
        </p:spPr>
        <p:txBody>
          <a:bodyPr wrap="square">
            <a:spAutoFit/>
          </a:bodyPr>
          <a:lstStyle/>
          <a:p>
            <a:r>
              <a:rPr sz="2600" b="1">
                <a:solidFill>
                  <a:srgbClr val="3D5A80"/>
                </a:solidFill>
                <a:latin typeface="Georgia"/>
              </a:rPr>
              <a:t>TAKEAWAYS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594360"/>
          </a:xfrm>
          <a:prstGeom prst="rect">
            <a:avLst/>
          </a:prstGeom>
          <a:noFill/>
        </p:spPr>
        <p:txBody>
          <a:bodyPr wrap="square">
            <a:spAutoFit/>
          </a:bodyPr>
          <a:lstStyle/>
          <a:p>
            <a:r>
              <a:rPr sz="2800" b="1" dirty="0">
                <a:solidFill>
                  <a:srgbClr val="3D5A80"/>
                </a:solidFill>
                <a:latin typeface="Georgia"/>
              </a:rPr>
              <a:t>IF WE HAD THE DATA  ·  TRANSFERMARKT VALUE</a:t>
            </a:r>
          </a:p>
        </p:txBody>
      </p:sp>
      <p:sp>
        <p:nvSpPr>
          <p:cNvPr id="4" name="TextBox 3"/>
          <p:cNvSpPr txBox="1"/>
          <p:nvPr/>
        </p:nvSpPr>
        <p:spPr>
          <a:xfrm>
            <a:off x="548640" y="960120"/>
            <a:ext cx="10972800" cy="411480"/>
          </a:xfrm>
          <a:prstGeom prst="rect">
            <a:avLst/>
          </a:prstGeom>
          <a:noFill/>
        </p:spPr>
        <p:txBody>
          <a:bodyPr wrap="square">
            <a:spAutoFit/>
          </a:bodyPr>
          <a:lstStyle/>
          <a:p>
            <a:r>
              <a:rPr sz="1500" b="0">
                <a:solidFill>
                  <a:srgbClr val="555555"/>
                </a:solidFill>
                <a:latin typeface="Georgia"/>
              </a:rPr>
              <a:t>What we would use instead of (or alongside) Year 1 in Bundesliga minutes.</a:t>
            </a:r>
          </a:p>
        </p:txBody>
      </p:sp>
      <p:sp>
        <p:nvSpPr>
          <p:cNvPr id="5" name="TextBox 4"/>
          <p:cNvSpPr txBox="1"/>
          <p:nvPr/>
        </p:nvSpPr>
        <p:spPr>
          <a:xfrm>
            <a:off x="685800" y="1417320"/>
            <a:ext cx="10652760" cy="1477328"/>
          </a:xfrm>
          <a:prstGeom prst="rect">
            <a:avLst/>
          </a:prstGeom>
          <a:noFill/>
          <a:ln w="19050">
            <a:solidFill>
              <a:srgbClr val="002060"/>
            </a:solidFill>
          </a:ln>
        </p:spPr>
        <p:txBody>
          <a:bodyPr wrap="square">
            <a:spAutoFit/>
          </a:bodyPr>
          <a:lstStyle/>
          <a:p>
            <a:pPr>
              <a:spcAft>
                <a:spcPts val="600"/>
              </a:spcAft>
            </a:pPr>
            <a:r>
              <a:rPr sz="1300" b="0">
                <a:solidFill>
                  <a:srgbClr val="333333"/>
                </a:solidFill>
              </a:rPr>
              <a:t>Top indicator in a full club model: change in market value (Δ Transfermarkt market value)</a:t>
            </a:r>
          </a:p>
          <a:p>
            <a:r>
              <a:rPr sz="1300" b="0">
                <a:solidFill>
                  <a:srgbClr val="333333"/>
                </a:solidFill>
              </a:rPr>
              <a:t>Captures performance + hype + contract context in one outcome scouts care about</a:t>
            </a:r>
          </a:p>
          <a:p>
            <a:r>
              <a:rPr sz="1300" b="0">
                <a:solidFill>
                  <a:srgbClr val="333333"/>
                </a:solidFill>
              </a:rPr>
              <a:t>NYRB project Axis-3 testing of player value used market value rather than Year 1 in Bundesliga minutes; this project uses open data only — Transfermarkt disallows scraping</a:t>
            </a:r>
          </a:p>
          <a:p>
            <a:r>
              <a:rPr sz="1300" b="0">
                <a:solidFill>
                  <a:srgbClr val="333333"/>
                </a:solidFill>
              </a:rPr>
              <a:t>So we proxy success with Year 1 in Bundesliga minutes until a licensed market-value feed is available</a:t>
            </a:r>
          </a:p>
          <a:p>
            <a:r>
              <a:rPr sz="1300" b="0">
                <a:solidFill>
                  <a:srgbClr val="333333"/>
                </a:solidFill>
              </a:rPr>
              <a:t>Natural extension: prior traits → Δ market value with holdout regression / ML</a:t>
            </a:r>
          </a:p>
        </p:txBody>
      </p:sp>
    </p:spTree>
    <p:extLst>
      <p:ext uri="{BB962C8B-B14F-4D97-AF65-F5344CB8AC3E}">
        <p14:creationId xmlns:p14="http://schemas.microsoft.com/office/powerpoint/2010/main" val="7975823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155680" cy="457200"/>
          </a:xfrm>
          <a:prstGeom prst="rect">
            <a:avLst/>
          </a:prstGeom>
          <a:noFill/>
        </p:spPr>
        <p:txBody>
          <a:bodyPr wrap="square">
            <a:spAutoFit/>
          </a:bodyPr>
          <a:lstStyle/>
          <a:p>
            <a:r>
              <a:rPr sz="2200" b="1">
                <a:solidFill>
                  <a:srgbClr val="3D5A80"/>
                </a:solidFill>
              </a:rPr>
              <a:t>GLOSSARY · METRIC ABBREVIATIONS</a:t>
            </a:r>
          </a:p>
        </p:txBody>
      </p:sp>
      <p:sp>
        <p:nvSpPr>
          <p:cNvPr id="3" name="TextBox 2"/>
          <p:cNvSpPr txBox="1"/>
          <p:nvPr/>
        </p:nvSpPr>
        <p:spPr>
          <a:xfrm>
            <a:off x="457200" y="822960"/>
            <a:ext cx="5486400" cy="5669280"/>
          </a:xfrm>
          <a:prstGeom prst="rect">
            <a:avLst/>
          </a:prstGeom>
          <a:noFill/>
        </p:spPr>
        <p:txBody>
          <a:bodyPr wrap="square">
            <a:spAutoFit/>
          </a:bodyPr>
          <a:lstStyle/>
          <a:p>
            <a:r>
              <a:rPr sz="1100" b="0">
                <a:solidFill>
                  <a:srgbClr val="333333"/>
                </a:solidFill>
              </a:rPr>
              <a:t>FBref (examples)</a:t>
            </a:r>
          </a:p>
          <a:p>
            <a:r>
              <a:rPr sz="1100" b="0">
                <a:solidFill>
                  <a:srgbClr val="333333"/>
                </a:solidFill>
              </a:rPr>
              <a:t>DEFPE — Defensive penalty-area touches /90</a:t>
            </a:r>
          </a:p>
          <a:p>
            <a:r>
              <a:rPr sz="1100" b="0">
                <a:solidFill>
                  <a:srgbClr val="333333"/>
                </a:solidFill>
              </a:rPr>
              <a:t>DEF3R — Defensive-third touches /90</a:t>
            </a:r>
          </a:p>
          <a:p>
            <a:r>
              <a:rPr sz="1100" b="0">
                <a:solidFill>
                  <a:srgbClr val="333333"/>
                </a:solidFill>
              </a:rPr>
              <a:t>PRGC — Progressive carries /90</a:t>
            </a:r>
          </a:p>
          <a:p>
            <a:r>
              <a:rPr sz="1100" b="0">
                <a:solidFill>
                  <a:srgbClr val="333333"/>
                </a:solidFill>
              </a:rPr>
              <a:t>PRGDI — Progressive carry distance /90</a:t>
            </a:r>
          </a:p>
          <a:p>
            <a:r>
              <a:rPr sz="1100" b="0">
                <a:solidFill>
                  <a:srgbClr val="333333"/>
                </a:solidFill>
              </a:rPr>
              <a:t>PRGRR — Progressive receives /90</a:t>
            </a:r>
          </a:p>
          <a:p>
            <a:r>
              <a:rPr sz="1100" b="0">
                <a:solidFill>
                  <a:srgbClr val="333333"/>
                </a:solidFill>
              </a:rPr>
              <a:t>XG — Expected goals /90</a:t>
            </a:r>
          </a:p>
          <a:p>
            <a:r>
              <a:rPr sz="1100" b="0">
                <a:solidFill>
                  <a:srgbClr val="333333"/>
                </a:solidFill>
              </a:rPr>
              <a:t>GLS — Goals /90</a:t>
            </a:r>
          </a:p>
          <a:p>
            <a:r>
              <a:rPr sz="1100" b="0">
                <a:solidFill>
                  <a:srgbClr val="333333"/>
                </a:solidFill>
              </a:rPr>
              <a:t>SOTPE / ATTSH — Shots on target /90</a:t>
            </a:r>
          </a:p>
          <a:p>
            <a:r>
              <a:rPr sz="1100" b="0">
                <a:solidFill>
                  <a:srgbClr val="333333"/>
                </a:solidFill>
              </a:rPr>
              <a:t>FINAL — Passes into final third /90</a:t>
            </a:r>
          </a:p>
          <a:p>
            <a:r>
              <a:rPr sz="1100" b="0">
                <a:solidFill>
                  <a:srgbClr val="333333"/>
                </a:solidFill>
              </a:rPr>
              <a:t>KP — Key passes /90</a:t>
            </a:r>
          </a:p>
          <a:p>
            <a:r>
              <a:rPr sz="1100" b="0">
                <a:solidFill>
                  <a:srgbClr val="333333"/>
                </a:solidFill>
              </a:rPr>
              <a:t>SH — Shot blocks /90</a:t>
            </a:r>
          </a:p>
          <a:p>
            <a:r>
              <a:rPr sz="1100" b="0">
                <a:solidFill>
                  <a:srgbClr val="333333"/>
                </a:solidFill>
              </a:rPr>
              <a:t>TKLD — Tackled (take-ons) /90</a:t>
            </a:r>
          </a:p>
          <a:p>
            <a:r>
              <a:rPr sz="1100" b="0">
                <a:solidFill>
                  <a:srgbClr val="333333"/>
                </a:solidFill>
              </a:rPr>
              <a:t>CLR — Clearances /90</a:t>
            </a:r>
          </a:p>
          <a:p>
            <a:r>
              <a:rPr sz="1100" b="0">
                <a:solidFill>
                  <a:srgbClr val="333333"/>
                </a:solidFill>
              </a:rPr>
              <a:t>INT — Interceptions /90</a:t>
            </a:r>
          </a:p>
          <a:p>
            <a:r>
              <a:rPr sz="1100" b="0">
                <a:solidFill>
                  <a:srgbClr val="333333"/>
                </a:solidFill>
              </a:rPr>
              <a:t>ATTLO — Long pass attempts /90</a:t>
            </a:r>
          </a:p>
          <a:p>
            <a:r>
              <a:rPr sz="1100" b="0">
                <a:solidFill>
                  <a:srgbClr val="333333"/>
                </a:solidFill>
              </a:rPr>
              <a:t>FLD — Fouls drawn /90</a:t>
            </a:r>
          </a:p>
        </p:txBody>
      </p:sp>
      <p:sp>
        <p:nvSpPr>
          <p:cNvPr id="4" name="TextBox 3"/>
          <p:cNvSpPr txBox="1"/>
          <p:nvPr/>
        </p:nvSpPr>
        <p:spPr>
          <a:xfrm>
            <a:off x="6126480" y="822960"/>
            <a:ext cx="5486400" cy="5669280"/>
          </a:xfrm>
          <a:prstGeom prst="rect">
            <a:avLst/>
          </a:prstGeom>
          <a:noFill/>
        </p:spPr>
        <p:txBody>
          <a:bodyPr wrap="square">
            <a:spAutoFit/>
          </a:bodyPr>
          <a:lstStyle/>
          <a:p>
            <a:r>
              <a:rPr sz="1100" b="0">
                <a:solidFill>
                  <a:srgbClr val="333333"/>
                </a:solidFill>
              </a:rPr>
              <a:t>StatsBomb</a:t>
            </a:r>
          </a:p>
          <a:p>
            <a:r>
              <a:rPr sz="1100" b="0">
                <a:solidFill>
                  <a:srgbClr val="333333"/>
                </a:solidFill>
              </a:rPr>
              <a:t>PPC — Progressive passes (~10m+ toward goal) /90</a:t>
            </a:r>
          </a:p>
          <a:p>
            <a:r>
              <a:rPr sz="1100" b="0">
                <a:solidFill>
                  <a:srgbClr val="333333"/>
                </a:solidFill>
              </a:rPr>
              <a:t>DIS — Dispossessed /90 (often inverted: fewer = better)</a:t>
            </a:r>
          </a:p>
          <a:p>
            <a:r>
              <a:rPr sz="1100" b="0">
                <a:solidFill>
                  <a:srgbClr val="333333"/>
                </a:solidFill>
              </a:rPr>
              <a:t>PRS — Pressures /90</a:t>
            </a:r>
          </a:p>
          <a:p>
            <a:r>
              <a:rPr sz="1100" b="0">
                <a:solidFill>
                  <a:srgbClr val="333333"/>
                </a:solidFill>
              </a:rPr>
              <a:t>PAS — Pass volume /90</a:t>
            </a:r>
          </a:p>
          <a:p>
            <a:r>
              <a:rPr sz="1100" b="0">
                <a:solidFill>
                  <a:srgbClr val="333333"/>
                </a:solidFill>
              </a:rPr>
              <a:t>CLR — Clearances /90</a:t>
            </a:r>
          </a:p>
          <a:p>
            <a:r>
              <a:rPr sz="1100" b="0">
                <a:solidFill>
                  <a:srgbClr val="333333"/>
                </a:solidFill>
              </a:rPr>
              <a:t>DRB — Successful dribbles /90</a:t>
            </a:r>
          </a:p>
          <a:p>
            <a:r>
              <a:rPr sz="1100" b="0">
                <a:solidFill>
                  <a:srgbClr val="333333"/>
                </a:solidFill>
              </a:rPr>
              <a:t>PATT — Passes into final third /90</a:t>
            </a:r>
          </a:p>
          <a:p>
            <a:r>
              <a:rPr sz="1100" b="0">
                <a:solidFill>
                  <a:srgbClr val="333333"/>
                </a:solidFill>
              </a:rPr>
              <a:t>SH — Shots /90</a:t>
            </a:r>
          </a:p>
          <a:p>
            <a:r>
              <a:rPr sz="1100" b="0">
                <a:solidFill>
                  <a:srgbClr val="333333"/>
                </a:solidFill>
              </a:rPr>
              <a:t>XG — Non-penalty expected goals /90</a:t>
            </a:r>
          </a:p>
          <a:p>
            <a:endParaRPr sz="1100" b="0">
              <a:solidFill>
                <a:srgbClr val="333333"/>
              </a:solidFill>
            </a:endParaRPr>
          </a:p>
          <a:p>
            <a:r>
              <a:rPr sz="1100" b="0">
                <a:solidFill>
                  <a:srgbClr val="333333"/>
                </a:solidFill>
              </a:rPr>
              <a:t>Other terms</a:t>
            </a:r>
          </a:p>
          <a:p>
            <a:r>
              <a:rPr sz="1100" b="0">
                <a:solidFill>
                  <a:srgbClr val="333333"/>
                </a:solidFill>
              </a:rPr>
              <a:t>Pearson r — linear correlation (stability)</a:t>
            </a:r>
          </a:p>
          <a:p>
            <a:r>
              <a:rPr sz="1100" b="0">
                <a:solidFill>
                  <a:srgbClr val="333333"/>
                </a:solidFill>
              </a:rPr>
              <a:t>Spearman ρ — rank correlation (success vs minutes)</a:t>
            </a:r>
          </a:p>
          <a:p>
            <a:r>
              <a:rPr sz="1100" b="0">
                <a:solidFill>
                  <a:srgbClr val="333333"/>
                </a:solidFill>
              </a:rPr>
              <a:t>Year 1 in Bundesliga — first Bundesliga season</a:t>
            </a:r>
          </a:p>
          <a:p>
            <a:r>
              <a:rPr sz="1100" b="0">
                <a:solidFill>
                  <a:srgbClr val="333333"/>
                </a:solidFill>
              </a:rPr>
              <a:t>Feeder league — prior league before Bundesliga arrival</a:t>
            </a:r>
          </a:p>
          <a:p>
            <a:r>
              <a:rPr sz="1100" b="0">
                <a:solidFill>
                  <a:srgbClr val="333333"/>
                </a:solidFill>
              </a:rPr>
              <a:t>n≥8 — only show leagues with ≥8 players in the cell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1744067"/>
          </a:xfrm>
          <a:prstGeom prst="rect">
            <a:avLst/>
          </a:prstGeom>
          <a:noFill/>
        </p:spPr>
        <p:txBody>
          <a:bodyPr wrap="square">
            <a:spAutoFit/>
          </a:bodyPr>
          <a:lstStyle/>
          <a:p>
            <a:pPr>
              <a:spcAft>
                <a:spcPts val="400"/>
              </a:spcAft>
            </a:pPr>
            <a:r>
              <a:rPr sz="2600" b="1" dirty="0">
                <a:solidFill>
                  <a:srgbClr val="333333"/>
                </a:solidFill>
                <a:latin typeface="Georgia" panose="02040502050405020303" pitchFamily="18" charset="0"/>
              </a:rPr>
              <a:t>Deliverables</a:t>
            </a:r>
          </a:p>
          <a:p>
            <a:endParaRPr sz="1300" b="0" dirty="0">
              <a:solidFill>
                <a:srgbClr val="333333"/>
              </a:solidFill>
            </a:endParaRPr>
          </a:p>
          <a:p>
            <a:r>
              <a:rPr sz="1300" b="0" dirty="0">
                <a:solidFill>
                  <a:srgbClr val="333333"/>
                </a:solidFill>
              </a:rPr>
              <a:t>1 · Cohort (with minute floors) · 2 · Stability · 3 · Redundancy · 4 · Explorer + success</a:t>
            </a:r>
          </a:p>
          <a:p>
            <a:endParaRPr sz="1300" b="0" dirty="0">
              <a:solidFill>
                <a:srgbClr val="333333"/>
              </a:solidFill>
            </a:endParaRPr>
          </a:p>
          <a:p>
            <a:r>
              <a:rPr sz="1300" b="0" dirty="0">
                <a:solidFill>
                  <a:srgbClr val="333333"/>
                </a:solidFill>
              </a:rPr>
              <a:t>Repo: deck · </a:t>
            </a:r>
            <a:r>
              <a:rPr sz="1300" b="0" dirty="0" err="1">
                <a:solidFill>
                  <a:srgbClr val="333333"/>
                </a:solidFill>
              </a:rPr>
              <a:t>README.md</a:t>
            </a:r>
            <a:r>
              <a:rPr sz="1300" b="0" dirty="0">
                <a:solidFill>
                  <a:srgbClr val="333333"/>
                </a:solidFill>
              </a:rPr>
              <a:t> · </a:t>
            </a:r>
            <a:r>
              <a:rPr sz="1300" b="0" dirty="0" err="1">
                <a:solidFill>
                  <a:srgbClr val="333333"/>
                </a:solidFill>
              </a:rPr>
              <a:t>interactive_player_explorer.html</a:t>
            </a:r>
            <a:r>
              <a:rPr sz="1300" b="0" dirty="0">
                <a:solidFill>
                  <a:srgbClr val="333333"/>
                </a:solidFill>
              </a:rPr>
              <a:t> · </a:t>
            </a:r>
            <a:r>
              <a:rPr sz="1300" b="0" dirty="0" err="1">
                <a:solidFill>
                  <a:srgbClr val="333333"/>
                </a:solidFill>
              </a:rPr>
              <a:t>stability_redundancy_inspector.html</a:t>
            </a:r>
            <a:r>
              <a:rPr sz="1300" b="0" dirty="0">
                <a:solidFill>
                  <a:srgbClr val="333333"/>
                </a:solidFill>
              </a:rPr>
              <a:t> · </a:t>
            </a:r>
            <a:r>
              <a:rPr sz="1300" b="0" dirty="0" err="1">
                <a:solidFill>
                  <a:srgbClr val="333333"/>
                </a:solidFill>
              </a:rPr>
              <a:t>projectproposal</a:t>
            </a:r>
            <a:endParaRPr sz="1300" b="0" dirty="0">
              <a:solidFill>
                <a:srgbClr val="333333"/>
              </a:solidFill>
            </a:endParaRPr>
          </a:p>
          <a:p>
            <a:endParaRPr sz="1300" b="0" dirty="0">
              <a:solidFill>
                <a:srgbClr val="333333"/>
              </a:solidFill>
            </a:endParaRPr>
          </a:p>
          <a:p>
            <a:r>
              <a:rPr sz="1300" b="0" dirty="0">
                <a:solidFill>
                  <a:srgbClr val="333333"/>
                </a:solidFill>
              </a:rPr>
              <a:t>Stability floors: </a:t>
            </a:r>
            <a:r>
              <a:rPr sz="1300" b="0" dirty="0" err="1">
                <a:solidFill>
                  <a:srgbClr val="333333"/>
                </a:solidFill>
              </a:rPr>
              <a:t>FBref</a:t>
            </a:r>
            <a:r>
              <a:rPr sz="1300" b="0" dirty="0">
                <a:solidFill>
                  <a:srgbClr val="333333"/>
                </a:solidFill>
              </a:rPr>
              <a:t> Attacking/Passing/Other Pearson r ≥ 0.60 · Defending/Carrying Pearson r ≥ 0.50 · </a:t>
            </a:r>
            <a:r>
              <a:rPr sz="1300" b="0" dirty="0" err="1">
                <a:solidFill>
                  <a:srgbClr val="333333"/>
                </a:solidFill>
              </a:rPr>
              <a:t>StatsBomb</a:t>
            </a:r>
            <a:r>
              <a:rPr sz="1300" b="0" dirty="0">
                <a:solidFill>
                  <a:srgbClr val="333333"/>
                </a:solidFill>
              </a:rPr>
              <a:t> Pearson r ≥ 0.40 · final shortlists 32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3024</TotalTime>
  <Words>3932</Words>
  <Application>Microsoft Macintosh PowerPoint</Application>
  <PresentationFormat>Widescreen</PresentationFormat>
  <Paragraphs>681</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Colby Morris</cp:lastModifiedBy>
  <cp:revision>17</cp:revision>
  <dcterms:created xsi:type="dcterms:W3CDTF">2013-01-27T09:14:16Z</dcterms:created>
  <dcterms:modified xsi:type="dcterms:W3CDTF">2026-07-23T00:03:12Z</dcterms:modified>
  <cp:category/>
</cp:coreProperties>
</file>