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8"/>
    <p:sldId id="258" r:id="rId9"/>
    <p:sldId id="262" r:id="rId13"/>
    <p:sldId id="264" r:id="rId15"/>
    <p:sldId id="256" r:id="rId7"/>
    <p:sldId id="259" r:id="rId10"/>
    <p:sldId id="263" r:id="rId14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6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4.xml"/><Relationship Id="rId14" Type="http://schemas.openxmlformats.org/officeDocument/2006/relationships/slide" Target="slides/slide7.xml"/><Relationship Id="rId15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2860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C1C1C"/>
                </a:solidFill>
                <a:latin typeface="Georgia"/>
              </a:rPr>
              <a:t>FBref stability list (planned — Tier 2 not run yet)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555555"/>
                </a:solidFill>
                <a:latin typeface="Arial"/>
              </a:rPr>
              <a:t>Same idea as StatsBomb: prior league → Bundesliga Y1 correlation. Gate planned at r ≥ ~0.40, then redundancy.</a:t>
            </a:r>
          </a:p>
          <a:p>
            <a:r>
              <a:rPr sz="1300" b="0">
                <a:solidFill>
                  <a:srgbClr val="555555"/>
                </a:solidFill>
                <a:latin typeface="Arial"/>
              </a:rPr>
              <a:t>No live FBref r’s yet (need N≥500 paired seasons). Table = your Step-2 planned keep/drop list.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25880"/>
          <a:ext cx="11338560" cy="4169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743200"/>
                <a:gridCol w="1371600"/>
                <a:gridCol w="2011680"/>
                <a:gridCol w="4297680"/>
              </a:tblGrid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Abbrev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FBref metric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Category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Stability status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PrgP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Progressive passes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Planned 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Keep over Passes (cluster)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Passes (volume)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Passing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Planned OUT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Drop vs PrgP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Carr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Planned 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Keep over PrgC (cluster)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PrgC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Progressive carries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Carrying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Planned OUT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Drop vs Carries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npxG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Non-pen 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Planned 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Keep over Shots (cluster)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Sh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Shots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Attacking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Planned OUT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Drop vs npxG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SCA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Shot-creating actions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Planned 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Singleton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Tkl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Tackles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Planned 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Singleton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Int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Interceptions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Planned 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Singleton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Aer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Aerials won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Planned 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Singleton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AttPen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Touches in attacking pen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Planned 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Singleton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61722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A5A00"/>
                </a:solidFill>
                <a:latin typeface="Arial"/>
              </a:rPr>
              <a:t>When FBref is frozen: swap Planned PASS/OUT for real prior→Y1 stability r (mirror the StatsBomb stability slide).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D5A80"/>
                </a:solidFill>
                <a:latin typeface="Arial"/>
              </a:rPr>
              <a:t>SAMPLE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C1C1C"/>
                </a:solidFill>
                <a:latin typeface="Arial"/>
              </a:rPr>
              <a:t>What Tier 1 and Tier 2 mean (tiers ≠ FBref vs StatsBomb)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556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Arial"/>
              </a:rPr>
              <a:t>Tier 1 — WIDE sample</a:t>
            </a:r>
          </a:p>
          <a:p>
            <a:r>
              <a:rPr sz="1300" b="0">
                <a:solidFill>
                  <a:srgbClr val="555555"/>
                </a:solidFill>
                <a:latin typeface="Arial"/>
              </a:rPr>
              <a:t>Wide = many inbound players, thin questions. Cover almost every first Bundesliga season over several years.</a:t>
            </a:r>
          </a:p>
          <a:p>
            <a:r>
              <a:rPr sz="1300" b="0">
                <a:solidFill>
                  <a:srgbClr val="1C1C1C"/>
                </a:solidFill>
                <a:latin typeface="Arial"/>
              </a:rPr>
              <a:t>Target: N ≥ 500 player-seasons on FBref.</a:t>
            </a:r>
          </a:p>
          <a:p>
            <a:r>
              <a:rPr sz="1300" b="0">
                <a:solidFill>
                  <a:srgbClr val="555555"/>
                </a:solidFill>
                <a:latin typeface="Arial"/>
              </a:rPr>
              <a:t>500 outcomes of what? Each arrival’s Bundesliga Year-1 playing outcomes — minutes share, and attack/defend</a:t>
            </a:r>
          </a:p>
          <a:p>
            <a:r>
              <a:rPr sz="1300" b="0">
                <a:solidFill>
                  <a:srgbClr val="555555"/>
                </a:solidFill>
                <a:latin typeface="Arial"/>
              </a:rPr>
              <a:t>per-90 — rolled up by position and prior (source) league. Answers: who gets on the pitch / produces in Germany.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520440"/>
            <a:ext cx="111556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Arial"/>
              </a:rPr>
              <a:t>Tier 2 — DEEP sample (stability → redundancy → pizza)</a:t>
            </a:r>
          </a:p>
          <a:p>
            <a:r>
              <a:rPr sz="1300" b="0">
                <a:solidFill>
                  <a:srgbClr val="555555"/>
                </a:solidFill>
                <a:latin typeface="Arial"/>
              </a:rPr>
              <a:t>Deep = fewer players, richer trait questions. Only arrivals with prior-league stats AND Bundesliga Y1 stats.</a:t>
            </a:r>
          </a:p>
          <a:p>
            <a:r>
              <a:rPr sz="1300" b="0">
                <a:solidFill>
                  <a:srgbClr val="555555"/>
                </a:solidFill>
                <a:latin typeface="Arial"/>
              </a:rPr>
              <a:t>Stability = does the same per-90 trait in the prior league predict the same trait in Bundesliga Y1? (Pearson r)</a:t>
            </a:r>
          </a:p>
          <a:p>
            <a:r>
              <a:rPr sz="1300" b="0">
                <a:solidFill>
                  <a:srgbClr val="555555"/>
                </a:solidFill>
                <a:latin typeface="Arial"/>
              </a:rPr>
              <a:t>Then drop redundant copies (|r|≥0.70) and build pizzas from the kept shortlist.</a:t>
            </a:r>
          </a:p>
          <a:p>
            <a:r>
              <a:rPr sz="1300" b="0">
                <a:solidFill>
                  <a:srgbClr val="1C1C1C"/>
                </a:solidFill>
                <a:latin typeface="Arial"/>
              </a:rPr>
              <a:t>FBref target: 500+ paired seasons. StatsBomb live check: N=60 open-data pairs (done).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7607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C1C1C"/>
                </a:solidFill>
                <a:latin typeface="Arial"/>
              </a:rPr>
              <a:t>FBref / StatsBomb are data sources. Tier 1 / Tier 2 are how wide vs how deep you analyze.</a:t>
            </a:r>
          </a:p>
          <a:p>
            <a:r>
              <a:rPr sz="1200" b="0">
                <a:solidFill>
                  <a:srgbClr val="555555"/>
                </a:solidFill>
                <a:latin typeface="Arial"/>
              </a:rPr>
              <a:t>FBref = scale layer for both tiers. StatsBomb = live event-level Tier-2 deep dive.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D5A80"/>
                </a:solidFill>
                <a:latin typeface="Arial"/>
              </a:rPr>
              <a:t>METHOD · REPLACES NYRB AXIS 3 (MARKET VALUE)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C1C1C"/>
                </a:solidFill>
                <a:latin typeface="Georgia"/>
              </a:rPr>
              <a:t>Pipeline: stability → redundancy → pizza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55555"/>
                </a:solidFill>
                <a:latin typeface="Arial"/>
              </a:rPr>
              <a:t>Same order as the Red Bull metric framework; destination = Bundesliga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3566160" cy="347472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91639"/>
            <a:ext cx="32918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① Stability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For every FBref per-90 stat, correlate prior-league season vs Bundesliga Y1 by position. Keep stats that travel well (high cross-league r).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554480"/>
            <a:ext cx="3566160" cy="347472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691639"/>
            <a:ext cx="32918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② Redundancy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Among stable stats, drop near-duplicates (|r| ≥ 0.70 within position). Keep one representative per cluster → short scout card.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554480"/>
            <a:ext cx="3566160" cy="347472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1691639"/>
            <a:ext cx="32918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③ Pizza charts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Player profiles only from the stable + non-redundant set. Prior vs Bundesliga avg / top peer reference lines. Interactive HTML + this PPT.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C1C1C"/>
                </a:solidFill>
                <a:latin typeface="Georgia"/>
              </a:rPr>
              <a:t>Metrics that passed stability (r ≥ 0.40)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555555"/>
                </a:solidFill>
                <a:latin typeface="Arial"/>
              </a:rPr>
              <a:t>StatsBomb Open Data · prior → Bundesliga Y1 · cohort N=60 · 11 of 16 metrics pass the gate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71600"/>
          <a:ext cx="1024128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4572000"/>
                <a:gridCol w="1737360"/>
                <a:gridCol w="1554480"/>
                <a:gridCol w="128016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Abbrev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Category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Stability r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N pairs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DIS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Dispossessed (inverted)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0.787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PPC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Progressive passes (~10m+ toward goal)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0.720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PRS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Pressures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0.677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PAS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Pass volume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0.532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TAC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Tackles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0.532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CLR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Clearances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0.491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Non-pen 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0.482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SH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Shots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0.447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DRB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Successful dribbles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0.439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PATT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Passes into final third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0.431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CRY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0.413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626364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55555"/>
                </a:solidFill>
                <a:latin typeface="Arial"/>
              </a:rPr>
              <a:t>Next: redundancy (|r|≥0.70) among these passers → final scout-card shortlist → pizzas.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C1C1C"/>
                </a:solidFill>
                <a:latin typeface="Georgia"/>
              </a:rPr>
              <a:t>FBref stability — status &amp; planned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2296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555555"/>
                </a:solidFill>
                <a:latin typeface="Arial"/>
              </a:rPr>
              <a:t>FBref Tier 2 stability is not run yet (need paired prior→BL Y1 seasons at scale, target N≥500).</a:t>
            </a:r>
          </a:p>
          <a:p>
            <a:r>
              <a:rPr sz="1300" b="0">
                <a:solidFill>
                  <a:srgbClr val="555555"/>
                </a:solidFill>
                <a:latin typeface="Arial"/>
              </a:rPr>
              <a:t>Same gate planned as StatsBomb deep dive: keep stats with prior→Y1 Pearson r ≥ ~0.40, then redundancy.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600200"/>
          <a:ext cx="11155680" cy="4169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3108960"/>
                <a:gridCol w="1463040"/>
                <a:gridCol w="1645920"/>
                <a:gridCol w="3931920"/>
              </a:tblGrid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Abbrev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FBref metric (planned)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Category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Step 2 status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PrgP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Progressive passes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Planned keep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vs Passes (cluster)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Passes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Passing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Planned drop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less stable analogue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Carr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Planned keep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vs PrgC (cluster)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PrgC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Progressive carries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Carrying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Planned drop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SB analogue failed r≥0.40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npxG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Non-pen 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Planned keep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vs Shots (cluster)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Sh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Shots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Attacking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Planned drop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less stable analogue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SCA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Shot-creating actions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Singleton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no high overlap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Tkl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Tackles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Singleton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no high overlap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Int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Interceptions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Singleton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no high overlap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Aer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Aerials won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Singleton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no high overlap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AttPen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Touches in att. pen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Singleton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no high overlap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9893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8A5A00"/>
                </a:solidFill>
                <a:latin typeface="Arial"/>
              </a:rPr>
              <a:t>When FBref freeze lands: replace this table with real prior→Y1 stability r’s (same layout as the StatsBomb stability slide).</a:t>
            </a:r>
          </a:p>
          <a:p>
            <a:r>
              <a:rPr sz="1200" b="0">
                <a:solidFill>
                  <a:srgbClr val="555555"/>
                </a:solidFill>
                <a:latin typeface="Arial"/>
              </a:rPr>
              <a:t>Until then: StatsBomb N=60 is the live stability evidence; FBref picks above are Step-2 plans guided by SB analogues.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D5A80"/>
                </a:solidFill>
                <a:latin typeface="Arial"/>
              </a:rPr>
              <a:t>OUTPUT · MOCK PIZZA · FBREF / OPEN-DATA STYLE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C1C1C"/>
                </a:solidFill>
                <a:latin typeface="Arial"/>
              </a:rPr>
              <a:t>Example: Eric Dier (Central Defender)</a:t>
            </a:r>
          </a:p>
          <a:p>
            <a:r>
              <a:rPr sz="1200" b="0">
                <a:solidFill>
                  <a:srgbClr val="555555"/>
                </a:solidFill>
                <a:latin typeface="Arial"/>
              </a:rPr>
              <a:t/>
            </a:r>
          </a:p>
          <a:p>
            <a:r>
              <a:rPr sz="1200" b="0">
                <a:solidFill>
                  <a:srgbClr val="555555"/>
                </a:solidFill>
                <a:latin typeface="Arial"/>
              </a:rPr>
              <a:t/>
            </a:r>
          </a:p>
          <a:p>
            <a:r>
              <a:rPr sz="1200" b="0">
                <a:solidFill>
                  <a:srgbClr val="555555"/>
                </a:solidFill>
                <a:latin typeface="Arial"/>
              </a:rPr>
              <a:t/>
            </a:r>
          </a:p>
          <a:p>
            <a:r>
              <a:rPr sz="1200" b="0">
                <a:solidFill>
                  <a:srgbClr val="555555"/>
                </a:solidFill>
                <a:latin typeface="Arial"/>
              </a:rPr>
              <a:t/>
            </a:r>
          </a:p>
          <a:p>
            <a:r>
              <a:rPr sz="1200" b="0">
                <a:solidFill>
                  <a:srgbClr val="555555"/>
                </a:solidFill>
                <a:latin typeface="Arial"/>
              </a:rPr>
              <a:t>StatsBomb shortlist · rings marked 0%ile–100%ile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55555"/>
                </a:solidFill>
                <a:latin typeface="Arial"/>
              </a:rPr>
              <a:t>Built from traits that passed stability + redundancy · not market value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1554480"/>
            <a:ext cx="3474720" cy="411480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66760" y="1691639"/>
            <a:ext cx="3200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C1C1C"/>
                </a:solidFill>
                <a:latin typeface="Arial"/>
              </a:rPr>
              <a:t>How to read the ring numbers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/>
            </a:r>
          </a:p>
          <a:p>
            <a:r>
              <a:rPr sz="1200" b="0">
                <a:solidFill>
                  <a:srgbClr val="555555"/>
                </a:solidFill>
                <a:latin typeface="Arial"/>
              </a:rPr>
              <a:t/>
            </a:r>
          </a:p>
          <a:p>
            <a:r>
              <a:rPr sz="1200" b="0">
                <a:solidFill>
                  <a:srgbClr val="555555"/>
                </a:solidFill>
                <a:latin typeface="Arial"/>
              </a:rPr>
              <a:t/>
            </a:r>
          </a:p>
          <a:p>
            <a:r>
              <a:rPr sz="1200" b="0">
                <a:solidFill>
                  <a:srgbClr val="555555"/>
                </a:solidFill>
                <a:latin typeface="Arial"/>
              </a:rPr>
              <a:t/>
            </a:r>
          </a:p>
          <a:p>
            <a:r>
              <a:rPr sz="1200" b="0">
                <a:solidFill>
                  <a:srgbClr val="555555"/>
                </a:solidFill>
                <a:latin typeface="Arial"/>
              </a:rPr>
              <a:t/>
            </a:r>
          </a:p>
          <a:p>
            <a:r>
              <a:rPr sz="1200" b="0">
                <a:solidFill>
                  <a:srgbClr val="555555"/>
                </a:solidFill>
                <a:latin typeface="Arial"/>
              </a:rPr>
              <a:t>0 / 25 / 50 / 75 / 100 = percentile vs Bundesliga peers (labeled %ile — not raw per-90).</a:t>
            </a:r>
          </a:p>
          <a:p>
            <a:r>
              <a:rPr sz="1200" b="0">
                <a:solidFill>
                  <a:srgbClr val="555555"/>
                </a:solidFill>
                <a:latin typeface="Arial"/>
              </a:rPr>
              <a:t>Center = 0th %ile · rim = 100th %ile. Dashed ≈ 50th (avg). Solid ≈ ~90th (top).</a:t>
            </a:r>
          </a:p>
          <a:p>
            <a:r>
              <a:rPr sz="1200" b="0">
                <a:solidFill>
                  <a:srgbClr val="555555"/>
                </a:solidFill>
                <a:latin typeface="Arial"/>
              </a:rPr>
              <a:t>Wedge length = this player’s Year-1 percentile on each kept trait.</a:t>
            </a:r>
          </a:p>
        </p:txBody>
      </p:sp>
      <p:pic>
        <p:nvPicPr>
          <p:cNvPr id="9" name="Picture 8" descr="mock_pizza_bundeslig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960120"/>
            <a:ext cx="4791937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C1C1C"/>
                </a:solidFill>
                <a:latin typeface="Georgia"/>
              </a:rPr>
              <a:t>Step 2 — redundancy picks (keep the more stable metric)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04672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555555"/>
                </a:solidFill>
                <a:latin typeface="Arial"/>
              </a:rPr>
              <a:t>Among stability passers (r ≥ 0.41), resolve |r| ≥ 0.70 clusters by keeping the trait with higher prior→Bundesliga Y1 stability.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25880"/>
          <a:ext cx="111556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731520"/>
                <a:gridCol w="3291840"/>
                <a:gridCol w="1371600"/>
                <a:gridCol w="4114800"/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Cluster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|r|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Kept (more stable)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Stability r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Dropped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PAS ↔ CRY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0.93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PAS — Pass volume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0.532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CRY — Carries (r=0.413)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XG ↔ SH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0.86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XG — Non-pen 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0.483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SH — Shots (r=0.447)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PPC ↔ PAS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0.79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PPC — Progressive passes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0.720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PAS — Pass volume (r=0.532)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333756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C1C1C"/>
                </a:solidFill>
                <a:latin typeface="Arial"/>
              </a:rPr>
              <a:t>Rule: when two portable metrics largely measure the same thing, keep the one that travels better.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749039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C1C1C"/>
                </a:solidFill>
                <a:latin typeface="Arial"/>
              </a:rPr>
              <a:t>StatsBomb final shortlist (9): DIS · PPC · PRS · PAS · TAC · CLR · XG · DRB · PATT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1148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555555"/>
                </a:solidFill>
                <a:latin typeface="Arial"/>
              </a:rPr>
              <a:t>FBref planned picks (same rule via SB analogues): PrgP over Passes · Carries over PrgC · npxG over Shots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57200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Arial"/>
              </a:rPr>
              <a:t>FBref shortlist (8): PrgP · Carries · npxG · SCA · Tackles · Interceptions · Aerials won · Att-pen touches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07492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Arial"/>
              </a:rPr>
              <a:t>Dropped from StatsBomb scout card: CRY (vs PAS), SH (vs XG); PAS contested vs PPC but retained from the PAS↔CRY keep.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62356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55555"/>
                </a:solidFill>
                <a:latin typeface="Arial"/>
              </a:rPr>
              <a:t>Source: Step 2 Decision Tool PDF · stability gate r ≥ 0.41 · redundancy |r| ≥ 0.70 · cohort N=60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D5A80"/>
                </a:solidFill>
                <a:latin typeface="Arial"/>
              </a:rPr>
              <a:t>RESULTS FRAMING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C1C1C"/>
                </a:solidFill>
                <a:latin typeface="Georgia"/>
              </a:rPr>
              <a:t>Traits to target · leagues to prioritize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55555"/>
                </a:solidFill>
                <a:latin typeface="Arial"/>
              </a:rPr>
              <a:t>Illustrative placeholders until FBref Tier-2 run is complete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C1C1C"/>
                </a:solidFill>
                <a:latin typeface="Arial"/>
              </a:rPr>
              <a:t>Traits that typically travel (directional): aerials, xG finishing, short/volume passing, carry length.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C1C1C"/>
                </a:solidFill>
                <a:latin typeface="Arial"/>
              </a:rPr>
              <a:t>Traits often league-style dependent: pressing volume, progressive-pass rate, possession-chain volume.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C1C1C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C1C1C"/>
                </a:solidFill>
                <a:latin typeface="Arial"/>
              </a:rPr>
              <a:t>Source-league scorecard (Tier 1+2): rank prior leagues by Y1 minutes + profile strength on kept traits.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C1C1C"/>
                </a:solidFill>
                <a:latin typeface="Arial"/>
              </a:rPr>
              <a:t>Open-data preview feeders: World Cup, Euro, Ligue 1, La Liga, Champions League, Premier League.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D5A80"/>
                </a:solidFill>
                <a:latin typeface="Arial"/>
              </a:rPr>
              <a:t>DELIVERABLES · CAL PACKAGE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C1C1C"/>
                </a:solidFill>
                <a:latin typeface="Georgia"/>
              </a:rPr>
              <a:t>What 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55555"/>
                </a:solidFill>
                <a:latin typeface="Arial"/>
              </a:rPr>
              <a:t>GitHub: colbymorris08/bundesliga-transfer-traits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5486400" cy="365760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91639"/>
            <a:ext cx="52120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For Conrad / review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projectproposal.docx — proposal
methodology_results_brief.html — short method deck
bundesliga_transfer_traits.pptx — this template
mock_pizza_bundesliga.png — pizza mock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486400" cy="365760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691639"/>
            <a:ext cx="52120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Interactive / data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interactive_player_explorer.html — dropdown by position + pizza
cohort_data.json — open-data stress-test cohort
projectproposal.txt — editable source for the Word doc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