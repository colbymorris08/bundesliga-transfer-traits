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8" r:id="rId19"/>
    <p:sldId id="259" r:id="rId10"/>
    <p:sldId id="260" r:id="rId11"/>
    <p:sldId id="261" r:id="rId12"/>
    <p:sldId id="262" r:id="rId13"/>
    <p:sldId id="263" r:id="rId14"/>
    <p:sldId id="267" r:id="rId18"/>
    <p:sldId id="264" r:id="rId15"/>
    <p:sldId id="269" r:id="rId20"/>
    <p:sldId id="276" r:id="rId27"/>
    <p:sldId id="277" r:id="rId28"/>
    <p:sldId id="270" r:id="rId21"/>
    <p:sldId id="271" r:id="rId22"/>
    <p:sldId id="274" r:id="rId25"/>
    <p:sldId id="275" r:id="rId26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10.xml"/><Relationship Id="rId19" Type="http://schemas.openxmlformats.org/officeDocument/2006/relationships/slide" Target="slides/slide4.xml"/><Relationship Id="rId20" Type="http://schemas.openxmlformats.org/officeDocument/2006/relationships/slide" Target="slides/slide12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CAL BERKELEY  ·  INDEPENDENT STUDY  ·  METHOD + LIVE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1C"/>
                </a:solidFill>
                <a:latin typeface="Georgia"/>
              </a:rPr>
              <a:t>Which traits travel into the Bundesliga?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Same pipeline on FBref (scale) and StatsBomb (deep dive) — in plain English.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10789920" cy="914400"/>
          </a:xfrm>
          <a:prstGeom prst="roundRect">
            <a:avLst/>
          </a:prstGeom>
          <a:solidFill>
            <a:srgbClr val="EEF3F8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378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Pipeline: Stability (does prior ↔ BL Y1 correlate?)  →  Redundancy (are two stable stats duplicates?)  →  Pizza (scout card from the keepers only).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Not Transfermarkt market value — we shortlist portable performance traits for scouting.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FBref Big 5: N=117 · gate r≥0.50 · shortlist 26    ·    StatsBomb Open Data: N=60 · gate r≥0.41 · shortlist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1 · DESIGN (COLLEGE-KID 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1C1C"/>
                </a:solidFill>
                <a:latin typeface="Georgia"/>
              </a:rPr>
              <a:t>What we are actually doing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73152" cy="15544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07007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Georgia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536192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When a player moves into the 1. Bundesliga, which stats stay consistent — and which are mostly league context?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440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097280"/>
            <a:ext cx="73152" cy="1554480"/>
          </a:xfrm>
          <a:prstGeom prst="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207007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Georgia"/>
              </a:rPr>
              <a:t>Not market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536192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We do not optimize Transfermarkt price. We shortlist portable performance traits for scouting.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80360"/>
            <a:ext cx="11109960" cy="777240"/>
          </a:xfrm>
          <a:prstGeom prst="roundRect">
            <a:avLst/>
          </a:prstGeom>
          <a:solidFill>
            <a:srgbClr val="EEF3F8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Pipeline: Stability (does prior ↔ BL Y1 correlate?) → Redundancy (are two stable stats duplicates?) → Pizza (scout card from the keepers only).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73152" cy="23317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99592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Georgia"/>
              </a:rPr>
              <a:t>FBref =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325112"/>
            <a:ext cx="5120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Big 5 season stats · N=117 inbound pairs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103 metrics tested · gate r≥0.50 → 61 pass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Manual style-quota picks → shortlist 26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Minutes: prior ≥450 · BL Y1 ≥450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86200"/>
            <a:ext cx="5440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886200"/>
            <a:ext cx="73152" cy="2331720"/>
          </a:xfrm>
          <a:prstGeom prst="rect">
            <a:avLst/>
          </a:prstGeom>
          <a:solidFill>
            <a:srgbClr val="2F9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9959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Georgia"/>
              </a:rPr>
              <a:t>StatsBomb =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325112"/>
            <a:ext cx="507492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Open-data events · N=60 pairs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16 metrics · gate r≥0.41 → 11 pass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Keep more-stable side of pairs → shortlist 9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Interactive pizzas with Y1 percentile numbers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1C1C"/>
                </a:solidFill>
                <a:latin typeface="Georgia"/>
              </a:rPr>
              <a:t>Stability → redundancy → pizza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Same order as the NYRB metric framework. Destination = 1. Bundesliga. Axis 3 = portable traits, not market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566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5A80"/>
                </a:solidFill>
                <a:latin typeface="Georgia"/>
              </a:rPr>
              <a:t>① Stability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Correlate prior-league season vs Bundesliga Year-1 for each stat.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High r = the ranking travels.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Gate: FBref r≥0.50 · StatsBomb r≥0.41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  <a:latin typeface="Georgia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2F9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9E79"/>
                </a:solidFill>
                <a:latin typeface="Georgia"/>
              </a:rPr>
              <a:t>② Redundancy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Among passers, find pairs with |r|≥0.70 on BL Y1.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Those are near-duplicates.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Pick 1+ per cluster for style coverage (not only the single best).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  <a:latin typeface="Georgia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54480"/>
            <a:ext cx="3566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BC4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C4749"/>
                </a:solidFill>
                <a:latin typeface="Georgia"/>
              </a:rPr>
              <a:t>③ Pizza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Only shortlisted traits go on the scout card.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Filled wedge = Y1 percentile vs peers.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Number on the wedge = that percentile.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FBref: r≥0.50 → 61/103 pass → style-quota cluster picks → shortlist 26 (some intentional overlaps for success + failure).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StatsBomb: r≥0.41 → 11/16 pass → PAS&gt;CRY · XG&gt;SH · PPC&gt;PAS → shortlist 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METHODOLOGY  ·  WHAT THIS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Georgia"/>
              </a:rPr>
              <a:t>Scouting metric evaluation — not a BL crystal ball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11247120" cy="868680"/>
          </a:xfrm>
          <a:prstGeom prst="roundRect">
            <a:avLst/>
          </a:prstGeom>
          <a:solidFill>
            <a:srgbClr val="EEF3F8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Family: applied sports analytics / metric selection (same logic as NYRB internship work).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Core stats tools: Pearson correlation, redundancy screening, percentile benchmarking, manual Step-2 judgment.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57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73152" cy="2331720"/>
          </a:xfrm>
          <a:prstGeom prst="rect">
            <a:avLst/>
          </a:prstGeom>
          <a:solidFill>
            <a:srgbClr val="1B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Georgia"/>
              </a:rPr>
              <a:t>What we DID 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32918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Trait portability: does prior-league ranking of a stat correlate with Bundesliga Y1 ranking? (stability r)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Trait uniqueness: among portable stats, which are near-duplicates? (|r|≥0.70)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Descriptive Y1 strength on the shortlist (stable-trait score = mean peer percentile).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657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73152" cy="2331720"/>
          </a:xfrm>
          <a:prstGeom prst="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214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Georgia"/>
              </a:rPr>
              <a:t>What we did NOT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50592"/>
            <a:ext cx="32918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Not a supervised ML model that predicts goals, minutes, or “success.”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No train/test split, no forecast of next-season outcomes.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Stability ≠ “this player will smash it” — it means “this trait’s ranking tends to travel.”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566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011680"/>
            <a:ext cx="73152" cy="23317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Georgia"/>
              </a:rPr>
              <a:t>Is that “data science”? Yes.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50592"/>
            <a:ext cx="320040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Cohort design + cleaning + joins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Correlation / feature screening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Redundancy (multicollinearity-style) pruning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Peer percentiles + interactive profiles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Human-in-the-loop selection (Step 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73152" cy="18288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81728"/>
            <a:ext cx="10927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Georgia"/>
              </a:rPr>
              <a:t>Honest claim for Conrad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10912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This project answers: which measurable traits are trustworthy to weight when scouting Big-5 → Bundesliga moves?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It supports scouting judgment with evidence. It does not claim to predict Bundesliga performance end-to-end.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A natural Phase-2 (if more credits/time): regress Y1 minutes / contribution on prior shortlist traits with validation — that would be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2 · STABILITY (STATSBOMB)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C1C"/>
                </a:solidFill>
                <a:latin typeface="Georgia"/>
              </a:rPr>
              <a:t>Prior competition → Bundesliga Y1 · pass if r ≥ 0.41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Open Data · cohort N=60 · 11 of 16 pass (green) · 5 out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9144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029200"/>
                <a:gridCol w="1371600"/>
                <a:gridCol w="914400"/>
                <a:gridCol w="82296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Abbrev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DIS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Dispossessed (inverted)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0.787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PPC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Progressive passes (~10m+ toward goal)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0.720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Pressures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0.677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 volume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0.532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TAC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Tackles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0.532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CLR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Clearances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0.491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XG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Non-pen xG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0.482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SH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Shots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0.447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DRB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Successful dribbles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0.439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PATT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Passes into final third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0.431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CRY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Carries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0.413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CFGP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Progressive carries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FLW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Fouls won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0.316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Aerials won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XA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Expected assists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0.289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Interceptions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Next: redundancy among passers → shortlist of 9 → pizzas.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3 · STABILITY (FBREF)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C1C"/>
                </a:solidFill>
                <a:latin typeface="Georgia"/>
              </a:rPr>
              <a:t>61 metrics pass r ≥ 0.50 — showing top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Big 5 → Bundesliga · N=117 · prior≥450 · Y1≥450 · 103 tested · full list in results/fbref_stability_passed_r050.csv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8321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206240"/>
                <a:gridCol w="1463040"/>
                <a:gridCol w="914400"/>
                <a:gridCol w="731520"/>
              </a:tblGrid>
              <a:tr h="22642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Abbrev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DEFPE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 Pen Touches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PRGC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PrgC Progression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0.891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PRGDI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PrgDist Total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0.865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ATTLO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 Long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0.851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XG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xG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PrgR Progression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0.843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SHPER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Sh/90 Standard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0.836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XGPLU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xG+xAG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NPXG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npxG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0.831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NPXGP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npxG+xAG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0.821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CMPLO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Cmp Long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0.812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TOTDI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TotDist Total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0.797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DEF3R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 3rd Touches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0.795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SOTPE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SoT/90 Standard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0.790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ATTME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 Medium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0.790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CMPME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Cmp Medium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0.782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 Total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0.773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PRGRR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PrgR Receiving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0.769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2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PRGC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PrgC Carries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26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KP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KP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0.756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Style coverage among passers: attacking · passing · carrying · defending · aerials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4 · REDUNDANCY PICKS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C1C"/>
                </a:solidFill>
                <a:latin typeface="Georgia"/>
              </a:rPr>
              <a:t>What we kept after resolving duplicates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54406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Georgia"/>
              </a:rPr>
              <a:t>StatsBomb shortlist (9)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Among |r|≥0.70 pairs, keep the more stable metric: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PAS &gt; CRY  ·  XG &gt; SH  ·  PPC &gt; 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alibri"/>
              </a:rPr>
              <a:t>DIS  ·  Dispossessed (inverted)  ·  r=0.79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alibri"/>
              </a:rPr>
              <a:t>PPC  ·  Progressive passes (~10m+ toward goa  ·  r=0.72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alibri"/>
              </a:rPr>
              <a:t>PRS  ·  Pressures  ·  r=0.68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alibri"/>
              </a:rPr>
              <a:t>PAS  ·  Pass volume  ·  r=0.53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alibri"/>
              </a:rPr>
              <a:t>TAC  ·  Tackles  ·  r=0.53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alibri"/>
              </a:rPr>
              <a:t>CLR  ·  Clearances  ·  r=0.49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alibri"/>
              </a:rPr>
              <a:t>XG  ·  Non-pen xG  ·  r=0.48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alibri"/>
              </a:rPr>
              <a:t>DRB  ·  Successful dribbles  ·  r=0.44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alibri"/>
              </a:rPr>
              <a:t>PATT  ·  Passes into final third  ·  r=0.43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960120"/>
            <a:ext cx="562356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097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Georgia"/>
              </a:rPr>
              <a:t>FBref shortlist (26)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Style quota: a few from attack / pass / carry / defend / aerial.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Allowed intentional overlaps for success + failure versions of a trait.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4028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5A80"/>
                </a:solidFill>
                <a:latin typeface="Calibri"/>
              </a:rPr>
              <a:t>Attacking (3)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7802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Calibri"/>
              </a:rPr>
              <a:t>XG (0.85)  ·  GLS (0.71)  ·  ATTSH (0.69)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169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5A80"/>
                </a:solidFill>
                <a:latin typeface="Calibri"/>
              </a:rPr>
              <a:t>Passing (7)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546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Calibri"/>
              </a:rPr>
              <a:t>PRGC (0.89)  ·  PRGDI (0.87)  ·  KP (0.76)  ·  FINAL (0.70)  ·  CMPPE (0.69)  ·  CRSPA (0.66)  ·  CRS (0.64)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59359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5A80"/>
                </a:solidFill>
                <a:latin typeface="Calibri"/>
              </a:rPr>
              <a:t>Carrying (4)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313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Calibri"/>
              </a:rPr>
              <a:t>PRGRR (0.77)  ·  ATT3R (0.73)  ·  SUCC (0.71)  ·  MIS (0.68)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2702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5A80"/>
                </a:solidFill>
                <a:latin typeface="Calibri"/>
              </a:rPr>
              <a:t>Defending (11)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507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Calibri"/>
              </a:rPr>
              <a:t>DEFPE (0.92)  ·  CLR (0.72)  ·  TKLD (0.71)  ·  WON (0.71)  ·  SH (0.69)  ·  INT (0.65)  ·  LOST (0.64)  ·  WONPE (0.57)  ·  DEF3R (0.54)  ·  TKLPE (0.51)  ·  RECOV (0.50)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9469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5A80"/>
                </a:solidFill>
                <a:latin typeface="Calibri"/>
              </a:rPr>
              <a:t>Other 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84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Calibri"/>
              </a:rPr>
              <a:t>FLD (0.59)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FBREF  ·  FINAL SHORTLIST (26)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Georgia"/>
              </a:rPr>
              <a:t>Every kept trait with stability r — same list as the HTML brief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68680"/>
          <a:ext cx="7635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005840"/>
                <a:gridCol w="4023360"/>
                <a:gridCol w="1371600"/>
                <a:gridCol w="822960"/>
              </a:tblGrid>
              <a:tr h="17610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Abbrev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DEFPE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 Pen Touches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PRGC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PrgC Progression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0.891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PRGDI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PrgDist Total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0.866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XG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xG 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PRGRR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PrgR Receiving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0.769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KP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KP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0.756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ATT3R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 3rd Touches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0.733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CLR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Clr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0.723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GLS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Gls Standard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0.714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SUCC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Succ Take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0.712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TKLD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Tkld Take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0.709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WON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Won Aerial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0.709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Final Third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0.698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ATTSH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 Short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Attacking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0.695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SH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Sh Blocks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0.690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CMPPE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Cmp percent Medium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0.688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MIS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Mis Carries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Carrying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CRSPA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CrsPA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0.662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0.648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LOST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Lost Aerial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0.644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CRS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Crs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0.638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FLD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Fld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0.592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WONPE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Won percent Aerial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0.567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DEF3R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 3rd Tackles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0.543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0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TKLPE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Tkl percent Challenges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0.511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1761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RECOV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Recov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Defending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0.503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Source: decisions/step2_fbref.json · 10 acknowledged overlapping pairs kept on purpose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OUTPUT  ·  SCOUT PIZZA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C1C"/>
                </a:solidFill>
                <a:latin typeface="Georgia"/>
              </a:rPr>
              <a:t>Example player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Built from shortlisted traits. Explorer HTML combines FBref + StatsBomb with category slices.</a:t>
            </a:r>
          </a:p>
        </p:txBody>
      </p:sp>
      <p:pic>
        <p:nvPicPr>
          <p:cNvPr id="6" name="Picture 5" descr="mock_pizza_bundesli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5639438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32588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1C"/>
                </a:solidFill>
                <a:latin typeface="Georgia"/>
              </a:rPr>
              <a:t>How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96596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Blue fill = Bundesliga Y1 · red dotted = prior · dashed = avg peer (50) · grey = top peer (90).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Numbers are percentiles 0–100 vs position peers (not raw per-90).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Explorer combines both sources in one tool: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• StatsBomb — N=60 · 11 stability passers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• FBref — N=117 · 26 Step-2 traits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Radar slices = style categories; metric list grouped under each slice.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1C1C"/>
                </a:solidFill>
                <a:latin typeface="Georgia"/>
              </a:rPr>
              <a:t>What “stable-trait score”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One number that answers: in Bundesliga Year-1, how strong is this player on the portable (shortlisted) traits — vs peers at their position?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73152" cy="41148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1C"/>
                </a:solidFill>
                <a:latin typeface="Georgia"/>
              </a:rPr>
              <a:t>1 · Pick the traits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02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Only use the shortlist from Step 2 (StatsBomb: 9 traits that passed stability and redundancy).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Unstable / dropped metrics do not enter the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73152" cy="4114800"/>
          </a:xfrm>
          <a:prstGeom prst="rect">
            <a:avLst/>
          </a:prstGeom>
          <a:solidFill>
            <a:srgbClr val="2F9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1C"/>
                </a:solidFill>
                <a:latin typeface="Georgia"/>
              </a:rPr>
              <a:t>2 · Turn each into a percentile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402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For each shortlist trait, take the player’s Bundesliga Y1 per-90 value.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Rank it vs all Bundesliga peers in the same broad position.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0 = worst peer · 50 = average · 100 = best peer.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73736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737360"/>
            <a:ext cx="73152" cy="4114800"/>
          </a:xfrm>
          <a:prstGeom prst="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8745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1C"/>
                </a:solidFill>
                <a:latin typeface="Georgia"/>
              </a:rPr>
              <a:t>3 · Average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2402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Stable-trait score = mean of those Y1 percentiles across the shortlist.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Example: if a CB is 70th / 60th / 80th on three traits → score ≈ 70.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Higher = better Year-1 profile on traits that travel.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5A80"/>
                </a:solidFill>
                <a:latin typeface="Calibri"/>
              </a:rPr>
              <a:t>5 · HOW TO USE THE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1C1C"/>
                </a:solidFill>
                <a:latin typeface="Georgia"/>
              </a:rPr>
              <a:t>interactive_player_explorer.html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234439"/>
            <a:ext cx="10058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46303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Open interactive_player_explorer.html in a browser.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77439"/>
            <a:ext cx="502920" cy="50292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5059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331720"/>
            <a:ext cx="10058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Switch StatsBomb (N=60 · 11 traits) ↔ FBref (N=117 · 26 traits). Dropdowns: league → position → player.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47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429000"/>
            <a:ext cx="10058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Radar slices = style categories (attack/pass/carry/defend). Each slice averages that group’s percentiles.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451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526280"/>
            <a:ext cx="10058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4754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Same explorer combines both sources — pick FBref or StatsBomb in the data-source dropdown.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Calibri"/>
              </a:rPr>
              <a:t>RESULTS  ·  SUCCESS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C1C1C"/>
                </a:solidFill>
                <a:latin typeface="Georgia"/>
              </a:rPr>
              <a:t>Which prior traits &amp; leagues line up with BL Year-1 success?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11338560" cy="1051560"/>
          </a:xfrm>
          <a:prstGeom prst="roundRect">
            <a:avLst/>
          </a:prstGeom>
          <a:solidFill>
            <a:srgbClr val="EEF3F8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Phase 2 (associative): after shortlisting portable traits, test what predicts BL success.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Outcomes: Y1 minutes (playing time) · Y1 minutes percentile · stable-trait score.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Trait test: Spearman ρ between prior-season trait percentile and each outcome.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League test: mean/median outcomes by feeder league. Directional — not a validated forecast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4884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148840"/>
            <a:ext cx="64008" cy="20116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58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C1C1C"/>
                </a:solidFill>
                <a:latin typeface="Georgia"/>
              </a:rPr>
              <a:t>StatsBomb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N=60 open-data cohort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Primary priors often intl comps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Weaker league signal · use for traits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4884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148840"/>
            <a:ext cx="64008" cy="2011680"/>
          </a:xfrm>
          <a:prstGeom prst="rect">
            <a:avLst/>
          </a:prstGeom>
          <a:solidFill>
            <a:srgbClr val="1B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258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C1C1C"/>
                </a:solidFill>
                <a:latin typeface="Georgia"/>
              </a:rPr>
              <a:t>FBref Big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87752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N=117 inbound pairs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Ligue 1 / PL / Serie A / La Liga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Stronger league + trait 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2148840"/>
            <a:ext cx="3840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2148840"/>
            <a:ext cx="64008" cy="20116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2585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C1C1C"/>
                </a:solidFill>
                <a:latin typeface="Georgia"/>
              </a:rPr>
              <a:t>Honest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587752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Supports scouting weights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Does not predict every transfer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</a:rPr>
              <a:t>Repo: results/SUCCESS_INDICATORS.md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348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Interpretation: positive ρ = arriving with a higher prior percentile on that trait tends to coincide with more BL Y1 minutes / higher trait score.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Negative ρ on inverted metrics (e.g. dispossessed) can still be informative — read label + sign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D5A80"/>
                </a:solidFill>
                <a:latin typeface="Georgia"/>
              </a:rPr>
              <a:t>SUCCESS DEFINITION  ·  YEAR-1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Georgia"/>
              </a:rPr>
              <a:t>How we operationalize “Bundesliga success” in Phase 2 with open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Primary success marker: Bundesliga minutes played in the player’s first BL season (Y1 minutes)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Interpretation: playing-time success — did the club trust and use the inbound player?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Also reported: Y1 minutes percentile (rank in cohort) and stable-trait score (profile fit)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Trait &amp; league tests ask: which prior signals line up with more Y1 minutes?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Regression Δ Y1 min = estimated extra first-season minutes vs a reference league, holding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212080" cy="4114800"/>
          </a:xfrm>
          <a:prstGeom prst="roundRect">
            <a:avLst/>
          </a:prstGeom>
          <a:solidFill>
            <a:srgbClr val="EEF3F8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3D5A80"/>
                </a:solidFill>
                <a:latin typeface="Georgia"/>
              </a:rPr>
              <a:t>Why minutes?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Observable in FBref / StatsBomb cohorts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Directly measures opportunity &amp; role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Not the same as goals, xG, or team points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Honest scope: associative scouting weights, not a forecast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D5A80"/>
                </a:solidFill>
                <a:latin typeface="Georgia"/>
              </a:rPr>
              <a:t>IF WE HAD THE DATA  ·  TRANSFERMARKT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Georgia"/>
              </a:rPr>
              <a:t>What we would use instead of (or alongside) Y1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Top indicator in a full club model: change in market value (Δ Transfermarkt MV)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Captures performance + hype + contract context in one outcome scouts care about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NYRB Axis-3 used MV; this project uses open data only — Transfermarkt bans bots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So we proxy success with Y1 minutes until a licensed MV feed is available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Natural extension: prior traits → Δ MV with holdout regression /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212080" cy="3840480"/>
          </a:xfrm>
          <a:prstGeom prst="roundRect">
            <a:avLst/>
          </a:prstGeom>
          <a:solidFill>
            <a:srgbClr val="EEF3F8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1B7A45"/>
                </a:solidFill>
                <a:latin typeface="Georgia"/>
              </a:rPr>
              <a:t>Bottom line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Y1 minutes = best open-data proxy for first-year BL success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Δ Transfermarkt value = preferred outcome in a pro scouting stack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Same pipeline (stability → traits → outcome) — swap the Y variable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Calibri"/>
              </a:rPr>
              <a:t>RESULTS  ·  TRAITS → BL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C1C1C"/>
                </a:solidFill>
                <a:latin typeface="Georgia"/>
              </a:rPr>
              <a:t>Prior trait percentiles most indicative of Year-1 minutes (Spearman 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80"/>
                </a:solidFill>
                <a:latin typeface="Calibri"/>
              </a:rPr>
              <a:t>StatsBomb (N=60) — top |ρ|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97280"/>
          <a:ext cx="420624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40080"/>
                <a:gridCol w="64008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Trait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DRB — Successful dribbles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-0.30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0.021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DIS — Dispossessed (inverted)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PRS — Pressures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-0.29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0.026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PPC — Progressive passes (~10m+ 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PATT — Passes into final third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-0.21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0.104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XG — Non-pen xG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-0.17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7A45"/>
                </a:solidFill>
                <a:latin typeface="Calibri"/>
              </a:rPr>
              <a:t>FBref Big 5 (N=117) — significant traits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097280"/>
          <a:ext cx="39319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"/>
                <a:gridCol w="59436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Trait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LOST — Lost Aerial*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FINAL — Final Third*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SH — Sh Blocks*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0.011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DEFPE — Def Pen Touches*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WONPE — Won percent Aerial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0.062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PRGDI — PrgDist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MIS — Mis Carries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0.078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CLR — Clr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StatsBomb (directional): higher prior progressive passes (PPC) &amp; dispossessed (inv) ↔ more Y1 minutes; high prior pressures/dribbles ↔ fewer minutes in this sample.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FBref (stronger N): prior final-third passing, defensive box actions, blocks, aerials ↔ more Y1 minutes (ρ≈0.17–0.25, p&lt;0.05 for top traits).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Takeaway for scouts: weight defensive involvement + progression in the penalty/third when judging Big-5 → BL transfers.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5A80"/>
                </a:solidFill>
                <a:latin typeface="Calibri"/>
              </a:rPr>
              <a:t>RESULTS  ·  FEEDER LEAGUES → BL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C1C1C"/>
                </a:solidFill>
                <a:latin typeface="Georgia"/>
              </a:rPr>
              <a:t>Which source leagues produce the strongest Year-1 outcomes?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Calibri"/>
              </a:rPr>
              <a:t>FBref Big 5 inbound (N=117) — minutes gate ≥450 both sides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56692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"/>
                <a:gridCol w="1097280"/>
                <a:gridCol w="1097280"/>
                <a:gridCol w="914400"/>
              </a:tblGrid>
              <a:tr h="2560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League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Y1 min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 Y1 min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Trait score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Ligue 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1574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1460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51.1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Premier League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La Liga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1479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1411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50.6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Serie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29260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80"/>
                </a:solidFill>
                <a:latin typeface="Calibri"/>
              </a:rPr>
              <a:t>StatsBomb priors (N=60 · small league cells)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3246120"/>
          <a:ext cx="4846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"/>
                <a:gridCol w="1097280"/>
                <a:gridCol w="914400"/>
              </a:tblGrid>
              <a:tr h="2560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League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Y1 min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Trait score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FIFA World Cup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57.3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Premier League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La Liga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49.7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Ligue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49.5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UEFA Euro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49.5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502920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FBref: Ligue 1 arrivals average the most Y1 minutes (~1,574); Serie A the fewest (~1,426) but slightly highest mean trait score (~52). Differences are modest — all Big 5 feeders work.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StatsBomb: many priors are World Cup/Euro minutes — league ranking is directional only (PL/Ligue 1 cells very small).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Full tables: results/success_league_indicators_*.csv · script: scripts/run_success_indicators.py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80"/>
                </a:solidFill>
                <a:latin typeface="Georgia"/>
              </a:rPr>
              <a:t>NEXT PHASE  ·  FEEDER REGRESSION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Georgia"/>
              </a:rPr>
              <a:t>Descriptive “best feeder” is not enough — OLS explains league gaps vs a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Outcome: BL Year-1 minutes (playing-time success proxy)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Reference league: Serie A (lowest mean Y1 minutes descriptively)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M1: y1_minutes ~ feeder league dummies + prior minutes + position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M3: add prior trait percentiles (Final Third, box touches, aerials…)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1C1C"/>
                </a:solidFill>
                <a:latin typeface="Arial"/>
              </a:rPr>
              <a:t>M4: 80/20 holdout check — exploratory, not a production forecast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303520" cy="4389120"/>
          </a:xfrm>
          <a:prstGeom prst="roundRect">
            <a:avLst/>
          </a:prstGeom>
          <a:solidFill>
            <a:srgbClr val="EEF3F8"/>
          </a:solidFill>
          <a:ln>
            <a:solidFill>
              <a:srgbClr val="D0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3D5A80"/>
                </a:solidFill>
                <a:latin typeface="Georgia"/>
              </a:rPr>
              <a:t>What this is / is not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IS: next-phase explanatory regression — why Ligue 1 ranks high in means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IS: bridge to holdout ML (same features, train/test split)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NOT: validated BL performance prediction</a:t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/>
            </a:r>
          </a:p>
          <a:p>
            <a:r>
              <a:rPr sz="1300">
                <a:solidFill>
                  <a:srgbClr val="1C1C1C"/>
                </a:solidFill>
                <a:latin typeface="Arial"/>
              </a:rPr>
              <a:t>N = 117 · league cells are small → wide confidence bands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D5A80"/>
                </a:solidFill>
                <a:latin typeface="Georgia"/>
              </a:rPr>
              <a:t>RESULTS  ·  REGRESSION — WHY LIGUE 1 LOOKS BEST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eorgia"/>
              </a:rPr>
              <a:t>M1 R²=0.086  →  M3 R²=0.215 when traits added  ·  holdout r=0.35 (exploratory)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36576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League vs Serie A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Δ Y1 min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La Liga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0.856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Ligue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0.375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Premier League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0.661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3440" y="1325880"/>
          <a:ext cx="3657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Prior trait pct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Δ Y1 min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1C1C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Lost Aerial*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Final Third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0.158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Def Pen Touches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0.189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PrgDist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0.249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xG 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1C"/>
                          </a:solidFill>
                          <a:latin typeface="Arial"/>
                        </a:rPr>
                        <a:t>0.430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13258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rial"/>
              </a:rPr>
              <a:t>Descriptive: Ligue 1 highest mean Y1 minutes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rial"/>
              </a:rPr>
              <a:t>Regression: +163 min vs Serie A, but p≈0.38 — not significant at N=117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rial"/>
              </a:rPr>
              <a:t>Trait profile matters more than league label (R² doubles)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rial"/>
              </a:rPr>
              <a:t>Lost Aerial prior pct: +9 min per step, p=0.002*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rial"/>
              </a:rPr>
              <a:t>Takeaway: scout traits + minutes; league is a weak residual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Georgia"/>
              </a:rPr>
              <a:t>* p&lt;0.05. Full tables: results/FEEDER_REGRESSION.md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3D5A80"/>
                </a:solidFill>
                <a:latin typeface="Georgia"/>
              </a:rPr>
              <a:t>WHAT TO TAKE AWAY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Traits that travel · how to use them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FBref (scale)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Strong travelers: Def Pen touches, PrgC / PrgDist, xG, aerial wins, clearances, take-on success.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Shortlist spans attack · pass · carry · defend · aerial.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StatsBomb (depth)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Strong travelers: dispossessed (inv), progressive passes, pressures.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11 stability passers on N=60 — live in the combined explorer with FBref.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Scout use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When evaluating a Big 5 → Bundesliga target, weight shortlisted traits higher than flashy unstable ones.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Do not treat two metrics in a redundant pair as independent evidence — unless you intentionally kept both (e.g. aerial wins + losses).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Explorer: one HTML tool combining FBref + StatsBomb (toggle source). Gates: FBref r≥0.50 · StatsBomb r≥0.41.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3D5A80"/>
                </a:solidFill>
                <a:latin typeface="Georgia"/>
              </a:rPr>
              <a:t>WHAT TO TAKE AWAY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Traits that travel · how to use them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FBref (scale)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Strong travelers: Def Pen touches, PrgC / PrgDist, xG, aerial wins, clearances, take-on success.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Shortlist spans attack · pass · carry · defend · aerial.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StatsBomb (depth)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Strong travelers: dispossessed (inv), progressive passes, pressures.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11 stability passers on N=60 — live in the combined explorer with FBref.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Scout use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When evaluating a Big 5 → Bundesliga target, weight shortlisted traits higher than flashy unstable ones.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Do not treat two metrics in a redundant pair as independent evidence — unless you intentionally kept both (e.g. aerial wins + losses).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Explorer: one HTML tool combining FBref + StatsBomb (toggle source). Gates: FBref r≥0.50 · StatsBomb r≥0.41.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3D5A80"/>
                </a:solidFill>
                <a:latin typeface="Georgia"/>
              </a:rPr>
              <a:t>6 · DELIVERABLES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What ships for Conrad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Deck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bundesliga_transfer_traits.pptx — this file (mirrors the HTML brief)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Explorer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interactive_player_explorer.html — combines FBref + StatsBomb; category pizza + percentiles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Brief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methodology_results_brief.html — same explanation + tables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Proposal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projectproposal / conrad docs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Decisions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decisions/step2_*.json + PDFs (local)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Data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results/ — stability CSVs, FBREF_RESULTS.md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Repo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github.com/colbymorris08/bundesliga-transfer-traits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FBref gate r≥0.50 · StatsBomb gate r≥0.41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3D5A80"/>
                </a:solidFill>
                <a:latin typeface="Georgia"/>
              </a:rPr>
              <a:t>6 · DELIVERABLES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What ships for Conrad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Deck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bundesliga_transfer_traits.pptx — this file (mirrors the HTML brief)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Explorer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interactive_player_explorer.html — combines FBref + StatsBomb; category pizza + percentiles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Brief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methodology_results_brief.html — same explanation + tables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Proposal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projectproposal / conrad docs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Decisions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decisions/step2_*.json + PDFs (local)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Data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results/ — stability CSVs, FBREF_RESULTS.md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Repo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github.com/colbymorris08/bundesliga-transfer-traits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C1C1C"/>
                </a:solidFill>
                <a:latin typeface="Arial"/>
              </a:rPr>
              <a:t>FBref gate r≥0.50 · StatsBomb gate r≥0.41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